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349" r:id="rId3"/>
    <p:sldId id="260" r:id="rId5"/>
    <p:sldId id="352" r:id="rId6"/>
    <p:sldId id="353" r:id="rId7"/>
    <p:sldId id="356" r:id="rId8"/>
    <p:sldId id="261" r:id="rId9"/>
    <p:sldId id="323" r:id="rId10"/>
    <p:sldId id="475" r:id="rId11"/>
    <p:sldId id="397" r:id="rId12"/>
    <p:sldId id="357" r:id="rId13"/>
    <p:sldId id="400" r:id="rId14"/>
    <p:sldId id="401" r:id="rId15"/>
    <p:sldId id="394" r:id="rId16"/>
    <p:sldId id="395" r:id="rId17"/>
    <p:sldId id="398" r:id="rId18"/>
    <p:sldId id="399" r:id="rId19"/>
    <p:sldId id="402" r:id="rId20"/>
    <p:sldId id="403" r:id="rId21"/>
    <p:sldId id="405" r:id="rId22"/>
    <p:sldId id="406" r:id="rId23"/>
    <p:sldId id="404" r:id="rId24"/>
    <p:sldId id="408" r:id="rId25"/>
    <p:sldId id="409" r:id="rId26"/>
    <p:sldId id="432" r:id="rId27"/>
    <p:sldId id="431" r:id="rId28"/>
    <p:sldId id="433" r:id="rId29"/>
    <p:sldId id="477" r:id="rId30"/>
    <p:sldId id="478" r:id="rId31"/>
    <p:sldId id="479" r:id="rId32"/>
    <p:sldId id="527" r:id="rId33"/>
    <p:sldId id="324" r:id="rId34"/>
    <p:sldId id="362" r:id="rId35"/>
    <p:sldId id="381" r:id="rId36"/>
    <p:sldId id="364" r:id="rId37"/>
    <p:sldId id="365" r:id="rId38"/>
    <p:sldId id="382" r:id="rId39"/>
    <p:sldId id="366" r:id="rId40"/>
    <p:sldId id="367" r:id="rId41"/>
    <p:sldId id="524" r:id="rId42"/>
    <p:sldId id="369" r:id="rId43"/>
    <p:sldId id="368" r:id="rId44"/>
    <p:sldId id="521" r:id="rId45"/>
    <p:sldId id="522" r:id="rId46"/>
    <p:sldId id="523" r:id="rId47"/>
    <p:sldId id="525" r:id="rId48"/>
    <p:sldId id="481" r:id="rId49"/>
    <p:sldId id="513" r:id="rId50"/>
    <p:sldId id="516" r:id="rId51"/>
    <p:sldId id="407" r:id="rId52"/>
    <p:sldId id="517" r:id="rId53"/>
    <p:sldId id="370" r:id="rId54"/>
  </p:sldIdLst>
  <p:sldSz cx="9144000" cy="6858000" type="screen4x3"/>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3" userDrawn="1">
          <p15:clr>
            <a:srgbClr val="A4A3A4"/>
          </p15:clr>
        </p15:guide>
        <p15:guide id="2" pos="5370" userDrawn="1">
          <p15:clr>
            <a:srgbClr val="A4A3A4"/>
          </p15:clr>
        </p15:guide>
        <p15:guide id="3" pos="421" userDrawn="1">
          <p15:clr>
            <a:srgbClr val="A4A3A4"/>
          </p15:clr>
        </p15:guide>
        <p15:guide id="4" orient="horz" pos="40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0070C0"/>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43" autoAdjust="0"/>
    <p:restoredTop sz="92697" autoAdjust="0"/>
  </p:normalViewPr>
  <p:slideViewPr>
    <p:cSldViewPr snapToGrid="0" showGuides="1">
      <p:cViewPr varScale="1">
        <p:scale>
          <a:sx n="59" d="100"/>
          <a:sy n="59" d="100"/>
        </p:scale>
        <p:origin x="1674" y="60"/>
      </p:cViewPr>
      <p:guideLst>
        <p:guide orient="horz" pos="373"/>
        <p:guide pos="5370"/>
        <p:guide pos="421"/>
        <p:guide orient="horz" pos="4030"/>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gs" Target="tags/tag19.xml"/><Relationship Id="rId58" Type="http://schemas.openxmlformats.org/officeDocument/2006/relationships/commentAuthors" Target="commentAuthors.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
        <p:nvSpPr>
          <p:cNvPr id="4" name="灯片编号占位符 3"/>
          <p:cNvSpPr>
            <a:spLocks noGrp="1"/>
          </p:cNvSpPr>
          <p:nvPr>
            <p:ph type="sldNum" sz="quarter" idx="10"/>
          </p:nvPr>
        </p:nvSpPr>
        <p:spPr/>
        <p:txBody>
          <a:bodyPr/>
          <a:lstStyle/>
          <a:p>
            <a:fld id="{84E6CF1A-E888-4A07-B96A-456D0CF6948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6CA248-7BE1-4335-B3FB-1E6869F2EC7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3" name="椭圆 42"/>
          <p:cNvSpPr/>
          <p:nvPr userDrawn="1"/>
        </p:nvSpPr>
        <p:spPr>
          <a:xfrm>
            <a:off x="8313356" y="6125647"/>
            <a:ext cx="293756" cy="391675"/>
          </a:xfrm>
          <a:prstGeom prst="ellipse">
            <a:avLst/>
          </a:prstGeom>
          <a:solidFill>
            <a:srgbClr val="034099"/>
          </a:solidFill>
          <a:ln w="25400">
            <a:noFill/>
          </a:ln>
          <a:effectLst>
            <a:outerShdw blurRad="50800" dist="38100" dir="2700000" algn="tl" rotWithShape="0">
              <a:prstClr val="black">
                <a:alpha val="40000"/>
              </a:prstClr>
            </a:outerShdw>
          </a:effectLst>
          <a:scene3d>
            <a:camera prst="orthographicFront"/>
            <a:lightRig rig="threePt" dir="t"/>
          </a:scene3d>
          <a:sp3d>
            <a:bevelT w="25400" h="25400" prst="relaxedInset"/>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cxnSp>
        <p:nvCxnSpPr>
          <p:cNvPr id="2" name="直接连接符 1"/>
          <p:cNvCxnSpPr/>
          <p:nvPr userDrawn="1"/>
        </p:nvCxnSpPr>
        <p:spPr>
          <a:xfrm>
            <a:off x="5029200" y="524780"/>
            <a:ext cx="4114800" cy="0"/>
          </a:xfrm>
          <a:prstGeom prst="line">
            <a:avLst/>
          </a:prstGeom>
          <a:ln>
            <a:solidFill>
              <a:srgbClr val="453D3A"/>
            </a:solidFill>
            <a:prstDash val="dash"/>
          </a:ln>
        </p:spPr>
        <p:style>
          <a:lnRef idx="1">
            <a:schemeClr val="accent1"/>
          </a:lnRef>
          <a:fillRef idx="0">
            <a:schemeClr val="accent1"/>
          </a:fillRef>
          <a:effectRef idx="0">
            <a:schemeClr val="accent1"/>
          </a:effectRef>
          <a:fontRef idx="minor">
            <a:schemeClr val="tx1"/>
          </a:fontRef>
        </p:style>
      </p:cxnSp>
      <p:grpSp>
        <p:nvGrpSpPr>
          <p:cNvPr id="22" name="组合 21"/>
          <p:cNvGrpSpPr/>
          <p:nvPr userDrawn="1"/>
        </p:nvGrpSpPr>
        <p:grpSpPr>
          <a:xfrm>
            <a:off x="8449161" y="5808040"/>
            <a:ext cx="181761" cy="184367"/>
            <a:chOff x="8177349" y="5564776"/>
            <a:chExt cx="1436914" cy="1293223"/>
          </a:xfrm>
          <a:effectLst>
            <a:outerShdw blurRad="228600" dist="101600" dir="3600000" algn="tl" rotWithShape="0">
              <a:prstClr val="black">
                <a:alpha val="32000"/>
              </a:prstClr>
            </a:outerShdw>
          </a:effectLst>
        </p:grpSpPr>
        <p:sp>
          <p:nvSpPr>
            <p:cNvPr id="24" name="任意多边形 23"/>
            <p:cNvSpPr/>
            <p:nvPr/>
          </p:nvSpPr>
          <p:spPr>
            <a:xfrm>
              <a:off x="8177349" y="5614070"/>
              <a:ext cx="995625" cy="1240971"/>
            </a:xfrm>
            <a:custGeom>
              <a:avLst/>
              <a:gdLst>
                <a:gd name="connsiteX0" fmla="*/ 0 w 992777"/>
                <a:gd name="connsiteY0" fmla="*/ 0 h 1240971"/>
                <a:gd name="connsiteX1" fmla="*/ 757646 w 992777"/>
                <a:gd name="connsiteY1" fmla="*/ 1240971 h 1240971"/>
                <a:gd name="connsiteX2" fmla="*/ 992777 w 992777"/>
                <a:gd name="connsiteY2" fmla="*/ 418011 h 1240971"/>
                <a:gd name="connsiteX3" fmla="*/ 0 w 992777"/>
                <a:gd name="connsiteY3" fmla="*/ 0 h 1240971"/>
                <a:gd name="connsiteX0-1" fmla="*/ 0 w 995625"/>
                <a:gd name="connsiteY0-2" fmla="*/ 0 h 1240971"/>
                <a:gd name="connsiteX1-3" fmla="*/ 757646 w 995625"/>
                <a:gd name="connsiteY1-4" fmla="*/ 1240971 h 1240971"/>
                <a:gd name="connsiteX2-5" fmla="*/ 995625 w 995625"/>
                <a:gd name="connsiteY2-6" fmla="*/ 412314 h 1240971"/>
                <a:gd name="connsiteX3-7" fmla="*/ 0 w 995625"/>
                <a:gd name="connsiteY3-8" fmla="*/ 0 h 1240971"/>
              </a:gdLst>
              <a:ahLst/>
              <a:cxnLst>
                <a:cxn ang="0">
                  <a:pos x="connsiteX0-1" y="connsiteY0-2"/>
                </a:cxn>
                <a:cxn ang="0">
                  <a:pos x="connsiteX1-3" y="connsiteY1-4"/>
                </a:cxn>
                <a:cxn ang="0">
                  <a:pos x="connsiteX2-5" y="connsiteY2-6"/>
                </a:cxn>
                <a:cxn ang="0">
                  <a:pos x="connsiteX3-7" y="connsiteY3-8"/>
                </a:cxn>
              </a:cxnLst>
              <a:rect l="l" t="t" r="r" b="b"/>
              <a:pathLst>
                <a:path w="995625" h="1240971">
                  <a:moveTo>
                    <a:pt x="0" y="0"/>
                  </a:moveTo>
                  <a:lnTo>
                    <a:pt x="757646" y="1240971"/>
                  </a:lnTo>
                  <a:lnTo>
                    <a:pt x="995625" y="412314"/>
                  </a:lnTo>
                  <a:lnTo>
                    <a:pt x="0" y="0"/>
                  </a:lnTo>
                  <a:close/>
                </a:path>
              </a:pathLst>
            </a:custGeom>
            <a:gradFill>
              <a:gsLst>
                <a:gs pos="79000">
                  <a:srgbClr val="E8E9EE"/>
                </a:gs>
                <a:gs pos="0">
                  <a:srgbClr val="E0D6D6"/>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任意多边形 24"/>
            <p:cNvSpPr/>
            <p:nvPr/>
          </p:nvSpPr>
          <p:spPr>
            <a:xfrm>
              <a:off x="8177349" y="5564777"/>
              <a:ext cx="1436914" cy="468534"/>
            </a:xfrm>
            <a:custGeom>
              <a:avLst/>
              <a:gdLst>
                <a:gd name="connsiteX0" fmla="*/ 1436914 w 1436914"/>
                <a:gd name="connsiteY0" fmla="*/ 0 h 496389"/>
                <a:gd name="connsiteX1" fmla="*/ 979714 w 1436914"/>
                <a:gd name="connsiteY1" fmla="*/ 496389 h 496389"/>
                <a:gd name="connsiteX2" fmla="*/ 0 w 1436914"/>
                <a:gd name="connsiteY2" fmla="*/ 52252 h 496389"/>
                <a:gd name="connsiteX3" fmla="*/ 1436914 w 1436914"/>
                <a:gd name="connsiteY3" fmla="*/ 0 h 496389"/>
                <a:gd name="connsiteX0-1" fmla="*/ 1436914 w 1436914"/>
                <a:gd name="connsiteY0-2" fmla="*/ 0 h 473600"/>
                <a:gd name="connsiteX1-3" fmla="*/ 1005352 w 1436914"/>
                <a:gd name="connsiteY1-4" fmla="*/ 473600 h 473600"/>
                <a:gd name="connsiteX2-5" fmla="*/ 0 w 1436914"/>
                <a:gd name="connsiteY2-6" fmla="*/ 52252 h 473600"/>
                <a:gd name="connsiteX3-7" fmla="*/ 1436914 w 1436914"/>
                <a:gd name="connsiteY3-8" fmla="*/ 0 h 473600"/>
                <a:gd name="connsiteX0-9" fmla="*/ 1436914 w 1436914"/>
                <a:gd name="connsiteY0-10" fmla="*/ 0 h 463468"/>
                <a:gd name="connsiteX1-11" fmla="*/ 987622 w 1436914"/>
                <a:gd name="connsiteY1-12" fmla="*/ 463468 h 463468"/>
                <a:gd name="connsiteX2-13" fmla="*/ 0 w 1436914"/>
                <a:gd name="connsiteY2-14" fmla="*/ 52252 h 463468"/>
                <a:gd name="connsiteX3-15" fmla="*/ 1436914 w 1436914"/>
                <a:gd name="connsiteY3-16" fmla="*/ 0 h 463468"/>
                <a:gd name="connsiteX0-17" fmla="*/ 1436914 w 1436914"/>
                <a:gd name="connsiteY0-18" fmla="*/ 0 h 468534"/>
                <a:gd name="connsiteX1-19" fmla="*/ 992688 w 1436914"/>
                <a:gd name="connsiteY1-20" fmla="*/ 468534 h 468534"/>
                <a:gd name="connsiteX2-21" fmla="*/ 0 w 1436914"/>
                <a:gd name="connsiteY2-22" fmla="*/ 52252 h 468534"/>
                <a:gd name="connsiteX3-23" fmla="*/ 1436914 w 1436914"/>
                <a:gd name="connsiteY3-24" fmla="*/ 0 h 468534"/>
              </a:gdLst>
              <a:ahLst/>
              <a:cxnLst>
                <a:cxn ang="0">
                  <a:pos x="connsiteX0-1" y="connsiteY0-2"/>
                </a:cxn>
                <a:cxn ang="0">
                  <a:pos x="connsiteX1-3" y="connsiteY1-4"/>
                </a:cxn>
                <a:cxn ang="0">
                  <a:pos x="connsiteX2-5" y="connsiteY2-6"/>
                </a:cxn>
                <a:cxn ang="0">
                  <a:pos x="connsiteX3-7" y="connsiteY3-8"/>
                </a:cxn>
              </a:cxnLst>
              <a:rect l="l" t="t" r="r" b="b"/>
              <a:pathLst>
                <a:path w="1436914" h="468534">
                  <a:moveTo>
                    <a:pt x="1436914" y="0"/>
                  </a:moveTo>
                  <a:lnTo>
                    <a:pt x="992688" y="468534"/>
                  </a:lnTo>
                  <a:lnTo>
                    <a:pt x="0" y="52252"/>
                  </a:lnTo>
                  <a:lnTo>
                    <a:pt x="1436914" y="0"/>
                  </a:lnTo>
                  <a:close/>
                </a:path>
              </a:pathLst>
            </a:custGeom>
            <a:gradFill>
              <a:gsLst>
                <a:gs pos="79000">
                  <a:srgbClr val="E8E9EE"/>
                </a:gs>
                <a:gs pos="0">
                  <a:srgbClr val="C7C5CA"/>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任意多边形 25"/>
            <p:cNvSpPr/>
            <p:nvPr/>
          </p:nvSpPr>
          <p:spPr>
            <a:xfrm>
              <a:off x="8927701" y="5564776"/>
              <a:ext cx="681060" cy="1293223"/>
            </a:xfrm>
            <a:custGeom>
              <a:avLst/>
              <a:gdLst>
                <a:gd name="connsiteX0" fmla="*/ 0 w 653143"/>
                <a:gd name="connsiteY0" fmla="*/ 1280160 h 1280160"/>
                <a:gd name="connsiteX1" fmla="*/ 653143 w 653143"/>
                <a:gd name="connsiteY1" fmla="*/ 0 h 1280160"/>
                <a:gd name="connsiteX2" fmla="*/ 182880 w 653143"/>
                <a:gd name="connsiteY2" fmla="*/ 496389 h 1280160"/>
                <a:gd name="connsiteX3" fmla="*/ 0 w 653143"/>
                <a:gd name="connsiteY3" fmla="*/ 1280160 h 1280160"/>
                <a:gd name="connsiteX0-1" fmla="*/ 0 w 653143"/>
                <a:gd name="connsiteY0-2" fmla="*/ 1280160 h 1280160"/>
                <a:gd name="connsiteX1-3" fmla="*/ 653143 w 653143"/>
                <a:gd name="connsiteY1-4" fmla="*/ 0 h 1280160"/>
                <a:gd name="connsiteX2-5" fmla="*/ 223857 w 653143"/>
                <a:gd name="connsiteY2-6" fmla="*/ 479470 h 1280160"/>
                <a:gd name="connsiteX3-7" fmla="*/ 0 w 653143"/>
                <a:gd name="connsiteY3-8" fmla="*/ 1280160 h 1280160"/>
                <a:gd name="connsiteX0-9" fmla="*/ 0 w 653143"/>
                <a:gd name="connsiteY0-10" fmla="*/ 1280160 h 1280160"/>
                <a:gd name="connsiteX1-11" fmla="*/ 653143 w 653143"/>
                <a:gd name="connsiteY1-12" fmla="*/ 0 h 1280160"/>
                <a:gd name="connsiteX2-13" fmla="*/ 226589 w 653143"/>
                <a:gd name="connsiteY2-14" fmla="*/ 459732 h 1280160"/>
                <a:gd name="connsiteX3-15" fmla="*/ 0 w 653143"/>
                <a:gd name="connsiteY3-16" fmla="*/ 1280160 h 1280160"/>
                <a:gd name="connsiteX0-17" fmla="*/ 0 w 653143"/>
                <a:gd name="connsiteY0-18" fmla="*/ 1280160 h 1280160"/>
                <a:gd name="connsiteX1-19" fmla="*/ 653143 w 653143"/>
                <a:gd name="connsiteY1-20" fmla="*/ 0 h 1280160"/>
                <a:gd name="connsiteX2-21" fmla="*/ 229019 w 653143"/>
                <a:gd name="connsiteY2-22" fmla="*/ 464747 h 1280160"/>
                <a:gd name="connsiteX3-23" fmla="*/ 0 w 653143"/>
                <a:gd name="connsiteY3-24" fmla="*/ 1280160 h 1280160"/>
                <a:gd name="connsiteX0-25" fmla="*/ 0 w 653143"/>
                <a:gd name="connsiteY0-26" fmla="*/ 1280160 h 1280160"/>
                <a:gd name="connsiteX1-27" fmla="*/ 653143 w 653143"/>
                <a:gd name="connsiteY1-28" fmla="*/ 0 h 1280160"/>
                <a:gd name="connsiteX2-29" fmla="*/ 226590 w 653143"/>
                <a:gd name="connsiteY2-30" fmla="*/ 459732 h 1280160"/>
                <a:gd name="connsiteX3-31" fmla="*/ 0 w 653143"/>
                <a:gd name="connsiteY3-32" fmla="*/ 1280160 h 1280160"/>
              </a:gdLst>
              <a:ahLst/>
              <a:cxnLst>
                <a:cxn ang="0">
                  <a:pos x="connsiteX0-1" y="connsiteY0-2"/>
                </a:cxn>
                <a:cxn ang="0">
                  <a:pos x="connsiteX1-3" y="connsiteY1-4"/>
                </a:cxn>
                <a:cxn ang="0">
                  <a:pos x="connsiteX2-5" y="connsiteY2-6"/>
                </a:cxn>
                <a:cxn ang="0">
                  <a:pos x="connsiteX3-7" y="connsiteY3-8"/>
                </a:cxn>
              </a:cxnLst>
              <a:rect l="l" t="t" r="r" b="b"/>
              <a:pathLst>
                <a:path w="653143" h="1280160">
                  <a:moveTo>
                    <a:pt x="0" y="1280160"/>
                  </a:moveTo>
                  <a:lnTo>
                    <a:pt x="653143" y="0"/>
                  </a:lnTo>
                  <a:lnTo>
                    <a:pt x="226590" y="459732"/>
                  </a:lnTo>
                  <a:lnTo>
                    <a:pt x="0" y="1280160"/>
                  </a:lnTo>
                  <a:close/>
                </a:path>
              </a:pathLst>
            </a:custGeom>
            <a:gradFill>
              <a:gsLst>
                <a:gs pos="79000">
                  <a:srgbClr val="EEEFF6"/>
                </a:gs>
                <a:gs pos="0">
                  <a:schemeClr val="bg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27" name="组合 26"/>
          <p:cNvGrpSpPr/>
          <p:nvPr userDrawn="1"/>
        </p:nvGrpSpPr>
        <p:grpSpPr>
          <a:xfrm>
            <a:off x="8074261" y="6341565"/>
            <a:ext cx="168881" cy="195435"/>
            <a:chOff x="8795266" y="1533691"/>
            <a:chExt cx="2364379" cy="2052102"/>
          </a:xfrm>
          <a:effectLst>
            <a:outerShdw blurRad="127000" dist="88900" dir="3600000" algn="tl" rotWithShape="0">
              <a:prstClr val="black">
                <a:alpha val="22000"/>
              </a:prstClr>
            </a:outerShdw>
          </a:effectLst>
        </p:grpSpPr>
        <p:sp>
          <p:nvSpPr>
            <p:cNvPr id="28" name="任意多边形 27"/>
            <p:cNvSpPr/>
            <p:nvPr/>
          </p:nvSpPr>
          <p:spPr>
            <a:xfrm>
              <a:off x="9889138" y="1533691"/>
              <a:ext cx="1267098" cy="1998618"/>
            </a:xfrm>
            <a:custGeom>
              <a:avLst/>
              <a:gdLst>
                <a:gd name="connsiteX0" fmla="*/ 0 w 1267097"/>
                <a:gd name="connsiteY0" fmla="*/ 0 h 1998618"/>
                <a:gd name="connsiteX1" fmla="*/ 1267097 w 1267097"/>
                <a:gd name="connsiteY1" fmla="*/ 1998618 h 1998618"/>
                <a:gd name="connsiteX2" fmla="*/ 65314 w 1267097"/>
                <a:gd name="connsiteY2" fmla="*/ 1005840 h 1998618"/>
                <a:gd name="connsiteX3" fmla="*/ 0 w 1267097"/>
                <a:gd name="connsiteY3" fmla="*/ 0 h 1998618"/>
                <a:gd name="connsiteX0-1" fmla="*/ 0 w 1267097"/>
                <a:gd name="connsiteY0-2" fmla="*/ 0 h 1998618"/>
                <a:gd name="connsiteX1-3" fmla="*/ 1267097 w 1267097"/>
                <a:gd name="connsiteY1-4" fmla="*/ 1998618 h 1998618"/>
                <a:gd name="connsiteX2-5" fmla="*/ 39188 w 1267097"/>
                <a:gd name="connsiteY2-6" fmla="*/ 999309 h 1998618"/>
                <a:gd name="connsiteX3-7" fmla="*/ 0 w 1267097"/>
                <a:gd name="connsiteY3-8" fmla="*/ 0 h 1998618"/>
              </a:gdLst>
              <a:ahLst/>
              <a:cxnLst>
                <a:cxn ang="0">
                  <a:pos x="connsiteX0-1" y="connsiteY0-2"/>
                </a:cxn>
                <a:cxn ang="0">
                  <a:pos x="connsiteX1-3" y="connsiteY1-4"/>
                </a:cxn>
                <a:cxn ang="0">
                  <a:pos x="connsiteX2-5" y="connsiteY2-6"/>
                </a:cxn>
                <a:cxn ang="0">
                  <a:pos x="connsiteX3-7" y="connsiteY3-8"/>
                </a:cxn>
              </a:cxnLst>
              <a:rect l="l" t="t" r="r" b="b"/>
              <a:pathLst>
                <a:path w="1267097" h="1998618">
                  <a:moveTo>
                    <a:pt x="0" y="0"/>
                  </a:moveTo>
                  <a:lnTo>
                    <a:pt x="1267097" y="1998618"/>
                  </a:lnTo>
                  <a:lnTo>
                    <a:pt x="39188" y="999309"/>
                  </a:lnTo>
                  <a:lnTo>
                    <a:pt x="0" y="0"/>
                  </a:lnTo>
                  <a:close/>
                </a:path>
              </a:pathLst>
            </a:custGeom>
            <a:gradFill>
              <a:gsLst>
                <a:gs pos="79000">
                  <a:srgbClr val="E0D6D6"/>
                </a:gs>
                <a:gs pos="0">
                  <a:srgbClr val="E8E9EE"/>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任意多边形 28"/>
            <p:cNvSpPr/>
            <p:nvPr/>
          </p:nvSpPr>
          <p:spPr>
            <a:xfrm>
              <a:off x="8795266" y="2516610"/>
              <a:ext cx="2364379" cy="1051559"/>
            </a:xfrm>
            <a:custGeom>
              <a:avLst/>
              <a:gdLst>
                <a:gd name="connsiteX0" fmla="*/ 0 w 2364378"/>
                <a:gd name="connsiteY0" fmla="*/ 1058092 h 1058092"/>
                <a:gd name="connsiteX1" fmla="*/ 2364378 w 2364378"/>
                <a:gd name="connsiteY1" fmla="*/ 1005840 h 1058092"/>
                <a:gd name="connsiteX2" fmla="*/ 1123406 w 2364378"/>
                <a:gd name="connsiteY2" fmla="*/ 0 h 1058092"/>
                <a:gd name="connsiteX3" fmla="*/ 0 w 2364378"/>
                <a:gd name="connsiteY3" fmla="*/ 1058092 h 1058092"/>
                <a:gd name="connsiteX0-1" fmla="*/ 0 w 2364378"/>
                <a:gd name="connsiteY0-2" fmla="*/ 1051560 h 1051560"/>
                <a:gd name="connsiteX1-3" fmla="*/ 2364378 w 2364378"/>
                <a:gd name="connsiteY1-4" fmla="*/ 999308 h 1051560"/>
                <a:gd name="connsiteX2-5" fmla="*/ 1139734 w 2364378"/>
                <a:gd name="connsiteY2-6" fmla="*/ 0 h 1051560"/>
                <a:gd name="connsiteX3-7" fmla="*/ 0 w 2364378"/>
                <a:gd name="connsiteY3-8" fmla="*/ 1051560 h 1051560"/>
              </a:gdLst>
              <a:ahLst/>
              <a:cxnLst>
                <a:cxn ang="0">
                  <a:pos x="connsiteX0-1" y="connsiteY0-2"/>
                </a:cxn>
                <a:cxn ang="0">
                  <a:pos x="connsiteX1-3" y="connsiteY1-4"/>
                </a:cxn>
                <a:cxn ang="0">
                  <a:pos x="connsiteX2-5" y="connsiteY2-6"/>
                </a:cxn>
                <a:cxn ang="0">
                  <a:pos x="connsiteX3-7" y="connsiteY3-8"/>
                </a:cxn>
              </a:cxnLst>
              <a:rect l="l" t="t" r="r" b="b"/>
              <a:pathLst>
                <a:path w="2364378" h="1051560">
                  <a:moveTo>
                    <a:pt x="0" y="1051560"/>
                  </a:moveTo>
                  <a:lnTo>
                    <a:pt x="2364378" y="999308"/>
                  </a:lnTo>
                  <a:lnTo>
                    <a:pt x="1139734" y="0"/>
                  </a:lnTo>
                  <a:lnTo>
                    <a:pt x="0" y="1051560"/>
                  </a:lnTo>
                  <a:close/>
                </a:path>
              </a:pathLst>
            </a:custGeom>
            <a:gradFill>
              <a:gsLst>
                <a:gs pos="79000">
                  <a:srgbClr val="C7C5CA"/>
                </a:gs>
                <a:gs pos="0">
                  <a:srgbClr val="E2E2E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任意多边形 29"/>
            <p:cNvSpPr/>
            <p:nvPr/>
          </p:nvSpPr>
          <p:spPr>
            <a:xfrm>
              <a:off x="8797866" y="1541455"/>
              <a:ext cx="1149531" cy="2044338"/>
            </a:xfrm>
            <a:custGeom>
              <a:avLst/>
              <a:gdLst>
                <a:gd name="connsiteX0" fmla="*/ 1110342 w 1149531"/>
                <a:gd name="connsiteY0" fmla="*/ 0 h 2037805"/>
                <a:gd name="connsiteX1" fmla="*/ 1149531 w 1149531"/>
                <a:gd name="connsiteY1" fmla="*/ 979714 h 2037805"/>
                <a:gd name="connsiteX2" fmla="*/ 0 w 1149531"/>
                <a:gd name="connsiteY2" fmla="*/ 2037805 h 2037805"/>
                <a:gd name="connsiteX3" fmla="*/ 1110342 w 1149531"/>
                <a:gd name="connsiteY3" fmla="*/ 0 h 2037805"/>
                <a:gd name="connsiteX0-1" fmla="*/ 1103811 w 1149531"/>
                <a:gd name="connsiteY0-2" fmla="*/ 0 h 2044337"/>
                <a:gd name="connsiteX1-3" fmla="*/ 1149531 w 1149531"/>
                <a:gd name="connsiteY1-4" fmla="*/ 986246 h 2044337"/>
                <a:gd name="connsiteX2-5" fmla="*/ 0 w 1149531"/>
                <a:gd name="connsiteY2-6" fmla="*/ 2044337 h 2044337"/>
                <a:gd name="connsiteX3-7" fmla="*/ 1103811 w 1149531"/>
                <a:gd name="connsiteY3-8" fmla="*/ 0 h 2044337"/>
              </a:gdLst>
              <a:ahLst/>
              <a:cxnLst>
                <a:cxn ang="0">
                  <a:pos x="connsiteX0-1" y="connsiteY0-2"/>
                </a:cxn>
                <a:cxn ang="0">
                  <a:pos x="connsiteX1-3" y="connsiteY1-4"/>
                </a:cxn>
                <a:cxn ang="0">
                  <a:pos x="connsiteX2-5" y="connsiteY2-6"/>
                </a:cxn>
                <a:cxn ang="0">
                  <a:pos x="connsiteX3-7" y="connsiteY3-8"/>
                </a:cxn>
              </a:cxnLst>
              <a:rect l="l" t="t" r="r" b="b"/>
              <a:pathLst>
                <a:path w="1149531" h="2044337">
                  <a:moveTo>
                    <a:pt x="1103811" y="0"/>
                  </a:moveTo>
                  <a:lnTo>
                    <a:pt x="1149531" y="986246"/>
                  </a:lnTo>
                  <a:lnTo>
                    <a:pt x="0" y="2044337"/>
                  </a:lnTo>
                  <a:lnTo>
                    <a:pt x="1103811" y="0"/>
                  </a:lnTo>
                  <a:close/>
                </a:path>
              </a:pathLst>
            </a:custGeom>
            <a:gradFill>
              <a:gsLst>
                <a:gs pos="79000">
                  <a:srgbClr val="EEEFF6"/>
                </a:gs>
                <a:gs pos="0">
                  <a:srgbClr val="FCFCFE"/>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31" name="组合 30"/>
          <p:cNvGrpSpPr/>
          <p:nvPr userDrawn="1"/>
        </p:nvGrpSpPr>
        <p:grpSpPr>
          <a:xfrm>
            <a:off x="8687819" y="6128895"/>
            <a:ext cx="170169" cy="239633"/>
            <a:chOff x="10985862" y="852369"/>
            <a:chExt cx="2246812" cy="2372981"/>
          </a:xfrm>
          <a:effectLst>
            <a:outerShdw blurRad="177800" dist="177800" dir="3600000" algn="tl" rotWithShape="0">
              <a:prstClr val="black">
                <a:alpha val="22000"/>
              </a:prstClr>
            </a:outerShdw>
          </a:effectLst>
        </p:grpSpPr>
        <p:sp>
          <p:nvSpPr>
            <p:cNvPr id="32" name="任意多边形 31"/>
            <p:cNvSpPr/>
            <p:nvPr/>
          </p:nvSpPr>
          <p:spPr>
            <a:xfrm>
              <a:off x="10985862" y="858600"/>
              <a:ext cx="1862891" cy="1981093"/>
            </a:xfrm>
            <a:custGeom>
              <a:avLst/>
              <a:gdLst>
                <a:gd name="connsiteX0" fmla="*/ 1763486 w 1894114"/>
                <a:gd name="connsiteY0" fmla="*/ 0 h 1985554"/>
                <a:gd name="connsiteX1" fmla="*/ 1894114 w 1894114"/>
                <a:gd name="connsiteY1" fmla="*/ 1985554 h 1985554"/>
                <a:gd name="connsiteX2" fmla="*/ 0 w 1894114"/>
                <a:gd name="connsiteY2" fmla="*/ 1658983 h 1985554"/>
                <a:gd name="connsiteX3" fmla="*/ 1763486 w 1894114"/>
                <a:gd name="connsiteY3" fmla="*/ 0 h 1985554"/>
                <a:gd name="connsiteX0-1" fmla="*/ 1763486 w 1862891"/>
                <a:gd name="connsiteY0-2" fmla="*/ 0 h 1981093"/>
                <a:gd name="connsiteX1-3" fmla="*/ 1862891 w 1862891"/>
                <a:gd name="connsiteY1-4" fmla="*/ 1981093 h 1981093"/>
                <a:gd name="connsiteX2-5" fmla="*/ 0 w 1862891"/>
                <a:gd name="connsiteY2-6" fmla="*/ 1658983 h 1981093"/>
                <a:gd name="connsiteX3-7" fmla="*/ 1763486 w 1862891"/>
                <a:gd name="connsiteY3-8" fmla="*/ 0 h 1981093"/>
              </a:gdLst>
              <a:ahLst/>
              <a:cxnLst>
                <a:cxn ang="0">
                  <a:pos x="connsiteX0-1" y="connsiteY0-2"/>
                </a:cxn>
                <a:cxn ang="0">
                  <a:pos x="connsiteX1-3" y="connsiteY1-4"/>
                </a:cxn>
                <a:cxn ang="0">
                  <a:pos x="connsiteX2-5" y="connsiteY2-6"/>
                </a:cxn>
                <a:cxn ang="0">
                  <a:pos x="connsiteX3-7" y="connsiteY3-8"/>
                </a:cxn>
              </a:cxnLst>
              <a:rect l="l" t="t" r="r" b="b"/>
              <a:pathLst>
                <a:path w="1862891" h="1981093">
                  <a:moveTo>
                    <a:pt x="1763486" y="0"/>
                  </a:moveTo>
                  <a:lnTo>
                    <a:pt x="1862891" y="1981093"/>
                  </a:lnTo>
                  <a:lnTo>
                    <a:pt x="0" y="1658983"/>
                  </a:lnTo>
                  <a:lnTo>
                    <a:pt x="1763486" y="0"/>
                  </a:lnTo>
                  <a:close/>
                </a:path>
              </a:pathLst>
            </a:custGeom>
            <a:gradFill>
              <a:gsLst>
                <a:gs pos="21000">
                  <a:srgbClr val="EEEFF6"/>
                </a:gs>
                <a:gs pos="62000">
                  <a:srgbClr val="E8E9EE"/>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3" name="任意多边形 32"/>
            <p:cNvSpPr/>
            <p:nvPr/>
          </p:nvSpPr>
          <p:spPr>
            <a:xfrm>
              <a:off x="10985862" y="2514015"/>
              <a:ext cx="2246812" cy="705396"/>
            </a:xfrm>
            <a:custGeom>
              <a:avLst/>
              <a:gdLst>
                <a:gd name="connsiteX0" fmla="*/ 2246811 w 2246811"/>
                <a:gd name="connsiteY0" fmla="*/ 705395 h 705395"/>
                <a:gd name="connsiteX1" fmla="*/ 1881051 w 2246811"/>
                <a:gd name="connsiteY1" fmla="*/ 313509 h 705395"/>
                <a:gd name="connsiteX2" fmla="*/ 0 w 2246811"/>
                <a:gd name="connsiteY2" fmla="*/ 0 h 705395"/>
                <a:gd name="connsiteX3" fmla="*/ 2246811 w 2246811"/>
                <a:gd name="connsiteY3" fmla="*/ 705395 h 705395"/>
                <a:gd name="connsiteX0-1" fmla="*/ 2246811 w 2246811"/>
                <a:gd name="connsiteY0-2" fmla="*/ 705395 h 705395"/>
                <a:gd name="connsiteX1-3" fmla="*/ 1863209 w 2246811"/>
                <a:gd name="connsiteY1-4" fmla="*/ 313509 h 705395"/>
                <a:gd name="connsiteX2-5" fmla="*/ 0 w 2246811"/>
                <a:gd name="connsiteY2-6" fmla="*/ 0 h 705395"/>
                <a:gd name="connsiteX3-7" fmla="*/ 2246811 w 2246811"/>
                <a:gd name="connsiteY3-8" fmla="*/ 705395 h 705395"/>
                <a:gd name="connsiteX0-9" fmla="*/ 2246811 w 2246811"/>
                <a:gd name="connsiteY0-10" fmla="*/ 705395 h 705395"/>
                <a:gd name="connsiteX1-11" fmla="*/ 1867670 w 2246811"/>
                <a:gd name="connsiteY1-12" fmla="*/ 313509 h 705395"/>
                <a:gd name="connsiteX2-13" fmla="*/ 0 w 2246811"/>
                <a:gd name="connsiteY2-14" fmla="*/ 0 h 705395"/>
                <a:gd name="connsiteX3-15" fmla="*/ 2246811 w 2246811"/>
                <a:gd name="connsiteY3-16" fmla="*/ 705395 h 705395"/>
              </a:gdLst>
              <a:ahLst/>
              <a:cxnLst>
                <a:cxn ang="0">
                  <a:pos x="connsiteX0-1" y="connsiteY0-2"/>
                </a:cxn>
                <a:cxn ang="0">
                  <a:pos x="connsiteX1-3" y="connsiteY1-4"/>
                </a:cxn>
                <a:cxn ang="0">
                  <a:pos x="connsiteX2-5" y="connsiteY2-6"/>
                </a:cxn>
                <a:cxn ang="0">
                  <a:pos x="connsiteX3-7" y="connsiteY3-8"/>
                </a:cxn>
              </a:cxnLst>
              <a:rect l="l" t="t" r="r" b="b"/>
              <a:pathLst>
                <a:path w="2246811" h="705395">
                  <a:moveTo>
                    <a:pt x="2246811" y="705395"/>
                  </a:moveTo>
                  <a:lnTo>
                    <a:pt x="1867670" y="313509"/>
                  </a:lnTo>
                  <a:lnTo>
                    <a:pt x="0" y="0"/>
                  </a:lnTo>
                  <a:lnTo>
                    <a:pt x="2246811" y="705395"/>
                  </a:lnTo>
                  <a:close/>
                </a:path>
              </a:pathLst>
            </a:custGeom>
            <a:gradFill>
              <a:gsLst>
                <a:gs pos="21000">
                  <a:srgbClr val="C7C5CA"/>
                </a:gs>
                <a:gs pos="100000">
                  <a:srgbClr val="FCFCFE"/>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任意多边形 33"/>
            <p:cNvSpPr/>
            <p:nvPr/>
          </p:nvSpPr>
          <p:spPr>
            <a:xfrm>
              <a:off x="12733224" y="852369"/>
              <a:ext cx="490973" cy="2372981"/>
            </a:xfrm>
            <a:custGeom>
              <a:avLst/>
              <a:gdLst>
                <a:gd name="connsiteX0" fmla="*/ 0 w 535577"/>
                <a:gd name="connsiteY0" fmla="*/ 0 h 2377440"/>
                <a:gd name="connsiteX1" fmla="*/ 535577 w 535577"/>
                <a:gd name="connsiteY1" fmla="*/ 2377440 h 2377440"/>
                <a:gd name="connsiteX2" fmla="*/ 143691 w 535577"/>
                <a:gd name="connsiteY2" fmla="*/ 1959428 h 2377440"/>
                <a:gd name="connsiteX3" fmla="*/ 0 w 535577"/>
                <a:gd name="connsiteY3" fmla="*/ 0 h 2377440"/>
                <a:gd name="connsiteX0-1" fmla="*/ 0 w 490972"/>
                <a:gd name="connsiteY0-2" fmla="*/ 0 h 2372980"/>
                <a:gd name="connsiteX1-3" fmla="*/ 490972 w 490972"/>
                <a:gd name="connsiteY1-4" fmla="*/ 2372980 h 2372980"/>
                <a:gd name="connsiteX2-5" fmla="*/ 99086 w 490972"/>
                <a:gd name="connsiteY2-6" fmla="*/ 1954968 h 2372980"/>
                <a:gd name="connsiteX3-7" fmla="*/ 0 w 490972"/>
                <a:gd name="connsiteY3-8" fmla="*/ 0 h 2372980"/>
                <a:gd name="connsiteX0-9" fmla="*/ 0 w 490972"/>
                <a:gd name="connsiteY0-10" fmla="*/ 0 h 2372980"/>
                <a:gd name="connsiteX1-11" fmla="*/ 490972 w 490972"/>
                <a:gd name="connsiteY1-12" fmla="*/ 2372980 h 2372980"/>
                <a:gd name="connsiteX2-13" fmla="*/ 99086 w 490972"/>
                <a:gd name="connsiteY2-14" fmla="*/ 1977271 h 2372980"/>
                <a:gd name="connsiteX3-15" fmla="*/ 0 w 490972"/>
                <a:gd name="connsiteY3-16" fmla="*/ 0 h 2372980"/>
                <a:gd name="connsiteX0-17" fmla="*/ 0 w 490972"/>
                <a:gd name="connsiteY0-18" fmla="*/ 0 h 2372980"/>
                <a:gd name="connsiteX1-19" fmla="*/ 490972 w 490972"/>
                <a:gd name="connsiteY1-20" fmla="*/ 2372980 h 2372980"/>
                <a:gd name="connsiteX2-21" fmla="*/ 90165 w 490972"/>
                <a:gd name="connsiteY2-22" fmla="*/ 1977271 h 2372980"/>
                <a:gd name="connsiteX3-23" fmla="*/ 0 w 490972"/>
                <a:gd name="connsiteY3-24" fmla="*/ 0 h 2372980"/>
              </a:gdLst>
              <a:ahLst/>
              <a:cxnLst>
                <a:cxn ang="0">
                  <a:pos x="connsiteX0-1" y="connsiteY0-2"/>
                </a:cxn>
                <a:cxn ang="0">
                  <a:pos x="connsiteX1-3" y="connsiteY1-4"/>
                </a:cxn>
                <a:cxn ang="0">
                  <a:pos x="connsiteX2-5" y="connsiteY2-6"/>
                </a:cxn>
                <a:cxn ang="0">
                  <a:pos x="connsiteX3-7" y="connsiteY3-8"/>
                </a:cxn>
              </a:cxnLst>
              <a:rect l="l" t="t" r="r" b="b"/>
              <a:pathLst>
                <a:path w="490972" h="2372980">
                  <a:moveTo>
                    <a:pt x="0" y="0"/>
                  </a:moveTo>
                  <a:lnTo>
                    <a:pt x="490972" y="2372980"/>
                  </a:lnTo>
                  <a:lnTo>
                    <a:pt x="90165" y="1977271"/>
                  </a:lnTo>
                  <a:lnTo>
                    <a:pt x="0" y="0"/>
                  </a:lnTo>
                  <a:close/>
                </a:path>
              </a:pathLst>
            </a:custGeom>
            <a:gradFill>
              <a:gsLst>
                <a:gs pos="21000">
                  <a:srgbClr val="E8E9EE"/>
                </a:gs>
                <a:gs pos="100000">
                  <a:srgbClr val="C7C5CA"/>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40" name="灯片编号占位符 5"/>
          <p:cNvSpPr>
            <a:spLocks noGrp="1"/>
          </p:cNvSpPr>
          <p:nvPr userDrawn="1">
            <p:ph type="sldNum" sz="quarter" idx="12"/>
          </p:nvPr>
        </p:nvSpPr>
        <p:spPr>
          <a:xfrm>
            <a:off x="8128677" y="6163513"/>
            <a:ext cx="677118" cy="373479"/>
          </a:xfrm>
          <a:prstGeom prst="rect">
            <a:avLst/>
          </a:prstGeom>
        </p:spPr>
        <p:txBody>
          <a:bodyPr/>
          <a:lstStyle>
            <a:lvl1pPr algn="ctr">
              <a:defRPr sz="1050">
                <a:solidFill>
                  <a:schemeClr val="bg1"/>
                </a:solidFill>
                <a:latin typeface="微软雅黑" panose="020B0503020204020204" pitchFamily="34" charset="-122"/>
                <a:ea typeface="微软雅黑" panose="020B0503020204020204" pitchFamily="34" charset="-122"/>
              </a:defRPr>
            </a:lvl1pPr>
          </a:lstStyle>
          <a:p>
            <a:fld id="{86ED801C-AABB-4A22-A8FC-C2F77D66D86C}" type="slidenum">
              <a:rPr lang="zh-CN" altLang="en-US" smtClean="0"/>
            </a:fld>
            <a:endParaRPr lang="zh-CN" altLang="en-US" dirty="0"/>
          </a:p>
        </p:txBody>
      </p:sp>
      <p:sp>
        <p:nvSpPr>
          <p:cNvPr id="45" name="椭圆 44"/>
          <p:cNvSpPr/>
          <p:nvPr userDrawn="1"/>
        </p:nvSpPr>
        <p:spPr>
          <a:xfrm>
            <a:off x="8293736" y="6098004"/>
            <a:ext cx="335408" cy="447210"/>
          </a:xfrm>
          <a:prstGeom prst="ellipse">
            <a:avLst/>
          </a:prstGeom>
          <a:gradFill flip="none" rotWithShape="1">
            <a:gsLst>
              <a:gs pos="50000">
                <a:schemeClr val="bg1">
                  <a:alpha val="19000"/>
                </a:schemeClr>
              </a:gs>
              <a:gs pos="22000">
                <a:srgbClr val="FFFFFF">
                  <a:alpha val="40000"/>
                </a:srgbClr>
              </a:gs>
              <a:gs pos="15000">
                <a:schemeClr val="bg1">
                  <a:alpha val="87000"/>
                </a:schemeClr>
              </a:gs>
              <a:gs pos="50000">
                <a:schemeClr val="bg1">
                  <a:alpha val="10000"/>
                </a:schemeClr>
              </a:gs>
            </a:gsLst>
            <a:lin ang="3600000" scaled="0"/>
            <a:tileRect/>
          </a:gradFill>
          <a:ln w="6350">
            <a:gradFill flip="none" rotWithShape="1">
              <a:gsLst>
                <a:gs pos="50000">
                  <a:schemeClr val="bg1">
                    <a:lumMod val="75000"/>
                  </a:schemeClr>
                </a:gs>
                <a:gs pos="29000">
                  <a:schemeClr val="bg1">
                    <a:lumMod val="95000"/>
                  </a:schemeClr>
                </a:gs>
                <a:gs pos="0">
                  <a:schemeClr val="bg1"/>
                </a:gs>
                <a:gs pos="71000">
                  <a:schemeClr val="bg1">
                    <a:lumMod val="95000"/>
                  </a:schemeClr>
                </a:gs>
                <a:gs pos="100000">
                  <a:schemeClr val="bg1"/>
                </a:gs>
              </a:gsLst>
              <a:lin ang="2700000" scaled="1"/>
              <a:tileRect/>
            </a:gradFill>
          </a:ln>
          <a:effectLst>
            <a:outerShdw blurRad="228600" dist="889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userDrawn="1"/>
        </p:nvSpPr>
        <p:spPr>
          <a:xfrm>
            <a:off x="1" y="352944"/>
            <a:ext cx="4352925" cy="339172"/>
          </a:xfrm>
          <a:prstGeom prst="rect">
            <a:avLst/>
          </a:prstGeom>
          <a:effectLst>
            <a:outerShdw blurRad="25400" dist="38100" dir="2700000" sx="75000" sy="75000" algn="tl" rotWithShape="0">
              <a:prstClr val="black">
                <a:alpha val="2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350"/>
          </a:p>
        </p:txBody>
      </p:sp>
      <p:sp>
        <p:nvSpPr>
          <p:cNvPr id="23" name="文本占位符 22"/>
          <p:cNvSpPr>
            <a:spLocks noGrp="1"/>
          </p:cNvSpPr>
          <p:nvPr>
            <p:ph type="body" sz="quarter" idx="10" hasCustomPrompt="1"/>
          </p:nvPr>
        </p:nvSpPr>
        <p:spPr>
          <a:xfrm>
            <a:off x="399391" y="352922"/>
            <a:ext cx="1397397" cy="339194"/>
          </a:xfrm>
          <a:prstGeom prst="rect">
            <a:avLst/>
          </a:prstGeom>
        </p:spPr>
        <p:txBody>
          <a:bodyPr/>
          <a:lstStyle>
            <a:lvl1pPr marL="0" indent="0" algn="ctr">
              <a:buNone/>
              <a:defRPr lang="zh-CN" altLang="en-US" sz="1500" b="1" kern="1200" dirty="0" smtClean="0">
                <a:solidFill>
                  <a:schemeClr val="bg1"/>
                </a:solidFill>
                <a:effectLst/>
                <a:latin typeface="微软雅黑" panose="020B0503020204020204" pitchFamily="34" charset="-122"/>
                <a:ea typeface="微软雅黑" panose="020B0503020204020204" pitchFamily="34" charset="-122"/>
                <a:cs typeface="+mn-cs"/>
              </a:defRPr>
            </a:lvl1pPr>
          </a:lstStyle>
          <a:p>
            <a:pPr lvl="0"/>
            <a:r>
              <a:rPr lang="zh-CN" altLang="en-US" dirty="0"/>
              <a:t>单击此处添加</a:t>
            </a:r>
            <a:endParaRPr lang="zh-CN" altLang="en-US" dirty="0"/>
          </a:p>
        </p:txBody>
      </p:sp>
      <p:sp>
        <p:nvSpPr>
          <p:cNvPr id="37" name="圆: 空心 36"/>
          <p:cNvSpPr/>
          <p:nvPr userDrawn="1"/>
        </p:nvSpPr>
        <p:spPr>
          <a:xfrm>
            <a:off x="270803" y="436794"/>
            <a:ext cx="128588" cy="171450"/>
          </a:xfrm>
          <a:prstGeom prst="donu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 name="文本框 2"/>
          <p:cNvSpPr txBox="1"/>
          <p:nvPr userDrawn="1"/>
        </p:nvSpPr>
        <p:spPr>
          <a:xfrm>
            <a:off x="6058100" y="168256"/>
            <a:ext cx="3085900" cy="506730"/>
          </a:xfrm>
          <a:prstGeom prst="rect">
            <a:avLst/>
          </a:prstGeom>
          <a:noFill/>
        </p:spPr>
        <p:txBody>
          <a:bodyPr wrap="square" rtlCol="0">
            <a:spAutoFit/>
          </a:bodyPr>
          <a:lstStyle/>
          <a:p>
            <a:r>
              <a:rPr lang="zh-CN" altLang="en-US" sz="1350" dirty="0">
                <a:solidFill>
                  <a:schemeClr val="accent5">
                    <a:lumMod val="75000"/>
                  </a:schemeClr>
                </a:solidFill>
                <a:latin typeface="华文行楷" panose="02010800040101010101" pitchFamily="2" charset="-122"/>
                <a:ea typeface="华文行楷" panose="02010800040101010101" pitchFamily="2" charset="-122"/>
              </a:rPr>
              <a:t>高等院校计算机教育系列</a:t>
            </a:r>
            <a:r>
              <a:rPr lang="en-US" altLang="zh-CN" sz="1350" dirty="0">
                <a:solidFill>
                  <a:schemeClr val="accent5">
                    <a:lumMod val="75000"/>
                  </a:schemeClr>
                </a:solidFill>
                <a:latin typeface="楷体" panose="02010609060101010101" pitchFamily="49" charset="-122"/>
                <a:ea typeface="楷体" panose="02010609060101010101" pitchFamily="49" charset="-122"/>
                <a:cs typeface="Times New Roman" panose="02020603050405020304" pitchFamily="18" charset="0"/>
              </a:rPr>
              <a:t>AI</a:t>
            </a:r>
            <a:r>
              <a:rPr lang="zh-CN" altLang="en-US" sz="1350" dirty="0">
                <a:solidFill>
                  <a:schemeClr val="accent5">
                    <a:lumMod val="75000"/>
                  </a:schemeClr>
                </a:solidFill>
                <a:latin typeface="华文行楷" panose="02010800040101010101" pitchFamily="2" charset="-122"/>
                <a:ea typeface="华文行楷" panose="02010800040101010101" pitchFamily="2" charset="-122"/>
              </a:rPr>
              <a:t>智能化教材</a:t>
            </a:r>
            <a:endParaRPr lang="zh-CN" altLang="en-US" sz="1350" dirty="0">
              <a:solidFill>
                <a:schemeClr val="accent5">
                  <a:lumMod val="75000"/>
                </a:schemeClr>
              </a:solidFill>
              <a:latin typeface="华文行楷" panose="02010800040101010101" pitchFamily="2" charset="-122"/>
              <a:ea typeface="华文行楷"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1D302F-5E2D-4FF9-A986-02603DCE6FDA}"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CA248-7BE1-4335-B3FB-1E6869F2E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tags" Target="../tags/tag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tags" Target="../tags/tag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tags" Target="../tags/tag6.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8.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image" Target="../media/image26.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tags" Target="../tags/tag10.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tags" Target="../tags/tag13.xml"/><Relationship Id="rId3" Type="http://schemas.openxmlformats.org/officeDocument/2006/relationships/image" Target="../media/image28.png"/><Relationship Id="rId2" Type="http://schemas.openxmlformats.org/officeDocument/2006/relationships/tags" Target="../tags/tag12.xml"/><Relationship Id="rId1" Type="http://schemas.openxmlformats.org/officeDocument/2006/relationships/tags" Target="../tags/tag11.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image" Target="../media/image30.jpeg"/><Relationship Id="rId3" Type="http://schemas.openxmlformats.org/officeDocument/2006/relationships/tags" Target="../tags/tag16.xml"/><Relationship Id="rId2" Type="http://schemas.openxmlformats.org/officeDocument/2006/relationships/image" Target="../media/image29.png"/><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tags" Target="../tags/tag18.xml"/><Relationship Id="rId4" Type="http://schemas.openxmlformats.org/officeDocument/2006/relationships/image" Target="../media/image32.png"/><Relationship Id="rId3" Type="http://schemas.openxmlformats.org/officeDocument/2006/relationships/image" Target="../media/image29.png"/><Relationship Id="rId2" Type="http://schemas.openxmlformats.org/officeDocument/2006/relationships/tags" Target="../tags/tag17.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52.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53.jpe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55.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3" name="矩形 52"/>
          <p:cNvSpPr/>
          <p:nvPr/>
        </p:nvSpPr>
        <p:spPr>
          <a:xfrm>
            <a:off x="-17145" y="2402852"/>
            <a:ext cx="9161315" cy="2105686"/>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23"/>
          <p:cNvSpPr/>
          <p:nvPr/>
        </p:nvSpPr>
        <p:spPr>
          <a:xfrm>
            <a:off x="3600145" y="2526185"/>
            <a:ext cx="5561170" cy="193169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TextBox 7"/>
          <p:cNvSpPr>
            <a:spLocks noChangeArrowheads="1"/>
          </p:cNvSpPr>
          <p:nvPr/>
        </p:nvSpPr>
        <p:spPr bwMode="auto">
          <a:xfrm>
            <a:off x="4356032" y="2856452"/>
            <a:ext cx="4697299"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45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电控组 培训</a:t>
            </a:r>
            <a:endPar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4949943" y="3622761"/>
            <a:ext cx="3671452"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59" name="组合 58"/>
          <p:cNvGrpSpPr/>
          <p:nvPr/>
        </p:nvGrpSpPr>
        <p:grpSpPr>
          <a:xfrm>
            <a:off x="5435871" y="1821826"/>
            <a:ext cx="502789" cy="453322"/>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4" name="Freeform 126"/>
          <p:cNvSpPr>
            <a:spLocks noChangeAspect="1" noEditPoints="1"/>
          </p:cNvSpPr>
          <p:nvPr/>
        </p:nvSpPr>
        <p:spPr bwMode="auto">
          <a:xfrm>
            <a:off x="5585723" y="1927812"/>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6093566" y="1809242"/>
            <a:ext cx="502789" cy="453322"/>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0" name="Freeform 261"/>
          <p:cNvSpPr/>
          <p:nvPr/>
        </p:nvSpPr>
        <p:spPr bwMode="auto">
          <a:xfrm>
            <a:off x="6221684" y="1937926"/>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71" name="组合 70"/>
          <p:cNvGrpSpPr/>
          <p:nvPr/>
        </p:nvGrpSpPr>
        <p:grpSpPr>
          <a:xfrm>
            <a:off x="6775877" y="1809242"/>
            <a:ext cx="502789" cy="453322"/>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76" name="组合 75"/>
          <p:cNvGrpSpPr/>
          <p:nvPr/>
        </p:nvGrpSpPr>
        <p:grpSpPr>
          <a:xfrm>
            <a:off x="7440641" y="1830628"/>
            <a:ext cx="502789" cy="453322"/>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82" name="组合 81"/>
          <p:cNvGrpSpPr/>
          <p:nvPr/>
        </p:nvGrpSpPr>
        <p:grpSpPr>
          <a:xfrm>
            <a:off x="8125676" y="1809242"/>
            <a:ext cx="502789" cy="453322"/>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96" name="组合 95"/>
          <p:cNvGrpSpPr>
            <a:grpSpLocks noChangeAspect="1"/>
          </p:cNvGrpSpPr>
          <p:nvPr/>
        </p:nvGrpSpPr>
        <p:grpSpPr>
          <a:xfrm>
            <a:off x="6896562" y="1929051"/>
            <a:ext cx="265649" cy="227877"/>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100" name="Freeform 9"/>
          <p:cNvSpPr>
            <a:spLocks noEditPoints="1"/>
          </p:cNvSpPr>
          <p:nvPr/>
        </p:nvSpPr>
        <p:spPr bwMode="auto">
          <a:xfrm rot="19469485">
            <a:off x="7546084" y="1906136"/>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101" name="Freeform 206"/>
          <p:cNvSpPr>
            <a:spLocks noChangeAspect="1" noEditPoints="1"/>
          </p:cNvSpPr>
          <p:nvPr/>
        </p:nvSpPr>
        <p:spPr bwMode="auto">
          <a:xfrm>
            <a:off x="8264982" y="1900379"/>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4862204" y="2550874"/>
            <a:ext cx="2210811"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16" tIns="25708" rIns="51416" bIns="25708">
            <a:spAutoFit/>
          </a:bodyPr>
          <a:lstStyle/>
          <a:p>
            <a:pPr>
              <a:spcBef>
                <a:spcPct val="0"/>
              </a:spcBef>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2025</a:t>
            </a:r>
            <a:endParaRPr lang="zh-CN" altLang="en-US"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5911850" y="5248275"/>
            <a:ext cx="3047365" cy="553085"/>
          </a:xfrm>
          <a:prstGeom prst="rect">
            <a:avLst/>
          </a:prstGeom>
          <a:noFill/>
        </p:spPr>
        <p:txBody>
          <a:bodyPr wrap="square" rtlCol="0">
            <a:spAutoFit/>
          </a:bodyPr>
          <a:lstStyle/>
          <a:p>
            <a:r>
              <a:rPr lang="en-US" altLang="zh-CN" sz="3000" b="1" dirty="0">
                <a:solidFill>
                  <a:schemeClr val="bg1"/>
                </a:solidFill>
              </a:rPr>
              <a:t>2025</a:t>
            </a:r>
            <a:r>
              <a:rPr lang="zh-CN" altLang="en-US" sz="3000" b="1" dirty="0">
                <a:solidFill>
                  <a:schemeClr val="bg1"/>
                </a:solidFill>
              </a:rPr>
              <a:t>年</a:t>
            </a:r>
            <a:r>
              <a:rPr lang="en-US" altLang="zh-CN" sz="3000" b="1" dirty="0">
                <a:solidFill>
                  <a:schemeClr val="bg1"/>
                </a:solidFill>
              </a:rPr>
              <a:t>10</a:t>
            </a:r>
            <a:r>
              <a:rPr lang="zh-CN" altLang="en-US" sz="3000" b="1" dirty="0">
                <a:solidFill>
                  <a:schemeClr val="bg1"/>
                </a:solidFill>
              </a:rPr>
              <a:t>月</a:t>
            </a:r>
            <a:r>
              <a:rPr lang="en-US" altLang="zh-CN" sz="3000" b="1" dirty="0">
                <a:solidFill>
                  <a:schemeClr val="bg1"/>
                </a:solidFill>
              </a:rPr>
              <a:t>19</a:t>
            </a:r>
            <a:r>
              <a:rPr lang="zh-CN" altLang="en-US" sz="3000" b="1" dirty="0">
                <a:solidFill>
                  <a:schemeClr val="bg1"/>
                </a:solidFill>
              </a:rPr>
              <a:t>日</a:t>
            </a:r>
            <a:endParaRPr lang="zh-CN" altLang="en-US" sz="3000" b="1" dirty="0">
              <a:solidFill>
                <a:schemeClr val="bg1"/>
              </a:solidFill>
            </a:endParaRPr>
          </a:p>
        </p:txBody>
      </p:sp>
      <p:sp>
        <p:nvSpPr>
          <p:cNvPr id="3" name="文本框 2"/>
          <p:cNvSpPr txBox="1"/>
          <p:nvPr/>
        </p:nvSpPr>
        <p:spPr>
          <a:xfrm>
            <a:off x="7108190" y="3907790"/>
            <a:ext cx="920115" cy="368300"/>
          </a:xfrm>
          <a:prstGeom prst="rect">
            <a:avLst/>
          </a:prstGeom>
          <a:noFill/>
        </p:spPr>
        <p:txBody>
          <a:bodyPr wrap="none" rtlCol="0">
            <a:spAutoFit/>
          </a:bodyPr>
          <a:p>
            <a:r>
              <a:rPr lang="en-US" altLang="zh-CN">
                <a:solidFill>
                  <a:schemeClr val="bg1"/>
                </a:solidFill>
              </a:rPr>
              <a:t> </a:t>
            </a:r>
            <a:r>
              <a:rPr lang="zh-CN" altLang="en-US">
                <a:solidFill>
                  <a:schemeClr val="bg1"/>
                </a:solidFill>
              </a:rPr>
              <a:t>刘安东</a:t>
            </a:r>
            <a:endParaRPr lang="zh-CN"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cTn>
                              </p:par>
                              <p:par>
                                <p:cTn id="14" presetID="52" presetClass="entr" presetSubtype="0" fill="hold" grpId="0" nodeType="withEffect">
                                  <p:stCondLst>
                                    <p:cond delay="500"/>
                                  </p:stCondLst>
                                  <p:iterate type="lt">
                                    <p:tmPct val="10000"/>
                                  </p:iterate>
                                  <p:childTnLst>
                                    <p:set>
                                      <p:cBhvr>
                                        <p:cTn id="15" dur="1" fill="hold">
                                          <p:stCondLst>
                                            <p:cond delay="0"/>
                                          </p:stCondLst>
                                        </p:cTn>
                                        <p:tgtEl>
                                          <p:spTgt spid="56"/>
                                        </p:tgtEl>
                                        <p:attrNameLst>
                                          <p:attrName>style.visibility</p:attrName>
                                        </p:attrNameLst>
                                      </p:cBhvr>
                                      <p:to>
                                        <p:strVal val="visible"/>
                                      </p:to>
                                    </p:set>
                                    <p:animScale>
                                      <p:cBhvr>
                                        <p:cTn id="16"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56"/>
                                        </p:tgtEl>
                                        <p:attrNameLst>
                                          <p:attrName>ppt_x</p:attrName>
                                          <p:attrName>ppt_y</p:attrName>
                                        </p:attrNameLst>
                                      </p:cBhvr>
                                    </p:animMotion>
                                    <p:animEffect transition="in" filter="fade">
                                      <p:cBhvr>
                                        <p:cTn id="18" dur="1000"/>
                                        <p:tgtEl>
                                          <p:spTgt spid="56"/>
                                        </p:tgtEl>
                                      </p:cBhvr>
                                    </p:animEffect>
                                  </p:childTnLst>
                                </p:cTn>
                              </p:par>
                              <p:par>
                                <p:cTn id="19" presetID="22" presetClass="entr" presetSubtype="8" fill="hold" nodeType="withEffect">
                                  <p:stCondLst>
                                    <p:cond delay="100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 presetClass="entr" presetSubtype="12" fill="hold" nodeType="withEffect">
                                  <p:stCondLst>
                                    <p:cond delay="500"/>
                                  </p:stCondLst>
                                  <p:childTnLst>
                                    <p:set>
                                      <p:cBhvr>
                                        <p:cTn id="23" dur="1" fill="hold">
                                          <p:stCondLst>
                                            <p:cond delay="0"/>
                                          </p:stCondLst>
                                        </p:cTn>
                                        <p:tgtEl>
                                          <p:spTgt spid="59"/>
                                        </p:tgtEl>
                                        <p:attrNameLst>
                                          <p:attrName>style.visibility</p:attrName>
                                        </p:attrNameLst>
                                      </p:cBhvr>
                                      <p:to>
                                        <p:strVal val="visible"/>
                                      </p:to>
                                    </p:set>
                                    <p:anim calcmode="lin" valueType="num">
                                      <p:cBhvr additive="base">
                                        <p:cTn id="24" dur="500" fill="hold"/>
                                        <p:tgtEl>
                                          <p:spTgt spid="59"/>
                                        </p:tgtEl>
                                        <p:attrNameLst>
                                          <p:attrName>ppt_x</p:attrName>
                                        </p:attrNameLst>
                                      </p:cBhvr>
                                      <p:tavLst>
                                        <p:tav tm="0">
                                          <p:val>
                                            <p:strVal val="0-#ppt_w/2"/>
                                          </p:val>
                                        </p:tav>
                                        <p:tav tm="100000">
                                          <p:val>
                                            <p:strVal val="#ppt_x"/>
                                          </p:val>
                                        </p:tav>
                                      </p:tavLst>
                                    </p:anim>
                                    <p:anim calcmode="lin" valueType="num">
                                      <p:cBhvr additive="base">
                                        <p:cTn id="25" dur="500" fill="hold"/>
                                        <p:tgtEl>
                                          <p:spTgt spid="59"/>
                                        </p:tgtEl>
                                        <p:attrNameLst>
                                          <p:attrName>ppt_y</p:attrName>
                                        </p:attrNameLst>
                                      </p:cBhvr>
                                      <p:tavLst>
                                        <p:tav tm="0">
                                          <p:val>
                                            <p:strVal val="1+#ppt_h/2"/>
                                          </p:val>
                                        </p:tav>
                                        <p:tav tm="100000">
                                          <p:val>
                                            <p:strVal val="#ppt_y"/>
                                          </p:val>
                                        </p:tav>
                                      </p:tavLst>
                                    </p:anim>
                                  </p:childTnLst>
                                </p:cTn>
                              </p:par>
                              <p:par>
                                <p:cTn id="26" presetID="45" presetClass="entr" presetSubtype="0" fill="hold" grpId="0" nodeType="withEffect">
                                  <p:stCondLst>
                                    <p:cond delay="1000"/>
                                  </p:stCondLst>
                                  <p:childTnLst>
                                    <p:set>
                                      <p:cBhvr>
                                        <p:cTn id="27" dur="1" fill="hold">
                                          <p:stCondLst>
                                            <p:cond delay="0"/>
                                          </p:stCondLst>
                                        </p:cTn>
                                        <p:tgtEl>
                                          <p:spTgt spid="64"/>
                                        </p:tgtEl>
                                        <p:attrNameLst>
                                          <p:attrName>style.visibility</p:attrName>
                                        </p:attrNameLst>
                                      </p:cBhvr>
                                      <p:to>
                                        <p:strVal val="visible"/>
                                      </p:to>
                                    </p:set>
                                    <p:animEffect transition="in" filter="fade">
                                      <p:cBhvr>
                                        <p:cTn id="28" dur="2000"/>
                                        <p:tgtEl>
                                          <p:spTgt spid="64"/>
                                        </p:tgtEl>
                                      </p:cBhvr>
                                    </p:animEffect>
                                    <p:anim calcmode="lin" valueType="num">
                                      <p:cBhvr>
                                        <p:cTn id="29" dur="2000" fill="hold"/>
                                        <p:tgtEl>
                                          <p:spTgt spid="64"/>
                                        </p:tgtEl>
                                        <p:attrNameLst>
                                          <p:attrName>ppt_w</p:attrName>
                                        </p:attrNameLst>
                                      </p:cBhvr>
                                      <p:tavLst>
                                        <p:tav tm="0" fmla="#ppt_w*sin(2.5*pi*$)">
                                          <p:val>
                                            <p:fltVal val="0"/>
                                          </p:val>
                                        </p:tav>
                                        <p:tav tm="100000">
                                          <p:val>
                                            <p:fltVal val="1"/>
                                          </p:val>
                                        </p:tav>
                                      </p:tavLst>
                                    </p:anim>
                                    <p:anim calcmode="lin" valueType="num">
                                      <p:cBhvr>
                                        <p:cTn id="30" dur="2000" fill="hold"/>
                                        <p:tgtEl>
                                          <p:spTgt spid="64"/>
                                        </p:tgtEl>
                                        <p:attrNameLst>
                                          <p:attrName>ppt_h</p:attrName>
                                        </p:attrNameLst>
                                      </p:cBhvr>
                                      <p:tavLst>
                                        <p:tav tm="0">
                                          <p:val>
                                            <p:strVal val="#ppt_h"/>
                                          </p:val>
                                        </p:tav>
                                        <p:tav tm="100000">
                                          <p:val>
                                            <p:strVal val="#ppt_h"/>
                                          </p:val>
                                        </p:tav>
                                      </p:tavLst>
                                    </p:anim>
                                  </p:childTnLst>
                                </p:cTn>
                              </p:par>
                              <p:par>
                                <p:cTn id="31" presetID="2" presetClass="entr" presetSubtype="12" fill="hold" nodeType="withEffect">
                                  <p:stCondLst>
                                    <p:cond delay="500"/>
                                  </p:stCondLst>
                                  <p:childTnLst>
                                    <p:set>
                                      <p:cBhvr>
                                        <p:cTn id="32" dur="1" fill="hold">
                                          <p:stCondLst>
                                            <p:cond delay="0"/>
                                          </p:stCondLst>
                                        </p:cTn>
                                        <p:tgtEl>
                                          <p:spTgt spid="65"/>
                                        </p:tgtEl>
                                        <p:attrNameLst>
                                          <p:attrName>style.visibility</p:attrName>
                                        </p:attrNameLst>
                                      </p:cBhvr>
                                      <p:to>
                                        <p:strVal val="visible"/>
                                      </p:to>
                                    </p:set>
                                    <p:anim calcmode="lin" valueType="num">
                                      <p:cBhvr additive="base">
                                        <p:cTn id="33" dur="500" fill="hold"/>
                                        <p:tgtEl>
                                          <p:spTgt spid="65"/>
                                        </p:tgtEl>
                                        <p:attrNameLst>
                                          <p:attrName>ppt_x</p:attrName>
                                        </p:attrNameLst>
                                      </p:cBhvr>
                                      <p:tavLst>
                                        <p:tav tm="0">
                                          <p:val>
                                            <p:strVal val="0-#ppt_w/2"/>
                                          </p:val>
                                        </p:tav>
                                        <p:tav tm="100000">
                                          <p:val>
                                            <p:strVal val="#ppt_x"/>
                                          </p:val>
                                        </p:tav>
                                      </p:tavLst>
                                    </p:anim>
                                    <p:anim calcmode="lin" valueType="num">
                                      <p:cBhvr additive="base">
                                        <p:cTn id="34" dur="500" fill="hold"/>
                                        <p:tgtEl>
                                          <p:spTgt spid="65"/>
                                        </p:tgtEl>
                                        <p:attrNameLst>
                                          <p:attrName>ppt_y</p:attrName>
                                        </p:attrNameLst>
                                      </p:cBhvr>
                                      <p:tavLst>
                                        <p:tav tm="0">
                                          <p:val>
                                            <p:strVal val="1+#ppt_h/2"/>
                                          </p:val>
                                        </p:tav>
                                        <p:tav tm="100000">
                                          <p:val>
                                            <p:strVal val="#ppt_y"/>
                                          </p:val>
                                        </p:tav>
                                      </p:tavLst>
                                    </p:anim>
                                  </p:childTnLst>
                                </p:cTn>
                              </p:par>
                              <p:par>
                                <p:cTn id="35" presetID="45" presetClass="entr" presetSubtype="0" fill="hold" grpId="0" nodeType="withEffect">
                                  <p:stCondLst>
                                    <p:cond delay="100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2000"/>
                                        <p:tgtEl>
                                          <p:spTgt spid="70"/>
                                        </p:tgtEl>
                                      </p:cBhvr>
                                    </p:animEffect>
                                    <p:anim calcmode="lin" valueType="num">
                                      <p:cBhvr>
                                        <p:cTn id="38" dur="2000" fill="hold"/>
                                        <p:tgtEl>
                                          <p:spTgt spid="70"/>
                                        </p:tgtEl>
                                        <p:attrNameLst>
                                          <p:attrName>ppt_w</p:attrName>
                                        </p:attrNameLst>
                                      </p:cBhvr>
                                      <p:tavLst>
                                        <p:tav tm="0" fmla="#ppt_w*sin(2.5*pi*$)">
                                          <p:val>
                                            <p:fltVal val="0"/>
                                          </p:val>
                                        </p:tav>
                                        <p:tav tm="100000">
                                          <p:val>
                                            <p:fltVal val="1"/>
                                          </p:val>
                                        </p:tav>
                                      </p:tavLst>
                                    </p:anim>
                                    <p:anim calcmode="lin" valueType="num">
                                      <p:cBhvr>
                                        <p:cTn id="39" dur="2000" fill="hold"/>
                                        <p:tgtEl>
                                          <p:spTgt spid="70"/>
                                        </p:tgtEl>
                                        <p:attrNameLst>
                                          <p:attrName>ppt_h</p:attrName>
                                        </p:attrNameLst>
                                      </p:cBhvr>
                                      <p:tavLst>
                                        <p:tav tm="0">
                                          <p:val>
                                            <p:strVal val="#ppt_h"/>
                                          </p:val>
                                        </p:tav>
                                        <p:tav tm="100000">
                                          <p:val>
                                            <p:strVal val="#ppt_h"/>
                                          </p:val>
                                        </p:tav>
                                      </p:tavLst>
                                    </p:anim>
                                  </p:childTnLst>
                                </p:cTn>
                              </p:par>
                              <p:par>
                                <p:cTn id="40" presetID="2" presetClass="entr" presetSubtype="12" fill="hold" nodeType="withEffect">
                                  <p:stCondLst>
                                    <p:cond delay="500"/>
                                  </p:stCondLst>
                                  <p:childTnLst>
                                    <p:set>
                                      <p:cBhvr>
                                        <p:cTn id="41" dur="1" fill="hold">
                                          <p:stCondLst>
                                            <p:cond delay="0"/>
                                          </p:stCondLst>
                                        </p:cTn>
                                        <p:tgtEl>
                                          <p:spTgt spid="71"/>
                                        </p:tgtEl>
                                        <p:attrNameLst>
                                          <p:attrName>style.visibility</p:attrName>
                                        </p:attrNameLst>
                                      </p:cBhvr>
                                      <p:to>
                                        <p:strVal val="visible"/>
                                      </p:to>
                                    </p:set>
                                    <p:anim calcmode="lin" valueType="num">
                                      <p:cBhvr additive="base">
                                        <p:cTn id="42" dur="500" fill="hold"/>
                                        <p:tgtEl>
                                          <p:spTgt spid="71"/>
                                        </p:tgtEl>
                                        <p:attrNameLst>
                                          <p:attrName>ppt_x</p:attrName>
                                        </p:attrNameLst>
                                      </p:cBhvr>
                                      <p:tavLst>
                                        <p:tav tm="0">
                                          <p:val>
                                            <p:strVal val="0-#ppt_w/2"/>
                                          </p:val>
                                        </p:tav>
                                        <p:tav tm="100000">
                                          <p:val>
                                            <p:strVal val="#ppt_x"/>
                                          </p:val>
                                        </p:tav>
                                      </p:tavLst>
                                    </p:anim>
                                    <p:anim calcmode="lin" valueType="num">
                                      <p:cBhvr additive="base">
                                        <p:cTn id="43" dur="500" fill="hold"/>
                                        <p:tgtEl>
                                          <p:spTgt spid="71"/>
                                        </p:tgtEl>
                                        <p:attrNameLst>
                                          <p:attrName>ppt_y</p:attrName>
                                        </p:attrNameLst>
                                      </p:cBhvr>
                                      <p:tavLst>
                                        <p:tav tm="0">
                                          <p:val>
                                            <p:strVal val="1+#ppt_h/2"/>
                                          </p:val>
                                        </p:tav>
                                        <p:tav tm="100000">
                                          <p:val>
                                            <p:strVal val="#ppt_y"/>
                                          </p:val>
                                        </p:tav>
                                      </p:tavLst>
                                    </p:anim>
                                  </p:childTnLst>
                                </p:cTn>
                              </p:par>
                              <p:par>
                                <p:cTn id="44" presetID="2" presetClass="entr" presetSubtype="12" fill="hold" nodeType="withEffect">
                                  <p:stCondLst>
                                    <p:cond delay="500"/>
                                  </p:stCondLst>
                                  <p:childTnLst>
                                    <p:set>
                                      <p:cBhvr>
                                        <p:cTn id="45" dur="1" fill="hold">
                                          <p:stCondLst>
                                            <p:cond delay="0"/>
                                          </p:stCondLst>
                                        </p:cTn>
                                        <p:tgtEl>
                                          <p:spTgt spid="76"/>
                                        </p:tgtEl>
                                        <p:attrNameLst>
                                          <p:attrName>style.visibility</p:attrName>
                                        </p:attrNameLst>
                                      </p:cBhvr>
                                      <p:to>
                                        <p:strVal val="visible"/>
                                      </p:to>
                                    </p:set>
                                    <p:anim calcmode="lin" valueType="num">
                                      <p:cBhvr additive="base">
                                        <p:cTn id="46" dur="500" fill="hold"/>
                                        <p:tgtEl>
                                          <p:spTgt spid="76"/>
                                        </p:tgtEl>
                                        <p:attrNameLst>
                                          <p:attrName>ppt_x</p:attrName>
                                        </p:attrNameLst>
                                      </p:cBhvr>
                                      <p:tavLst>
                                        <p:tav tm="0">
                                          <p:val>
                                            <p:strVal val="0-#ppt_w/2"/>
                                          </p:val>
                                        </p:tav>
                                        <p:tav tm="100000">
                                          <p:val>
                                            <p:strVal val="#ppt_x"/>
                                          </p:val>
                                        </p:tav>
                                      </p:tavLst>
                                    </p:anim>
                                    <p:anim calcmode="lin" valueType="num">
                                      <p:cBhvr additive="base">
                                        <p:cTn id="47" dur="500" fill="hold"/>
                                        <p:tgtEl>
                                          <p:spTgt spid="76"/>
                                        </p:tgtEl>
                                        <p:attrNameLst>
                                          <p:attrName>ppt_y</p:attrName>
                                        </p:attrNameLst>
                                      </p:cBhvr>
                                      <p:tavLst>
                                        <p:tav tm="0">
                                          <p:val>
                                            <p:strVal val="1+#ppt_h/2"/>
                                          </p:val>
                                        </p:tav>
                                        <p:tav tm="100000">
                                          <p:val>
                                            <p:strVal val="#ppt_y"/>
                                          </p:val>
                                        </p:tav>
                                      </p:tavLst>
                                    </p:anim>
                                  </p:childTnLst>
                                </p:cTn>
                              </p:par>
                              <p:par>
                                <p:cTn id="48" presetID="2" presetClass="entr" presetSubtype="12" fill="hold" nodeType="withEffect">
                                  <p:stCondLst>
                                    <p:cond delay="500"/>
                                  </p:stCondLst>
                                  <p:childTnLst>
                                    <p:set>
                                      <p:cBhvr>
                                        <p:cTn id="49" dur="1" fill="hold">
                                          <p:stCondLst>
                                            <p:cond delay="0"/>
                                          </p:stCondLst>
                                        </p:cTn>
                                        <p:tgtEl>
                                          <p:spTgt spid="82"/>
                                        </p:tgtEl>
                                        <p:attrNameLst>
                                          <p:attrName>style.visibility</p:attrName>
                                        </p:attrNameLst>
                                      </p:cBhvr>
                                      <p:to>
                                        <p:strVal val="visible"/>
                                      </p:to>
                                    </p:set>
                                    <p:anim calcmode="lin" valueType="num">
                                      <p:cBhvr additive="base">
                                        <p:cTn id="50" dur="500" fill="hold"/>
                                        <p:tgtEl>
                                          <p:spTgt spid="82"/>
                                        </p:tgtEl>
                                        <p:attrNameLst>
                                          <p:attrName>ppt_x</p:attrName>
                                        </p:attrNameLst>
                                      </p:cBhvr>
                                      <p:tavLst>
                                        <p:tav tm="0">
                                          <p:val>
                                            <p:strVal val="0-#ppt_w/2"/>
                                          </p:val>
                                        </p:tav>
                                        <p:tav tm="100000">
                                          <p:val>
                                            <p:strVal val="#ppt_x"/>
                                          </p:val>
                                        </p:tav>
                                      </p:tavLst>
                                    </p:anim>
                                    <p:anim calcmode="lin" valueType="num">
                                      <p:cBhvr additive="base">
                                        <p:cTn id="51" dur="500" fill="hold"/>
                                        <p:tgtEl>
                                          <p:spTgt spid="82"/>
                                        </p:tgtEl>
                                        <p:attrNameLst>
                                          <p:attrName>ppt_y</p:attrName>
                                        </p:attrNameLst>
                                      </p:cBhvr>
                                      <p:tavLst>
                                        <p:tav tm="0">
                                          <p:val>
                                            <p:strVal val="1+#ppt_h/2"/>
                                          </p:val>
                                        </p:tav>
                                        <p:tav tm="100000">
                                          <p:val>
                                            <p:strVal val="#ppt_y"/>
                                          </p:val>
                                        </p:tav>
                                      </p:tavLst>
                                    </p:anim>
                                  </p:childTnLst>
                                </p:cTn>
                              </p:par>
                              <p:par>
                                <p:cTn id="52" presetID="45" presetClass="entr" presetSubtype="0" fill="hold" nodeType="withEffect">
                                  <p:stCondLst>
                                    <p:cond delay="1000"/>
                                  </p:stCondLst>
                                  <p:childTnLst>
                                    <p:set>
                                      <p:cBhvr>
                                        <p:cTn id="53" dur="1" fill="hold">
                                          <p:stCondLst>
                                            <p:cond delay="0"/>
                                          </p:stCondLst>
                                        </p:cTn>
                                        <p:tgtEl>
                                          <p:spTgt spid="96"/>
                                        </p:tgtEl>
                                        <p:attrNameLst>
                                          <p:attrName>style.visibility</p:attrName>
                                        </p:attrNameLst>
                                      </p:cBhvr>
                                      <p:to>
                                        <p:strVal val="visible"/>
                                      </p:to>
                                    </p:set>
                                    <p:animEffect transition="in" filter="fade">
                                      <p:cBhvr>
                                        <p:cTn id="54" dur="2000"/>
                                        <p:tgtEl>
                                          <p:spTgt spid="96"/>
                                        </p:tgtEl>
                                      </p:cBhvr>
                                    </p:animEffect>
                                    <p:anim calcmode="lin" valueType="num">
                                      <p:cBhvr>
                                        <p:cTn id="55" dur="2000" fill="hold"/>
                                        <p:tgtEl>
                                          <p:spTgt spid="96"/>
                                        </p:tgtEl>
                                        <p:attrNameLst>
                                          <p:attrName>ppt_w</p:attrName>
                                        </p:attrNameLst>
                                      </p:cBhvr>
                                      <p:tavLst>
                                        <p:tav tm="0" fmla="#ppt_w*sin(2.5*pi*$)">
                                          <p:val>
                                            <p:fltVal val="0"/>
                                          </p:val>
                                        </p:tav>
                                        <p:tav tm="100000">
                                          <p:val>
                                            <p:fltVal val="1"/>
                                          </p:val>
                                        </p:tav>
                                      </p:tavLst>
                                    </p:anim>
                                    <p:anim calcmode="lin" valueType="num">
                                      <p:cBhvr>
                                        <p:cTn id="56" dur="2000" fill="hold"/>
                                        <p:tgtEl>
                                          <p:spTgt spid="96"/>
                                        </p:tgtEl>
                                        <p:attrNameLst>
                                          <p:attrName>ppt_h</p:attrName>
                                        </p:attrNameLst>
                                      </p:cBhvr>
                                      <p:tavLst>
                                        <p:tav tm="0">
                                          <p:val>
                                            <p:strVal val="#ppt_h"/>
                                          </p:val>
                                        </p:tav>
                                        <p:tav tm="100000">
                                          <p:val>
                                            <p:strVal val="#ppt_h"/>
                                          </p:val>
                                        </p:tav>
                                      </p:tavLst>
                                    </p:anim>
                                  </p:childTnLst>
                                </p:cTn>
                              </p:par>
                              <p:par>
                                <p:cTn id="57" presetID="45" presetClass="entr" presetSubtype="0" fill="hold" grpId="0" nodeType="withEffect">
                                  <p:stCondLst>
                                    <p:cond delay="1000"/>
                                  </p:stCondLst>
                                  <p:childTnLst>
                                    <p:set>
                                      <p:cBhvr>
                                        <p:cTn id="58" dur="1" fill="hold">
                                          <p:stCondLst>
                                            <p:cond delay="0"/>
                                          </p:stCondLst>
                                        </p:cTn>
                                        <p:tgtEl>
                                          <p:spTgt spid="100"/>
                                        </p:tgtEl>
                                        <p:attrNameLst>
                                          <p:attrName>style.visibility</p:attrName>
                                        </p:attrNameLst>
                                      </p:cBhvr>
                                      <p:to>
                                        <p:strVal val="visible"/>
                                      </p:to>
                                    </p:set>
                                    <p:animEffect transition="in" filter="fade">
                                      <p:cBhvr>
                                        <p:cTn id="59" dur="2000"/>
                                        <p:tgtEl>
                                          <p:spTgt spid="100"/>
                                        </p:tgtEl>
                                      </p:cBhvr>
                                    </p:animEffect>
                                    <p:anim calcmode="lin" valueType="num">
                                      <p:cBhvr>
                                        <p:cTn id="60" dur="2000" fill="hold"/>
                                        <p:tgtEl>
                                          <p:spTgt spid="100"/>
                                        </p:tgtEl>
                                        <p:attrNameLst>
                                          <p:attrName>ppt_w</p:attrName>
                                        </p:attrNameLst>
                                      </p:cBhvr>
                                      <p:tavLst>
                                        <p:tav tm="0" fmla="#ppt_w*sin(2.5*pi*$)">
                                          <p:val>
                                            <p:fltVal val="0"/>
                                          </p:val>
                                        </p:tav>
                                        <p:tav tm="100000">
                                          <p:val>
                                            <p:fltVal val="1"/>
                                          </p:val>
                                        </p:tav>
                                      </p:tavLst>
                                    </p:anim>
                                    <p:anim calcmode="lin" valueType="num">
                                      <p:cBhvr>
                                        <p:cTn id="61" dur="2000" fill="hold"/>
                                        <p:tgtEl>
                                          <p:spTgt spid="100"/>
                                        </p:tgtEl>
                                        <p:attrNameLst>
                                          <p:attrName>ppt_h</p:attrName>
                                        </p:attrNameLst>
                                      </p:cBhvr>
                                      <p:tavLst>
                                        <p:tav tm="0">
                                          <p:val>
                                            <p:strVal val="#ppt_h"/>
                                          </p:val>
                                        </p:tav>
                                        <p:tav tm="100000">
                                          <p:val>
                                            <p:strVal val="#ppt_h"/>
                                          </p:val>
                                        </p:tav>
                                      </p:tavLst>
                                    </p:anim>
                                  </p:childTnLst>
                                </p:cTn>
                              </p:par>
                              <p:par>
                                <p:cTn id="62" presetID="45" presetClass="entr" presetSubtype="0" fill="hold" grpId="0" nodeType="withEffect">
                                  <p:stCondLst>
                                    <p:cond delay="1000"/>
                                  </p:stCondLst>
                                  <p:childTnLst>
                                    <p:set>
                                      <p:cBhvr>
                                        <p:cTn id="63" dur="1" fill="hold">
                                          <p:stCondLst>
                                            <p:cond delay="0"/>
                                          </p:stCondLst>
                                        </p:cTn>
                                        <p:tgtEl>
                                          <p:spTgt spid="101"/>
                                        </p:tgtEl>
                                        <p:attrNameLst>
                                          <p:attrName>style.visibility</p:attrName>
                                        </p:attrNameLst>
                                      </p:cBhvr>
                                      <p:to>
                                        <p:strVal val="visible"/>
                                      </p:to>
                                    </p:set>
                                    <p:animEffect transition="in" filter="fade">
                                      <p:cBhvr>
                                        <p:cTn id="64" dur="2000"/>
                                        <p:tgtEl>
                                          <p:spTgt spid="101"/>
                                        </p:tgtEl>
                                      </p:cBhvr>
                                    </p:animEffect>
                                    <p:anim calcmode="lin" valueType="num">
                                      <p:cBhvr>
                                        <p:cTn id="65" dur="2000" fill="hold"/>
                                        <p:tgtEl>
                                          <p:spTgt spid="101"/>
                                        </p:tgtEl>
                                        <p:attrNameLst>
                                          <p:attrName>ppt_w</p:attrName>
                                        </p:attrNameLst>
                                      </p:cBhvr>
                                      <p:tavLst>
                                        <p:tav tm="0" fmla="#ppt_w*sin(2.5*pi*$)">
                                          <p:val>
                                            <p:fltVal val="0"/>
                                          </p:val>
                                        </p:tav>
                                        <p:tav tm="100000">
                                          <p:val>
                                            <p:fltVal val="1"/>
                                          </p:val>
                                        </p:tav>
                                      </p:tavLst>
                                    </p:anim>
                                    <p:anim calcmode="lin" valueType="num">
                                      <p:cBhvr>
                                        <p:cTn id="66" dur="2000" fill="hold"/>
                                        <p:tgtEl>
                                          <p:spTgt spid="101"/>
                                        </p:tgtEl>
                                        <p:attrNameLst>
                                          <p:attrName>ppt_h</p:attrName>
                                        </p:attrNameLst>
                                      </p:cBhvr>
                                      <p:tavLst>
                                        <p:tav tm="0">
                                          <p:val>
                                            <p:strVal val="#ppt_h"/>
                                          </p:val>
                                        </p:tav>
                                        <p:tav tm="100000">
                                          <p:val>
                                            <p:strVal val="#ppt_h"/>
                                          </p:val>
                                        </p:tav>
                                      </p:tavLst>
                                    </p:anim>
                                  </p:childTnLst>
                                </p:cTn>
                              </p:par>
                            </p:childTnLst>
                          </p:cTn>
                        </p:par>
                        <p:par>
                          <p:cTn id="67" fill="hold">
                            <p:stCondLst>
                              <p:cond delay="3500"/>
                            </p:stCondLst>
                            <p:childTnLst>
                              <p:par>
                                <p:cTn id="68" presetID="22" presetClass="entr" presetSubtype="8" fill="hold" grpId="0" nodeType="afterEffect">
                                  <p:stCondLst>
                                    <p:cond delay="0"/>
                                  </p:stCondLst>
                                  <p:childTnLst>
                                    <p:set>
                                      <p:cBhvr>
                                        <p:cTn id="69" dur="1" fill="hold">
                                          <p:stCondLst>
                                            <p:cond delay="0"/>
                                          </p:stCondLst>
                                        </p:cTn>
                                        <p:tgtEl>
                                          <p:spTgt spid="103"/>
                                        </p:tgtEl>
                                        <p:attrNameLst>
                                          <p:attrName>style.visibility</p:attrName>
                                        </p:attrNameLst>
                                      </p:cBhvr>
                                      <p:to>
                                        <p:strVal val="visible"/>
                                      </p:to>
                                    </p:set>
                                    <p:animEffect transition="in" filter="wipe(left)">
                                      <p:cBhvr>
                                        <p:cTn id="7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bldLvl="0" animBg="1"/>
      <p:bldP spid="56" grpId="0"/>
      <p:bldP spid="64" grpId="0" bldLvl="0" animBg="1"/>
      <p:bldP spid="70" grpId="0" bldLvl="0" animBg="1"/>
      <p:bldP spid="100" grpId="0" bldLvl="0" animBg="1"/>
      <p:bldP spid="101" grpId="0" bldLvl="0" animBg="1"/>
      <p:bldP spid="10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34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796356" y="3100983"/>
            <a:ext cx="4645651" cy="706755"/>
          </a:xfrm>
          <a:prstGeom prst="rect">
            <a:avLst/>
          </a:prstGeom>
          <a:noFill/>
        </p:spPr>
        <p:txBody>
          <a:bodyPr wrap="square" rtlCol="0">
            <a:spAutoFit/>
          </a:bodyPr>
          <a:lstStyle/>
          <a:p>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单片机开发基础</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862397" y="380743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1014730"/>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a:t>
            </a:r>
            <a:r>
              <a:rPr lang="en-US" altLang="zh-CN" sz="6000" b="1" dirty="0">
                <a:solidFill>
                  <a:schemeClr val="accent1"/>
                </a:solidFill>
                <a:latin typeface="Times New Roman" panose="02020603050405020304" pitchFamily="18" charset="0"/>
                <a:cs typeface="Times New Roman" panose="02020603050405020304" pitchFamily="18" charset="0"/>
              </a:rPr>
              <a:t>one</a:t>
            </a:r>
            <a:endParaRPr lang="zh-CN" altLang="en-US" sz="60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up)">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初识单片机</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a:off x="5939252" y="5047659"/>
            <a:ext cx="210947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algn="ctr" fontAlgn="base">
              <a:spcBef>
                <a:spcPct val="0"/>
              </a:spcBef>
              <a:spcAft>
                <a:spcPct val="0"/>
              </a:spcAft>
            </a:pPr>
            <a:r>
              <a:rPr lang="en-US" altLang="zh-CN"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STM32F103C8T6</a:t>
            </a:r>
            <a:endParaRPr lang="en-US" altLang="zh-CN"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156845" y="1249680"/>
            <a:ext cx="4967605" cy="4707890"/>
          </a:xfrm>
          <a:prstGeom prst="rect">
            <a:avLst/>
          </a:prstGeom>
        </p:spPr>
        <p:txBody>
          <a:bodyPr wrap="square">
            <a:spAutoFit/>
          </a:bodyPr>
          <a:lstStyle/>
          <a:p>
            <a:pPr indent="457200">
              <a:lnSpc>
                <a:spcPct val="125000"/>
              </a:lnSpc>
            </a:pPr>
            <a:r>
              <a:rPr sz="2000" dirty="0">
                <a:latin typeface="微软雅黑" panose="020B0503020204020204" pitchFamily="34" charset="-122"/>
                <a:ea typeface="微软雅黑" panose="020B0503020204020204" pitchFamily="34" charset="-122"/>
              </a:rPr>
              <a:t>单片机</a:t>
            </a:r>
            <a:r>
              <a:rPr 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MCU</a:t>
            </a:r>
            <a:r>
              <a:rPr lang="zh-CN" sz="2000" dirty="0">
                <a:latin typeface="微软雅黑" panose="020B0503020204020204" pitchFamily="34" charset="-122"/>
                <a:ea typeface="微软雅黑" panose="020B0503020204020204" pitchFamily="34" charset="-122"/>
              </a:rPr>
              <a:t>）</a:t>
            </a:r>
            <a:r>
              <a:rPr sz="2000" dirty="0">
                <a:latin typeface="微软雅黑" panose="020B0503020204020204" pitchFamily="34" charset="-122"/>
                <a:ea typeface="微软雅黑" panose="020B0503020204020204" pitchFamily="34" charset="-122"/>
              </a:rPr>
              <a:t>是一种集成电路芯片，</a:t>
            </a:r>
            <a:r>
              <a:rPr lang="zh-CN" sz="2000" dirty="0">
                <a:latin typeface="微软雅黑" panose="020B0503020204020204" pitchFamily="34" charset="-122"/>
                <a:ea typeface="微软雅黑" panose="020B0503020204020204" pitchFamily="34" charset="-122"/>
              </a:rPr>
              <a:t>内部集成了</a:t>
            </a:r>
            <a:r>
              <a:rPr sz="2000" dirty="0">
                <a:latin typeface="微软雅黑" panose="020B0503020204020204" pitchFamily="34" charset="-122"/>
                <a:ea typeface="微软雅黑" panose="020B0503020204020204" pitchFamily="34" charset="-122"/>
              </a:rPr>
              <a:t>CPU、随机存储器RAM、只读存储器ROM、多种I/O口和中断系统、定时器/计数器等功能</a:t>
            </a:r>
            <a:endParaRPr sz="2000" dirty="0">
              <a:latin typeface="微软雅黑" panose="020B0503020204020204" pitchFamily="34" charset="-122"/>
              <a:ea typeface="微软雅黑" panose="020B0503020204020204" pitchFamily="34" charset="-122"/>
            </a:endParaRPr>
          </a:p>
          <a:p>
            <a:pPr indent="457200">
              <a:lnSpc>
                <a:spcPct val="125000"/>
              </a:lnSpc>
            </a:pPr>
            <a:r>
              <a:rPr lang="zh-CN" sz="2000" dirty="0">
                <a:latin typeface="微软雅黑" panose="020B0503020204020204" pitchFamily="34" charset="-122"/>
                <a:ea typeface="微软雅黑" panose="020B0503020204020204" pitchFamily="34" charset="-122"/>
              </a:rPr>
              <a:t>单片机的任务是信息采集、（读取传感器信息）、处理数据（依靠</a:t>
            </a:r>
            <a:r>
              <a:rPr lang="en-US" altLang="zh-CN" sz="2000" dirty="0">
                <a:latin typeface="微软雅黑" panose="020B0503020204020204" pitchFamily="34" charset="-122"/>
                <a:ea typeface="微软雅黑" panose="020B0503020204020204" pitchFamily="34" charset="-122"/>
              </a:rPr>
              <a:t>CPU</a:t>
            </a:r>
            <a:r>
              <a:rPr lang="zh-CN" sz="2000" dirty="0">
                <a:latin typeface="微软雅黑" panose="020B0503020204020204" pitchFamily="34" charset="-122"/>
                <a:ea typeface="微软雅黑" panose="020B0503020204020204" pitchFamily="34" charset="-122"/>
              </a:rPr>
              <a:t>）、控制硬件电路</a:t>
            </a:r>
            <a:r>
              <a:rPr lang="zh-CN" sz="2000" dirty="0">
                <a:latin typeface="微软雅黑" panose="020B0503020204020204" pitchFamily="34" charset="-122"/>
                <a:ea typeface="微软雅黑" panose="020B0503020204020204" pitchFamily="34" charset="-122"/>
              </a:rPr>
              <a:t>设备等</a:t>
            </a:r>
            <a:endParaRPr sz="2000" dirty="0">
              <a:latin typeface="微软雅黑" panose="020B0503020204020204" pitchFamily="34" charset="-122"/>
              <a:ea typeface="微软雅黑" panose="020B0503020204020204" pitchFamily="34" charset="-122"/>
            </a:endParaRPr>
          </a:p>
          <a:p>
            <a:pPr indent="457200">
              <a:lnSpc>
                <a:spcPct val="125000"/>
              </a:lnSpc>
            </a:pPr>
            <a:r>
              <a:rPr lang="zh-CN" sz="2000" dirty="0">
                <a:latin typeface="微软雅黑" panose="020B0503020204020204" pitchFamily="34" charset="-122"/>
                <a:ea typeface="微软雅黑" panose="020B0503020204020204" pitchFamily="34" charset="-122"/>
              </a:rPr>
              <a:t>单片机是</a:t>
            </a:r>
            <a:r>
              <a:rPr sz="2000" dirty="0">
                <a:latin typeface="微软雅黑" panose="020B0503020204020204" pitchFamily="34" charset="-122"/>
                <a:ea typeface="微软雅黑" panose="020B0503020204020204" pitchFamily="34" charset="-122"/>
              </a:rPr>
              <a:t>集成到一块硅片上构成的一个小而完善的微型计算机系统，</a:t>
            </a:r>
            <a:r>
              <a:rPr lang="zh-CN" sz="2000" dirty="0">
                <a:latin typeface="微软雅黑" panose="020B0503020204020204" pitchFamily="34" charset="-122"/>
                <a:ea typeface="微软雅黑" panose="020B0503020204020204" pitchFamily="34" charset="-122"/>
              </a:rPr>
              <a:t>总体性能上远比不上计算机，但是因为单片机成本低，体积小，结构简单，拥有超高的性价比，所以</a:t>
            </a:r>
            <a:r>
              <a:rPr sz="2000" dirty="0">
                <a:latin typeface="微软雅黑" panose="020B0503020204020204" pitchFamily="34" charset="-122"/>
                <a:ea typeface="微软雅黑" panose="020B0503020204020204" pitchFamily="34" charset="-122"/>
              </a:rPr>
              <a:t>在工业控制领域广泛应用。</a:t>
            </a:r>
            <a:endParaRPr sz="20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150174" y="651817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l="9710" t="16531" r="9328" b="7372"/>
          <a:stretch>
            <a:fillRect/>
          </a:stretch>
        </p:blipFill>
        <p:spPr>
          <a:xfrm>
            <a:off x="5343261" y="1812923"/>
            <a:ext cx="3557239" cy="2865833"/>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500"/>
                                        <p:tgtEl>
                                          <p:spTgt spid="28"/>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par>
                                <p:cTn id="16" presetID="53" presetClass="entr" presetSubtype="16" fill="hold" grpId="0" nodeType="withEffect">
                                  <p:stCondLst>
                                    <p:cond delay="25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3" grpId="0" bldLvl="0" animBg="1"/>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编译</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156845" y="1249680"/>
            <a:ext cx="4499610" cy="4407535"/>
          </a:xfrm>
          <a:prstGeom prst="rect">
            <a:avLst/>
          </a:prstGeom>
        </p:spPr>
        <p:txBody>
          <a:bodyPr wrap="square">
            <a:spAutoFit/>
          </a:bodyPr>
          <a:lstStyle/>
          <a:p>
            <a:pPr indent="457200" fontAlgn="auto">
              <a:lnSpc>
                <a:spcPct val="130000"/>
              </a:lnSpc>
            </a:pPr>
            <a:r>
              <a:rPr dirty="0">
                <a:latin typeface="微软雅黑" panose="020B0503020204020204" pitchFamily="34" charset="-122"/>
                <a:ea typeface="微软雅黑" panose="020B0503020204020204" pitchFamily="34" charset="-122"/>
              </a:rPr>
              <a:t>下载器:</a:t>
            </a:r>
            <a:endParaRPr dirty="0">
              <a:latin typeface="微软雅黑" panose="020B0503020204020204" pitchFamily="34" charset="-122"/>
              <a:ea typeface="微软雅黑" panose="020B0503020204020204" pitchFamily="34" charset="-122"/>
            </a:endParaRPr>
          </a:p>
          <a:p>
            <a:pPr indent="457200" fontAlgn="auto">
              <a:lnSpc>
                <a:spcPct val="130000"/>
              </a:lnSpc>
            </a:pPr>
            <a:r>
              <a:rPr dirty="0">
                <a:latin typeface="微软雅黑" panose="020B0503020204020204" pitchFamily="34" charset="-122"/>
                <a:ea typeface="微软雅黑" panose="020B0503020204020204" pitchFamily="34" charset="-122"/>
              </a:rPr>
              <a:t>单片机下载器是一种设备或工具，用于将编译好的程序代码从计算机上下载到目标单片机芯片中下载器通常通过串行或并行接口与计算机连接，并通过特定的通信协议与目标单片机进行通信。</a:t>
            </a:r>
            <a:endParaRPr dirty="0">
              <a:latin typeface="微软雅黑" panose="020B0503020204020204" pitchFamily="34" charset="-122"/>
              <a:ea typeface="微软雅黑" panose="020B0503020204020204" pitchFamily="34" charset="-122"/>
            </a:endParaRPr>
          </a:p>
          <a:p>
            <a:pPr indent="457200" fontAlgn="auto">
              <a:lnSpc>
                <a:spcPct val="130000"/>
              </a:lnSpc>
            </a:pPr>
            <a:endParaRPr dirty="0">
              <a:latin typeface="微软雅黑" panose="020B0503020204020204" pitchFamily="34" charset="-122"/>
              <a:ea typeface="微软雅黑" panose="020B0503020204020204" pitchFamily="34" charset="-122"/>
            </a:endParaRPr>
          </a:p>
          <a:p>
            <a:pPr indent="457200" fontAlgn="auto">
              <a:lnSpc>
                <a:spcPct val="130000"/>
              </a:lnSpc>
            </a:pPr>
            <a:r>
              <a:rPr dirty="0">
                <a:latin typeface="微软雅黑" panose="020B0503020204020204" pitchFamily="34" charset="-122"/>
                <a:ea typeface="微软雅黑" panose="020B0503020204020204" pitchFamily="34" charset="-122"/>
              </a:rPr>
              <a:t>调试器:</a:t>
            </a:r>
            <a:endParaRPr dirty="0">
              <a:latin typeface="微软雅黑" panose="020B0503020204020204" pitchFamily="34" charset="-122"/>
              <a:ea typeface="微软雅黑" panose="020B0503020204020204" pitchFamily="34" charset="-122"/>
            </a:endParaRPr>
          </a:p>
          <a:p>
            <a:pPr indent="457200" fontAlgn="auto">
              <a:lnSpc>
                <a:spcPct val="130000"/>
              </a:lnSpc>
            </a:pPr>
            <a:r>
              <a:rPr dirty="0">
                <a:latin typeface="微软雅黑" panose="020B0503020204020204" pitchFamily="34" charset="-122"/>
                <a:ea typeface="微软雅黑" panose="020B0503020204020204" pitchFamily="34" charset="-122"/>
              </a:rPr>
              <a:t>单片机调试器是一种用于调试单片机程序的工具。它可以连接到目标单片机上，通过与单片机的调试接口进行通信，实时监视和控制程序的执行。</a:t>
            </a:r>
            <a:endParaRPr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220659" y="651944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12</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1" name="图片 100"/>
          <p:cNvPicPr/>
          <p:nvPr/>
        </p:nvPicPr>
        <p:blipFill>
          <a:blip r:embed="rId1"/>
          <a:stretch>
            <a:fillRect/>
          </a:stretch>
        </p:blipFill>
        <p:spPr>
          <a:xfrm>
            <a:off x="4656455" y="1475740"/>
            <a:ext cx="3797300" cy="3009900"/>
          </a:xfrm>
          <a:prstGeom prst="rect">
            <a:avLst/>
          </a:prstGeom>
          <a:noFill/>
          <a:ln w="9525">
            <a:noFill/>
          </a:ln>
        </p:spPr>
      </p:pic>
      <p:sp>
        <p:nvSpPr>
          <p:cNvPr id="3" name="矩形 2"/>
          <p:cNvSpPr/>
          <p:nvPr>
            <p:custDataLst>
              <p:tags r:id="rId2"/>
            </p:custDataLst>
          </p:nvPr>
        </p:nvSpPr>
        <p:spPr>
          <a:xfrm>
            <a:off x="5826540" y="4629194"/>
            <a:ext cx="14573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p>
            <a:pPr algn="ctr" fontAlgn="base">
              <a:spcBef>
                <a:spcPct val="0"/>
              </a:spcBef>
              <a:spcAft>
                <a:spcPct val="0"/>
              </a:spcAft>
            </a:pPr>
            <a:r>
              <a:rPr lang="en-US" altLang="zh-CN"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ST LINK V2</a:t>
            </a:r>
            <a:endParaRPr lang="en-US" altLang="zh-CN"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500"/>
                                        <p:tgtEl>
                                          <p:spTgt spid="28"/>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par>
                                <p:cTn id="16" presetID="53" presetClass="entr" presetSubtype="16" fill="hold" grpId="0" nodeType="withEffect">
                                  <p:stCondLst>
                                    <p:cond delay="25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P spid="3"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583565"/>
          </a:xfrm>
          <a:prstGeom prst="rect">
            <a:avLst/>
          </a:prstGeom>
          <a:noFill/>
        </p:spPr>
        <p:txBody>
          <a:bodyPr wrap="square" rtlCol="0">
            <a:spAutoFit/>
          </a:bodyPr>
          <a:lstStyle/>
          <a:p>
            <a:r>
              <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rPr>
              <a:t>烧录</a:t>
            </a:r>
            <a:endParaRPr lang="zh-CN" altLang="en-US" sz="3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156845" y="1249680"/>
            <a:ext cx="8636000" cy="5212715"/>
          </a:xfrm>
          <a:prstGeom prst="rect">
            <a:avLst/>
          </a:prstGeom>
        </p:spPr>
        <p:txBody>
          <a:bodyPr wrap="square">
            <a:spAutoFit/>
          </a:bodyPr>
          <a:lstStyle/>
          <a:p>
            <a:pPr indent="457200" fontAlgn="auto">
              <a:lnSpc>
                <a:spcPct val="130000"/>
              </a:lnSpc>
            </a:pPr>
            <a:r>
              <a:rPr sz="2000" dirty="0">
                <a:latin typeface="微软雅黑" panose="020B0503020204020204" pitchFamily="34" charset="-122"/>
                <a:ea typeface="微软雅黑" panose="020B0503020204020204" pitchFamily="34" charset="-122"/>
              </a:rPr>
              <a:t>单片机烧录指的是将程序代码或数据写入单片机中的非易失性存储器（通常是闪存或EEPROM）的过程。这个过程是将软件（程序）加载到单片机芯片中，使得芯片能够执行特定的功能。</a:t>
            </a:r>
            <a:endParaRPr sz="2000" dirty="0">
              <a:latin typeface="微软雅黑" panose="020B0503020204020204" pitchFamily="34" charset="-122"/>
              <a:ea typeface="微软雅黑" panose="020B0503020204020204" pitchFamily="34" charset="-122"/>
            </a:endParaRPr>
          </a:p>
          <a:p>
            <a:pPr indent="457200" fontAlgn="auto">
              <a:lnSpc>
                <a:spcPct val="130000"/>
              </a:lnSpc>
            </a:pPr>
            <a:endParaRPr sz="1600" dirty="0">
              <a:latin typeface="微软雅黑" panose="020B0503020204020204" pitchFamily="34" charset="-122"/>
              <a:ea typeface="微软雅黑" panose="020B0503020204020204" pitchFamily="34" charset="-122"/>
            </a:endParaRPr>
          </a:p>
          <a:p>
            <a:pPr indent="457200" fontAlgn="auto">
              <a:lnSpc>
                <a:spcPct val="130000"/>
              </a:lnSpc>
            </a:pPr>
            <a:r>
              <a:rPr sz="2000" dirty="0">
                <a:latin typeface="微软雅黑" panose="020B0503020204020204" pitchFamily="34" charset="-122"/>
                <a:ea typeface="微软雅黑" panose="020B0503020204020204" pitchFamily="34" charset="-122"/>
              </a:rPr>
              <a:t>烧录是将最终生成的二进制文件加载到目标单片机的非易失性存储器中的过程。这个过程通常使用专门的硬件设备，称为烧录器（Programmer）来完成。烧录器将程序代码通过特定的通信协议（如ISP、ICSP等）传输到单片机的存储器中。</a:t>
            </a:r>
            <a:endParaRPr sz="2000" dirty="0">
              <a:latin typeface="微软雅黑" panose="020B0503020204020204" pitchFamily="34" charset="-122"/>
              <a:ea typeface="微软雅黑" panose="020B0503020204020204" pitchFamily="34" charset="-122"/>
            </a:endParaRPr>
          </a:p>
          <a:p>
            <a:pPr indent="457200" fontAlgn="auto">
              <a:lnSpc>
                <a:spcPct val="130000"/>
              </a:lnSpc>
            </a:pPr>
            <a:endParaRPr sz="2000" dirty="0">
              <a:latin typeface="微软雅黑" panose="020B0503020204020204" pitchFamily="34" charset="-122"/>
              <a:ea typeface="微软雅黑" panose="020B0503020204020204" pitchFamily="34" charset="-122"/>
            </a:endParaRPr>
          </a:p>
          <a:p>
            <a:pPr indent="457200" fontAlgn="auto">
              <a:lnSpc>
                <a:spcPct val="130000"/>
              </a:lnSpc>
            </a:pPr>
            <a:r>
              <a:rPr sz="2000" dirty="0">
                <a:latin typeface="微软雅黑" panose="020B0503020204020204" pitchFamily="34" charset="-122"/>
                <a:ea typeface="微软雅黑" panose="020B0503020204020204" pitchFamily="34" charset="-122"/>
              </a:rPr>
              <a:t>整个单片机烧录的过程是嵌入式系统开发中的关键步骤，确保程序正确地加载到目标芯片上，使设备能够按照预期的方式工作。烧录通常是嵌入式系统开发流程中的一个重要环节。</a:t>
            </a:r>
            <a:endParaRPr sz="2000" dirty="0">
              <a:latin typeface="微软雅黑" panose="020B0503020204020204" pitchFamily="34" charset="-122"/>
              <a:ea typeface="微软雅黑" panose="020B0503020204020204" pitchFamily="34" charset="-122"/>
            </a:endParaRPr>
          </a:p>
          <a:p>
            <a:pPr indent="457200" fontAlgn="auto">
              <a:lnSpc>
                <a:spcPct val="130000"/>
              </a:lnSpc>
            </a:pPr>
            <a:endParaRPr sz="20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220659" y="6519446"/>
            <a:ext cx="8024939" cy="338554"/>
            <a:chOff x="1277256" y="6519446"/>
            <a:chExt cx="8024939" cy="338554"/>
          </a:xfrm>
        </p:grpSpPr>
        <p:sp>
          <p:nvSpPr>
            <p:cNvPr id="29" name="矩形 28"/>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500"/>
                                        <p:tgtEl>
                                          <p:spTgt spid="28"/>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34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673475" y="3102610"/>
            <a:ext cx="4958080" cy="706755"/>
          </a:xfrm>
          <a:prstGeom prst="rect">
            <a:avLst/>
          </a:prstGeom>
          <a:noFill/>
        </p:spPr>
        <p:txBody>
          <a:bodyPr wrap="square" rtlCol="0">
            <a:spAutoFit/>
          </a:bodyPr>
          <a:lstStyle/>
          <a:p>
            <a:r>
              <a:rPr lang="en-US" altLang="zh-CN" sz="40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911292" y="375536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5160"/>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TWO</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up)">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91440" y="1162685"/>
            <a:ext cx="8618855" cy="2390775"/>
          </a:xfrm>
          <a:prstGeom prst="rect">
            <a:avLst/>
          </a:prstGeom>
          <a:noFill/>
        </p:spPr>
        <p:txBody>
          <a:bodyPr wrap="square" rtlCol="0">
            <a:noAutofit/>
          </a:bodyPr>
          <a:p>
            <a:pPr marL="0" indent="0">
              <a:buNone/>
            </a:pPr>
            <a:r>
              <a:rPr lang="zh-CN" altLang="en-US" dirty="0" smtClean="0">
                <a:solidFill>
                  <a:schemeClr val="tx1"/>
                </a:solidFill>
                <a:latin typeface="Times New Roman" panose="02020603050405020304" pitchFamily="18" charset="0"/>
                <a:cs typeface="Times New Roman" panose="02020603050405020304" pitchFamily="18" charset="0"/>
                <a:sym typeface="+mn-ea"/>
              </a:rPr>
              <a:t>全称为 </a:t>
            </a:r>
            <a:r>
              <a:rPr lang="en-US" altLang="zh-TW" dirty="0" smtClean="0">
                <a:solidFill>
                  <a:schemeClr val="tx1"/>
                </a:solidFill>
                <a:latin typeface="Times New Roman" panose="02020603050405020304" pitchFamily="18" charset="0"/>
                <a:cs typeface="Times New Roman" panose="02020603050405020304" pitchFamily="18" charset="0"/>
                <a:sym typeface="+mn-ea"/>
              </a:rPr>
              <a:t>General </a:t>
            </a:r>
            <a:r>
              <a:rPr lang="en-US" altLang="zh-TW" dirty="0">
                <a:solidFill>
                  <a:schemeClr val="tx1"/>
                </a:solidFill>
                <a:latin typeface="Times New Roman" panose="02020603050405020304" pitchFamily="18" charset="0"/>
                <a:cs typeface="Times New Roman" panose="02020603050405020304" pitchFamily="18" charset="0"/>
                <a:sym typeface="+mn-ea"/>
              </a:rPr>
              <a:t>Purpose Input </a:t>
            </a:r>
            <a:r>
              <a:rPr lang="en-US" altLang="zh-TW" dirty="0" smtClean="0">
                <a:solidFill>
                  <a:schemeClr val="tx1"/>
                </a:solidFill>
                <a:latin typeface="Times New Roman" panose="02020603050405020304" pitchFamily="18" charset="0"/>
                <a:cs typeface="Times New Roman" panose="02020603050405020304" pitchFamily="18" charset="0"/>
                <a:sym typeface="+mn-ea"/>
              </a:rPr>
              <a:t>Output </a:t>
            </a:r>
            <a:r>
              <a:rPr lang="zh-CN" altLang="en-US" dirty="0" smtClean="0">
                <a:solidFill>
                  <a:schemeClr val="tx1"/>
                </a:solidFill>
                <a:latin typeface="Times New Roman" panose="02020603050405020304" pitchFamily="18" charset="0"/>
                <a:cs typeface="Times New Roman" panose="02020603050405020304" pitchFamily="18" charset="0"/>
                <a:sym typeface="+mn-ea"/>
              </a:rPr>
              <a:t>为</a:t>
            </a:r>
            <a:r>
              <a:rPr lang="zh-CN" altLang="en-US" dirty="0" smtClean="0">
                <a:solidFill>
                  <a:schemeClr val="tx1"/>
                </a:solidFill>
                <a:highlight>
                  <a:srgbClr val="FFFF00"/>
                </a:highlight>
                <a:latin typeface="Times New Roman" panose="02020603050405020304" pitchFamily="18" charset="0"/>
                <a:cs typeface="Times New Roman" panose="02020603050405020304" pitchFamily="18" charset="0"/>
                <a:sym typeface="+mn-ea"/>
              </a:rPr>
              <a:t>通用输入输出引脚</a:t>
            </a:r>
            <a:r>
              <a:rPr lang="zh-CN" altLang="en-US" dirty="0" smtClean="0">
                <a:solidFill>
                  <a:schemeClr val="tx1"/>
                </a:solidFill>
                <a:latin typeface="Times New Roman" panose="02020603050405020304" pitchFamily="18" charset="0"/>
                <a:cs typeface="Times New Roman" panose="02020603050405020304" pitchFamily="18" charset="0"/>
                <a:sym typeface="+mn-ea"/>
              </a:rPr>
              <a:t>，就是我们所看到的单片机上的针脚。可以根据程序来修改每个引脚的状态，可以配置为</a:t>
            </a:r>
            <a:r>
              <a:rPr lang="zh-CN" altLang="en-US" dirty="0" smtClean="0">
                <a:solidFill>
                  <a:schemeClr val="tx1"/>
                </a:solidFill>
                <a:highlight>
                  <a:srgbClr val="FFFF00"/>
                </a:highlight>
                <a:latin typeface="Times New Roman" panose="02020603050405020304" pitchFamily="18" charset="0"/>
                <a:cs typeface="Times New Roman" panose="02020603050405020304" pitchFamily="18" charset="0"/>
                <a:sym typeface="+mn-ea"/>
              </a:rPr>
              <a:t>输出</a:t>
            </a:r>
            <a:r>
              <a:rPr lang="zh-CN" altLang="en-US" dirty="0" smtClean="0">
                <a:solidFill>
                  <a:schemeClr val="tx1"/>
                </a:solidFill>
                <a:latin typeface="Times New Roman" panose="02020603050405020304" pitchFamily="18" charset="0"/>
                <a:cs typeface="Times New Roman" panose="02020603050405020304" pitchFamily="18" charset="0"/>
                <a:sym typeface="+mn-ea"/>
              </a:rPr>
              <a:t>，让引脚输出</a:t>
            </a:r>
            <a:r>
              <a:rPr lang="en-US" altLang="zh-CN" dirty="0" smtClean="0">
                <a:solidFill>
                  <a:schemeClr val="tx1"/>
                </a:solidFill>
                <a:latin typeface="Times New Roman" panose="02020603050405020304" pitchFamily="18" charset="0"/>
                <a:cs typeface="Times New Roman" panose="02020603050405020304" pitchFamily="18" charset="0"/>
                <a:sym typeface="+mn-ea"/>
              </a:rPr>
              <a:t>3.3V</a:t>
            </a:r>
            <a:r>
              <a:rPr lang="zh-CN" altLang="en-US" dirty="0" smtClean="0">
                <a:solidFill>
                  <a:schemeClr val="tx1"/>
                </a:solidFill>
                <a:latin typeface="Times New Roman" panose="02020603050405020304" pitchFamily="18" charset="0"/>
                <a:cs typeface="Times New Roman" panose="02020603050405020304" pitchFamily="18" charset="0"/>
                <a:sym typeface="+mn-ea"/>
              </a:rPr>
              <a:t>电平</a:t>
            </a:r>
            <a:r>
              <a:rPr lang="en-US" altLang="zh-CN" dirty="0" smtClean="0">
                <a:solidFill>
                  <a:schemeClr val="tx1"/>
                </a:solidFill>
                <a:latin typeface="Times New Roman" panose="02020603050405020304" pitchFamily="18" charset="0"/>
                <a:cs typeface="Times New Roman" panose="02020603050405020304" pitchFamily="18" charset="0"/>
                <a:sym typeface="+mn-ea"/>
              </a:rPr>
              <a:t>(</a:t>
            </a:r>
            <a:r>
              <a:rPr lang="zh-CN" altLang="en-US" dirty="0" smtClean="0">
                <a:solidFill>
                  <a:schemeClr val="tx1"/>
                </a:solidFill>
                <a:latin typeface="Times New Roman" panose="02020603050405020304" pitchFamily="18" charset="0"/>
                <a:cs typeface="Times New Roman" panose="02020603050405020304" pitchFamily="18" charset="0"/>
                <a:sym typeface="+mn-ea"/>
              </a:rPr>
              <a:t>电平就是电压</a:t>
            </a:r>
            <a:r>
              <a:rPr lang="en-US" altLang="zh-CN" dirty="0" smtClean="0">
                <a:solidFill>
                  <a:schemeClr val="tx1"/>
                </a:solidFill>
                <a:latin typeface="Times New Roman" panose="02020603050405020304" pitchFamily="18" charset="0"/>
                <a:cs typeface="Times New Roman" panose="02020603050405020304" pitchFamily="18" charset="0"/>
                <a:sym typeface="+mn-ea"/>
              </a:rPr>
              <a:t>)</a:t>
            </a:r>
            <a:r>
              <a:rPr lang="zh-CN" altLang="en-US" dirty="0" smtClean="0">
                <a:solidFill>
                  <a:schemeClr val="tx1"/>
                </a:solidFill>
                <a:latin typeface="Times New Roman" panose="02020603050405020304" pitchFamily="18" charset="0"/>
                <a:cs typeface="Times New Roman" panose="02020603050405020304" pitchFamily="18" charset="0"/>
                <a:sym typeface="+mn-ea"/>
              </a:rPr>
              <a:t>，或者配合定时器输出一个方波电平</a:t>
            </a:r>
            <a:r>
              <a:rPr lang="en-US" altLang="zh-CN" dirty="0" smtClean="0">
                <a:solidFill>
                  <a:schemeClr val="tx1"/>
                </a:solidFill>
                <a:latin typeface="Times New Roman" panose="02020603050405020304" pitchFamily="18" charset="0"/>
                <a:cs typeface="Times New Roman" panose="02020603050405020304" pitchFamily="18" charset="0"/>
                <a:sym typeface="+mn-ea"/>
              </a:rPr>
              <a:t>(</a:t>
            </a:r>
            <a:r>
              <a:rPr lang="zh-CN" altLang="en-US" dirty="0" smtClean="0">
                <a:solidFill>
                  <a:schemeClr val="tx1"/>
                </a:solidFill>
                <a:latin typeface="Times New Roman" panose="02020603050405020304" pitchFamily="18" charset="0"/>
                <a:cs typeface="Times New Roman" panose="02020603050405020304" pitchFamily="18" charset="0"/>
                <a:sym typeface="+mn-ea"/>
              </a:rPr>
              <a:t>电压有规律地忽高忽低</a:t>
            </a:r>
            <a:r>
              <a:rPr lang="en-US" altLang="zh-CN" dirty="0" smtClean="0">
                <a:solidFill>
                  <a:schemeClr val="tx1"/>
                </a:solidFill>
                <a:latin typeface="Times New Roman" panose="02020603050405020304" pitchFamily="18" charset="0"/>
                <a:cs typeface="Times New Roman" panose="02020603050405020304" pitchFamily="18" charset="0"/>
                <a:sym typeface="+mn-ea"/>
              </a:rPr>
              <a:t>)</a:t>
            </a:r>
            <a:r>
              <a:rPr lang="zh-CN" altLang="en-US" dirty="0" smtClean="0">
                <a:solidFill>
                  <a:schemeClr val="tx1"/>
                </a:solidFill>
                <a:latin typeface="Times New Roman" panose="02020603050405020304" pitchFamily="18" charset="0"/>
                <a:cs typeface="Times New Roman" panose="02020603050405020304" pitchFamily="18" charset="0"/>
                <a:sym typeface="+mn-ea"/>
              </a:rPr>
              <a:t>。也可以配置为</a:t>
            </a:r>
            <a:r>
              <a:rPr lang="zh-CN" altLang="en-US" dirty="0" smtClean="0">
                <a:solidFill>
                  <a:schemeClr val="tx1"/>
                </a:solidFill>
                <a:highlight>
                  <a:srgbClr val="FFFF00"/>
                </a:highlight>
                <a:latin typeface="Times New Roman" panose="02020603050405020304" pitchFamily="18" charset="0"/>
                <a:cs typeface="Times New Roman" panose="02020603050405020304" pitchFamily="18" charset="0"/>
                <a:sym typeface="+mn-ea"/>
              </a:rPr>
              <a:t>输入</a:t>
            </a:r>
            <a:r>
              <a:rPr lang="en-US" altLang="zh-CN" dirty="0">
                <a:solidFill>
                  <a:schemeClr val="tx1"/>
                </a:solidFill>
                <a:latin typeface="Times New Roman" panose="02020603050405020304" pitchFamily="18" charset="0"/>
                <a:cs typeface="Times New Roman" panose="02020603050405020304" pitchFamily="18" charset="0"/>
                <a:sym typeface="+mn-ea"/>
              </a:rPr>
              <a:t>,</a:t>
            </a:r>
            <a:r>
              <a:rPr lang="zh-CN" altLang="en-US" dirty="0" smtClean="0">
                <a:solidFill>
                  <a:schemeClr val="tx1"/>
                </a:solidFill>
                <a:latin typeface="Times New Roman" panose="02020603050405020304" pitchFamily="18" charset="0"/>
                <a:cs typeface="Times New Roman" panose="02020603050405020304" pitchFamily="18" charset="0"/>
                <a:sym typeface="+mn-ea"/>
              </a:rPr>
              <a:t>检测外部的电压高还是低</a:t>
            </a:r>
            <a:r>
              <a:rPr lang="en-US" altLang="zh-CN" dirty="0" smtClean="0">
                <a:solidFill>
                  <a:schemeClr val="tx1"/>
                </a:solidFill>
                <a:latin typeface="Times New Roman" panose="02020603050405020304" pitchFamily="18" charset="0"/>
                <a:cs typeface="Times New Roman" panose="02020603050405020304" pitchFamily="18" charset="0"/>
                <a:sym typeface="+mn-ea"/>
              </a:rPr>
              <a:t>,</a:t>
            </a:r>
            <a:r>
              <a:rPr lang="zh-CN" altLang="en-US" dirty="0" smtClean="0">
                <a:solidFill>
                  <a:schemeClr val="tx1"/>
                </a:solidFill>
                <a:latin typeface="Times New Roman" panose="02020603050405020304" pitchFamily="18" charset="0"/>
                <a:cs typeface="Times New Roman" panose="02020603050405020304" pitchFamily="18" charset="0"/>
                <a:sym typeface="+mn-ea"/>
              </a:rPr>
              <a:t>或者配合定时器检测外部高低电平持续时间和频率等。</a:t>
            </a:r>
            <a:endParaRPr lang="zh-CN" altLang="en-US" dirty="0" smtClean="0">
              <a:solidFill>
                <a:schemeClr val="tx1"/>
              </a:solidFill>
              <a:latin typeface="Times New Roman" panose="02020603050405020304" pitchFamily="18" charset="0"/>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2249170" y="2404745"/>
            <a:ext cx="6163945" cy="439039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147320" y="925830"/>
            <a:ext cx="8838565" cy="2752725"/>
          </a:xfrm>
          <a:prstGeom prst="rect">
            <a:avLst/>
          </a:prstGeom>
          <a:noFill/>
        </p:spPr>
        <p:txBody>
          <a:bodyPr wrap="square" rtlCol="0">
            <a:noAutofit/>
          </a:bodyPr>
          <a:p>
            <a:pPr indent="0">
              <a:buFont typeface="Arial" panose="020B0604020202020204" pitchFamily="34" charset="0"/>
              <a:buNone/>
            </a:pPr>
            <a:r>
              <a:rPr lang="en-US" altLang="zh-CN" sz="2000"/>
              <a:t>GPIO</a:t>
            </a:r>
            <a:r>
              <a:rPr lang="zh-CN" altLang="en-US" sz="2000"/>
              <a:t>（</a:t>
            </a:r>
            <a:r>
              <a:rPr lang="en-US" altLang="zh-CN" sz="2000"/>
              <a:t>General Purpose Input Output</a:t>
            </a:r>
            <a:r>
              <a:rPr lang="zh-CN" altLang="en-US" sz="2000"/>
              <a:t>）通用输入输出口</a:t>
            </a:r>
            <a:endParaRPr lang="en-US" altLang="zh-CN" sz="2000"/>
          </a:p>
          <a:p>
            <a:pPr indent="0">
              <a:buFont typeface="Arial" panose="020B0604020202020204" pitchFamily="34" charset="0"/>
              <a:buNone/>
            </a:pPr>
            <a:r>
              <a:rPr lang="zh-CN" altLang="en-US" sz="2000"/>
              <a:t>可配置为</a:t>
            </a:r>
            <a:r>
              <a:rPr lang="en-US" altLang="zh-CN" sz="2000"/>
              <a:t>8</a:t>
            </a:r>
            <a:r>
              <a:rPr lang="zh-CN" altLang="en-US" sz="2000"/>
              <a:t>种输入输出模式</a:t>
            </a:r>
            <a:endParaRPr lang="en-US" altLang="zh-CN" sz="2000"/>
          </a:p>
          <a:p>
            <a:pPr indent="0">
              <a:buFont typeface="Arial" panose="020B0604020202020204" pitchFamily="34" charset="0"/>
              <a:buNone/>
            </a:pPr>
            <a:r>
              <a:rPr lang="zh-CN" altLang="en-US" sz="2000"/>
              <a:t>引脚电平：</a:t>
            </a:r>
            <a:r>
              <a:rPr lang="en-US" altLang="zh-CN" sz="2000"/>
              <a:t>0V~3.3V</a:t>
            </a:r>
            <a:r>
              <a:rPr lang="zh-CN" altLang="en-US" sz="2000"/>
              <a:t>，</a:t>
            </a:r>
            <a:r>
              <a:rPr lang="zh-CN" altLang="en-US" sz="2000">
                <a:highlight>
                  <a:srgbClr val="FFFF00"/>
                </a:highlight>
              </a:rPr>
              <a:t>部分引脚可容忍</a:t>
            </a:r>
            <a:r>
              <a:rPr lang="en-US" altLang="zh-CN" sz="2000">
                <a:highlight>
                  <a:srgbClr val="FFFF00"/>
                </a:highlight>
              </a:rPr>
              <a:t>5V</a:t>
            </a:r>
            <a:endParaRPr lang="en-US" altLang="zh-CN" sz="2000"/>
          </a:p>
          <a:p>
            <a:pPr indent="0">
              <a:buFont typeface="Arial" panose="020B0604020202020204" pitchFamily="34" charset="0"/>
              <a:buNone/>
            </a:pPr>
            <a:r>
              <a:rPr lang="zh-CN" altLang="en-US" sz="2000"/>
              <a:t>输出模式下可控制端口输出高低电平，用以驱动</a:t>
            </a:r>
            <a:r>
              <a:rPr lang="en-US" altLang="zh-CN" sz="2000"/>
              <a:t>LED</a:t>
            </a:r>
            <a:r>
              <a:rPr lang="zh-CN" altLang="en-US" sz="2000"/>
              <a:t>、控制蜂鸣器、</a:t>
            </a:r>
            <a:endParaRPr lang="zh-CN" altLang="en-US" sz="2000"/>
          </a:p>
          <a:p>
            <a:pPr indent="0">
              <a:buFont typeface="Arial" panose="020B0604020202020204" pitchFamily="34" charset="0"/>
              <a:buNone/>
            </a:pPr>
            <a:r>
              <a:rPr lang="zh-CN" altLang="en-US" sz="2000"/>
              <a:t>模拟通信协议输出时序等</a:t>
            </a:r>
            <a:endParaRPr lang="en-US" altLang="zh-CN" sz="2000"/>
          </a:p>
          <a:p>
            <a:pPr indent="0">
              <a:buFont typeface="Arial" panose="020B0604020202020204" pitchFamily="34" charset="0"/>
              <a:buNone/>
            </a:pPr>
            <a:r>
              <a:rPr lang="zh-CN" altLang="en-US" sz="2000"/>
              <a:t>输入模式下可读取端口的高低电平或电压，用于读取按键输入、</a:t>
            </a:r>
            <a:endParaRPr lang="zh-CN" altLang="en-US" sz="2000"/>
          </a:p>
          <a:p>
            <a:pPr indent="0">
              <a:buFont typeface="Arial" panose="020B0604020202020204" pitchFamily="34" charset="0"/>
              <a:buNone/>
            </a:pPr>
            <a:r>
              <a:rPr lang="zh-CN" altLang="en-US" sz="2000"/>
              <a:t>外接模块电平信号输入、</a:t>
            </a:r>
            <a:r>
              <a:rPr lang="en-US" altLang="zh-CN" sz="2000"/>
              <a:t>ADC</a:t>
            </a:r>
            <a:r>
              <a:rPr lang="zh-CN" altLang="en-US" sz="2000"/>
              <a:t>电压采集、模拟通信协议接收数据等</a:t>
            </a:r>
            <a:endParaRPr lang="zh-CN" altLang="en-US" sz="2000"/>
          </a:p>
        </p:txBody>
      </p:sp>
      <p:pic>
        <p:nvPicPr>
          <p:cNvPr id="2" name="图片 1"/>
          <p:cNvPicPr>
            <a:picLocks noChangeAspect="1"/>
          </p:cNvPicPr>
          <p:nvPr>
            <p:custDataLst>
              <p:tags r:id="rId2"/>
            </p:custDataLst>
          </p:nvPr>
        </p:nvPicPr>
        <p:blipFill>
          <a:blip r:embed="rId3"/>
          <a:stretch>
            <a:fillRect/>
          </a:stretch>
        </p:blipFill>
        <p:spPr>
          <a:xfrm>
            <a:off x="1522095" y="3100705"/>
            <a:ext cx="5643245" cy="370586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2" name="图片 101"/>
          <p:cNvPicPr/>
          <p:nvPr/>
        </p:nvPicPr>
        <p:blipFill>
          <a:blip r:embed="rId1"/>
          <a:stretch>
            <a:fillRect/>
          </a:stretch>
        </p:blipFill>
        <p:spPr>
          <a:xfrm>
            <a:off x="527050" y="2197100"/>
            <a:ext cx="7858760" cy="3194050"/>
          </a:xfrm>
          <a:prstGeom prst="rect">
            <a:avLst/>
          </a:prstGeom>
          <a:noFill/>
          <a:ln w="9525">
            <a:noFill/>
          </a:ln>
        </p:spPr>
      </p:pic>
      <p:sp>
        <p:nvSpPr>
          <p:cNvPr id="5" name="文本框 4"/>
          <p:cNvSpPr txBox="1"/>
          <p:nvPr/>
        </p:nvSpPr>
        <p:spPr>
          <a:xfrm>
            <a:off x="610235" y="1075055"/>
            <a:ext cx="6914515" cy="973455"/>
          </a:xfrm>
          <a:prstGeom prst="rect">
            <a:avLst/>
          </a:prstGeom>
          <a:noFill/>
        </p:spPr>
        <p:txBody>
          <a:bodyPr wrap="none" rtlCol="0">
            <a:noAutofit/>
          </a:bodyPr>
          <a:p>
            <a:r>
              <a:rPr lang="zh-CN" altLang="en-US" sz="4800"/>
              <a:t>高低电平，上升沿，下降沿</a:t>
            </a:r>
            <a:endParaRPr lang="zh-CN" altLang="en-US" sz="480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73660" y="925830"/>
            <a:ext cx="8907780" cy="706755"/>
          </a:xfrm>
          <a:prstGeom prst="rect">
            <a:avLst/>
          </a:prstGeom>
          <a:noFill/>
        </p:spPr>
        <p:txBody>
          <a:bodyPr wrap="square" rtlCol="0">
            <a:spAutoFit/>
          </a:bodyPr>
          <a:p>
            <a:r>
              <a:rPr lang="en-US" altLang="zh-CN" sz="2000"/>
              <a:t>    </a:t>
            </a:r>
            <a:r>
              <a:rPr lang="zh-CN" altLang="en-US" sz="2000"/>
              <a:t>简单来说就是STM32可控制的脚,STM32芯片的GPIO引脚与外部设备连接起来，</a:t>
            </a:r>
            <a:endParaRPr lang="zh-CN" altLang="en-US" sz="2000"/>
          </a:p>
          <a:p>
            <a:r>
              <a:rPr lang="zh-CN" altLang="en-US" sz="2000"/>
              <a:t>从而实现与外部通讯、控制以及数据采集的功能。</a:t>
            </a:r>
            <a:endParaRPr lang="zh-CN" altLang="en-US" sz="2000"/>
          </a:p>
        </p:txBody>
      </p:sp>
      <p:pic>
        <p:nvPicPr>
          <p:cNvPr id="100" name="图片 99"/>
          <p:cNvPicPr/>
          <p:nvPr/>
        </p:nvPicPr>
        <p:blipFill>
          <a:blip r:embed="rId1"/>
          <a:stretch>
            <a:fillRect/>
          </a:stretch>
        </p:blipFill>
        <p:spPr>
          <a:xfrm>
            <a:off x="73660" y="1735455"/>
            <a:ext cx="8908415" cy="4906645"/>
          </a:xfrm>
          <a:prstGeom prst="rect">
            <a:avLst/>
          </a:prstGeom>
          <a:noFill/>
          <a:ln w="9525">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460375" y="922020"/>
            <a:ext cx="7318375" cy="2891790"/>
          </a:xfrm>
          <a:prstGeom prst="rect">
            <a:avLst/>
          </a:prstGeom>
          <a:noFill/>
        </p:spPr>
        <p:txBody>
          <a:bodyPr wrap="square" rtlCol="0">
            <a:spAutoFit/>
          </a:bodyPr>
          <a:p>
            <a:r>
              <a:rPr lang="zh-CN" altLang="en-US" sz="2000" b="1"/>
              <a:t>上拉和下拉：</a:t>
            </a:r>
            <a:endParaRPr lang="zh-CN" altLang="en-US" sz="2000" b="1"/>
          </a:p>
          <a:p>
            <a:r>
              <a:rPr lang="zh-CN" altLang="en-US"/>
              <a:t>当我们</a:t>
            </a:r>
            <a:r>
              <a:rPr lang="zh-CN" altLang="en-US">
                <a:highlight>
                  <a:srgbClr val="FFFF00"/>
                </a:highlight>
              </a:rPr>
              <a:t>闭合上拉电阻的开关，断开下拉电阻的开关</a:t>
            </a:r>
            <a:r>
              <a:rPr lang="zh-CN" altLang="en-US"/>
              <a:t>的时候，也就是此时为</a:t>
            </a:r>
            <a:r>
              <a:rPr lang="zh-CN" altLang="en-US">
                <a:highlight>
                  <a:srgbClr val="FFFF00"/>
                </a:highlight>
              </a:rPr>
              <a:t>上拉通路导通</a:t>
            </a:r>
            <a:r>
              <a:rPr lang="zh-CN" altLang="en-US"/>
              <a:t>。根据我们最基础的电路知识，如果I/O口断开不接外设，或者接了外设但是电路也断开，此时整条回路是断路的时候，电阻相当于不存在，此时</a:t>
            </a:r>
            <a:r>
              <a:rPr lang="zh-CN" altLang="en-US">
                <a:highlight>
                  <a:srgbClr val="FFFF00"/>
                </a:highlight>
              </a:rPr>
              <a:t>O点的电位，也就被钳制在了VDD</a:t>
            </a:r>
            <a:r>
              <a:rPr lang="zh-CN" altLang="en-US"/>
              <a:t>(供电电压正极)，于是O点就处于高电平。</a:t>
            </a:r>
            <a:endParaRPr lang="zh-CN" altLang="en-US"/>
          </a:p>
          <a:p>
            <a:r>
              <a:rPr lang="zh-CN" altLang="en-US"/>
              <a:t>同理</a:t>
            </a:r>
            <a:r>
              <a:rPr lang="zh-CN" altLang="en-US">
                <a:highlight>
                  <a:srgbClr val="00FF00"/>
                </a:highlight>
              </a:rPr>
              <a:t>下拉</a:t>
            </a:r>
            <a:r>
              <a:rPr lang="zh-CN" altLang="en-US"/>
              <a:t>，</a:t>
            </a:r>
            <a:r>
              <a:rPr lang="zh-CN" altLang="en-US">
                <a:highlight>
                  <a:srgbClr val="00FF00"/>
                </a:highlight>
              </a:rPr>
              <a:t>闭合下拉电阻的开关，断开上拉电阻的开关</a:t>
            </a:r>
            <a:r>
              <a:rPr lang="zh-CN" altLang="en-US"/>
              <a:t>，那么在电路断开的时候，根据电路知识，电阻相当于不存在，O点的电压就就被钳制在了VSS(GND)，也就是</a:t>
            </a:r>
            <a:r>
              <a:rPr lang="zh-CN" altLang="en-US">
                <a:highlight>
                  <a:srgbClr val="00FF00"/>
                </a:highlight>
              </a:rPr>
              <a:t>O点处于低电平</a:t>
            </a:r>
            <a:r>
              <a:rPr lang="zh-CN" altLang="en-US"/>
              <a:t>。</a:t>
            </a:r>
            <a:endParaRPr lang="zh-CN" altLang="en-US"/>
          </a:p>
          <a:p>
            <a:endParaRPr lang="zh-CN" altLang="en-US"/>
          </a:p>
        </p:txBody>
      </p:sp>
      <p:sp>
        <p:nvSpPr>
          <p:cNvPr id="2" name="文本框 1"/>
          <p:cNvSpPr txBox="1"/>
          <p:nvPr/>
        </p:nvSpPr>
        <p:spPr>
          <a:xfrm>
            <a:off x="156845" y="3937635"/>
            <a:ext cx="3500755" cy="2061210"/>
          </a:xfrm>
          <a:prstGeom prst="rect">
            <a:avLst/>
          </a:prstGeom>
          <a:noFill/>
        </p:spPr>
        <p:txBody>
          <a:bodyPr wrap="square" rtlCol="0">
            <a:spAutoFit/>
          </a:bodyPr>
          <a:p>
            <a:r>
              <a:rPr lang="zh-CN" altLang="en-US" sz="2000" b="1"/>
              <a:t>数字信号和模拟信号</a:t>
            </a:r>
            <a:endParaRPr lang="zh-CN" altLang="en-US" sz="2000" b="1"/>
          </a:p>
          <a:p>
            <a:r>
              <a:rPr lang="zh-CN" altLang="en-US"/>
              <a:t>数字信号：就是根据一些规则，将一个范围内的电压规定为1，一个范围内的电压规定为0，也就是一连串的0,1信号</a:t>
            </a:r>
            <a:endParaRPr lang="zh-CN" altLang="en-US"/>
          </a:p>
          <a:p>
            <a:r>
              <a:rPr lang="zh-CN" altLang="en-US"/>
              <a:t>模拟信号：就是连续的读取到的电压值。</a:t>
            </a:r>
            <a:endParaRPr lang="zh-CN" altLang="en-US"/>
          </a:p>
        </p:txBody>
      </p:sp>
      <p:pic>
        <p:nvPicPr>
          <p:cNvPr id="101" name="图片 100"/>
          <p:cNvPicPr/>
          <p:nvPr/>
        </p:nvPicPr>
        <p:blipFill>
          <a:blip r:embed="rId1"/>
          <a:stretch>
            <a:fillRect/>
          </a:stretch>
        </p:blipFill>
        <p:spPr>
          <a:xfrm>
            <a:off x="3657600" y="3764280"/>
            <a:ext cx="5363210" cy="2234565"/>
          </a:xfrm>
          <a:prstGeom prst="rect">
            <a:avLst/>
          </a:prstGeom>
          <a:noFill/>
          <a:ln w="9525">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17</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147320" y="1236345"/>
            <a:ext cx="8623300" cy="3784600"/>
          </a:xfrm>
          <a:prstGeom prst="rect">
            <a:avLst/>
          </a:prstGeom>
          <a:noFill/>
        </p:spPr>
        <p:txBody>
          <a:bodyPr wrap="square" rtlCol="0">
            <a:spAutoFit/>
          </a:bodyPr>
          <a:p>
            <a:pPr indent="457200">
              <a:buFont typeface="Arial" panose="020B0604020202020204" pitchFamily="34" charset="0"/>
              <a:buNone/>
            </a:pPr>
            <a:r>
              <a:rPr sz="2000"/>
              <a:t>寄存器</a:t>
            </a:r>
            <a:endParaRPr sz="2000"/>
          </a:p>
          <a:p>
            <a:pPr indent="457200">
              <a:buFont typeface="Arial" panose="020B0604020202020204" pitchFamily="34" charset="0"/>
              <a:buNone/>
            </a:pPr>
            <a:r>
              <a:rPr sz="2000"/>
              <a:t>作用:</a:t>
            </a:r>
            <a:endParaRPr sz="2000"/>
          </a:p>
          <a:p>
            <a:pPr indent="0">
              <a:buFont typeface="Arial" panose="020B0604020202020204" pitchFamily="34" charset="0"/>
              <a:buNone/>
            </a:pPr>
            <a:r>
              <a:rPr lang="en-US" sz="2000"/>
              <a:t>        </a:t>
            </a:r>
            <a:r>
              <a:rPr sz="2000"/>
              <a:t>寄存器的主要作用是用来暂时存放数据，</a:t>
            </a:r>
            <a:endParaRPr sz="2000"/>
          </a:p>
          <a:p>
            <a:pPr indent="457200">
              <a:buFont typeface="Arial" panose="020B0604020202020204" pitchFamily="34" charset="0"/>
              <a:buNone/>
            </a:pPr>
            <a:r>
              <a:rPr sz="2000"/>
              <a:t>在此处的作用是暂存输入与输出的数据，</a:t>
            </a:r>
            <a:endParaRPr sz="2000"/>
          </a:p>
          <a:p>
            <a:pPr indent="457200">
              <a:buFont typeface="Arial" panose="020B0604020202020204" pitchFamily="34" charset="0"/>
              <a:buNone/>
            </a:pPr>
            <a:r>
              <a:rPr sz="2000"/>
              <a:t>即存放与控制端口高低电平状态。</a:t>
            </a:r>
            <a:endParaRPr sz="2000"/>
          </a:p>
          <a:p>
            <a:pPr indent="457200">
              <a:buFont typeface="Arial" panose="020B0604020202020204" pitchFamily="34" charset="0"/>
              <a:buNone/>
            </a:pPr>
            <a:endParaRPr sz="2000"/>
          </a:p>
          <a:p>
            <a:pPr indent="457200">
              <a:buFont typeface="Arial" panose="020B0604020202020204" pitchFamily="34" charset="0"/>
              <a:buNone/>
            </a:pPr>
            <a:endParaRPr sz="2000"/>
          </a:p>
          <a:p>
            <a:pPr indent="457200">
              <a:buFont typeface="Arial" panose="020B0604020202020204" pitchFamily="34" charset="0"/>
              <a:buNone/>
            </a:pPr>
            <a:r>
              <a:rPr sz="2000"/>
              <a:t>TTL肖特基触发器</a:t>
            </a:r>
            <a:endParaRPr sz="2000"/>
          </a:p>
          <a:p>
            <a:pPr indent="457200">
              <a:buFont typeface="Arial" panose="020B0604020202020204" pitchFamily="34" charset="0"/>
              <a:buNone/>
            </a:pPr>
            <a:r>
              <a:rPr sz="2000"/>
              <a:t>作用:</a:t>
            </a:r>
            <a:endParaRPr sz="2000"/>
          </a:p>
          <a:p>
            <a:pPr indent="457200">
              <a:buFont typeface="Arial" panose="020B0604020202020204" pitchFamily="34" charset="0"/>
              <a:buNone/>
            </a:pPr>
            <a:r>
              <a:rPr sz="2000"/>
              <a:t>TTL肖特基触发器其实可以理解为用肖特基管构成</a:t>
            </a:r>
            <a:endParaRPr sz="2000"/>
          </a:p>
          <a:p>
            <a:pPr indent="457200">
              <a:buFont typeface="Arial" panose="020B0604020202020204" pitchFamily="34" charset="0"/>
              <a:buNone/>
            </a:pPr>
            <a:r>
              <a:rPr sz="2000"/>
              <a:t>的施密特触发器，简单说就是</a:t>
            </a:r>
            <a:r>
              <a:rPr sz="2000">
                <a:highlight>
                  <a:srgbClr val="FFFF00"/>
                </a:highlight>
              </a:rPr>
              <a:t>将相对缓慢变化的模拟信</a:t>
            </a:r>
            <a:endParaRPr sz="2000">
              <a:highlight>
                <a:srgbClr val="FFFF00"/>
              </a:highlight>
            </a:endParaRPr>
          </a:p>
          <a:p>
            <a:pPr indent="457200">
              <a:buFont typeface="Arial" panose="020B0604020202020204" pitchFamily="34" charset="0"/>
              <a:buNone/>
            </a:pPr>
            <a:r>
              <a:rPr sz="2000">
                <a:highlight>
                  <a:srgbClr val="FFFF00"/>
                </a:highlight>
              </a:rPr>
              <a:t>号变成数字信号(0或1)，并存入寄存器，便于后面读取</a:t>
            </a:r>
            <a:endParaRPr sz="2000">
              <a:highlight>
                <a:srgbClr val="FFFF00"/>
              </a:highlight>
            </a:endParaRPr>
          </a:p>
        </p:txBody>
      </p:sp>
      <p:pic>
        <p:nvPicPr>
          <p:cNvPr id="4" name="图片 3" descr="5[)_X]@6XFCZFR_S5$T})QU"/>
          <p:cNvPicPr>
            <a:picLocks noChangeAspect="1"/>
          </p:cNvPicPr>
          <p:nvPr>
            <p:custDataLst>
              <p:tags r:id="rId2"/>
            </p:custDataLst>
          </p:nvPr>
        </p:nvPicPr>
        <p:blipFill>
          <a:blip r:embed="rId3"/>
          <a:stretch>
            <a:fillRect/>
          </a:stretch>
        </p:blipFill>
        <p:spPr>
          <a:xfrm rot="5400000">
            <a:off x="5371465" y="530225"/>
            <a:ext cx="3161665" cy="3146425"/>
          </a:xfrm>
          <a:prstGeom prst="rect">
            <a:avLst/>
          </a:prstGeom>
        </p:spPr>
      </p:pic>
      <p:sp>
        <p:nvSpPr>
          <p:cNvPr id="2" name="文本框 1"/>
          <p:cNvSpPr txBox="1"/>
          <p:nvPr/>
        </p:nvSpPr>
        <p:spPr>
          <a:xfrm>
            <a:off x="611505" y="4984750"/>
            <a:ext cx="4943475" cy="1476375"/>
          </a:xfrm>
          <a:prstGeom prst="rect">
            <a:avLst/>
          </a:prstGeom>
          <a:noFill/>
        </p:spPr>
        <p:txBody>
          <a:bodyPr wrap="square" rtlCol="0">
            <a:spAutoFit/>
          </a:bodyPr>
          <a:p>
            <a:pPr algn="l"/>
            <a:r>
              <a:rPr lang="zh-CN" altLang="en-US"/>
              <a:t>由于电源的特性，或者是由于外部开关输入的特性，输入的数字信号，极有可能会出现脉冲等噪声的影响，为了让我们的波形更好看，或者信号更加清晰，所以就设置了TTL施密特触发器这个东西。</a:t>
            </a:r>
            <a:endParaRPr lang="zh-CN" altLang="en-US"/>
          </a:p>
        </p:txBody>
      </p:sp>
      <p:pic>
        <p:nvPicPr>
          <p:cNvPr id="3" name="图片 2"/>
          <p:cNvPicPr>
            <a:picLocks noChangeAspect="1"/>
          </p:cNvPicPr>
          <p:nvPr/>
        </p:nvPicPr>
        <p:blipFill>
          <a:blip r:embed="rId4"/>
          <a:stretch>
            <a:fillRect/>
          </a:stretch>
        </p:blipFill>
        <p:spPr>
          <a:xfrm>
            <a:off x="6183630" y="4984750"/>
            <a:ext cx="1967230" cy="1795145"/>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en-US" altLang="zh-CN" sz="2400">
                <a:sym typeface="+mn-ea"/>
              </a:rPr>
              <a:t>GPIO input </a:t>
            </a:r>
            <a:r>
              <a:rPr lang="zh-CN" altLang="en-US" sz="2400" b="1">
                <a:ln/>
                <a:solidFill>
                  <a:schemeClr val="tx1"/>
                </a:solidFill>
                <a:effectLst>
                  <a:outerShdw blurRad="38100" dist="19050" dir="2700000" algn="tl" rotWithShape="0">
                    <a:schemeClr val="dk1">
                      <a:alpha val="40000"/>
                    </a:schemeClr>
                  </a:outerShdw>
                </a:effectLst>
                <a:sym typeface="+mn-ea"/>
              </a:rPr>
              <a:t>输入模式</a:t>
            </a:r>
            <a:endParaRPr lang="zh-CN" altLang="en-US" sz="2400" b="1" dirty="0">
              <a:ln/>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4" name="图片 3"/>
          <p:cNvPicPr>
            <a:picLocks noChangeAspect="1"/>
          </p:cNvPicPr>
          <p:nvPr>
            <p:custDataLst>
              <p:tags r:id="rId1"/>
            </p:custDataLst>
          </p:nvPr>
        </p:nvPicPr>
        <p:blipFill>
          <a:blip r:embed="rId2"/>
          <a:stretch>
            <a:fillRect/>
          </a:stretch>
        </p:blipFill>
        <p:spPr>
          <a:xfrm>
            <a:off x="140335" y="1771015"/>
            <a:ext cx="3021965" cy="3388995"/>
          </a:xfrm>
          <a:prstGeom prst="rect">
            <a:avLst/>
          </a:prstGeom>
        </p:spPr>
      </p:pic>
      <p:sp>
        <p:nvSpPr>
          <p:cNvPr id="3" name="文本框 2"/>
          <p:cNvSpPr txBox="1"/>
          <p:nvPr/>
        </p:nvSpPr>
        <p:spPr>
          <a:xfrm>
            <a:off x="450215" y="951230"/>
            <a:ext cx="285750" cy="368300"/>
          </a:xfrm>
          <a:prstGeom prst="rect">
            <a:avLst/>
          </a:prstGeom>
          <a:noFill/>
        </p:spPr>
        <p:txBody>
          <a:bodyPr wrap="none" rtlCol="0">
            <a:spAutoFit/>
          </a:bodyPr>
          <a:p>
            <a:r>
              <a:rPr lang="en-US" altLang="zh-CN"/>
              <a:t>  </a:t>
            </a:r>
            <a:endParaRPr lang="en-US" altLang="zh-CN"/>
          </a:p>
        </p:txBody>
      </p:sp>
      <p:sp>
        <p:nvSpPr>
          <p:cNvPr id="6" name="文本框 5"/>
          <p:cNvSpPr txBox="1"/>
          <p:nvPr/>
        </p:nvSpPr>
        <p:spPr>
          <a:xfrm>
            <a:off x="3568065" y="1771015"/>
            <a:ext cx="4266565" cy="829945"/>
          </a:xfrm>
          <a:prstGeom prst="rect">
            <a:avLst/>
          </a:prstGeom>
          <a:noFill/>
        </p:spPr>
        <p:txBody>
          <a:bodyPr wrap="square" rtlCol="0">
            <a:spAutoFit/>
          </a:bodyPr>
          <a:p>
            <a:r>
              <a:rPr lang="zh-CN" altLang="en-US" sz="2400"/>
              <a:t>单击右边图形界面的引脚号可以选择配置该引脚</a:t>
            </a:r>
            <a:r>
              <a:rPr lang="zh-CN" altLang="en-US" sz="2400"/>
              <a:t>模式</a:t>
            </a:r>
            <a:endParaRPr lang="zh-CN" altLang="en-US" sz="2400"/>
          </a:p>
        </p:txBody>
      </p:sp>
      <p:sp>
        <p:nvSpPr>
          <p:cNvPr id="7" name="文本框 6"/>
          <p:cNvSpPr txBox="1"/>
          <p:nvPr/>
        </p:nvSpPr>
        <p:spPr>
          <a:xfrm>
            <a:off x="3118485" y="3655695"/>
            <a:ext cx="5835650" cy="1938020"/>
          </a:xfrm>
          <a:prstGeom prst="rect">
            <a:avLst/>
          </a:prstGeom>
          <a:noFill/>
        </p:spPr>
        <p:txBody>
          <a:bodyPr wrap="square" rtlCol="0">
            <a:spAutoFit/>
          </a:bodyPr>
          <a:p>
            <a:pPr algn="l"/>
            <a:r>
              <a:rPr lang="zh-CN" altLang="en-US" sz="2400"/>
              <a:t>在微控制器中，GPIO（通用输入输出）引脚通常用于处理数字信号，即逻辑高（1）或逻辑低（0）。然而，某些GPIO引脚还具有模拟输入功能，可以配置为模拟输入模式，以接收和处理模拟信号。</a:t>
            </a:r>
            <a:endParaRPr lang="zh-CN" altLang="en-US" sz="240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输入</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p:nvPicPr>
        <p:blipFill>
          <a:blip r:embed="rId1"/>
          <a:stretch>
            <a:fillRect/>
          </a:stretch>
        </p:blipFill>
        <p:spPr>
          <a:xfrm>
            <a:off x="33020" y="982980"/>
            <a:ext cx="9043670" cy="3674745"/>
          </a:xfrm>
          <a:prstGeom prst="rect">
            <a:avLst/>
          </a:prstGeom>
        </p:spPr>
      </p:pic>
      <p:sp>
        <p:nvSpPr>
          <p:cNvPr id="6" name="矩形 5"/>
          <p:cNvSpPr/>
          <p:nvPr/>
        </p:nvSpPr>
        <p:spPr>
          <a:xfrm>
            <a:off x="205740" y="3460750"/>
            <a:ext cx="978535" cy="22161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1775460" y="3395980"/>
            <a:ext cx="1227455" cy="368300"/>
          </a:xfrm>
          <a:prstGeom prst="rect">
            <a:avLst/>
          </a:prstGeom>
          <a:noFill/>
        </p:spPr>
        <p:txBody>
          <a:bodyPr wrap="square" rtlCol="0">
            <a:spAutoFit/>
          </a:bodyPr>
          <a:p>
            <a:r>
              <a:rPr lang="en-US" altLang="zh-CN"/>
              <a:t>gpio</a:t>
            </a:r>
            <a:r>
              <a:rPr lang="zh-CN" altLang="en-US"/>
              <a:t>模式</a:t>
            </a:r>
            <a:endParaRPr lang="zh-CN" altLang="en-US"/>
          </a:p>
        </p:txBody>
      </p:sp>
      <p:sp>
        <p:nvSpPr>
          <p:cNvPr id="13" name="文本框 12"/>
          <p:cNvSpPr txBox="1"/>
          <p:nvPr/>
        </p:nvSpPr>
        <p:spPr>
          <a:xfrm>
            <a:off x="1775460" y="3764280"/>
            <a:ext cx="1097280" cy="368300"/>
          </a:xfrm>
          <a:prstGeom prst="rect">
            <a:avLst/>
          </a:prstGeom>
          <a:noFill/>
        </p:spPr>
        <p:txBody>
          <a:bodyPr wrap="none" rtlCol="0">
            <a:spAutoFit/>
          </a:bodyPr>
          <a:p>
            <a:r>
              <a:rPr lang="zh-CN" altLang="en-US"/>
              <a:t>上拉</a:t>
            </a:r>
            <a:r>
              <a:rPr lang="zh-CN" altLang="en-US"/>
              <a:t>下拉</a:t>
            </a:r>
            <a:endParaRPr lang="zh-CN" altLang="en-US"/>
          </a:p>
        </p:txBody>
      </p:sp>
      <p:sp>
        <p:nvSpPr>
          <p:cNvPr id="14" name="文本框 13"/>
          <p:cNvSpPr txBox="1"/>
          <p:nvPr/>
        </p:nvSpPr>
        <p:spPr>
          <a:xfrm>
            <a:off x="1419860" y="4245610"/>
            <a:ext cx="1783080" cy="368300"/>
          </a:xfrm>
          <a:prstGeom prst="rect">
            <a:avLst/>
          </a:prstGeom>
          <a:noFill/>
        </p:spPr>
        <p:txBody>
          <a:bodyPr wrap="none" rtlCol="0">
            <a:spAutoFit/>
          </a:bodyPr>
          <a:p>
            <a:r>
              <a:rPr lang="zh-CN" altLang="en-US"/>
              <a:t>给引脚自己</a:t>
            </a:r>
            <a:r>
              <a:rPr lang="zh-CN" altLang="en-US"/>
              <a:t>命名</a:t>
            </a:r>
            <a:endParaRPr lang="zh-CN" altLang="en-US"/>
          </a:p>
        </p:txBody>
      </p:sp>
      <p:cxnSp>
        <p:nvCxnSpPr>
          <p:cNvPr id="15" name="直接箭头连接符 14"/>
          <p:cNvCxnSpPr/>
          <p:nvPr/>
        </p:nvCxnSpPr>
        <p:spPr>
          <a:xfrm flipH="1">
            <a:off x="4572000" y="4050665"/>
            <a:ext cx="480060" cy="1301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502025" y="5352415"/>
            <a:ext cx="2926080" cy="368300"/>
          </a:xfrm>
          <a:prstGeom prst="rect">
            <a:avLst/>
          </a:prstGeom>
          <a:noFill/>
        </p:spPr>
        <p:txBody>
          <a:bodyPr wrap="none" rtlCol="0">
            <a:spAutoFit/>
          </a:bodyPr>
          <a:p>
            <a:r>
              <a:rPr lang="zh-CN" altLang="en-US"/>
              <a:t>不上拉不下拉，即浮空</a:t>
            </a:r>
            <a:r>
              <a:rPr lang="zh-CN" altLang="en-US"/>
              <a:t>输入</a:t>
            </a:r>
            <a:endParaRPr lang="zh-CN" altLang="en-US"/>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浮空输入</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378460" y="1033145"/>
            <a:ext cx="7105015" cy="1198880"/>
          </a:xfrm>
          <a:prstGeom prst="rect">
            <a:avLst/>
          </a:prstGeom>
          <a:noFill/>
        </p:spPr>
        <p:txBody>
          <a:bodyPr wrap="square" rtlCol="0">
            <a:spAutoFit/>
          </a:bodyPr>
          <a:p>
            <a:r>
              <a:rPr lang="zh-CN" altLang="en-US"/>
              <a:t>此时没有上拉和下拉的情况，</a:t>
            </a:r>
            <a:r>
              <a:rPr lang="zh-CN" altLang="en-US">
                <a:highlight>
                  <a:srgbClr val="FFFF00"/>
                </a:highlight>
              </a:rPr>
              <a:t>所以当IO口没有接输入的时候，此时的电平会是一个不确定的值，</a:t>
            </a:r>
            <a:r>
              <a:rPr lang="zh-CN" altLang="en-US"/>
              <a:t>也就是我们所说的浮空。电平会处于一个跳变的状态，一会高，一会低。只有输入了一个高/低电平才会确定下来。</a:t>
            </a:r>
            <a:endParaRPr lang="zh-CN" altLang="en-US"/>
          </a:p>
        </p:txBody>
      </p:sp>
      <p:pic>
        <p:nvPicPr>
          <p:cNvPr id="103" name="图片 102"/>
          <p:cNvPicPr/>
          <p:nvPr/>
        </p:nvPicPr>
        <p:blipFill>
          <a:blip r:embed="rId1"/>
          <a:stretch>
            <a:fillRect/>
          </a:stretch>
        </p:blipFill>
        <p:spPr>
          <a:xfrm>
            <a:off x="1276985" y="3522980"/>
            <a:ext cx="6727825" cy="3333750"/>
          </a:xfrm>
          <a:prstGeom prst="rect">
            <a:avLst/>
          </a:prstGeom>
          <a:noFill/>
          <a:ln w="9525">
            <a:noFill/>
          </a:ln>
        </p:spPr>
      </p:pic>
      <p:sp>
        <p:nvSpPr>
          <p:cNvPr id="4" name="文本框 3"/>
          <p:cNvSpPr txBox="1"/>
          <p:nvPr/>
        </p:nvSpPr>
        <p:spPr>
          <a:xfrm>
            <a:off x="116205" y="2339340"/>
            <a:ext cx="8594090" cy="1198880"/>
          </a:xfrm>
          <a:prstGeom prst="rect">
            <a:avLst/>
          </a:prstGeom>
          <a:noFill/>
        </p:spPr>
        <p:txBody>
          <a:bodyPr wrap="square" rtlCol="0">
            <a:spAutoFit/>
          </a:bodyPr>
          <a:p>
            <a:pPr algn="l"/>
            <a:r>
              <a:rPr lang="zh-CN" altLang="en-US"/>
              <a:t>优势：这一种输入模式的</a:t>
            </a:r>
            <a:r>
              <a:rPr lang="zh-CN" altLang="en-US">
                <a:highlight>
                  <a:srgbClr val="FFFF00"/>
                </a:highlight>
              </a:rPr>
              <a:t>电平会完全取决于外部电路</a:t>
            </a:r>
            <a:r>
              <a:rPr lang="zh-CN" altLang="en-US"/>
              <a:t>而与内部电路无关。有时候会用作对开关按键的读取。</a:t>
            </a:r>
            <a:endParaRPr lang="zh-CN" altLang="en-US"/>
          </a:p>
          <a:p>
            <a:pPr algn="l"/>
            <a:endParaRPr lang="zh-CN" altLang="en-US"/>
          </a:p>
          <a:p>
            <a:pPr algn="l"/>
            <a:r>
              <a:rPr lang="zh-CN" altLang="en-US"/>
              <a:t>但是在没有外部电路接入的时候，IO脚浮空会使得电平不确定</a:t>
            </a: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上拉</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输入</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77174" y="652071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4" name="图片 103"/>
          <p:cNvPicPr/>
          <p:nvPr/>
        </p:nvPicPr>
        <p:blipFill>
          <a:blip r:embed="rId1"/>
          <a:stretch>
            <a:fillRect/>
          </a:stretch>
        </p:blipFill>
        <p:spPr>
          <a:xfrm>
            <a:off x="1419860" y="3573780"/>
            <a:ext cx="6383020" cy="3219450"/>
          </a:xfrm>
          <a:prstGeom prst="rect">
            <a:avLst/>
          </a:prstGeom>
          <a:noFill/>
          <a:ln w="9525">
            <a:noFill/>
          </a:ln>
        </p:spPr>
      </p:pic>
      <p:sp>
        <p:nvSpPr>
          <p:cNvPr id="3" name="文本框 2"/>
          <p:cNvSpPr txBox="1"/>
          <p:nvPr/>
        </p:nvSpPr>
        <p:spPr>
          <a:xfrm>
            <a:off x="480695" y="925830"/>
            <a:ext cx="8126095" cy="922020"/>
          </a:xfrm>
          <a:prstGeom prst="rect">
            <a:avLst/>
          </a:prstGeom>
          <a:noFill/>
        </p:spPr>
        <p:txBody>
          <a:bodyPr wrap="square" rtlCol="0">
            <a:spAutoFit/>
          </a:bodyPr>
          <a:p>
            <a:pPr algn="l"/>
            <a:r>
              <a:rPr lang="zh-CN" altLang="en-US"/>
              <a:t>VDD所在上拉电阻开关闭合，下拉电阻的开关断开。</a:t>
            </a:r>
            <a:endParaRPr lang="zh-CN" altLang="en-US"/>
          </a:p>
          <a:p>
            <a:pPr algn="l"/>
            <a:r>
              <a:rPr lang="zh-CN" altLang="en-US"/>
              <a:t>根据前面浮空输入里面所提的，在</a:t>
            </a:r>
            <a:r>
              <a:rPr lang="zh-CN" altLang="en-US">
                <a:highlight>
                  <a:srgbClr val="FFFF00"/>
                </a:highlight>
              </a:rPr>
              <a:t>没有信号输入的时候</a:t>
            </a:r>
            <a:r>
              <a:rPr lang="zh-CN" altLang="en-US"/>
              <a:t>，根据电路知识，此时的电平就是VDD的电平，此时</a:t>
            </a:r>
            <a:r>
              <a:rPr lang="zh-CN" altLang="en-US">
                <a:highlight>
                  <a:srgbClr val="FFFF00"/>
                </a:highlight>
              </a:rPr>
              <a:t>读取到的电平就是高电平</a:t>
            </a:r>
            <a:r>
              <a:rPr lang="zh-CN" altLang="en-US"/>
              <a:t>。</a:t>
            </a:r>
            <a:endParaRPr lang="zh-CN" altLang="en-US"/>
          </a:p>
        </p:txBody>
      </p:sp>
      <p:sp>
        <p:nvSpPr>
          <p:cNvPr id="4" name="文本框 3"/>
          <p:cNvSpPr txBox="1"/>
          <p:nvPr/>
        </p:nvSpPr>
        <p:spPr>
          <a:xfrm>
            <a:off x="418465" y="1950720"/>
            <a:ext cx="8723630" cy="2153285"/>
          </a:xfrm>
          <a:prstGeom prst="rect">
            <a:avLst/>
          </a:prstGeom>
          <a:noFill/>
        </p:spPr>
        <p:txBody>
          <a:bodyPr wrap="square" rtlCol="0">
            <a:spAutoFit/>
          </a:bodyPr>
          <a:p>
            <a:pPr algn="l"/>
            <a:r>
              <a:rPr lang="zh-CN" altLang="en-US" sz="1400"/>
              <a:t>如果</a:t>
            </a:r>
            <a:r>
              <a:rPr lang="zh-CN" altLang="en-US" sz="1400">
                <a:highlight>
                  <a:srgbClr val="FFFF00"/>
                </a:highlight>
              </a:rPr>
              <a:t>输入了一个高电平</a:t>
            </a:r>
            <a:r>
              <a:rPr lang="zh-CN" altLang="en-US" sz="1400"/>
              <a:t>，VDD和O点(最上面的图中的O点)之间就几乎没有电势差，此时O点的电平就仍然是高电平，</a:t>
            </a:r>
            <a:r>
              <a:rPr lang="zh-CN" altLang="en-US" sz="1400">
                <a:highlight>
                  <a:srgbClr val="FFFF00"/>
                </a:highlight>
              </a:rPr>
              <a:t>读取到的电平就是高电平</a:t>
            </a:r>
            <a:r>
              <a:rPr lang="zh-CN" altLang="en-US" sz="1400"/>
              <a:t>。但是由于在没有电压输入的时候，电平也是高电平，所以这一种输入情况下是没有办法确定信号是否输入了。</a:t>
            </a:r>
            <a:endParaRPr lang="zh-CN" altLang="en-US" sz="1400"/>
          </a:p>
          <a:p>
            <a:pPr algn="l"/>
            <a:r>
              <a:rPr lang="zh-CN" altLang="en-US" sz="1400"/>
              <a:t>当</a:t>
            </a:r>
            <a:r>
              <a:rPr lang="zh-CN" altLang="en-US" sz="1400">
                <a:highlight>
                  <a:srgbClr val="FFFF00"/>
                </a:highlight>
              </a:rPr>
              <a:t>输入信号是一个低电平</a:t>
            </a:r>
            <a:r>
              <a:rPr lang="zh-CN" altLang="en-US" sz="1400"/>
              <a:t>的时候，此时</a:t>
            </a:r>
            <a:r>
              <a:rPr lang="zh-CN" altLang="en-US" sz="1400">
                <a:highlight>
                  <a:srgbClr val="FFFF00"/>
                </a:highlight>
              </a:rPr>
              <a:t>O点的电平的电平就会变成低电平</a:t>
            </a:r>
            <a:r>
              <a:rPr lang="zh-CN" altLang="en-US" sz="1400"/>
              <a:t>，那么VDD和O点之间形成了电势差，但是因为上拉电阻的存在，所以不会出现一个大电流。此时单片机读取到的一个电平就是一个低电平。在上拉输入的情况下，低电平的是能够非常明显的读取到的。</a:t>
            </a:r>
            <a:endParaRPr lang="zh-CN" altLang="en-US" sz="1400"/>
          </a:p>
          <a:p>
            <a:pPr algn="l"/>
            <a:r>
              <a:rPr lang="zh-CN" altLang="en-US" sz="1400"/>
              <a:t>上拉输入的好处就是输入的电平不会上下浮动而导致输入信号不稳定，在没有信号输入的情况下可以稳定在高电平</a:t>
            </a:r>
            <a:r>
              <a:rPr lang="zh-CN" altLang="en-US"/>
              <a:t>。</a:t>
            </a:r>
            <a:endParaRPr lang="zh-CN" altLang="en-US"/>
          </a:p>
          <a:p>
            <a:pPr algn="l"/>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下拉输入</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0" name="图片 99"/>
          <p:cNvPicPr/>
          <p:nvPr/>
        </p:nvPicPr>
        <p:blipFill>
          <a:blip r:embed="rId1"/>
          <a:stretch>
            <a:fillRect/>
          </a:stretch>
        </p:blipFill>
        <p:spPr>
          <a:xfrm>
            <a:off x="3625215" y="2381885"/>
            <a:ext cx="5516880" cy="4474845"/>
          </a:xfrm>
          <a:prstGeom prst="rect">
            <a:avLst/>
          </a:prstGeom>
          <a:noFill/>
          <a:ln w="9525">
            <a:noFill/>
          </a:ln>
        </p:spPr>
      </p:pic>
      <p:sp>
        <p:nvSpPr>
          <p:cNvPr id="2" name="文本框 1"/>
          <p:cNvSpPr txBox="1"/>
          <p:nvPr/>
        </p:nvSpPr>
        <p:spPr>
          <a:xfrm>
            <a:off x="452755" y="1541145"/>
            <a:ext cx="5393690" cy="368300"/>
          </a:xfrm>
          <a:prstGeom prst="rect">
            <a:avLst/>
          </a:prstGeom>
          <a:noFill/>
        </p:spPr>
        <p:txBody>
          <a:bodyPr wrap="none" rtlCol="0">
            <a:spAutoFit/>
          </a:bodyPr>
          <a:p>
            <a:pPr algn="l"/>
            <a:r>
              <a:rPr lang="zh-CN" altLang="en-US"/>
              <a:t>VDD所在上拉电阻开关断开，下拉电阻的开关闭合。</a:t>
            </a:r>
            <a:endParaRPr lang="zh-CN" altLang="en-US"/>
          </a:p>
        </p:txBody>
      </p:sp>
      <p:sp>
        <p:nvSpPr>
          <p:cNvPr id="3" name="文本框 2"/>
          <p:cNvSpPr txBox="1"/>
          <p:nvPr/>
        </p:nvSpPr>
        <p:spPr>
          <a:xfrm>
            <a:off x="309880" y="1964690"/>
            <a:ext cx="3521710" cy="5015865"/>
          </a:xfrm>
          <a:prstGeom prst="rect">
            <a:avLst/>
          </a:prstGeom>
          <a:noFill/>
        </p:spPr>
        <p:txBody>
          <a:bodyPr wrap="square" rtlCol="0">
            <a:spAutoFit/>
          </a:bodyPr>
          <a:p>
            <a:pPr algn="l"/>
            <a:r>
              <a:rPr lang="zh-CN" altLang="en-US" sz="2000"/>
              <a:t>在没有信号输入的时候，电平就是VSS的电平，此时读取到的电平就是低电平。</a:t>
            </a:r>
            <a:endParaRPr lang="zh-CN" altLang="en-US" sz="2000"/>
          </a:p>
          <a:p>
            <a:pPr algn="l"/>
            <a:r>
              <a:rPr lang="zh-CN" altLang="en-US" sz="2000"/>
              <a:t>此时输入的电平如果是一个低电平，就没有办法和之前的情况进行区分。</a:t>
            </a:r>
            <a:endParaRPr lang="zh-CN" altLang="en-US" sz="2000"/>
          </a:p>
          <a:p>
            <a:pPr algn="l"/>
            <a:r>
              <a:rPr lang="zh-CN" altLang="en-US" sz="2000"/>
              <a:t>但如果输入的是一个高电平，O点和VSS之间同样形成了电势差，</a:t>
            </a:r>
            <a:r>
              <a:rPr lang="zh-CN" altLang="en-US" sz="2000">
                <a:highlight>
                  <a:srgbClr val="FFFF00"/>
                </a:highlight>
              </a:rPr>
              <a:t>O点的电平会变成外部的高电平</a:t>
            </a:r>
            <a:r>
              <a:rPr lang="zh-CN" altLang="en-US" sz="2000"/>
              <a:t>，那么单片机得到的就是一个高电平信号。</a:t>
            </a:r>
            <a:endParaRPr lang="zh-CN" altLang="en-US" sz="2000"/>
          </a:p>
          <a:p>
            <a:pPr algn="l"/>
            <a:r>
              <a:rPr lang="zh-CN" altLang="en-US" sz="2000"/>
              <a:t>下拉输入的好处就是输入的电平不会上下浮动而导致输入信号不稳定，在没有信号输入的情况下可以稳定在低电平。</a:t>
            </a:r>
            <a:endParaRPr lang="zh-CN" altLang="en-US" sz="2000"/>
          </a:p>
          <a:p>
            <a:pPr algn="l"/>
            <a:endParaRPr lang="zh-CN" altLang="en-US" sz="200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模拟输入</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304800" y="1015365"/>
            <a:ext cx="1259205" cy="368300"/>
          </a:xfrm>
          <a:prstGeom prst="rect">
            <a:avLst/>
          </a:prstGeom>
          <a:noFill/>
        </p:spPr>
        <p:txBody>
          <a:bodyPr wrap="none" rtlCol="0">
            <a:spAutoFit/>
          </a:bodyPr>
          <a:p>
            <a:r>
              <a:rPr lang="zh-CN" altLang="en-US"/>
              <a:t>模拟</a:t>
            </a:r>
            <a:r>
              <a:rPr lang="en-US" altLang="zh-CN"/>
              <a:t>analog</a:t>
            </a:r>
            <a:endParaRPr lang="en-US" altLang="zh-CN"/>
          </a:p>
        </p:txBody>
      </p:sp>
      <p:sp>
        <p:nvSpPr>
          <p:cNvPr id="3" name="文本框 2"/>
          <p:cNvSpPr txBox="1"/>
          <p:nvPr/>
        </p:nvSpPr>
        <p:spPr>
          <a:xfrm>
            <a:off x="1753870" y="1015365"/>
            <a:ext cx="1208405" cy="368300"/>
          </a:xfrm>
          <a:prstGeom prst="rect">
            <a:avLst/>
          </a:prstGeom>
          <a:noFill/>
        </p:spPr>
        <p:txBody>
          <a:bodyPr wrap="none" rtlCol="0">
            <a:spAutoFit/>
          </a:bodyPr>
          <a:p>
            <a:r>
              <a:rPr lang="zh-CN" altLang="en-US"/>
              <a:t>数字</a:t>
            </a:r>
            <a:r>
              <a:rPr lang="en-US" altLang="zh-CN"/>
              <a:t>digital</a:t>
            </a:r>
            <a:endParaRPr lang="en-US" altLang="zh-CN"/>
          </a:p>
        </p:txBody>
      </p:sp>
      <p:sp>
        <p:nvSpPr>
          <p:cNvPr id="4" name="文本框 3"/>
          <p:cNvSpPr txBox="1"/>
          <p:nvPr/>
        </p:nvSpPr>
        <p:spPr>
          <a:xfrm>
            <a:off x="3313430" y="1015365"/>
            <a:ext cx="1423035" cy="368300"/>
          </a:xfrm>
          <a:prstGeom prst="rect">
            <a:avLst/>
          </a:prstGeom>
          <a:noFill/>
        </p:spPr>
        <p:txBody>
          <a:bodyPr wrap="none" rtlCol="0">
            <a:spAutoFit/>
          </a:bodyPr>
          <a:p>
            <a:r>
              <a:rPr lang="zh-CN" altLang="en-US"/>
              <a:t>数模转换</a:t>
            </a:r>
            <a:r>
              <a:rPr lang="en-US" altLang="zh-CN"/>
              <a:t>adc</a:t>
            </a:r>
            <a:endParaRPr lang="en-US" altLang="zh-CN"/>
          </a:p>
        </p:txBody>
      </p:sp>
      <p:pic>
        <p:nvPicPr>
          <p:cNvPr id="101" name="图片 100"/>
          <p:cNvPicPr/>
          <p:nvPr/>
        </p:nvPicPr>
        <p:blipFill>
          <a:blip r:embed="rId1"/>
          <a:stretch>
            <a:fillRect/>
          </a:stretch>
        </p:blipFill>
        <p:spPr>
          <a:xfrm>
            <a:off x="1115060" y="3445510"/>
            <a:ext cx="7491730" cy="3410585"/>
          </a:xfrm>
          <a:prstGeom prst="rect">
            <a:avLst/>
          </a:prstGeom>
          <a:noFill/>
          <a:ln w="9525">
            <a:noFill/>
          </a:ln>
        </p:spPr>
      </p:pic>
      <p:sp>
        <p:nvSpPr>
          <p:cNvPr id="5" name="文本框 4"/>
          <p:cNvSpPr txBox="1"/>
          <p:nvPr/>
        </p:nvSpPr>
        <p:spPr>
          <a:xfrm>
            <a:off x="219075" y="1473200"/>
            <a:ext cx="8387715" cy="1322070"/>
          </a:xfrm>
          <a:prstGeom prst="rect">
            <a:avLst/>
          </a:prstGeom>
          <a:noFill/>
        </p:spPr>
        <p:txBody>
          <a:bodyPr wrap="square" rtlCol="0">
            <a:spAutoFit/>
          </a:bodyPr>
          <a:p>
            <a:pPr algn="l"/>
            <a:r>
              <a:rPr lang="zh-CN" altLang="en-US" sz="2000"/>
              <a:t>在我们使用单片机的时候，我们有时候需</a:t>
            </a:r>
            <a:r>
              <a:rPr lang="zh-CN" altLang="en-US" sz="2000">
                <a:highlight>
                  <a:srgbClr val="FFFF00"/>
                </a:highlight>
              </a:rPr>
              <a:t>要用AD采集到IO口上面的真实电压</a:t>
            </a:r>
            <a:r>
              <a:rPr lang="zh-CN" altLang="en-US" sz="2000"/>
              <a:t>。这就有了我们所需要的模拟输入。为了</a:t>
            </a:r>
            <a:r>
              <a:rPr lang="zh-CN" altLang="en-US" sz="2000">
                <a:highlight>
                  <a:srgbClr val="FFFF00"/>
                </a:highlight>
              </a:rPr>
              <a:t>让外部的电压真实的读取到单片机的AD模块</a:t>
            </a:r>
            <a:r>
              <a:rPr lang="zh-CN" altLang="en-US" sz="2000"/>
              <a:t>，我们</a:t>
            </a:r>
            <a:r>
              <a:rPr lang="zh-CN" altLang="en-US" sz="2000">
                <a:highlight>
                  <a:srgbClr val="FFFF00"/>
                </a:highlight>
              </a:rPr>
              <a:t>既不能闭合上拉和下拉的开关，也不能让信号经过施密特触发器</a:t>
            </a:r>
            <a:r>
              <a:rPr lang="zh-CN" altLang="en-US" sz="2000"/>
              <a:t>。</a:t>
            </a:r>
            <a:endParaRPr lang="zh-CN" altLang="en-US" sz="2000"/>
          </a:p>
        </p:txBody>
      </p:sp>
      <p:sp>
        <p:nvSpPr>
          <p:cNvPr id="6" name="文本框 5"/>
          <p:cNvSpPr txBox="1"/>
          <p:nvPr/>
        </p:nvSpPr>
        <p:spPr>
          <a:xfrm>
            <a:off x="139700" y="2990215"/>
            <a:ext cx="7770495" cy="368300"/>
          </a:xfrm>
          <a:prstGeom prst="rect">
            <a:avLst/>
          </a:prstGeom>
          <a:noFill/>
        </p:spPr>
        <p:txBody>
          <a:bodyPr wrap="none" rtlCol="0">
            <a:spAutoFit/>
          </a:bodyPr>
          <a:p>
            <a:pPr algn="l"/>
            <a:r>
              <a:rPr lang="zh-CN" altLang="en-US"/>
              <a:t>优势：可以让AD读取电压。还可以在低功耗模式下运行，实现省电的作用。</a:t>
            </a:r>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16890" y="1079500"/>
            <a:ext cx="4237355" cy="1198880"/>
          </a:xfrm>
          <a:prstGeom prst="rect">
            <a:avLst/>
          </a:prstGeom>
          <a:noFill/>
        </p:spPr>
        <p:txBody>
          <a:bodyPr wrap="square" rtlCol="0">
            <a:spAutoFit/>
          </a:bodyPr>
          <a:p>
            <a:r>
              <a:rPr lang="zh-CN" altLang="en-US"/>
              <a:t>在一些 </a:t>
            </a:r>
            <a:r>
              <a:rPr lang="zh-CN" altLang="en-US">
                <a:highlight>
                  <a:srgbClr val="FFFF00"/>
                </a:highlight>
              </a:rPr>
              <a:t>3.3V 单片机</a:t>
            </a:r>
            <a:r>
              <a:rPr lang="zh-CN" altLang="en-US"/>
              <a:t>的输入IO口中， 能够</a:t>
            </a:r>
            <a:r>
              <a:rPr lang="zh-CN" altLang="en-US">
                <a:highlight>
                  <a:srgbClr val="FFFF00"/>
                </a:highlight>
              </a:rPr>
              <a:t>容忍5V输入</a:t>
            </a:r>
            <a:r>
              <a:rPr lang="zh-CN" altLang="en-US"/>
              <a:t>。  比如在 STM32 单片机中， 大部分IO口在输入状态下， 都能够容忍 5V 输入。 可以通过查询</a:t>
            </a:r>
            <a:r>
              <a:rPr lang="zh-CN" altLang="en-US"/>
              <a:t>用户手册</a:t>
            </a:r>
            <a:endParaRPr lang="zh-CN" altLang="en-US"/>
          </a:p>
        </p:txBody>
      </p:sp>
      <p:pic>
        <p:nvPicPr>
          <p:cNvPr id="102" name="图片 101"/>
          <p:cNvPicPr/>
          <p:nvPr/>
        </p:nvPicPr>
        <p:blipFill>
          <a:blip r:embed="rId1"/>
          <a:stretch>
            <a:fillRect/>
          </a:stretch>
        </p:blipFill>
        <p:spPr>
          <a:xfrm>
            <a:off x="332105" y="2534920"/>
            <a:ext cx="8636635" cy="4100830"/>
          </a:xfrm>
          <a:prstGeom prst="rect">
            <a:avLst/>
          </a:prstGeom>
          <a:noFill/>
          <a:ln w="9525">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1187" y="261275"/>
            <a:ext cx="666069" cy="664458"/>
            <a:chOff x="611187" y="261275"/>
            <a:chExt cx="666069" cy="664458"/>
          </a:xfrm>
        </p:grpSpPr>
        <p:sp>
          <p:nvSpPr>
            <p:cNvPr id="9" name="矩形 8"/>
            <p:cNvSpPr>
              <a:spLocks noChangeAspect="1"/>
            </p:cNvSpPr>
            <p:nvPr/>
          </p:nvSpPr>
          <p:spPr>
            <a:xfrm>
              <a:off x="611187" y="261275"/>
              <a:ext cx="538925" cy="537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nvSpPr>
          <p:spPr>
            <a:xfrm>
              <a:off x="880650" y="530086"/>
              <a:ext cx="396606" cy="395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3" name="图片 102"/>
          <p:cNvPicPr/>
          <p:nvPr/>
        </p:nvPicPr>
        <p:blipFill>
          <a:blip r:embed="rId1"/>
          <a:srcRect l="-518" t="27988"/>
          <a:stretch>
            <a:fillRect/>
          </a:stretch>
        </p:blipFill>
        <p:spPr>
          <a:xfrm>
            <a:off x="0" y="0"/>
            <a:ext cx="9079865" cy="685863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22" presetClass="entr" presetSubtype="8" fill="hold" grpId="0" nodeType="withEffect">
                                  <p:stCondLst>
                                    <p:cond delay="25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22" presetClass="entr" presetSubtype="2"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配置一个输出</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引脚</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3" name="图片 2"/>
          <p:cNvPicPr>
            <a:picLocks noChangeAspect="1"/>
          </p:cNvPicPr>
          <p:nvPr/>
        </p:nvPicPr>
        <p:blipFill>
          <a:blip r:embed="rId1"/>
          <a:stretch>
            <a:fillRect/>
          </a:stretch>
        </p:blipFill>
        <p:spPr>
          <a:xfrm>
            <a:off x="99695" y="925830"/>
            <a:ext cx="8610600" cy="2882265"/>
          </a:xfrm>
          <a:prstGeom prst="rect">
            <a:avLst/>
          </a:prstGeom>
        </p:spPr>
      </p:pic>
      <p:pic>
        <p:nvPicPr>
          <p:cNvPr id="4" name="图片 3"/>
          <p:cNvPicPr>
            <a:picLocks noChangeAspect="1"/>
          </p:cNvPicPr>
          <p:nvPr/>
        </p:nvPicPr>
        <p:blipFill>
          <a:blip r:embed="rId2"/>
          <a:stretch>
            <a:fillRect/>
          </a:stretch>
        </p:blipFill>
        <p:spPr>
          <a:xfrm>
            <a:off x="3187065" y="3855720"/>
            <a:ext cx="5523230" cy="1142365"/>
          </a:xfrm>
          <a:prstGeom prst="rect">
            <a:avLst/>
          </a:prstGeom>
        </p:spPr>
      </p:pic>
      <p:sp>
        <p:nvSpPr>
          <p:cNvPr id="5" name="文本框 4"/>
          <p:cNvSpPr txBox="1"/>
          <p:nvPr/>
        </p:nvSpPr>
        <p:spPr>
          <a:xfrm>
            <a:off x="1149985" y="4255770"/>
            <a:ext cx="1092200" cy="368300"/>
          </a:xfrm>
          <a:prstGeom prst="rect">
            <a:avLst/>
          </a:prstGeom>
          <a:noFill/>
        </p:spPr>
        <p:txBody>
          <a:bodyPr wrap="none" rtlCol="0">
            <a:spAutoFit/>
          </a:bodyPr>
          <a:p>
            <a:r>
              <a:rPr lang="en-US" altLang="zh-CN"/>
              <a:t>gpio </a:t>
            </a:r>
            <a:r>
              <a:rPr lang="zh-CN" altLang="en-US"/>
              <a:t>模式</a:t>
            </a:r>
            <a:endParaRPr lang="zh-CN" altLang="en-US"/>
          </a:p>
        </p:txBody>
      </p:sp>
      <p:sp>
        <p:nvSpPr>
          <p:cNvPr id="6" name="文本框 5"/>
          <p:cNvSpPr txBox="1"/>
          <p:nvPr/>
        </p:nvSpPr>
        <p:spPr>
          <a:xfrm>
            <a:off x="343535" y="5130165"/>
            <a:ext cx="5897880" cy="368300"/>
          </a:xfrm>
          <a:prstGeom prst="rect">
            <a:avLst/>
          </a:prstGeom>
          <a:noFill/>
        </p:spPr>
        <p:txBody>
          <a:bodyPr wrap="none" rtlCol="0">
            <a:spAutoFit/>
          </a:bodyPr>
          <a:p>
            <a:r>
              <a:rPr lang="zh-CN" altLang="en-US"/>
              <a:t>既不上拉也不下拉</a:t>
            </a:r>
            <a:r>
              <a:rPr lang="zh-CN" altLang="en-US"/>
              <a:t>（输入模式用的，输出一般不改</a:t>
            </a:r>
            <a:r>
              <a:rPr lang="zh-CN" altLang="en-US"/>
              <a:t>这里）</a:t>
            </a:r>
            <a:endParaRPr lang="zh-CN" altLang="en-US"/>
          </a:p>
        </p:txBody>
      </p:sp>
      <p:pic>
        <p:nvPicPr>
          <p:cNvPr id="7" name="图片 6"/>
          <p:cNvPicPr>
            <a:picLocks noChangeAspect="1"/>
          </p:cNvPicPr>
          <p:nvPr/>
        </p:nvPicPr>
        <p:blipFill>
          <a:blip r:embed="rId3"/>
          <a:stretch>
            <a:fillRect/>
          </a:stretch>
        </p:blipFill>
        <p:spPr>
          <a:xfrm>
            <a:off x="3143885" y="5498465"/>
            <a:ext cx="5626100" cy="1215390"/>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469900" y="1079500"/>
            <a:ext cx="6128385" cy="645160"/>
          </a:xfrm>
          <a:prstGeom prst="rect">
            <a:avLst/>
          </a:prstGeom>
          <a:noFill/>
        </p:spPr>
        <p:txBody>
          <a:bodyPr wrap="none" rtlCol="0">
            <a:spAutoFit/>
          </a:bodyPr>
          <a:p>
            <a:r>
              <a:rPr lang="zh-CN" altLang="en-US"/>
              <a:t>GPIO output level 即输出模式下初始化后端口的电位(高或低)</a:t>
            </a:r>
            <a:endParaRPr lang="zh-CN" altLang="en-US"/>
          </a:p>
          <a:p>
            <a:r>
              <a:rPr lang="zh-CN" altLang="en-US"/>
              <a:t>GPIO Pull-up/Pull-down 即输入模式下的电位，例如按键检测</a:t>
            </a:r>
            <a:endParaRPr lang="zh-CN" altLang="en-US"/>
          </a:p>
        </p:txBody>
      </p:sp>
      <p:pic>
        <p:nvPicPr>
          <p:cNvPr id="104" name="图片 103"/>
          <p:cNvPicPr/>
          <p:nvPr/>
        </p:nvPicPr>
        <p:blipFill>
          <a:blip r:embed="rId1"/>
          <a:stretch>
            <a:fillRect/>
          </a:stretch>
        </p:blipFill>
        <p:spPr>
          <a:xfrm>
            <a:off x="360998" y="1724660"/>
            <a:ext cx="7553324" cy="3143250"/>
          </a:xfrm>
          <a:prstGeom prst="rect">
            <a:avLst/>
          </a:prstGeom>
          <a:noFill/>
          <a:ln w="9525">
            <a:noFill/>
          </a:ln>
        </p:spPr>
      </p:pic>
      <p:sp>
        <p:nvSpPr>
          <p:cNvPr id="3" name="文本框 2"/>
          <p:cNvSpPr txBox="1"/>
          <p:nvPr/>
        </p:nvSpPr>
        <p:spPr>
          <a:xfrm>
            <a:off x="469900" y="5140960"/>
            <a:ext cx="4401185" cy="1198880"/>
          </a:xfrm>
          <a:prstGeom prst="rect">
            <a:avLst/>
          </a:prstGeom>
          <a:noFill/>
        </p:spPr>
        <p:txBody>
          <a:bodyPr wrap="none" rtlCol="0">
            <a:spAutoFit/>
          </a:bodyPr>
          <a:p>
            <a:pPr algn="l"/>
            <a:r>
              <a:rPr lang="zh-CN" altLang="en-US" b="1"/>
              <a:t>Maximum output speed</a:t>
            </a:r>
            <a:endParaRPr lang="zh-CN" altLang="en-US" b="1"/>
          </a:p>
          <a:p>
            <a:pPr algn="l"/>
            <a:r>
              <a:rPr lang="zh-CN" altLang="en-US"/>
              <a:t>Low，GPIO速度为低速，通常为2MHZ</a:t>
            </a:r>
            <a:endParaRPr lang="zh-CN" altLang="en-US"/>
          </a:p>
          <a:p>
            <a:pPr algn="l"/>
            <a:r>
              <a:rPr lang="zh-CN" altLang="en-US"/>
              <a:t>Medium，GPIO速度为中速，通常为10MHZ</a:t>
            </a:r>
            <a:endParaRPr lang="zh-CN" altLang="en-US"/>
          </a:p>
          <a:p>
            <a:pPr algn="l"/>
            <a:r>
              <a:rPr lang="zh-CN" altLang="en-US"/>
              <a:t>High，GPIO速度为高速，通常为50MHZ</a:t>
            </a:r>
            <a:endParaRPr lang="zh-CN" altLang="en-US"/>
          </a:p>
        </p:txBody>
      </p:sp>
      <p:sp>
        <p:nvSpPr>
          <p:cNvPr id="4" name="文本框 3"/>
          <p:cNvSpPr txBox="1"/>
          <p:nvPr/>
        </p:nvSpPr>
        <p:spPr>
          <a:xfrm>
            <a:off x="6978650" y="1217930"/>
            <a:ext cx="1097280" cy="368300"/>
          </a:xfrm>
          <a:prstGeom prst="rect">
            <a:avLst/>
          </a:prstGeom>
          <a:noFill/>
        </p:spPr>
        <p:txBody>
          <a:bodyPr wrap="none" rtlCol="0">
            <a:spAutoFit/>
          </a:bodyPr>
          <a:p>
            <a:r>
              <a:rPr lang="zh-CN" altLang="en-US"/>
              <a:t>区分一下</a:t>
            </a: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推挽输出</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3" name="图片 102"/>
          <p:cNvPicPr/>
          <p:nvPr/>
        </p:nvPicPr>
        <p:blipFill>
          <a:blip r:embed="rId1"/>
          <a:stretch>
            <a:fillRect/>
          </a:stretch>
        </p:blipFill>
        <p:spPr>
          <a:xfrm>
            <a:off x="-83185" y="2308860"/>
            <a:ext cx="9225280" cy="3755390"/>
          </a:xfrm>
          <a:prstGeom prst="rect">
            <a:avLst/>
          </a:prstGeom>
          <a:noFill/>
          <a:ln w="9525">
            <a:noFill/>
          </a:ln>
        </p:spPr>
      </p:pic>
      <p:sp>
        <p:nvSpPr>
          <p:cNvPr id="2" name="文本框 1"/>
          <p:cNvSpPr txBox="1"/>
          <p:nvPr/>
        </p:nvSpPr>
        <p:spPr>
          <a:xfrm>
            <a:off x="401955" y="1060450"/>
            <a:ext cx="6583680" cy="368300"/>
          </a:xfrm>
          <a:prstGeom prst="rect">
            <a:avLst/>
          </a:prstGeom>
          <a:noFill/>
        </p:spPr>
        <p:txBody>
          <a:bodyPr wrap="none" rtlCol="0">
            <a:spAutoFit/>
          </a:bodyPr>
          <a:p>
            <a:r>
              <a:rPr lang="zh-CN" altLang="en-US"/>
              <a:t>既可以输出高电平，又可以输出低电平，通过单片机内部</a:t>
            </a:r>
            <a:r>
              <a:rPr lang="zh-CN" altLang="en-US"/>
              <a:t>控制。</a:t>
            </a:r>
            <a:endParaRPr lang="zh-CN" altLang="en-US"/>
          </a:p>
        </p:txBody>
      </p:sp>
      <p:sp>
        <p:nvSpPr>
          <p:cNvPr id="3" name="文本框 2"/>
          <p:cNvSpPr txBox="1"/>
          <p:nvPr/>
        </p:nvSpPr>
        <p:spPr>
          <a:xfrm>
            <a:off x="475615" y="1563370"/>
            <a:ext cx="4069080" cy="368300"/>
          </a:xfrm>
          <a:prstGeom prst="rect">
            <a:avLst/>
          </a:prstGeom>
          <a:noFill/>
        </p:spPr>
        <p:txBody>
          <a:bodyPr wrap="none" rtlCol="0">
            <a:spAutoFit/>
          </a:bodyPr>
          <a:p>
            <a:pPr algn="l"/>
            <a:r>
              <a:rPr lang="zh-CN" altLang="en-US"/>
              <a:t>带载能力强，是我们</a:t>
            </a:r>
            <a:r>
              <a:rPr lang="zh-CN" altLang="en-US">
                <a:highlight>
                  <a:srgbClr val="FFFF00"/>
                </a:highlight>
              </a:rPr>
              <a:t>最常用的输出</a:t>
            </a:r>
            <a:r>
              <a:rPr lang="zh-CN" altLang="en-US">
                <a:highlight>
                  <a:srgbClr val="FFFF00"/>
                </a:highlight>
              </a:rPr>
              <a:t>方式</a:t>
            </a:r>
            <a:endParaRPr lang="zh-CN" altLang="en-US">
              <a:highlight>
                <a:srgbClr val="FFFF00"/>
              </a:highlight>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82994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开漏输出</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11125" y="1126490"/>
            <a:ext cx="5745480" cy="1630045"/>
          </a:xfrm>
          <a:prstGeom prst="rect">
            <a:avLst/>
          </a:prstGeom>
          <a:noFill/>
        </p:spPr>
        <p:txBody>
          <a:bodyPr wrap="square" rtlCol="0">
            <a:spAutoFit/>
          </a:bodyPr>
          <a:p>
            <a:pPr algn="l"/>
            <a:r>
              <a:rPr lang="zh-CN" altLang="en-US" sz="2000"/>
              <a:t> OD门的输出级只有一个NMOS晶体管，这个晶体管的漏极（Drain）是开路的，意味着它没有直接连接到电源（Vcc）。</a:t>
            </a:r>
            <a:r>
              <a:rPr lang="zh-CN" altLang="en-US" sz="2000">
                <a:highlight>
                  <a:srgbClr val="FFFF00"/>
                </a:highlight>
              </a:rPr>
              <a:t>这意味着当晶体管导通时，它可以将输出拉低到地电平；当晶体管关闭时，输出呈高阻态，不会主动提供高电平。</a:t>
            </a:r>
            <a:endParaRPr lang="zh-CN" altLang="en-US" sz="2000">
              <a:highlight>
                <a:srgbClr val="FFFF00"/>
              </a:highlight>
            </a:endParaRPr>
          </a:p>
        </p:txBody>
      </p:sp>
      <p:pic>
        <p:nvPicPr>
          <p:cNvPr id="105" name="图片 104"/>
          <p:cNvPicPr/>
          <p:nvPr/>
        </p:nvPicPr>
        <p:blipFill>
          <a:blip r:embed="rId1"/>
          <a:stretch>
            <a:fillRect/>
          </a:stretch>
        </p:blipFill>
        <p:spPr>
          <a:xfrm>
            <a:off x="0" y="2756535"/>
            <a:ext cx="9144000" cy="4215130"/>
          </a:xfrm>
          <a:prstGeom prst="rect">
            <a:avLst/>
          </a:prstGeom>
          <a:noFill/>
          <a:ln w="9525">
            <a:noFill/>
          </a:ln>
        </p:spPr>
      </p:pic>
      <p:sp>
        <p:nvSpPr>
          <p:cNvPr id="3" name="文本框 2"/>
          <p:cNvSpPr txBox="1"/>
          <p:nvPr/>
        </p:nvSpPr>
        <p:spPr>
          <a:xfrm>
            <a:off x="6099175" y="1126490"/>
            <a:ext cx="2507615" cy="1198880"/>
          </a:xfrm>
          <a:prstGeom prst="rect">
            <a:avLst/>
          </a:prstGeom>
          <a:noFill/>
        </p:spPr>
        <p:txBody>
          <a:bodyPr wrap="square" rtlCol="0">
            <a:spAutoFit/>
          </a:bodyPr>
          <a:p>
            <a:pPr algn="l"/>
            <a:r>
              <a:rPr lang="zh-CN" altLang="en-US"/>
              <a:t>高阻态，指的是电路的一种输出状态，既不是高电平也不是低电平。相当于断路，</a:t>
            </a:r>
            <a:r>
              <a:rPr lang="zh-CN" altLang="en-US"/>
              <a:t>电阻很大</a:t>
            </a: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nvPicPr>
        <p:blipFill>
          <a:blip r:embed="rId1"/>
          <a:stretch>
            <a:fillRect/>
          </a:stretch>
        </p:blipFill>
        <p:spPr>
          <a:xfrm>
            <a:off x="0" y="1192530"/>
            <a:ext cx="4218940" cy="5384165"/>
          </a:xfrm>
          <a:prstGeom prst="rect">
            <a:avLst/>
          </a:prstGeom>
          <a:noFill/>
          <a:ln w="9525">
            <a:noFill/>
          </a:ln>
        </p:spPr>
      </p:pic>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开漏输出</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32089" y="652071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4218940" y="742315"/>
            <a:ext cx="4762500" cy="3969385"/>
          </a:xfrm>
          <a:prstGeom prst="rect">
            <a:avLst/>
          </a:prstGeom>
          <a:noFill/>
        </p:spPr>
        <p:txBody>
          <a:bodyPr wrap="square" rtlCol="0">
            <a:spAutoFit/>
          </a:bodyPr>
          <a:p>
            <a:r>
              <a:rPr lang="zh-CN" altLang="en-US"/>
              <a:t>优势①</a:t>
            </a:r>
            <a:endParaRPr lang="zh-CN" altLang="en-US"/>
          </a:p>
          <a:p>
            <a:r>
              <a:rPr lang="zh-CN" altLang="en-US"/>
              <a:t>虽然我们可以看到开漏输出是没有办法在内部输出一个高电平，但是这一个看似是缺点。其实实际上是一种优点。</a:t>
            </a:r>
            <a:endParaRPr lang="zh-CN" altLang="en-US"/>
          </a:p>
          <a:p>
            <a:r>
              <a:rPr lang="zh-CN" altLang="en-US">
                <a:highlight>
                  <a:srgbClr val="FFFF00"/>
                </a:highlight>
              </a:rPr>
              <a:t>当给一个低电平的时候，MOS管没有导通</a:t>
            </a:r>
            <a:r>
              <a:rPr lang="zh-CN" altLang="en-US"/>
              <a:t>，此时电压不确定导致无法输出高电平，但是一旦我们在</a:t>
            </a:r>
            <a:r>
              <a:rPr lang="zh-CN" altLang="en-US">
                <a:highlight>
                  <a:srgbClr val="FFFF00"/>
                </a:highlight>
              </a:rPr>
              <a:t>外部增加一个上拉</a:t>
            </a:r>
            <a:r>
              <a:rPr lang="zh-CN" altLang="en-US"/>
              <a:t>，那么这一个缺点就会被有效避免。并且，因为是我们自己设计一个上拉，这个上拉的电压是由我们自己确定，这样我们就可以根据外部电路需要多少V的高电平来给这一个上拉的电压，可以更好的适应更多情况。如下图，我们可以给定任意的VDD电压，来适应我们实际所需要的情况。</a:t>
            </a:r>
            <a:endParaRPr lang="zh-CN" altLang="en-US"/>
          </a:p>
          <a:p>
            <a:endParaRPr lang="zh-CN" altLang="en-US"/>
          </a:p>
        </p:txBody>
      </p:sp>
      <p:sp>
        <p:nvSpPr>
          <p:cNvPr id="3" name="文本框 2"/>
          <p:cNvSpPr txBox="1"/>
          <p:nvPr/>
        </p:nvSpPr>
        <p:spPr>
          <a:xfrm>
            <a:off x="4662170" y="4770120"/>
            <a:ext cx="3355975" cy="922020"/>
          </a:xfrm>
          <a:prstGeom prst="rect">
            <a:avLst/>
          </a:prstGeom>
          <a:noFill/>
        </p:spPr>
        <p:txBody>
          <a:bodyPr wrap="square" rtlCol="0">
            <a:spAutoFit/>
          </a:bodyPr>
          <a:p>
            <a:r>
              <a:rPr lang="zh-CN" altLang="en-US"/>
              <a:t>这种结构允许</a:t>
            </a:r>
            <a:r>
              <a:rPr lang="zh-CN" altLang="en-US">
                <a:highlight>
                  <a:srgbClr val="FFFF00"/>
                </a:highlight>
              </a:rPr>
              <a:t>多个OD门的输出端直接相连</a:t>
            </a:r>
            <a:r>
              <a:rPr lang="zh-CN" altLang="en-US"/>
              <a:t>，而不会像普通的CMOS门那样因短路而损坏。</a:t>
            </a: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开漏输出</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4" name="文本框 3"/>
          <p:cNvSpPr txBox="1"/>
          <p:nvPr/>
        </p:nvSpPr>
        <p:spPr>
          <a:xfrm>
            <a:off x="141605" y="4281805"/>
            <a:ext cx="8093710" cy="1198880"/>
          </a:xfrm>
          <a:prstGeom prst="rect">
            <a:avLst/>
          </a:prstGeom>
          <a:noFill/>
        </p:spPr>
        <p:txBody>
          <a:bodyPr wrap="square" rtlCol="0">
            <a:spAutoFit/>
          </a:bodyPr>
          <a:p>
            <a:r>
              <a:rPr lang="zh-CN" altLang="en-US"/>
              <a:t>当使用OD门实现线与逻辑时，</a:t>
            </a:r>
            <a:r>
              <a:rPr lang="zh-CN" altLang="en-US">
                <a:highlight>
                  <a:srgbClr val="FFFF00"/>
                </a:highlight>
              </a:rPr>
              <a:t>需要在外围电路中加入一个上拉电阻</a:t>
            </a:r>
            <a:r>
              <a:rPr lang="zh-CN" altLang="en-US"/>
              <a:t>（Pull-Up Resistor）。这个电阻连接在电源（Vcc）和所有OD门的公共输出端之间。</a:t>
            </a:r>
            <a:r>
              <a:rPr lang="zh-CN" altLang="en-US">
                <a:highlight>
                  <a:srgbClr val="FFFF00"/>
                </a:highlight>
              </a:rPr>
              <a:t>当所有的OD门输出晶体管都处于关闭状态时，上拉电阻会将输出端的电位拉高到接近电源电压，即逻辑高电平。</a:t>
            </a:r>
            <a:endParaRPr lang="zh-CN" altLang="en-US">
              <a:highlight>
                <a:srgbClr val="FFFF00"/>
              </a:highlight>
            </a:endParaRPr>
          </a:p>
        </p:txBody>
      </p:sp>
      <p:sp>
        <p:nvSpPr>
          <p:cNvPr id="2" name="文本框 1"/>
          <p:cNvSpPr txBox="1"/>
          <p:nvPr/>
        </p:nvSpPr>
        <p:spPr>
          <a:xfrm>
            <a:off x="0" y="5762625"/>
            <a:ext cx="8766810" cy="645160"/>
          </a:xfrm>
          <a:prstGeom prst="rect">
            <a:avLst/>
          </a:prstGeom>
          <a:noFill/>
        </p:spPr>
        <p:txBody>
          <a:bodyPr wrap="square" rtlCol="0">
            <a:spAutoFit/>
          </a:bodyPr>
          <a:p>
            <a:r>
              <a:rPr lang="zh-CN" altLang="en-US"/>
              <a:t>简单来说，就是在像IIC这样的总线协议中，</a:t>
            </a:r>
            <a:r>
              <a:rPr lang="zh-CN" altLang="en-US">
                <a:highlight>
                  <a:srgbClr val="FFFF00"/>
                </a:highlight>
              </a:rPr>
              <a:t>只要有一个输出引脚给低电平，那么总线都会被拉低。</a:t>
            </a:r>
            <a:endParaRPr lang="zh-CN" altLang="en-US">
              <a:highlight>
                <a:srgbClr val="FFFF00"/>
              </a:highlight>
            </a:endParaRPr>
          </a:p>
        </p:txBody>
      </p:sp>
      <p:pic>
        <p:nvPicPr>
          <p:cNvPr id="101" name="图片 100"/>
          <p:cNvPicPr/>
          <p:nvPr/>
        </p:nvPicPr>
        <p:blipFill>
          <a:blip r:embed="rId1"/>
          <a:stretch>
            <a:fillRect/>
          </a:stretch>
        </p:blipFill>
        <p:spPr>
          <a:xfrm>
            <a:off x="416560" y="1221105"/>
            <a:ext cx="2631440" cy="3001645"/>
          </a:xfrm>
          <a:prstGeom prst="rect">
            <a:avLst/>
          </a:prstGeom>
          <a:noFill/>
          <a:ln w="9525">
            <a:noFill/>
          </a:ln>
        </p:spPr>
      </p:pic>
      <p:pic>
        <p:nvPicPr>
          <p:cNvPr id="102" name="图片 101"/>
          <p:cNvPicPr/>
          <p:nvPr/>
        </p:nvPicPr>
        <p:blipFill>
          <a:blip r:embed="rId2">
            <a:lum contrast="24000"/>
          </a:blip>
          <a:srcRect l="3259" t="11756" r="-1086" b="34881"/>
          <a:stretch>
            <a:fillRect/>
          </a:stretch>
        </p:blipFill>
        <p:spPr>
          <a:xfrm rot="16200000">
            <a:off x="4312285" y="557530"/>
            <a:ext cx="2831465" cy="4328160"/>
          </a:xfrm>
          <a:prstGeom prst="rect">
            <a:avLst/>
          </a:prstGeom>
          <a:noFill/>
          <a:ln w="9525">
            <a:noFill/>
          </a:ln>
        </p:spPr>
      </p:pic>
      <p:sp>
        <p:nvSpPr>
          <p:cNvPr id="3" name="文本框 2"/>
          <p:cNvSpPr txBox="1"/>
          <p:nvPr/>
        </p:nvSpPr>
        <p:spPr>
          <a:xfrm>
            <a:off x="3752850" y="793750"/>
            <a:ext cx="4780280" cy="368300"/>
          </a:xfrm>
          <a:prstGeom prst="rect">
            <a:avLst/>
          </a:prstGeom>
          <a:noFill/>
        </p:spPr>
        <p:txBody>
          <a:bodyPr wrap="none" rtlCol="0">
            <a:spAutoFit/>
          </a:bodyPr>
          <a:p>
            <a:r>
              <a:rPr lang="zh-CN" altLang="en-US"/>
              <a:t>与：</a:t>
            </a:r>
            <a:r>
              <a:rPr lang="en-US" altLang="zh-CN"/>
              <a:t>  A*B*C</a:t>
            </a:r>
            <a:r>
              <a:rPr lang="zh-CN" altLang="en-US"/>
              <a:t>，只要里面有一个</a:t>
            </a:r>
            <a:r>
              <a:rPr lang="en-US" altLang="zh-CN"/>
              <a:t>0</a:t>
            </a:r>
            <a:r>
              <a:rPr lang="zh-CN" altLang="en-US"/>
              <a:t>，则总体就是</a:t>
            </a:r>
            <a:r>
              <a:rPr lang="en-US" altLang="zh-CN"/>
              <a:t>0</a:t>
            </a:r>
            <a:endParaRPr lang="en-US" altLang="zh-CN"/>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custDataLst>
              <p:tags r:id="rId1"/>
            </p:custDataLst>
          </p:nvPr>
        </p:nvPicPr>
        <p:blipFill>
          <a:blip r:embed="rId2"/>
          <a:stretch>
            <a:fillRect/>
          </a:stretch>
        </p:blipFill>
        <p:spPr>
          <a:xfrm>
            <a:off x="756285" y="1286510"/>
            <a:ext cx="7776845" cy="5114925"/>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93235" y="362672"/>
            <a:ext cx="7113238" cy="583565"/>
          </a:xfrm>
          <a:prstGeom prst="rect">
            <a:avLst/>
          </a:prstGeom>
          <a:noFill/>
        </p:spPr>
        <p:txBody>
          <a:bodyPr wrap="square" rtlCol="0">
            <a:spAutoFit/>
          </a:bodyPr>
          <a:lstStyle/>
          <a:p>
            <a:r>
              <a:rPr lang="zh-CN" altLang="en-US" sz="3200" b="1" dirty="0" smtClean="0">
                <a:solidFill>
                  <a:schemeClr val="tx1"/>
                </a:solidFill>
                <a:sym typeface="+mn-ea"/>
              </a:rPr>
              <a:t>时钟</a:t>
            </a:r>
            <a:endParaRPr lang="zh-CN" altLang="en-US" sz="3200" b="1"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17</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1"/>
            </p:custDataLst>
          </p:nvPr>
        </p:nvSpPr>
        <p:spPr>
          <a:xfrm>
            <a:off x="182880" y="1075055"/>
            <a:ext cx="8255635" cy="2676525"/>
          </a:xfrm>
          <a:prstGeom prst="rect">
            <a:avLst/>
          </a:prstGeom>
          <a:noFill/>
        </p:spPr>
        <p:txBody>
          <a:bodyPr wrap="square" rtlCol="0">
            <a:spAutoFit/>
          </a:bodyPr>
          <a:p>
            <a:pPr lvl="1" indent="457200">
              <a:buFont typeface="Arial" panose="020B0604020202020204" pitchFamily="34" charset="0"/>
              <a:buNone/>
            </a:pPr>
            <a:r>
              <a:rPr lang="zh-CN" altLang="en-US" sz="3200" b="1" dirty="0" smtClean="0">
                <a:solidFill>
                  <a:schemeClr val="tx1"/>
                </a:solidFill>
                <a:sym typeface="+mn-ea"/>
              </a:rPr>
              <a:t>什么是</a:t>
            </a:r>
            <a:r>
              <a:rPr lang="zh-CN" altLang="en-US" sz="3200" b="1" dirty="0" smtClean="0">
                <a:solidFill>
                  <a:schemeClr val="tx1"/>
                </a:solidFill>
                <a:sym typeface="+mn-ea"/>
              </a:rPr>
              <a:t>时钟？</a:t>
            </a:r>
            <a:endParaRPr lang="zh-CN" altLang="en-US" sz="3200" b="1" dirty="0" smtClean="0">
              <a:solidFill>
                <a:schemeClr val="tx1"/>
              </a:solidFill>
              <a:sym typeface="+mn-ea"/>
            </a:endParaRPr>
          </a:p>
          <a:p>
            <a:pPr lvl="1" indent="457200">
              <a:buFont typeface="Arial" panose="020B0604020202020204" pitchFamily="34" charset="0"/>
              <a:buNone/>
            </a:pPr>
            <a:r>
              <a:rPr lang="zh-CN" altLang="en-US" sz="3200" b="1" dirty="0" smtClean="0">
                <a:solidFill>
                  <a:schemeClr val="tx1"/>
                </a:solidFill>
                <a:sym typeface="+mn-ea"/>
              </a:rPr>
              <a:t>时钟可以理解为单片机的心脏，发出统一节拍</a:t>
            </a:r>
            <a:r>
              <a:rPr lang="en-US" altLang="zh-CN" sz="3200" b="1" dirty="0" smtClean="0">
                <a:solidFill>
                  <a:schemeClr val="tx1"/>
                </a:solidFill>
                <a:sym typeface="+mn-ea"/>
              </a:rPr>
              <a:t>(</a:t>
            </a:r>
            <a:r>
              <a:rPr lang="zh-CN" altLang="en-US" sz="3200" b="1" dirty="0" smtClean="0">
                <a:solidFill>
                  <a:schemeClr val="tx1"/>
                </a:solidFill>
                <a:sym typeface="+mn-ea"/>
              </a:rPr>
              <a:t>时钟脉冲</a:t>
            </a:r>
            <a:r>
              <a:rPr lang="en-US" altLang="zh-CN" sz="3200" b="1" dirty="0" smtClean="0">
                <a:solidFill>
                  <a:schemeClr val="tx1"/>
                </a:solidFill>
                <a:sym typeface="+mn-ea"/>
              </a:rPr>
              <a:t>)</a:t>
            </a:r>
            <a:r>
              <a:rPr lang="zh-CN" altLang="en-US" sz="3200" b="1" dirty="0" smtClean="0">
                <a:solidFill>
                  <a:schemeClr val="tx1"/>
                </a:solidFill>
                <a:sym typeface="+mn-ea"/>
              </a:rPr>
              <a:t>。单片机中各个模块以此为基础有序运行。</a:t>
            </a:r>
            <a:endParaRPr sz="2000"/>
          </a:p>
          <a:p>
            <a:pPr indent="457200">
              <a:buFont typeface="Arial" panose="020B0604020202020204" pitchFamily="34" charset="0"/>
              <a:buNone/>
            </a:pPr>
            <a:endParaRPr sz="2000"/>
          </a:p>
          <a:p>
            <a:pPr indent="457200">
              <a:buFont typeface="Arial" panose="020B0604020202020204" pitchFamily="34" charset="0"/>
              <a:buNone/>
            </a:pPr>
            <a:endParaRPr sz="2000"/>
          </a:p>
        </p:txBody>
      </p:sp>
      <p:pic>
        <p:nvPicPr>
          <p:cNvPr id="1026"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2190115" y="3751580"/>
            <a:ext cx="4763135" cy="1370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custDataLst>
              <p:tags r:id="rId4"/>
            </p:custDataLst>
          </p:nvPr>
        </p:nvSpPr>
        <p:spPr>
          <a:xfrm>
            <a:off x="3318778" y="5350700"/>
            <a:ext cx="2808312" cy="398780"/>
          </a:xfrm>
          <a:prstGeom prst="rect">
            <a:avLst/>
          </a:prstGeom>
          <a:noFill/>
        </p:spPr>
        <p:txBody>
          <a:bodyPr wrap="square" rtlCol="0">
            <a:spAutoFit/>
          </a:bodyPr>
          <a:p>
            <a:r>
              <a:rPr lang="zh-CN" altLang="en-US" sz="2000" b="1" dirty="0" smtClean="0">
                <a:solidFill>
                  <a:schemeClr val="tx1"/>
                </a:solidFill>
              </a:rPr>
              <a:t>时钟</a:t>
            </a:r>
            <a:r>
              <a:rPr lang="en-US" altLang="zh-CN" sz="2000" b="1" dirty="0" smtClean="0">
                <a:solidFill>
                  <a:schemeClr val="tx1"/>
                </a:solidFill>
              </a:rPr>
              <a:t>:</a:t>
            </a:r>
            <a:r>
              <a:rPr lang="zh-CN" altLang="en-US" sz="2000" b="1" dirty="0" smtClean="0">
                <a:solidFill>
                  <a:schemeClr val="tx1"/>
                </a:solidFill>
              </a:rPr>
              <a:t>统一的节拍</a:t>
            </a:r>
            <a:endParaRPr lang="zh-CN" altLang="en-US" sz="2000" b="1" dirty="0" smtClean="0">
              <a:solidFill>
                <a:schemeClr val="tx1"/>
              </a:solidFill>
            </a:endParaRPr>
          </a:p>
        </p:txBody>
      </p:sp>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0814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基础</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总结</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aphicFrame>
        <p:nvGraphicFramePr>
          <p:cNvPr id="10" name="表格 9"/>
          <p:cNvGraphicFramePr>
            <a:graphicFrameLocks noGrp="1"/>
          </p:cNvGraphicFramePr>
          <p:nvPr>
            <p:custDataLst>
              <p:tags r:id="rId1"/>
            </p:custDataLst>
          </p:nvPr>
        </p:nvGraphicFramePr>
        <p:xfrm>
          <a:off x="605473" y="985282"/>
          <a:ext cx="8063934" cy="5659755"/>
        </p:xfrm>
        <a:graphic>
          <a:graphicData uri="http://schemas.openxmlformats.org/drawingml/2006/table">
            <a:tbl>
              <a:tblPr firstCol="1">
                <a:tableStyleId>{5C22544A-7EE6-4342-B048-85BDC9FD1C3A}</a:tableStyleId>
              </a:tblPr>
              <a:tblGrid>
                <a:gridCol w="1844675"/>
                <a:gridCol w="1384935"/>
                <a:gridCol w="4834324"/>
              </a:tblGrid>
              <a:tr h="858214">
                <a:tc>
                  <a:txBody>
                    <a:bodyPr/>
                    <a:lstStyle/>
                    <a:p>
                      <a:pPr algn="ctr"/>
                      <a:r>
                        <a:rPr lang="zh-CN" altLang="en-US" sz="1800"/>
                        <a:t>模式名称</a:t>
                      </a:r>
                      <a:endParaRPr lang="zh-CN" altLang="en-US" sz="1800"/>
                    </a:p>
                  </a:txBody>
                  <a:tcPr anchor="ctr"/>
                </a:tc>
                <a:tc>
                  <a:txBody>
                    <a:bodyPr/>
                    <a:lstStyle/>
                    <a:p>
                      <a:pPr algn="ctr"/>
                      <a:r>
                        <a:rPr lang="zh-CN" altLang="en-US" sz="1800"/>
                        <a:t>性质</a:t>
                      </a:r>
                      <a:endParaRPr lang="zh-CN" altLang="en-US" sz="1800"/>
                    </a:p>
                  </a:txBody>
                  <a:tcPr anchor="ctr"/>
                </a:tc>
                <a:tc>
                  <a:txBody>
                    <a:bodyPr/>
                    <a:lstStyle/>
                    <a:p>
                      <a:pPr algn="ctr"/>
                      <a:r>
                        <a:rPr lang="zh-CN" altLang="en-US" sz="1800"/>
                        <a:t>特征</a:t>
                      </a:r>
                      <a:endParaRPr lang="zh-CN" altLang="en-US" sz="1800"/>
                    </a:p>
                  </a:txBody>
                  <a:tcPr anchor="ctr"/>
                </a:tc>
              </a:tr>
              <a:tr h="594995">
                <a:tc>
                  <a:txBody>
                    <a:bodyPr/>
                    <a:lstStyle/>
                    <a:p>
                      <a:pPr algn="ctr"/>
                      <a:r>
                        <a:rPr lang="zh-CN" altLang="en-US" sz="2000"/>
                        <a:t>浮空输入</a:t>
                      </a:r>
                      <a:endParaRPr lang="zh-CN" altLang="en-US" sz="2000"/>
                    </a:p>
                  </a:txBody>
                  <a:tcPr anchor="ctr"/>
                </a:tc>
                <a:tc>
                  <a:txBody>
                    <a:bodyPr/>
                    <a:lstStyle/>
                    <a:p>
                      <a:pPr algn="ctr"/>
                      <a:r>
                        <a:rPr lang="zh-CN" altLang="en-US" sz="2000"/>
                        <a:t>数字输入</a:t>
                      </a:r>
                      <a:endParaRPr lang="zh-CN" altLang="en-US" sz="2000"/>
                    </a:p>
                  </a:txBody>
                  <a:tcPr anchor="ctr"/>
                </a:tc>
                <a:tc>
                  <a:txBody>
                    <a:bodyPr/>
                    <a:lstStyle/>
                    <a:p>
                      <a:pPr algn="ctr"/>
                      <a:r>
                        <a:rPr lang="zh-CN" altLang="en-US" sz="2000"/>
                        <a:t>可读取引脚电平，若引脚悬空，则电平不确定</a:t>
                      </a:r>
                      <a:endParaRPr lang="zh-CN" altLang="en-US" sz="2000"/>
                    </a:p>
                  </a:txBody>
                  <a:tcPr anchor="ctr"/>
                </a:tc>
              </a:tr>
              <a:tr h="594995">
                <a:tc>
                  <a:txBody>
                    <a:bodyPr/>
                    <a:p>
                      <a:pPr algn="ctr"/>
                      <a:r>
                        <a:rPr lang="zh-CN" altLang="en-US" sz="2000"/>
                        <a:t>上拉输入</a:t>
                      </a:r>
                      <a:endParaRPr lang="zh-CN" altLang="en-US" sz="2000"/>
                    </a:p>
                  </a:txBody>
                  <a:tcPr anchor="ct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000"/>
                        <a:t>数字输入</a:t>
                      </a:r>
                      <a:endParaRPr lang="zh-CN" altLang="en-US" sz="2000"/>
                    </a:p>
                  </a:txBody>
                  <a:tcPr anchor="ctr"/>
                </a:tc>
                <a:tc>
                  <a:txBody>
                    <a:bodyPr/>
                    <a:p>
                      <a:pPr algn="ctr"/>
                      <a:r>
                        <a:rPr lang="zh-CN" altLang="en-US" sz="2000"/>
                        <a:t>可读取引脚电平，内部连接上拉电阻，悬空时默认高电平</a:t>
                      </a:r>
                      <a:endParaRPr lang="zh-CN" altLang="en-US" sz="2000"/>
                    </a:p>
                  </a:txBody>
                  <a:tcPr anchor="ctr"/>
                </a:tc>
              </a:tr>
              <a:tr h="594995">
                <a:tc>
                  <a:txBody>
                    <a:bodyPr/>
                    <a:p>
                      <a:pPr algn="ctr"/>
                      <a:r>
                        <a:rPr lang="zh-CN" altLang="en-US" sz="2000"/>
                        <a:t>下拉输入</a:t>
                      </a:r>
                      <a:endParaRPr lang="zh-CN" altLang="en-US" sz="2000"/>
                    </a:p>
                  </a:txBody>
                  <a:tcPr anchor="ctr"/>
                </a:tc>
                <a:tc>
                  <a:txBody>
                    <a:bodyPr/>
                    <a:p>
                      <a:pPr algn="ctr"/>
                      <a:r>
                        <a:rPr lang="zh-CN" altLang="en-US" sz="2000"/>
                        <a:t>数字输入</a:t>
                      </a:r>
                      <a:endParaRPr lang="zh-CN" altLang="en-US" sz="2000"/>
                    </a:p>
                  </a:txBody>
                  <a:tcPr anchor="ct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000"/>
                        <a:t>可读取引脚电平，内部连接下拉电阻，悬空时默认低电平</a:t>
                      </a:r>
                      <a:endParaRPr lang="zh-CN" altLang="en-US" sz="2000"/>
                    </a:p>
                  </a:txBody>
                  <a:tcPr anchor="ctr"/>
                </a:tc>
              </a:tr>
              <a:tr h="594995">
                <a:tc>
                  <a:txBody>
                    <a:bodyPr/>
                    <a:p>
                      <a:pPr algn="ctr"/>
                      <a:r>
                        <a:rPr lang="zh-CN" altLang="en-US" sz="2000"/>
                        <a:t>模拟输入</a:t>
                      </a:r>
                      <a:endParaRPr lang="zh-CN" altLang="en-US" sz="2000"/>
                    </a:p>
                  </a:txBody>
                  <a:tcPr anchor="ctr"/>
                </a:tc>
                <a:tc>
                  <a:txBody>
                    <a:bodyPr/>
                    <a:p>
                      <a:pPr algn="ctr"/>
                      <a:r>
                        <a:rPr lang="zh-CN" altLang="en-US" sz="2000"/>
                        <a:t>模拟输入</a:t>
                      </a:r>
                      <a:endParaRPr lang="zh-CN" altLang="en-US" sz="2000"/>
                    </a:p>
                  </a:txBody>
                  <a:tcPr anchor="ctr"/>
                </a:tc>
                <a:tc>
                  <a:txBody>
                    <a:bodyPr/>
                    <a:p>
                      <a:pPr algn="ctr"/>
                      <a:r>
                        <a:rPr lang="en-US" altLang="zh-CN" sz="2000"/>
                        <a:t>GPIO</a:t>
                      </a:r>
                      <a:r>
                        <a:rPr lang="zh-CN" altLang="en-US" sz="2000"/>
                        <a:t>无效，引脚直接接入内部</a:t>
                      </a:r>
                      <a:r>
                        <a:rPr lang="en-US" altLang="zh-CN" sz="2000"/>
                        <a:t>ADC</a:t>
                      </a:r>
                      <a:endParaRPr lang="zh-CN" altLang="en-US" sz="2000"/>
                    </a:p>
                  </a:txBody>
                  <a:tcPr anchor="ctr"/>
                </a:tc>
              </a:tr>
              <a:tr h="594995">
                <a:tc>
                  <a:txBody>
                    <a:bodyPr/>
                    <a:p>
                      <a:pPr algn="ctr"/>
                      <a:r>
                        <a:rPr lang="zh-CN" altLang="en-US" sz="2000"/>
                        <a:t>开漏输出</a:t>
                      </a:r>
                      <a:endParaRPr lang="zh-CN" altLang="en-US" sz="2000"/>
                    </a:p>
                  </a:txBody>
                  <a:tcPr anchor="ctr"/>
                </a:tc>
                <a:tc>
                  <a:txBody>
                    <a:bodyPr/>
                    <a:p>
                      <a:pPr algn="ctr"/>
                      <a:r>
                        <a:rPr lang="zh-CN" altLang="en-US" sz="2000"/>
                        <a:t>数字输出</a:t>
                      </a:r>
                      <a:endParaRPr lang="zh-CN" altLang="en-US" sz="2000"/>
                    </a:p>
                  </a:txBody>
                  <a:tcPr anchor="ctr"/>
                </a:tc>
                <a:tc>
                  <a:txBody>
                    <a:bodyPr/>
                    <a:p>
                      <a:pPr algn="ctr"/>
                      <a:r>
                        <a:rPr lang="zh-CN" altLang="en-US" sz="2000"/>
                        <a:t>可输出引脚电平，高电平为高阻态，低电平接</a:t>
                      </a:r>
                      <a:r>
                        <a:rPr lang="en-US" altLang="zh-CN" sz="2000"/>
                        <a:t>VSS</a:t>
                      </a:r>
                      <a:endParaRPr lang="zh-CN" altLang="en-US" sz="2000"/>
                    </a:p>
                  </a:txBody>
                  <a:tcPr anchor="ctr"/>
                </a:tc>
              </a:tr>
              <a:tr h="594995">
                <a:tc>
                  <a:txBody>
                    <a:bodyPr/>
                    <a:p>
                      <a:pPr algn="ctr"/>
                      <a:r>
                        <a:rPr lang="zh-CN" altLang="en-US" sz="2000"/>
                        <a:t>推挽输出</a:t>
                      </a:r>
                      <a:endParaRPr lang="zh-CN" altLang="en-US" sz="2000"/>
                    </a:p>
                  </a:txBody>
                  <a:tcPr anchor="ctr"/>
                </a:tc>
                <a:tc>
                  <a:txBody>
                    <a:bodyPr/>
                    <a:p>
                      <a:pPr algn="ctr"/>
                      <a:r>
                        <a:rPr lang="zh-CN" altLang="en-US" sz="2000"/>
                        <a:t>数字输出</a:t>
                      </a:r>
                      <a:endParaRPr lang="zh-CN" altLang="en-US" sz="2000"/>
                    </a:p>
                  </a:txBody>
                  <a:tcPr anchor="ct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000"/>
                        <a:t>可输出引脚电平，高电平接</a:t>
                      </a:r>
                      <a:r>
                        <a:rPr lang="en-US" altLang="zh-CN" sz="2000"/>
                        <a:t>VDD</a:t>
                      </a:r>
                      <a:r>
                        <a:rPr lang="zh-CN" altLang="en-US" sz="2000"/>
                        <a:t>，低电平接</a:t>
                      </a:r>
                      <a:r>
                        <a:rPr lang="en-US" altLang="zh-CN" sz="2000"/>
                        <a:t>VSS</a:t>
                      </a:r>
                      <a:endParaRPr lang="zh-CN" altLang="en-US" sz="2000"/>
                    </a:p>
                  </a:txBody>
                  <a:tcPr anchor="ctr"/>
                </a:tc>
              </a:tr>
              <a:tr h="594995">
                <a:tc>
                  <a:txBody>
                    <a:bodyPr/>
                    <a:p>
                      <a:pPr algn="ctr"/>
                      <a:r>
                        <a:rPr lang="zh-CN" altLang="en-US" sz="2000"/>
                        <a:t>复用开漏输出</a:t>
                      </a:r>
                      <a:endParaRPr lang="zh-CN" altLang="en-US" sz="2000"/>
                    </a:p>
                  </a:txBody>
                  <a:tcPr anchor="ctr"/>
                </a:tc>
                <a:tc>
                  <a:txBody>
                    <a:bodyPr/>
                    <a:p>
                      <a:pPr algn="ctr"/>
                      <a:r>
                        <a:rPr lang="zh-CN" altLang="en-US" sz="2000"/>
                        <a:t>数字输出</a:t>
                      </a:r>
                      <a:endParaRPr lang="zh-CN" altLang="en-US" sz="2000"/>
                    </a:p>
                  </a:txBody>
                  <a:tcPr anchor="ct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000"/>
                        <a:t>由片上外设控制，高电平为高阻态，低电平接</a:t>
                      </a:r>
                      <a:r>
                        <a:rPr lang="en-US" altLang="zh-CN" sz="2000"/>
                        <a:t>VSS</a:t>
                      </a:r>
                      <a:endParaRPr lang="zh-CN" altLang="en-US" sz="2000"/>
                    </a:p>
                  </a:txBody>
                  <a:tcPr anchor="ctr"/>
                </a:tc>
              </a:tr>
            </a:tbl>
          </a:graphicData>
        </a:graphic>
      </p:graphicFrame>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18</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par>
                                <p:cTn id="11" presetID="42" presetClass="entr" presetSubtype="0" fill="hold" nodeType="withEffect">
                                  <p:stCondLst>
                                    <p:cond delay="25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anim calcmode="lin" valueType="num">
                                      <p:cBhvr>
                                        <p:cTn id="14" dur="500" fill="hold"/>
                                        <p:tgtEl>
                                          <p:spTgt spid="10"/>
                                        </p:tgtEl>
                                        <p:attrNameLst>
                                          <p:attrName>ppt_x</p:attrName>
                                        </p:attrNameLst>
                                      </p:cBhvr>
                                      <p:tavLst>
                                        <p:tav tm="0">
                                          <p:val>
                                            <p:strVal val="#ppt_x"/>
                                          </p:val>
                                        </p:tav>
                                        <p:tav tm="100000">
                                          <p:val>
                                            <p:strVal val="#ppt_x"/>
                                          </p:val>
                                        </p:tav>
                                      </p:tavLst>
                                    </p:anim>
                                    <p:anim calcmode="lin" valueType="num">
                                      <p:cBhvr>
                                        <p:cTn id="15"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851645"/>
            <a:ext cx="4205521" cy="3153410"/>
          </a:xfrm>
          <a:prstGeom prst="rect">
            <a:avLst/>
          </a:prstGeom>
          <a:noFill/>
        </p:spPr>
        <p:txBody>
          <a:bodyPr wrap="square" rtlCol="0">
            <a:spAutoFit/>
          </a:bodyPr>
          <a:lstStyle/>
          <a:p>
            <a:pPr algn="ctr"/>
            <a:r>
              <a:rPr lang="en-US" altLang="zh-CN"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9900"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3673475" y="3102610"/>
            <a:ext cx="4958080" cy="706755"/>
          </a:xfrm>
          <a:prstGeom prst="rect">
            <a:avLst/>
          </a:prstGeom>
          <a:noFill/>
        </p:spPr>
        <p:txBody>
          <a:bodyPr wrap="square" rtlCol="0">
            <a:spAutoFit/>
          </a:bodyPr>
          <a:lstStyle/>
          <a:p>
            <a:r>
              <a:rPr lang="en-US" altLang="zh-CN" sz="4000" b="1" dirty="0">
                <a:solidFill>
                  <a:schemeClr val="tx1">
                    <a:lumMod val="85000"/>
                    <a:lumOff val="15000"/>
                  </a:schemeClr>
                </a:solidFill>
                <a:latin typeface="微软雅黑" panose="020B0503020204020204" pitchFamily="34" charset="-122"/>
                <a:ea typeface="微软雅黑" panose="020B0503020204020204" pitchFamily="34" charset="-122"/>
              </a:rPr>
              <a:t>  GPIO </a:t>
            </a: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rPr>
              <a:t>点灯</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3911292" y="3755365"/>
            <a:ext cx="4663440" cy="108000"/>
            <a:chOff x="3649980" y="3375660"/>
            <a:chExt cx="4663440" cy="108000"/>
          </a:xfrm>
        </p:grpSpPr>
        <p:cxnSp>
          <p:nvCxnSpPr>
            <p:cNvPr id="10" name="直接连接符 9"/>
            <p:cNvCxnSpPr/>
            <p:nvPr/>
          </p:nvCxnSpPr>
          <p:spPr>
            <a:xfrm>
              <a:off x="3733800" y="3429660"/>
              <a:ext cx="44958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364998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205420" y="3375660"/>
              <a:ext cx="108000" cy="1080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useBgFill="1">
        <p:nvSpPr>
          <p:cNvPr id="16" name="文本框 15"/>
          <p:cNvSpPr txBox="1"/>
          <p:nvPr/>
        </p:nvSpPr>
        <p:spPr>
          <a:xfrm>
            <a:off x="487591" y="3105835"/>
            <a:ext cx="3230339" cy="645160"/>
          </a:xfrm>
          <a:prstGeom prst="rect">
            <a:avLst/>
          </a:prstGeom>
        </p:spPr>
        <p:txBody>
          <a:bodyPr wrap="square" rtlCol="0">
            <a:spAutoFit/>
          </a:bodyPr>
          <a:lstStyle/>
          <a:p>
            <a:pPr algn="ctr"/>
            <a:r>
              <a:rPr lang="en-US" altLang="zh-CN" sz="3600" b="1" dirty="0">
                <a:solidFill>
                  <a:schemeClr val="accent1"/>
                </a:solidFill>
                <a:latin typeface="Times New Roman" panose="02020603050405020304" pitchFamily="18" charset="0"/>
                <a:cs typeface="Times New Roman" panose="02020603050405020304" pitchFamily="18" charset="0"/>
              </a:rPr>
              <a:t>PART THREE</a:t>
            </a:r>
            <a:endParaRPr lang="zh-CN" altLang="en-US" sz="36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ppt_y</p:attrName>
                                        </p:attrNameLst>
                                      </p:cBhvr>
                                      <p:tavLst>
                                        <p:tav tm="0">
                                          <p:val>
                                            <p:strVal val="#ppt_y+#ppt_h*1.125000"/>
                                          </p:val>
                                        </p:tav>
                                        <p:tav tm="100000">
                                          <p:val>
                                            <p:strVal val="#ppt_y"/>
                                          </p:val>
                                        </p:tav>
                                      </p:tavLst>
                                    </p:anim>
                                    <p:animEffect transition="in" filter="wipe(up)">
                                      <p:cBhvr>
                                        <p:cTn id="13" dur="500"/>
                                        <p:tgtEl>
                                          <p:spTgt spid="7"/>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16" presetClass="entr" presetSubtype="37" fill="hold" grpId="0" nodeType="withEffect">
                                  <p:stCondLst>
                                    <p:cond delay="400"/>
                                  </p:stCondLst>
                                  <p:childTnLst>
                                    <p:set>
                                      <p:cBhvr>
                                        <p:cTn id="18" dur="1" fill="hold">
                                          <p:stCondLst>
                                            <p:cond delay="0"/>
                                          </p:stCondLst>
                                        </p:cTn>
                                        <p:tgtEl>
                                          <p:spTgt spid="16"/>
                                        </p:tgtEl>
                                        <p:attrNameLst>
                                          <p:attrName>style.visibility</p:attrName>
                                        </p:attrNameLst>
                                      </p:cBhvr>
                                      <p:to>
                                        <p:strVal val="visible"/>
                                      </p:to>
                                    </p:set>
                                    <p:animEffect transition="in" filter="barn(outVertic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点亮</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LED</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611188" y="1280997"/>
            <a:ext cx="7921625" cy="437515"/>
          </a:xfrm>
          <a:prstGeom prst="rect">
            <a:avLst/>
          </a:prstGeom>
        </p:spPr>
        <p:txBody>
          <a:bodyPr wrap="square">
            <a:spAutoFit/>
          </a:bodyPr>
          <a:lstStyle/>
          <a:p>
            <a:pPr indent="304800" algn="just">
              <a:lnSpc>
                <a:spcPct val="125000"/>
              </a:lnSpc>
            </a:pPr>
            <a:endParaRPr lang="zh-CN" altLang="en-US" kern="100" dirty="0">
              <a:latin typeface="微软雅黑" panose="020B0503020204020204" pitchFamily="34" charset="-122"/>
              <a:ea typeface="微软雅黑" panose="020B0503020204020204" pitchFamily="34" charset="-122"/>
            </a:endParaRPr>
          </a:p>
        </p:txBody>
      </p:sp>
      <p:sp>
        <p:nvSpPr>
          <p:cNvPr id="15" name="Rectangle 5"/>
          <p:cNvSpPr>
            <a:spLocks noChangeArrowheads="1"/>
          </p:cNvSpPr>
          <p:nvPr/>
        </p:nvSpPr>
        <p:spPr bwMode="auto">
          <a:xfrm>
            <a:off x="2068698" y="5847875"/>
            <a:ext cx="8686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ctr" fontAlgn="base">
              <a:lnSpc>
                <a:spcPct val="100000"/>
              </a:lnSpc>
              <a:spcBef>
                <a:spcPct val="0"/>
              </a:spcBef>
              <a:spcAft>
                <a:spcPct val="0"/>
              </a:spcAft>
              <a:buClrTx/>
              <a:buSzTx/>
              <a:buFontTx/>
              <a:buNone/>
            </a:pPr>
            <a:r>
              <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原理图</a:t>
            </a:r>
            <a:endPar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Rectangle 5"/>
          <p:cNvSpPr>
            <a:spLocks noChangeArrowheads="1"/>
          </p:cNvSpPr>
          <p:nvPr/>
        </p:nvSpPr>
        <p:spPr bwMode="auto">
          <a:xfrm>
            <a:off x="6216741" y="5847875"/>
            <a:ext cx="84836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ctr" fontAlgn="base">
              <a:lnSpc>
                <a:spcPct val="100000"/>
              </a:lnSpc>
              <a:spcBef>
                <a:spcPct val="0"/>
              </a:spcBef>
              <a:spcAft>
                <a:spcPct val="0"/>
              </a:spcAft>
              <a:buClrTx/>
              <a:buSzTx/>
              <a:buFontTx/>
              <a:buNone/>
            </a:pPr>
            <a:r>
              <a:rPr lang="en-US" altLang="zh-CN"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LED</a:t>
            </a:r>
            <a:r>
              <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灯</a:t>
            </a:r>
            <a:endPar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 name="组合 19"/>
          <p:cNvGrpSpPr/>
          <p:nvPr/>
        </p:nvGrpSpPr>
        <p:grpSpPr>
          <a:xfrm>
            <a:off x="1220659" y="6519446"/>
            <a:ext cx="8024939" cy="338554"/>
            <a:chOff x="1277256" y="6519446"/>
            <a:chExt cx="8024939" cy="338554"/>
          </a:xfrm>
        </p:grpSpPr>
        <p:sp>
          <p:nvSpPr>
            <p:cNvPr id="25" name="矩形 24"/>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19</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4" name="图片 3" descr="Q~B0[P[D1OC()Z@S_%OHKI4"/>
          <p:cNvPicPr>
            <a:picLocks noChangeAspect="1"/>
          </p:cNvPicPr>
          <p:nvPr>
            <p:custDataLst>
              <p:tags r:id="rId1"/>
            </p:custDataLst>
          </p:nvPr>
        </p:nvPicPr>
        <p:blipFill>
          <a:blip r:embed="rId2"/>
          <a:stretch>
            <a:fillRect/>
          </a:stretch>
        </p:blipFill>
        <p:spPr>
          <a:xfrm>
            <a:off x="610870" y="2654935"/>
            <a:ext cx="4546600" cy="3120390"/>
          </a:xfrm>
          <a:prstGeom prst="rect">
            <a:avLst/>
          </a:prstGeom>
        </p:spPr>
      </p:pic>
      <p:sp>
        <p:nvSpPr>
          <p:cNvPr id="5" name="文本框 4"/>
          <p:cNvSpPr txBox="1"/>
          <p:nvPr/>
        </p:nvSpPr>
        <p:spPr>
          <a:xfrm>
            <a:off x="672465" y="1434465"/>
            <a:ext cx="8083550" cy="953135"/>
          </a:xfrm>
          <a:prstGeom prst="rect">
            <a:avLst/>
          </a:prstGeom>
          <a:noFill/>
        </p:spPr>
        <p:txBody>
          <a:bodyPr wrap="square" rtlCol="0" anchor="t">
            <a:spAutoFit/>
          </a:bodyPr>
          <a:p>
            <a:r>
              <a:rPr lang="en-US" altLang="zh-CN" sz="2800">
                <a:sym typeface="+mn-ea"/>
              </a:rPr>
              <a:t>LED</a:t>
            </a:r>
            <a:r>
              <a:rPr lang="zh-CN" altLang="en-US" sz="2800">
                <a:sym typeface="+mn-ea"/>
              </a:rPr>
              <a:t>：</a:t>
            </a:r>
            <a:r>
              <a:rPr lang="zh-CN" altLang="en-US" sz="2800">
                <a:solidFill>
                  <a:prstClr val="black"/>
                </a:solidFill>
                <a:sym typeface="+mn-ea"/>
              </a:rPr>
              <a:t>发光二极管，正向通电点亮，反向通电不亮</a:t>
            </a:r>
            <a:endParaRPr lang="zh-CN" altLang="en-US" sz="2800">
              <a:solidFill>
                <a:prstClr val="black"/>
              </a:solidFill>
              <a:sym typeface="+mn-ea"/>
            </a:endParaRPr>
          </a:p>
          <a:p>
            <a:r>
              <a:rPr lang="en-US" altLang="zh-CN" sz="2800">
                <a:solidFill>
                  <a:prstClr val="black"/>
                </a:solidFill>
                <a:sym typeface="+mn-ea"/>
              </a:rPr>
              <a:t>(</a:t>
            </a:r>
            <a:r>
              <a:rPr lang="zh-CN" altLang="en-US" sz="2800">
                <a:solidFill>
                  <a:prstClr val="black"/>
                </a:solidFill>
                <a:sym typeface="+mn-ea"/>
              </a:rPr>
              <a:t>长脚正极，短脚负极</a:t>
            </a:r>
            <a:r>
              <a:rPr lang="en-US" altLang="zh-CN" sz="2800">
                <a:solidFill>
                  <a:prstClr val="black"/>
                </a:solidFill>
                <a:sym typeface="+mn-ea"/>
              </a:rPr>
              <a:t>)</a:t>
            </a:r>
            <a:r>
              <a:rPr lang="zh-CN" altLang="en-US" sz="2800">
                <a:solidFill>
                  <a:prstClr val="black"/>
                </a:solidFill>
                <a:sym typeface="+mn-ea"/>
              </a:rPr>
              <a:t>，注意别接反</a:t>
            </a:r>
            <a:endParaRPr lang="zh-CN" altLang="en-US" sz="2800">
              <a:solidFill>
                <a:prstClr val="black"/>
              </a:solidFill>
              <a:sym typeface="+mn-ea"/>
            </a:endParaRPr>
          </a:p>
        </p:txBody>
      </p:sp>
      <p:pic>
        <p:nvPicPr>
          <p:cNvPr id="6" name="图片 5"/>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5499100" y="2729865"/>
            <a:ext cx="3453765" cy="2105660"/>
          </a:xfrm>
          <a:prstGeom prst="rect">
            <a:avLst/>
          </a:prstGeom>
        </p:spPr>
      </p:pic>
      <p:pic>
        <p:nvPicPr>
          <p:cNvPr id="7" name="图片 6" descr="TG)VT@C_OBZ7W]U8L7AZW8Y"/>
          <p:cNvPicPr>
            <a:picLocks noChangeAspect="1"/>
          </p:cNvPicPr>
          <p:nvPr/>
        </p:nvPicPr>
        <p:blipFill>
          <a:blip r:embed="rId5"/>
          <a:stretch>
            <a:fillRect/>
          </a:stretch>
        </p:blipFill>
        <p:spPr>
          <a:xfrm>
            <a:off x="5613400" y="5012055"/>
            <a:ext cx="3141980" cy="714375"/>
          </a:xfrm>
          <a:prstGeom prst="rect">
            <a:avLst/>
          </a:prstGeom>
        </p:spPr>
      </p:pic>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par>
                                <p:cTn id="16" presetID="53" presetClass="entr" presetSubtype="16" fill="hold" grpId="0" nodeType="withEffect">
                                  <p:stCondLst>
                                    <p:cond delay="25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par>
                                <p:cTn id="21" presetID="53" presetClass="entr" presetSubtype="16" fill="hold" grpId="0" nodeType="withEffect">
                                  <p:stCondLst>
                                    <p:cond delay="25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P spid="15" grpId="0" bldLvl="0" animBg="1"/>
      <p:bldP spid="16"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点亮</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LED</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611188" y="1280997"/>
            <a:ext cx="7921625" cy="437515"/>
          </a:xfrm>
          <a:prstGeom prst="rect">
            <a:avLst/>
          </a:prstGeom>
        </p:spPr>
        <p:txBody>
          <a:bodyPr wrap="square">
            <a:spAutoFit/>
          </a:bodyPr>
          <a:lstStyle/>
          <a:p>
            <a:pPr indent="304800" algn="just">
              <a:lnSpc>
                <a:spcPct val="125000"/>
              </a:lnSpc>
            </a:pPr>
            <a:endParaRPr lang="zh-CN" altLang="en-US" kern="100" dirty="0">
              <a:latin typeface="微软雅黑" panose="020B0503020204020204" pitchFamily="34" charset="-122"/>
              <a:ea typeface="微软雅黑" panose="020B0503020204020204" pitchFamily="34" charset="-122"/>
            </a:endParaRPr>
          </a:p>
        </p:txBody>
      </p:sp>
      <p:sp>
        <p:nvSpPr>
          <p:cNvPr id="15" name="Rectangle 5"/>
          <p:cNvSpPr>
            <a:spLocks noChangeArrowheads="1"/>
          </p:cNvSpPr>
          <p:nvPr/>
        </p:nvSpPr>
        <p:spPr bwMode="auto">
          <a:xfrm>
            <a:off x="2068698" y="5847875"/>
            <a:ext cx="8686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ctr" fontAlgn="base">
              <a:lnSpc>
                <a:spcPct val="100000"/>
              </a:lnSpc>
              <a:spcBef>
                <a:spcPct val="0"/>
              </a:spcBef>
              <a:spcAft>
                <a:spcPct val="0"/>
              </a:spcAft>
              <a:buClrTx/>
              <a:buSzTx/>
              <a:buFontTx/>
              <a:buNone/>
            </a:pPr>
            <a:r>
              <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原理图</a:t>
            </a:r>
            <a:endPar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Rectangle 5"/>
          <p:cNvSpPr>
            <a:spLocks noChangeArrowheads="1"/>
          </p:cNvSpPr>
          <p:nvPr/>
        </p:nvSpPr>
        <p:spPr bwMode="auto">
          <a:xfrm>
            <a:off x="6216741" y="5847875"/>
            <a:ext cx="84836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ctr" fontAlgn="base">
              <a:lnSpc>
                <a:spcPct val="100000"/>
              </a:lnSpc>
              <a:spcBef>
                <a:spcPct val="0"/>
              </a:spcBef>
              <a:spcAft>
                <a:spcPct val="0"/>
              </a:spcAft>
              <a:buClrTx/>
              <a:buSzTx/>
              <a:buFontTx/>
              <a:buNone/>
            </a:pPr>
            <a:r>
              <a:rPr lang="en-US" altLang="zh-CN"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LED</a:t>
            </a:r>
            <a:r>
              <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灯</a:t>
            </a:r>
            <a:endParaRPr lang="zh-CN" altLang="en-US" b="1"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 name="组合 19"/>
          <p:cNvGrpSpPr/>
          <p:nvPr/>
        </p:nvGrpSpPr>
        <p:grpSpPr>
          <a:xfrm>
            <a:off x="1220659" y="6519446"/>
            <a:ext cx="8024939" cy="338554"/>
            <a:chOff x="1277256" y="6519446"/>
            <a:chExt cx="8024939" cy="338554"/>
          </a:xfrm>
        </p:grpSpPr>
        <p:sp>
          <p:nvSpPr>
            <p:cNvPr id="25" name="矩形 24"/>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20</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4" name="图片 3" descr="Q~B0[P[D1OC()Z@S_%OHKI4"/>
          <p:cNvPicPr>
            <a:picLocks noChangeAspect="1"/>
          </p:cNvPicPr>
          <p:nvPr>
            <p:custDataLst>
              <p:tags r:id="rId2"/>
            </p:custDataLst>
          </p:nvPr>
        </p:nvPicPr>
        <p:blipFill>
          <a:blip r:embed="rId3"/>
          <a:stretch>
            <a:fillRect/>
          </a:stretch>
        </p:blipFill>
        <p:spPr>
          <a:xfrm>
            <a:off x="611505" y="3253105"/>
            <a:ext cx="4152265" cy="2594610"/>
          </a:xfrm>
          <a:prstGeom prst="rect">
            <a:avLst/>
          </a:prstGeom>
        </p:spPr>
      </p:pic>
      <p:pic>
        <p:nvPicPr>
          <p:cNvPr id="102" name="图片 101"/>
          <p:cNvPicPr/>
          <p:nvPr/>
        </p:nvPicPr>
        <p:blipFill>
          <a:blip r:embed="rId4"/>
          <a:stretch>
            <a:fillRect/>
          </a:stretch>
        </p:blipFill>
        <p:spPr>
          <a:xfrm>
            <a:off x="4834890" y="916305"/>
            <a:ext cx="3875405" cy="5024755"/>
          </a:xfrm>
          <a:prstGeom prst="rect">
            <a:avLst/>
          </a:prstGeom>
          <a:noFill/>
          <a:ln w="9525">
            <a:noFill/>
          </a:ln>
        </p:spPr>
      </p:pic>
      <p:pic>
        <p:nvPicPr>
          <p:cNvPr id="3" name="图片 2"/>
          <p:cNvPicPr>
            <a:picLocks noChangeAspect="1"/>
          </p:cNvPicPr>
          <p:nvPr>
            <p:custDataLst>
              <p:tags r:id="rId5"/>
            </p:custDataLst>
          </p:nvPr>
        </p:nvPicPr>
        <p:blipFill>
          <a:blip r:embed="rId6"/>
          <a:stretch>
            <a:fillRect/>
          </a:stretch>
        </p:blipFill>
        <p:spPr>
          <a:xfrm>
            <a:off x="610870" y="1059180"/>
            <a:ext cx="4151630" cy="2193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par>
                                <p:cTn id="16" presetID="53" presetClass="entr" presetSubtype="16" fill="hold" grpId="0" nodeType="withEffect">
                                  <p:stCondLst>
                                    <p:cond delay="25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par>
                                <p:cTn id="21" presetID="53" presetClass="entr" presetSubtype="16" fill="hold" grpId="0" nodeType="withEffect">
                                  <p:stCondLst>
                                    <p:cond delay="25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P spid="15" grpId="0" bldLvl="0" animBg="1"/>
      <p:bldP spid="16"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点亮</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LED</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611188" y="1280997"/>
            <a:ext cx="7921625" cy="437515"/>
          </a:xfrm>
          <a:prstGeom prst="rect">
            <a:avLst/>
          </a:prstGeom>
        </p:spPr>
        <p:txBody>
          <a:bodyPr wrap="square">
            <a:spAutoFit/>
          </a:bodyPr>
          <a:lstStyle/>
          <a:p>
            <a:pPr indent="304800" algn="just">
              <a:lnSpc>
                <a:spcPct val="125000"/>
              </a:lnSpc>
            </a:pPr>
            <a:endParaRPr lang="zh-CN" altLang="en-US" kern="1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5" name="矩形 24"/>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21</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0" name="图片 99"/>
          <p:cNvPicPr/>
          <p:nvPr/>
        </p:nvPicPr>
        <p:blipFill>
          <a:blip r:embed="rId1"/>
          <a:stretch>
            <a:fillRect/>
          </a:stretch>
        </p:blipFill>
        <p:spPr>
          <a:xfrm>
            <a:off x="433705" y="1021715"/>
            <a:ext cx="8312150" cy="5401945"/>
          </a:xfrm>
          <a:prstGeom prst="rect">
            <a:avLst/>
          </a:prstGeom>
          <a:noFill/>
          <a:ln w="9525">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853"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点亮</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LED</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611188" y="1280997"/>
            <a:ext cx="7921625" cy="437515"/>
          </a:xfrm>
          <a:prstGeom prst="rect">
            <a:avLst/>
          </a:prstGeom>
        </p:spPr>
        <p:txBody>
          <a:bodyPr wrap="square">
            <a:spAutoFit/>
          </a:bodyPr>
          <a:lstStyle/>
          <a:p>
            <a:pPr indent="304800" algn="just">
              <a:lnSpc>
                <a:spcPct val="125000"/>
              </a:lnSpc>
            </a:pPr>
            <a:endParaRPr lang="zh-CN" altLang="en-US" kern="1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5" name="矩形 24"/>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21</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3" name="图片 102"/>
          <p:cNvPicPr/>
          <p:nvPr/>
        </p:nvPicPr>
        <p:blipFill>
          <a:blip r:embed="rId1"/>
          <a:stretch>
            <a:fillRect/>
          </a:stretch>
        </p:blipFill>
        <p:spPr>
          <a:xfrm>
            <a:off x="246380" y="968375"/>
            <a:ext cx="8750300" cy="5386070"/>
          </a:xfrm>
          <a:prstGeom prst="rect">
            <a:avLst/>
          </a:prstGeom>
          <a:noFill/>
          <a:ln w="9525">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5" name="图片 104"/>
          <p:cNvPicPr/>
          <p:nvPr/>
        </p:nvPicPr>
        <p:blipFill>
          <a:blip r:embed="rId1"/>
          <a:stretch>
            <a:fillRect/>
          </a:stretch>
        </p:blipFill>
        <p:spPr>
          <a:xfrm>
            <a:off x="304800" y="275590"/>
            <a:ext cx="8434070" cy="60134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1" name="图片 100"/>
          <p:cNvPicPr/>
          <p:nvPr/>
        </p:nvPicPr>
        <p:blipFill>
          <a:blip r:embed="rId1"/>
          <a:stretch>
            <a:fillRect/>
          </a:stretch>
        </p:blipFill>
        <p:spPr>
          <a:xfrm>
            <a:off x="84455" y="70485"/>
            <a:ext cx="9060180" cy="65620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6" name="图片 105"/>
          <p:cNvPicPr/>
          <p:nvPr/>
        </p:nvPicPr>
        <p:blipFill>
          <a:blip r:embed="rId1"/>
          <a:stretch>
            <a:fillRect/>
          </a:stretch>
        </p:blipFill>
        <p:spPr>
          <a:xfrm>
            <a:off x="313690" y="0"/>
            <a:ext cx="8725535" cy="652843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12" name="图片 111"/>
          <p:cNvPicPr/>
          <p:nvPr/>
        </p:nvPicPr>
        <p:blipFill>
          <a:blip r:embed="rId1"/>
          <a:stretch>
            <a:fillRect/>
          </a:stretch>
        </p:blipFill>
        <p:spPr>
          <a:xfrm>
            <a:off x="139700" y="0"/>
            <a:ext cx="8961755" cy="642874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rot="5400000">
            <a:off x="3449955" y="1880870"/>
            <a:ext cx="6819265" cy="3134360"/>
          </a:xfrm>
          <a:prstGeom prst="rect">
            <a:avLst/>
          </a:prstGeom>
        </p:spPr>
      </p:pic>
      <p:pic>
        <p:nvPicPr>
          <p:cNvPr id="5" name="图片 4"/>
          <p:cNvPicPr>
            <a:picLocks noChangeAspect="1"/>
          </p:cNvPicPr>
          <p:nvPr/>
        </p:nvPicPr>
        <p:blipFill>
          <a:blip r:embed="rId2"/>
          <a:stretch>
            <a:fillRect/>
          </a:stretch>
        </p:blipFill>
        <p:spPr>
          <a:xfrm>
            <a:off x="407670" y="1271270"/>
            <a:ext cx="4763770" cy="3726180"/>
          </a:xfrm>
          <a:prstGeom prst="rect">
            <a:avLst/>
          </a:prstGeom>
        </p:spPr>
      </p:pic>
      <p:sp>
        <p:nvSpPr>
          <p:cNvPr id="6" name="文本框 5"/>
          <p:cNvSpPr txBox="1"/>
          <p:nvPr/>
        </p:nvSpPr>
        <p:spPr>
          <a:xfrm>
            <a:off x="1115695" y="5318760"/>
            <a:ext cx="3176905" cy="521970"/>
          </a:xfrm>
          <a:prstGeom prst="rect">
            <a:avLst/>
          </a:prstGeom>
          <a:noFill/>
        </p:spPr>
        <p:txBody>
          <a:bodyPr wrap="square" rtlCol="0" anchor="t">
            <a:spAutoFit/>
          </a:bodyPr>
          <a:p>
            <a:r>
              <a:rPr lang="zh-CN" altLang="en-US" sz="2800">
                <a:sym typeface="+mn-ea"/>
              </a:rPr>
              <a:t>注意引脚的对应</a:t>
            </a:r>
            <a:endParaRPr lang="zh-CN" altLang="en-US" sz="280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tretch>
            <a:fillRect/>
          </a:stretch>
        </p:blipFill>
        <p:spPr>
          <a:xfrm>
            <a:off x="379730" y="0"/>
            <a:ext cx="8174355" cy="4404995"/>
          </a:xfrm>
          <a:prstGeom prst="rect">
            <a:avLst/>
          </a:prstGeom>
        </p:spPr>
      </p:pic>
      <p:pic>
        <p:nvPicPr>
          <p:cNvPr id="7" name="图片 6"/>
          <p:cNvPicPr>
            <a:picLocks noChangeAspect="1"/>
          </p:cNvPicPr>
          <p:nvPr/>
        </p:nvPicPr>
        <p:blipFill>
          <a:blip r:embed="rId2"/>
          <a:stretch>
            <a:fillRect/>
          </a:stretch>
        </p:blipFill>
        <p:spPr>
          <a:xfrm>
            <a:off x="380365" y="4404995"/>
            <a:ext cx="8173720" cy="20694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9" name="图片 108"/>
          <p:cNvPicPr/>
          <p:nvPr/>
        </p:nvPicPr>
        <p:blipFill>
          <a:blip r:embed="rId1"/>
          <a:stretch>
            <a:fillRect/>
          </a:stretch>
        </p:blipFill>
        <p:spPr>
          <a:xfrm>
            <a:off x="551815" y="0"/>
            <a:ext cx="7823835" cy="4686935"/>
          </a:xfrm>
          <a:prstGeom prst="rect">
            <a:avLst/>
          </a:prstGeom>
          <a:noFill/>
          <a:ln w="9525">
            <a:noFill/>
          </a:ln>
        </p:spPr>
      </p:pic>
      <p:sp>
        <p:nvSpPr>
          <p:cNvPr id="5" name="内容占位符 4"/>
          <p:cNvSpPr/>
          <p:nvPr>
            <p:ph idx="1"/>
          </p:nvPr>
        </p:nvSpPr>
        <p:spPr>
          <a:xfrm>
            <a:off x="628650" y="4879340"/>
            <a:ext cx="7886700" cy="1297940"/>
          </a:xfrm>
        </p:spPr>
        <p:txBody>
          <a:bodyPr/>
          <a:p>
            <a:r>
              <a:rPr lang="zh-CN" altLang="en-US"/>
              <a:t>最后点击右上角的</a:t>
            </a:r>
            <a:r>
              <a:rPr lang="en-US" altLang="zh-CN"/>
              <a:t>   </a:t>
            </a:r>
            <a:endParaRPr lang="en-US" altLang="zh-CN"/>
          </a:p>
          <a:p>
            <a:r>
              <a:rPr lang="en-US" altLang="zh-CN"/>
              <a:t>                                     </a:t>
            </a:r>
            <a:r>
              <a:rPr lang="zh-CN" altLang="en-US"/>
              <a:t>出现这个界面点击</a:t>
            </a:r>
            <a:r>
              <a:rPr lang="en-US" altLang="zh-CN"/>
              <a:t>Close</a:t>
            </a:r>
            <a:endParaRPr lang="en-US" altLang="zh-CN"/>
          </a:p>
        </p:txBody>
      </p:sp>
      <p:pic>
        <p:nvPicPr>
          <p:cNvPr id="6" name="图片 5"/>
          <p:cNvPicPr>
            <a:picLocks noChangeAspect="1"/>
          </p:cNvPicPr>
          <p:nvPr/>
        </p:nvPicPr>
        <p:blipFill>
          <a:blip r:embed="rId2"/>
          <a:stretch>
            <a:fillRect/>
          </a:stretch>
        </p:blipFill>
        <p:spPr>
          <a:xfrm>
            <a:off x="3865245" y="4779645"/>
            <a:ext cx="2819400" cy="657225"/>
          </a:xfrm>
          <a:prstGeom prst="rect">
            <a:avLst/>
          </a:prstGeom>
        </p:spPr>
      </p:pic>
      <p:pic>
        <p:nvPicPr>
          <p:cNvPr id="7" name="图片 6"/>
          <p:cNvPicPr>
            <a:picLocks noChangeAspect="1"/>
          </p:cNvPicPr>
          <p:nvPr/>
        </p:nvPicPr>
        <p:blipFill>
          <a:blip r:embed="rId3"/>
          <a:stretch>
            <a:fillRect/>
          </a:stretch>
        </p:blipFill>
        <p:spPr>
          <a:xfrm>
            <a:off x="946785" y="5347970"/>
            <a:ext cx="2827655" cy="13760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568960" y="42545"/>
            <a:ext cx="7268845" cy="5123815"/>
          </a:xfrm>
          <a:prstGeom prst="rect">
            <a:avLst/>
          </a:prstGeom>
        </p:spPr>
      </p:pic>
      <p:sp>
        <p:nvSpPr>
          <p:cNvPr id="7" name="文本框 6"/>
          <p:cNvSpPr txBox="1"/>
          <p:nvPr/>
        </p:nvSpPr>
        <p:spPr>
          <a:xfrm>
            <a:off x="506095" y="5304790"/>
            <a:ext cx="7319645" cy="368300"/>
          </a:xfrm>
          <a:prstGeom prst="rect">
            <a:avLst/>
          </a:prstGeom>
          <a:noFill/>
        </p:spPr>
        <p:txBody>
          <a:bodyPr wrap="square" rtlCol="0" anchor="t">
            <a:spAutoFit/>
          </a:bodyPr>
          <a:p>
            <a:r>
              <a:rPr lang="zh-CN" altLang="en-US">
                <a:sym typeface="+mn-ea"/>
              </a:rPr>
              <a:t>找到你文件所在位置，右键</a:t>
            </a:r>
            <a:r>
              <a:rPr lang="en-US" altLang="zh-CN">
                <a:sym typeface="+mn-ea"/>
              </a:rPr>
              <a:t>-&gt;</a:t>
            </a:r>
            <a:r>
              <a:rPr lang="zh-CN" altLang="en-US">
                <a:sym typeface="+mn-ea"/>
              </a:rPr>
              <a:t>更多选项</a:t>
            </a:r>
            <a:r>
              <a:rPr lang="en-US" altLang="zh-CN">
                <a:sym typeface="+mn-ea"/>
              </a:rPr>
              <a:t>-&gt;</a:t>
            </a:r>
            <a:r>
              <a:rPr lang="zh-CN" altLang="en-US">
                <a:sym typeface="+mn-ea"/>
              </a:rPr>
              <a:t>通过</a:t>
            </a:r>
            <a:r>
              <a:rPr lang="en-US" altLang="zh-CN">
                <a:sym typeface="+mn-ea"/>
              </a:rPr>
              <a:t>vscode</a:t>
            </a:r>
            <a:r>
              <a:rPr lang="zh-CN" altLang="en-US">
                <a:sym typeface="+mn-ea"/>
              </a:rPr>
              <a:t>打开</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9420" y="5010151"/>
            <a:ext cx="7886700" cy="1325563"/>
          </a:xfrm>
        </p:spPr>
        <p:txBody>
          <a:bodyPr/>
          <a:p>
            <a:r>
              <a:rPr lang="zh-CN" altLang="en-US"/>
              <a:t>选择</a:t>
            </a:r>
            <a:r>
              <a:rPr lang="en-US" altLang="zh-CN"/>
              <a:t>Git Bash</a:t>
            </a:r>
            <a:endParaRPr lang="en-US" altLang="zh-CN"/>
          </a:p>
        </p:txBody>
      </p:sp>
      <p:pic>
        <p:nvPicPr>
          <p:cNvPr id="4" name="内容占位符 3"/>
          <p:cNvPicPr>
            <a:picLocks noChangeAspect="1"/>
          </p:cNvPicPr>
          <p:nvPr>
            <p:ph idx="1"/>
          </p:nvPr>
        </p:nvPicPr>
        <p:blipFill>
          <a:blip r:embed="rId1"/>
          <a:stretch>
            <a:fillRect/>
          </a:stretch>
        </p:blipFill>
        <p:spPr>
          <a:xfrm>
            <a:off x="201930" y="260350"/>
            <a:ext cx="8739505" cy="49206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72770" y="4751071"/>
            <a:ext cx="7886700" cy="1325563"/>
          </a:xfrm>
        </p:spPr>
        <p:txBody>
          <a:bodyPr/>
          <a:p>
            <a:r>
              <a:rPr lang="zh-CN" altLang="en-US"/>
              <a:t>输入</a:t>
            </a:r>
            <a:r>
              <a:rPr lang="en-US" altLang="zh-CN"/>
              <a:t>./run.sh</a:t>
            </a:r>
            <a:r>
              <a:rPr lang="zh-CN" altLang="en-US"/>
              <a:t>。出现此现象</a:t>
            </a:r>
            <a:endParaRPr lang="en-US" altLang="zh-CN"/>
          </a:p>
        </p:txBody>
      </p:sp>
      <p:pic>
        <p:nvPicPr>
          <p:cNvPr id="4" name="内容占位符 3"/>
          <p:cNvPicPr>
            <a:picLocks noChangeAspect="1"/>
          </p:cNvPicPr>
          <p:nvPr>
            <p:ph idx="1"/>
          </p:nvPr>
        </p:nvPicPr>
        <p:blipFill>
          <a:blip r:embed="rId1"/>
          <a:stretch>
            <a:fillRect/>
          </a:stretch>
        </p:blipFill>
        <p:spPr>
          <a:xfrm>
            <a:off x="141605" y="941070"/>
            <a:ext cx="8861425" cy="33966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45135" y="4378961"/>
            <a:ext cx="7886700" cy="1325563"/>
          </a:xfrm>
        </p:spPr>
        <p:txBody>
          <a:bodyPr>
            <a:normAutofit/>
          </a:bodyPr>
          <a:p>
            <a:r>
              <a:rPr lang="zh-CN" altLang="en-US" sz="3555"/>
              <a:t>依次接好，插入电脑，回到</a:t>
            </a:r>
            <a:r>
              <a:rPr lang="en-US" altLang="zh-CN" sz="3555"/>
              <a:t>Git  bash</a:t>
            </a:r>
            <a:r>
              <a:rPr lang="zh-CN" altLang="en-US" sz="3555"/>
              <a:t>，输入</a:t>
            </a:r>
            <a:endParaRPr lang="zh-CN" altLang="en-US" sz="3555"/>
          </a:p>
        </p:txBody>
      </p:sp>
      <p:pic>
        <p:nvPicPr>
          <p:cNvPr id="4" name="内容占位符 3"/>
          <p:cNvPicPr>
            <a:picLocks noChangeAspect="1"/>
          </p:cNvPicPr>
          <p:nvPr>
            <p:ph idx="1"/>
          </p:nvPr>
        </p:nvPicPr>
        <p:blipFill>
          <a:blip r:embed="rId1"/>
          <a:stretch>
            <a:fillRect/>
          </a:stretch>
        </p:blipFill>
        <p:spPr>
          <a:xfrm>
            <a:off x="445135" y="229870"/>
            <a:ext cx="8013065" cy="4149090"/>
          </a:xfrm>
          <a:prstGeom prst="rect">
            <a:avLst/>
          </a:prstGeom>
        </p:spPr>
      </p:pic>
      <p:pic>
        <p:nvPicPr>
          <p:cNvPr id="5" name="内容占位符 3"/>
          <p:cNvPicPr>
            <a:picLocks noChangeAspect="1"/>
          </p:cNvPicPr>
          <p:nvPr/>
        </p:nvPicPr>
        <p:blipFill>
          <a:blip r:embed="rId2"/>
          <a:stretch>
            <a:fillRect/>
          </a:stretch>
        </p:blipFill>
        <p:spPr>
          <a:xfrm>
            <a:off x="571500" y="5546090"/>
            <a:ext cx="7886700" cy="6184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0">
        <p:random/>
      </p:transition>
    </mc:Choice>
    <mc:Fallback>
      <p:transition spd="slow" advTm="0">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100" name="图片 99"/>
          <p:cNvPicPr/>
          <p:nvPr/>
        </p:nvPicPr>
        <p:blipFill>
          <a:blip r:embed="rId1"/>
          <a:stretch>
            <a:fillRect/>
          </a:stretch>
        </p:blipFill>
        <p:spPr>
          <a:xfrm>
            <a:off x="373380" y="1151890"/>
            <a:ext cx="3629660" cy="5191125"/>
          </a:xfrm>
          <a:prstGeom prst="rect">
            <a:avLst/>
          </a:prstGeom>
          <a:noFill/>
          <a:ln w="9525">
            <a:noFill/>
          </a:ln>
        </p:spPr>
      </p:pic>
      <p:sp>
        <p:nvSpPr>
          <p:cNvPr id="2" name="文本框 1"/>
          <p:cNvSpPr txBox="1"/>
          <p:nvPr/>
        </p:nvSpPr>
        <p:spPr>
          <a:xfrm>
            <a:off x="4236085" y="2576830"/>
            <a:ext cx="4474210" cy="1383665"/>
          </a:xfrm>
          <a:prstGeom prst="rect">
            <a:avLst/>
          </a:prstGeom>
          <a:noFill/>
        </p:spPr>
        <p:txBody>
          <a:bodyPr wrap="square" rtlCol="0">
            <a:spAutoFit/>
          </a:bodyPr>
          <a:p>
            <a:r>
              <a:rPr lang="zh-CN" altLang="en-US" sz="2800" b="1"/>
              <a:t>两颗</a:t>
            </a:r>
            <a:r>
              <a:rPr lang="en-US" altLang="zh-CN" sz="2800" b="1"/>
              <a:t>led</a:t>
            </a:r>
            <a:r>
              <a:rPr lang="zh-CN" altLang="en-US" sz="2800" b="1"/>
              <a:t>都亮了，</a:t>
            </a:r>
            <a:endParaRPr lang="zh-CN" altLang="en-US" sz="2800" b="1"/>
          </a:p>
          <a:p>
            <a:r>
              <a:rPr lang="zh-CN" altLang="en-US" sz="2800" b="1"/>
              <a:t>思考</a:t>
            </a:r>
            <a:r>
              <a:rPr lang="zh-CN" altLang="en-US" sz="2800" b="1"/>
              <a:t>这两颗</a:t>
            </a:r>
            <a:r>
              <a:rPr lang="en-US" altLang="zh-CN" sz="2800" b="1"/>
              <a:t>led</a:t>
            </a:r>
            <a:r>
              <a:rPr lang="zh-CN" altLang="en-US" sz="2800" b="1"/>
              <a:t>的点亮方法有什么不同</a:t>
            </a:r>
            <a:endParaRPr lang="zh-CN" altLang="en-US" sz="2800" b="1"/>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398" y="-596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523240" y="1149985"/>
            <a:ext cx="6905625" cy="645160"/>
          </a:xfrm>
          <a:prstGeom prst="rect">
            <a:avLst/>
          </a:prstGeom>
          <a:noFill/>
        </p:spPr>
        <p:txBody>
          <a:bodyPr wrap="square" rtlCol="0" anchor="t">
            <a:spAutoFit/>
          </a:bodyPr>
          <a:p>
            <a:r>
              <a:rPr lang="zh-CN" altLang="en-US"/>
              <a:t>HAL_GPIO_WritePin(GPIOA ,GPIO_PIN_5,GPIO_PIN_RESET );  </a:t>
            </a:r>
            <a:r>
              <a:rPr lang="en-US" altLang="zh-CN"/>
              <a:t> </a:t>
            </a:r>
            <a:r>
              <a:rPr lang="zh-CN" altLang="en-US"/>
              <a:t>设置</a:t>
            </a:r>
            <a:r>
              <a:rPr lang="en-US" altLang="zh-CN"/>
              <a:t>PA5</a:t>
            </a:r>
            <a:r>
              <a:rPr lang="zh-CN" altLang="en-US"/>
              <a:t>输出低电平</a:t>
            </a:r>
            <a:r>
              <a:rPr lang="en-US" altLang="zh-CN"/>
              <a:t> </a:t>
            </a:r>
            <a:r>
              <a:rPr lang="zh-CN" altLang="en-US"/>
              <a:t>改为</a:t>
            </a:r>
            <a:r>
              <a:rPr lang="en-US" altLang="zh-CN"/>
              <a:t>SET</a:t>
            </a:r>
            <a:r>
              <a:rPr lang="zh-CN" altLang="en-US"/>
              <a:t>是输出高电平</a:t>
            </a:r>
            <a:endParaRPr lang="zh-CN" altLang="en-US"/>
          </a:p>
        </p:txBody>
      </p:sp>
      <p:pic>
        <p:nvPicPr>
          <p:cNvPr id="101" name="图片 100"/>
          <p:cNvPicPr/>
          <p:nvPr/>
        </p:nvPicPr>
        <p:blipFill>
          <a:blip r:embed="rId1"/>
          <a:stretch>
            <a:fillRect/>
          </a:stretch>
        </p:blipFill>
        <p:spPr>
          <a:xfrm>
            <a:off x="610870" y="2146300"/>
            <a:ext cx="2664460" cy="3951605"/>
          </a:xfrm>
          <a:prstGeom prst="rect">
            <a:avLst/>
          </a:prstGeom>
          <a:noFill/>
          <a:ln w="9525">
            <a:noFill/>
          </a:ln>
        </p:spPr>
      </p:pic>
      <p:sp>
        <p:nvSpPr>
          <p:cNvPr id="4" name="文本框 3"/>
          <p:cNvSpPr txBox="1"/>
          <p:nvPr/>
        </p:nvSpPr>
        <p:spPr>
          <a:xfrm>
            <a:off x="3793490" y="2288540"/>
            <a:ext cx="2069465" cy="368300"/>
          </a:xfrm>
          <a:prstGeom prst="rect">
            <a:avLst/>
          </a:prstGeom>
          <a:noFill/>
        </p:spPr>
        <p:txBody>
          <a:bodyPr wrap="none" rtlCol="0">
            <a:spAutoFit/>
          </a:bodyPr>
          <a:p>
            <a:r>
              <a:rPr lang="zh-CN" altLang="en-US"/>
              <a:t>看到对应的</a:t>
            </a:r>
            <a:r>
              <a:rPr lang="en-US" altLang="zh-CN"/>
              <a:t>led</a:t>
            </a:r>
            <a:r>
              <a:rPr lang="zh-CN" altLang="en-US"/>
              <a:t>灭</a:t>
            </a:r>
            <a:r>
              <a:rPr lang="zh-CN" altLang="en-US"/>
              <a:t>了</a:t>
            </a: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3443" y="71"/>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5876191"/>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30225" y="2096770"/>
            <a:ext cx="1097280" cy="645160"/>
          </a:xfrm>
          <a:prstGeom prst="rect">
            <a:avLst/>
          </a:prstGeom>
          <a:noFill/>
        </p:spPr>
        <p:txBody>
          <a:bodyPr wrap="none" rtlCol="0">
            <a:spAutoFit/>
          </a:bodyPr>
          <a:p>
            <a:r>
              <a:rPr lang="zh-CN" altLang="en-US"/>
              <a:t>闪烁的</a:t>
            </a:r>
            <a:r>
              <a:rPr lang="zh-CN" altLang="en-US"/>
              <a:t>灯</a:t>
            </a:r>
            <a:endParaRPr lang="zh-CN" altLang="en-US"/>
          </a:p>
          <a:p>
            <a:endParaRPr lang="zh-CN" altLang="en-US"/>
          </a:p>
        </p:txBody>
      </p:sp>
      <p:sp>
        <p:nvSpPr>
          <p:cNvPr id="3" name="文本框 2"/>
          <p:cNvSpPr txBox="1"/>
          <p:nvPr/>
        </p:nvSpPr>
        <p:spPr>
          <a:xfrm>
            <a:off x="530225" y="1435735"/>
            <a:ext cx="1779270" cy="368300"/>
          </a:xfrm>
          <a:prstGeom prst="rect">
            <a:avLst/>
          </a:prstGeom>
          <a:noFill/>
        </p:spPr>
        <p:txBody>
          <a:bodyPr wrap="none" rtlCol="0">
            <a:spAutoFit/>
          </a:bodyPr>
          <a:p>
            <a:pPr algn="l"/>
            <a:r>
              <a:rPr lang="zh-CN" altLang="en-US"/>
              <a:t>HAL_Delay(500); </a:t>
            </a:r>
            <a:endParaRPr lang="zh-CN" altLang="en-US"/>
          </a:p>
        </p:txBody>
      </p:sp>
      <p:sp>
        <p:nvSpPr>
          <p:cNvPr id="4" name="文本框 3"/>
          <p:cNvSpPr txBox="1"/>
          <p:nvPr/>
        </p:nvSpPr>
        <p:spPr>
          <a:xfrm>
            <a:off x="2724785" y="1435735"/>
            <a:ext cx="1097280" cy="368300"/>
          </a:xfrm>
          <a:prstGeom prst="rect">
            <a:avLst/>
          </a:prstGeom>
          <a:noFill/>
        </p:spPr>
        <p:txBody>
          <a:bodyPr wrap="none" rtlCol="0">
            <a:spAutoFit/>
          </a:bodyPr>
          <a:p>
            <a:r>
              <a:rPr lang="zh-CN" altLang="en-US"/>
              <a:t>延迟</a:t>
            </a:r>
            <a:r>
              <a:rPr lang="zh-CN" altLang="en-US"/>
              <a:t>函数</a:t>
            </a:r>
            <a:endParaRPr lang="zh-CN" altLang="en-US"/>
          </a:p>
        </p:txBody>
      </p:sp>
      <p:sp>
        <p:nvSpPr>
          <p:cNvPr id="5" name="文本框 4"/>
          <p:cNvSpPr txBox="1"/>
          <p:nvPr/>
        </p:nvSpPr>
        <p:spPr>
          <a:xfrm>
            <a:off x="1346200" y="2186305"/>
            <a:ext cx="7795260" cy="1198880"/>
          </a:xfrm>
          <a:prstGeom prst="rect">
            <a:avLst/>
          </a:prstGeom>
          <a:noFill/>
        </p:spPr>
        <p:txBody>
          <a:bodyPr wrap="square" rtlCol="0">
            <a:spAutoFit/>
          </a:bodyPr>
          <a:p>
            <a:pPr algn="l"/>
            <a:r>
              <a:rPr lang="zh-CN" altLang="en-US"/>
              <a:t>		HAL_GPIO_WritePin(GPIOA ,GPIO_PIN_5,GPIO_PIN_SET ); </a:t>
            </a:r>
            <a:endParaRPr lang="zh-CN" altLang="en-US"/>
          </a:p>
          <a:p>
            <a:pPr algn="l"/>
            <a:r>
              <a:rPr lang="zh-CN" altLang="en-US"/>
              <a:t>		HAL_Delay(500); </a:t>
            </a:r>
            <a:endParaRPr lang="zh-CN" altLang="en-US"/>
          </a:p>
          <a:p>
            <a:pPr algn="l"/>
            <a:r>
              <a:rPr lang="zh-CN" altLang="en-US"/>
              <a:t>		HAL_GPIO_WritePin(GPIOA ,GPIO_PIN_5,GPIO_PIN_RESET ); </a:t>
            </a:r>
            <a:endParaRPr lang="zh-CN" altLang="en-US"/>
          </a:p>
          <a:p>
            <a:pPr algn="l"/>
            <a:r>
              <a:rPr lang="zh-CN" altLang="en-US"/>
              <a:t>		HAL_Delay(500);</a:t>
            </a:r>
            <a:endParaRPr lang="zh-CN" altLang="en-US"/>
          </a:p>
        </p:txBody>
      </p:sp>
      <p:sp>
        <p:nvSpPr>
          <p:cNvPr id="6" name="文本框 5"/>
          <p:cNvSpPr txBox="1"/>
          <p:nvPr/>
        </p:nvSpPr>
        <p:spPr>
          <a:xfrm>
            <a:off x="610870" y="3612515"/>
            <a:ext cx="2742565" cy="368300"/>
          </a:xfrm>
          <a:prstGeom prst="rect">
            <a:avLst/>
          </a:prstGeom>
          <a:noFill/>
        </p:spPr>
        <p:txBody>
          <a:bodyPr wrap="none" rtlCol="0">
            <a:spAutoFit/>
          </a:bodyPr>
          <a:p>
            <a:r>
              <a:rPr lang="zh-CN" altLang="en-US"/>
              <a:t>写在</a:t>
            </a:r>
            <a:r>
              <a:rPr lang="en-US" altLang="zh-CN"/>
              <a:t>while</a:t>
            </a:r>
            <a:r>
              <a:rPr lang="zh-CN" altLang="en-US"/>
              <a:t>里面，重复</a:t>
            </a:r>
            <a:r>
              <a:rPr lang="zh-CN" altLang="en-US"/>
              <a:t>执行</a:t>
            </a:r>
            <a:endParaRPr lang="zh-CN" altLang="en-US"/>
          </a:p>
        </p:txBody>
      </p:sp>
      <p:pic>
        <p:nvPicPr>
          <p:cNvPr id="7" name="图片 6"/>
          <p:cNvPicPr>
            <a:picLocks noChangeAspect="1"/>
          </p:cNvPicPr>
          <p:nvPr/>
        </p:nvPicPr>
        <p:blipFill>
          <a:blip r:embed="rId1"/>
          <a:stretch>
            <a:fillRect/>
          </a:stretch>
        </p:blipFill>
        <p:spPr>
          <a:xfrm>
            <a:off x="3241040" y="4208145"/>
            <a:ext cx="4903470" cy="1809115"/>
          </a:xfrm>
          <a:prstGeom prst="rect">
            <a:avLst/>
          </a:prstGeom>
        </p:spPr>
      </p:pic>
      <p:sp>
        <p:nvSpPr>
          <p:cNvPr id="8" name="文本框 7"/>
          <p:cNvSpPr txBox="1"/>
          <p:nvPr/>
        </p:nvSpPr>
        <p:spPr>
          <a:xfrm>
            <a:off x="610870" y="4446905"/>
            <a:ext cx="4572000" cy="368300"/>
          </a:xfrm>
          <a:prstGeom prst="rect">
            <a:avLst/>
          </a:prstGeom>
          <a:noFill/>
        </p:spPr>
        <p:txBody>
          <a:bodyPr wrap="square" rtlCol="0" anchor="t">
            <a:spAutoFit/>
          </a:bodyPr>
          <a:p>
            <a:r>
              <a:rPr lang="zh-CN" altLang="en-US">
                <a:sym typeface="+mn-ea"/>
              </a:rPr>
              <a:t>也可以试试</a:t>
            </a:r>
            <a:endParaRPr lang="zh-CN" altLang="en-US">
              <a:sym typeface="+mn-ea"/>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638" y="58491"/>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95885" y="1296035"/>
            <a:ext cx="8963660" cy="4523105"/>
          </a:xfrm>
          <a:prstGeom prst="rect">
            <a:avLst/>
          </a:prstGeom>
          <a:noFill/>
        </p:spPr>
        <p:txBody>
          <a:bodyPr wrap="square" rtlCol="0">
            <a:spAutoFit/>
          </a:bodyPr>
          <a:p>
            <a:pPr algn="l"/>
            <a:r>
              <a:rPr lang="zh-CN" altLang="en-US" sz="2800" b="1"/>
              <a:t>按键输入配置</a:t>
            </a:r>
            <a:endParaRPr lang="zh-CN" altLang="en-US" sz="2800" b="1"/>
          </a:p>
          <a:p>
            <a:pPr algn="l"/>
            <a:r>
              <a:rPr lang="zh-CN" altLang="en-US" sz="2000"/>
              <a:t>GPIO Pull-up/Pull-down：</a:t>
            </a:r>
            <a:endParaRPr lang="zh-CN" altLang="en-US" sz="2000"/>
          </a:p>
          <a:p>
            <a:pPr algn="l"/>
            <a:r>
              <a:rPr lang="zh-CN" altLang="en-US" sz="2000"/>
              <a:t>如果按键在未被按下时，其引脚通过外部电阻连接到地（GND），那么您通常需要在STM32内部选择“Pull-up”（上拉）来确保引脚在未被按键按下时保持高电平。当按键被按下时，引脚会被拉低到地电平，微控制器可以检测到这个低电平信号。</a:t>
            </a:r>
            <a:endParaRPr lang="zh-CN" altLang="en-US" sz="2000"/>
          </a:p>
          <a:p>
            <a:pPr algn="l"/>
            <a:r>
              <a:rPr lang="zh-CN" altLang="en-US" sz="2000"/>
              <a:t>如果按键在未被按下时，其引脚通过外部电阻连接到电源（如3.3V），那么您通常需要在STM32内部选择“Pull-down”（下拉），但这种情况较少见。更常见的是使用内部上拉电阻和外部下拉电阻的组合，但在这种情况下，您仍然会选择内部上拉，并在外部电路上实现下拉。</a:t>
            </a:r>
            <a:endParaRPr lang="zh-CN" altLang="en-US" sz="2000"/>
          </a:p>
          <a:p>
            <a:pPr algn="l"/>
            <a:r>
              <a:rPr lang="zh-CN" altLang="en-US" sz="2000"/>
              <a:t>如果按键电路中没有外部上拉或下拉电阻，您需要根据按键的具体电路设计和STM32的内部特性来决定是使用上拉还是下拉，或者选择“No Pull-up and Pull-down”（无上拉/下拉）并依靠外部电路的稳定性。</a:t>
            </a:r>
            <a:endParaRPr lang="zh-CN" altLang="en-US" sz="2000"/>
          </a:p>
          <a:p>
            <a:pPr algn="l"/>
            <a:endParaRPr lang="zh-CN" altLang="en-US" sz="200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2018" y="-8819"/>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9575" y="362672"/>
            <a:ext cx="7113238" cy="460375"/>
          </a:xfrm>
          <a:prstGeom prst="rect">
            <a:avLst/>
          </a:prstGeom>
          <a:noFill/>
        </p:spPr>
        <p:txBody>
          <a:bodyPr wrap="square" rtlCol="0">
            <a:spAutoFit/>
          </a:bodyPr>
          <a:lstStyle/>
          <a:p>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GPIO</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基础</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220659" y="6519446"/>
            <a:ext cx="8024939" cy="338554"/>
            <a:chOff x="1277256" y="6519446"/>
            <a:chExt cx="8024939" cy="338554"/>
          </a:xfrm>
        </p:grpSpPr>
        <p:sp>
          <p:nvSpPr>
            <p:cNvPr id="24" name="矩形 23"/>
            <p:cNvSpPr/>
            <p:nvPr/>
          </p:nvSpPr>
          <p:spPr>
            <a:xfrm>
              <a:off x="8766881" y="6519446"/>
              <a:ext cx="432000" cy="3385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663567" y="6519446"/>
              <a:ext cx="638628" cy="337185"/>
            </a:xfrm>
            <a:prstGeom prst="rect">
              <a:avLst/>
            </a:prstGeom>
            <a:noFill/>
          </p:spPr>
          <p:txBody>
            <a:bodyPr wrap="square" rtlCol="0">
              <a:spAutoFit/>
            </a:bodyPr>
            <a:lstStyle/>
            <a:p>
              <a:pPr algn="ctr"/>
              <a:r>
                <a:rPr lang="en-US" altLang="zh-CN" sz="1600" dirty="0">
                  <a:solidFill>
                    <a:schemeClr val="bg1"/>
                  </a:solidFill>
                  <a:latin typeface="微软雅黑" panose="020B0503020204020204" pitchFamily="34" charset="-122"/>
                  <a:ea typeface="微软雅黑" panose="020B0503020204020204" pitchFamily="34" charset="-122"/>
                </a:rPr>
                <a:t>16</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277256" y="6519446"/>
              <a:ext cx="7489625" cy="337185"/>
            </a:xfrm>
            <a:prstGeom prst="rect">
              <a:avLst/>
            </a:prstGeom>
            <a:noFill/>
          </p:spPr>
          <p:txBody>
            <a:bodyPr wrap="square" rtlCol="0">
              <a:spAutoFit/>
            </a:bodyPr>
            <a:lstStyle/>
            <a:p>
              <a:pPr algn="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880745" y="1078865"/>
            <a:ext cx="7004050" cy="3347720"/>
          </a:xfrm>
          <a:prstGeom prst="rect">
            <a:avLst/>
          </a:prstGeom>
        </p:spPr>
      </p:pic>
      <p:sp>
        <p:nvSpPr>
          <p:cNvPr id="4" name="文本框 3"/>
          <p:cNvSpPr txBox="1"/>
          <p:nvPr/>
        </p:nvSpPr>
        <p:spPr>
          <a:xfrm>
            <a:off x="849630" y="4579620"/>
            <a:ext cx="7035165" cy="1630045"/>
          </a:xfrm>
          <a:prstGeom prst="rect">
            <a:avLst/>
          </a:prstGeom>
          <a:noFill/>
        </p:spPr>
        <p:txBody>
          <a:bodyPr wrap="square" rtlCol="0">
            <a:spAutoFit/>
          </a:bodyPr>
          <a:p>
            <a:endParaRPr lang="zh-CN" altLang="en-US" sz="2000" b="1"/>
          </a:p>
          <a:p>
            <a:r>
              <a:rPr lang="zh-CN" altLang="en-US" sz="2000" b="1"/>
              <a:t>注意，由于</a:t>
            </a:r>
            <a:r>
              <a:rPr lang="en-US" altLang="zh-CN" sz="2000" b="1"/>
              <a:t>while</a:t>
            </a:r>
            <a:r>
              <a:rPr lang="zh-CN" altLang="en-US" sz="2000" b="1"/>
              <a:t>里面还有闪烁灯的代码，他的</a:t>
            </a:r>
            <a:r>
              <a:rPr lang="en-US" altLang="zh-CN" sz="2000" b="1"/>
              <a:t>delay</a:t>
            </a:r>
            <a:r>
              <a:rPr lang="zh-CN" altLang="en-US" sz="2000" b="1"/>
              <a:t>函数会占用</a:t>
            </a:r>
            <a:r>
              <a:rPr lang="en-US" altLang="zh-CN" sz="2000" b="1"/>
              <a:t>while</a:t>
            </a:r>
            <a:r>
              <a:rPr lang="zh-CN" altLang="en-US" sz="2000" b="1"/>
              <a:t>循环，导致还没办法进入读取按键电平的语句，因此，在我们学习中断之前，想</a:t>
            </a:r>
            <a:r>
              <a:rPr lang="zh-CN" altLang="en-US" sz="2000" b="1"/>
              <a:t>实现按键控制要先把闪灯代码注释掉</a:t>
            </a:r>
            <a:endParaRPr lang="zh-CN" altLang="en-US" sz="2000" b="1"/>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560" y="-27940"/>
            <a:ext cx="1374140" cy="1340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2" fill="hold" nodeType="withEffect">
                                  <p:stCondLst>
                                    <p:cond delay="25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3" name="矩形 52"/>
          <p:cNvSpPr/>
          <p:nvPr/>
        </p:nvSpPr>
        <p:spPr>
          <a:xfrm>
            <a:off x="-17145" y="2402852"/>
            <a:ext cx="9161315" cy="2105686"/>
          </a:xfrm>
          <a:prstGeom prst="rect">
            <a:avLst/>
          </a:prstGeom>
          <a:solidFill>
            <a:srgbClr val="5B5E7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矩形 23"/>
          <p:cNvSpPr/>
          <p:nvPr/>
        </p:nvSpPr>
        <p:spPr>
          <a:xfrm>
            <a:off x="3600145" y="2526185"/>
            <a:ext cx="5561170" cy="193169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414455">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TextBox 7"/>
          <p:cNvSpPr>
            <a:spLocks noChangeArrowheads="1"/>
          </p:cNvSpPr>
          <p:nvPr/>
        </p:nvSpPr>
        <p:spPr bwMode="auto">
          <a:xfrm>
            <a:off x="4356032" y="2856452"/>
            <a:ext cx="4697299"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THANKS</a:t>
            </a:r>
            <a:r>
              <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45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7" name="直接连接符 56"/>
          <p:cNvCxnSpPr/>
          <p:nvPr/>
        </p:nvCxnSpPr>
        <p:spPr>
          <a:xfrm>
            <a:off x="4949943" y="3622761"/>
            <a:ext cx="3671452"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7"/>
          <p:cNvSpPr>
            <a:spLocks noChangeArrowheads="1"/>
          </p:cNvSpPr>
          <p:nvPr/>
        </p:nvSpPr>
        <p:spPr bwMode="auto">
          <a:xfrm>
            <a:off x="6329861" y="3689185"/>
            <a:ext cx="329350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aurora</a:t>
            </a: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战队</a:t>
            </a:r>
            <a:endPar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9" name="组合 58"/>
          <p:cNvGrpSpPr/>
          <p:nvPr/>
        </p:nvGrpSpPr>
        <p:grpSpPr>
          <a:xfrm>
            <a:off x="5435871" y="1821826"/>
            <a:ext cx="502789" cy="453322"/>
            <a:chOff x="5424755" y="1340768"/>
            <a:chExt cx="670560" cy="604586"/>
          </a:xfrm>
        </p:grpSpPr>
        <p:grpSp>
          <p:nvGrpSpPr>
            <p:cNvPr id="60" name="组合 59"/>
            <p:cNvGrpSpPr/>
            <p:nvPr/>
          </p:nvGrpSpPr>
          <p:grpSpPr>
            <a:xfrm>
              <a:off x="5424755" y="1340768"/>
              <a:ext cx="670560" cy="604586"/>
              <a:chOff x="3720691" y="2824413"/>
              <a:chExt cx="1341120" cy="1209172"/>
            </a:xfrm>
          </p:grpSpPr>
          <p:sp>
            <p:nvSpPr>
              <p:cNvPr id="6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1"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4" name="Freeform 126"/>
          <p:cNvSpPr>
            <a:spLocks noChangeAspect="1" noEditPoints="1"/>
          </p:cNvSpPr>
          <p:nvPr/>
        </p:nvSpPr>
        <p:spPr bwMode="auto">
          <a:xfrm>
            <a:off x="5585723" y="1927812"/>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5" name="组合 64"/>
          <p:cNvGrpSpPr/>
          <p:nvPr/>
        </p:nvGrpSpPr>
        <p:grpSpPr>
          <a:xfrm>
            <a:off x="6093566" y="1809242"/>
            <a:ext cx="502789" cy="453322"/>
            <a:chOff x="5424755" y="1340768"/>
            <a:chExt cx="670560" cy="604586"/>
          </a:xfrm>
        </p:grpSpPr>
        <p:grpSp>
          <p:nvGrpSpPr>
            <p:cNvPr id="66" name="组合 65"/>
            <p:cNvGrpSpPr/>
            <p:nvPr/>
          </p:nvGrpSpPr>
          <p:grpSpPr>
            <a:xfrm>
              <a:off x="5424755" y="1340768"/>
              <a:ext cx="670560" cy="604586"/>
              <a:chOff x="3720691" y="2824413"/>
              <a:chExt cx="1341120" cy="1209172"/>
            </a:xfrm>
          </p:grpSpPr>
          <p:sp>
            <p:nvSpPr>
              <p:cNvPr id="68"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69"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67"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0" name="Freeform 261"/>
          <p:cNvSpPr/>
          <p:nvPr/>
        </p:nvSpPr>
        <p:spPr bwMode="auto">
          <a:xfrm>
            <a:off x="6221684" y="1937926"/>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71" name="组合 70"/>
          <p:cNvGrpSpPr/>
          <p:nvPr/>
        </p:nvGrpSpPr>
        <p:grpSpPr>
          <a:xfrm>
            <a:off x="6775877" y="1809242"/>
            <a:ext cx="502789" cy="453322"/>
            <a:chOff x="5424755" y="1340768"/>
            <a:chExt cx="670560" cy="604586"/>
          </a:xfrm>
        </p:grpSpPr>
        <p:grpSp>
          <p:nvGrpSpPr>
            <p:cNvPr id="72" name="组合 71"/>
            <p:cNvGrpSpPr/>
            <p:nvPr/>
          </p:nvGrpSpPr>
          <p:grpSpPr>
            <a:xfrm>
              <a:off x="5424755" y="1340768"/>
              <a:ext cx="670560" cy="604586"/>
              <a:chOff x="3720691" y="2824413"/>
              <a:chExt cx="1341120" cy="1209172"/>
            </a:xfrm>
          </p:grpSpPr>
          <p:sp>
            <p:nvSpPr>
              <p:cNvPr id="7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7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3"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76" name="组合 75"/>
          <p:cNvGrpSpPr/>
          <p:nvPr/>
        </p:nvGrpSpPr>
        <p:grpSpPr>
          <a:xfrm>
            <a:off x="7440641" y="1830628"/>
            <a:ext cx="502789" cy="453322"/>
            <a:chOff x="5424755" y="1340768"/>
            <a:chExt cx="670560" cy="604586"/>
          </a:xfrm>
        </p:grpSpPr>
        <p:grpSp>
          <p:nvGrpSpPr>
            <p:cNvPr id="77" name="组合 76"/>
            <p:cNvGrpSpPr/>
            <p:nvPr/>
          </p:nvGrpSpPr>
          <p:grpSpPr>
            <a:xfrm>
              <a:off x="5424755" y="1340768"/>
              <a:ext cx="670560" cy="604586"/>
              <a:chOff x="3720691" y="2824413"/>
              <a:chExt cx="1341120" cy="1209172"/>
            </a:xfrm>
          </p:grpSpPr>
          <p:sp>
            <p:nvSpPr>
              <p:cNvPr id="79"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81"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7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82" name="组合 81"/>
          <p:cNvGrpSpPr/>
          <p:nvPr/>
        </p:nvGrpSpPr>
        <p:grpSpPr>
          <a:xfrm>
            <a:off x="8125676" y="1809242"/>
            <a:ext cx="502789" cy="453322"/>
            <a:chOff x="5424755" y="1340768"/>
            <a:chExt cx="670560" cy="604586"/>
          </a:xfrm>
        </p:grpSpPr>
        <p:grpSp>
          <p:nvGrpSpPr>
            <p:cNvPr id="83" name="组合 82"/>
            <p:cNvGrpSpPr/>
            <p:nvPr/>
          </p:nvGrpSpPr>
          <p:grpSpPr>
            <a:xfrm>
              <a:off x="5424755" y="1340768"/>
              <a:ext cx="670560" cy="604586"/>
              <a:chOff x="3720691" y="2824413"/>
              <a:chExt cx="1341120" cy="1209172"/>
            </a:xfrm>
          </p:grpSpPr>
          <p:sp>
            <p:nvSpPr>
              <p:cNvPr id="94"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95"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8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96" name="组合 95"/>
          <p:cNvGrpSpPr>
            <a:grpSpLocks noChangeAspect="1"/>
          </p:cNvGrpSpPr>
          <p:nvPr/>
        </p:nvGrpSpPr>
        <p:grpSpPr>
          <a:xfrm>
            <a:off x="6896562" y="1929051"/>
            <a:ext cx="265649" cy="227877"/>
            <a:chOff x="5084763" y="971548"/>
            <a:chExt cx="323865" cy="277813"/>
          </a:xfrm>
          <a:solidFill>
            <a:srgbClr val="414455"/>
          </a:solidFill>
        </p:grpSpPr>
        <p:sp>
          <p:nvSpPr>
            <p:cNvPr id="97"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8"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99"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100" name="Freeform 9"/>
          <p:cNvSpPr>
            <a:spLocks noEditPoints="1"/>
          </p:cNvSpPr>
          <p:nvPr/>
        </p:nvSpPr>
        <p:spPr bwMode="auto">
          <a:xfrm rot="19469485">
            <a:off x="7546084" y="1906136"/>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101" name="Freeform 206"/>
          <p:cNvSpPr>
            <a:spLocks noChangeAspect="1" noEditPoints="1"/>
          </p:cNvSpPr>
          <p:nvPr/>
        </p:nvSpPr>
        <p:spPr bwMode="auto">
          <a:xfrm>
            <a:off x="8264982" y="1900379"/>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sp>
        <p:nvSpPr>
          <p:cNvPr id="103" name="矩形 3"/>
          <p:cNvSpPr>
            <a:spLocks noChangeArrowheads="1"/>
          </p:cNvSpPr>
          <p:nvPr/>
        </p:nvSpPr>
        <p:spPr bwMode="auto">
          <a:xfrm>
            <a:off x="4862204" y="2550874"/>
            <a:ext cx="2210811"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16" tIns="25708" rIns="51416" bIns="25708">
            <a:spAutoFit/>
          </a:bodyPr>
          <a:lstStyle/>
          <a:p>
            <a:pPr>
              <a:spcBef>
                <a:spcPct val="0"/>
              </a:spcBef>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ROBOMASTER 2024</a:t>
            </a:r>
            <a:endParaRPr lang="zh-CN" altLang="en-US" sz="1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p:cNvSpPr txBox="1"/>
          <p:nvPr/>
        </p:nvSpPr>
        <p:spPr>
          <a:xfrm>
            <a:off x="6057265" y="5248275"/>
            <a:ext cx="2901950" cy="553085"/>
          </a:xfrm>
          <a:prstGeom prst="rect">
            <a:avLst/>
          </a:prstGeom>
          <a:noFill/>
        </p:spPr>
        <p:txBody>
          <a:bodyPr wrap="square" rtlCol="0">
            <a:spAutoFit/>
          </a:bodyPr>
          <a:lstStyle/>
          <a:p>
            <a:r>
              <a:rPr lang="en-US" altLang="zh-CN" sz="3000" b="1" dirty="0">
                <a:solidFill>
                  <a:schemeClr val="bg1"/>
                </a:solidFill>
              </a:rPr>
              <a:t>2024</a:t>
            </a:r>
            <a:r>
              <a:rPr lang="zh-CN" altLang="en-US" sz="3000" b="1" dirty="0">
                <a:solidFill>
                  <a:schemeClr val="bg1"/>
                </a:solidFill>
              </a:rPr>
              <a:t>年</a:t>
            </a:r>
            <a:r>
              <a:rPr lang="en-US" altLang="zh-CN" sz="3000" b="1" dirty="0">
                <a:solidFill>
                  <a:schemeClr val="bg1"/>
                </a:solidFill>
              </a:rPr>
              <a:t>11</a:t>
            </a:r>
            <a:r>
              <a:rPr lang="zh-CN" altLang="en-US" sz="3000" b="1" dirty="0">
                <a:solidFill>
                  <a:schemeClr val="bg1"/>
                </a:solidFill>
              </a:rPr>
              <a:t>月</a:t>
            </a:r>
            <a:r>
              <a:rPr lang="en-US" altLang="zh-CN" sz="3000" b="1" dirty="0">
                <a:solidFill>
                  <a:schemeClr val="bg1"/>
                </a:solidFill>
              </a:rPr>
              <a:t>9</a:t>
            </a:r>
            <a:r>
              <a:rPr lang="zh-CN" altLang="en-US" sz="3000" b="1" dirty="0">
                <a:solidFill>
                  <a:schemeClr val="bg1"/>
                </a:solidFill>
              </a:rPr>
              <a:t>日</a:t>
            </a:r>
            <a:endParaRPr lang="zh-CN" altLang="en-US" sz="3000" b="1" dirty="0">
              <a:solidFill>
                <a:schemeClr val="bg1"/>
              </a:solidFill>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 y="247721"/>
            <a:ext cx="1338817" cy="130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cTn>
                              </p:par>
                              <p:par>
                                <p:cTn id="14" presetID="52" presetClass="entr" presetSubtype="0" fill="hold" grpId="0" nodeType="withEffect">
                                  <p:stCondLst>
                                    <p:cond delay="500"/>
                                  </p:stCondLst>
                                  <p:iterate type="lt">
                                    <p:tmPct val="10000"/>
                                  </p:iterate>
                                  <p:childTnLst>
                                    <p:set>
                                      <p:cBhvr>
                                        <p:cTn id="15" dur="1" fill="hold">
                                          <p:stCondLst>
                                            <p:cond delay="0"/>
                                          </p:stCondLst>
                                        </p:cTn>
                                        <p:tgtEl>
                                          <p:spTgt spid="56"/>
                                        </p:tgtEl>
                                        <p:attrNameLst>
                                          <p:attrName>style.visibility</p:attrName>
                                        </p:attrNameLst>
                                      </p:cBhvr>
                                      <p:to>
                                        <p:strVal val="visible"/>
                                      </p:to>
                                    </p:set>
                                    <p:animScale>
                                      <p:cBhvr>
                                        <p:cTn id="16"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56"/>
                                        </p:tgtEl>
                                        <p:attrNameLst>
                                          <p:attrName>ppt_x</p:attrName>
                                          <p:attrName>ppt_y</p:attrName>
                                        </p:attrNameLst>
                                      </p:cBhvr>
                                    </p:animMotion>
                                    <p:animEffect transition="in" filter="fade">
                                      <p:cBhvr>
                                        <p:cTn id="18" dur="1000"/>
                                        <p:tgtEl>
                                          <p:spTgt spid="56"/>
                                        </p:tgtEl>
                                      </p:cBhvr>
                                    </p:animEffect>
                                  </p:childTnLst>
                                </p:cTn>
                              </p:par>
                              <p:par>
                                <p:cTn id="19" presetID="22" presetClass="entr" presetSubtype="8" fill="hold" nodeType="withEffect">
                                  <p:stCondLst>
                                    <p:cond delay="100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0" nodeType="withEffect">
                                  <p:stCondLst>
                                    <p:cond delay="1500"/>
                                  </p:stCondLst>
                                  <p:childTnLst>
                                    <p:set>
                                      <p:cBhvr>
                                        <p:cTn id="23" dur="1" fill="hold">
                                          <p:stCondLst>
                                            <p:cond delay="0"/>
                                          </p:stCondLst>
                                        </p:cTn>
                                        <p:tgtEl>
                                          <p:spTgt spid="58"/>
                                        </p:tgtEl>
                                        <p:attrNameLst>
                                          <p:attrName>style.visibility</p:attrName>
                                        </p:attrNameLst>
                                      </p:cBhvr>
                                      <p:to>
                                        <p:strVal val="visible"/>
                                      </p:to>
                                    </p:set>
                                    <p:animEffect transition="in" filter="wipe(left)">
                                      <p:cBhvr>
                                        <p:cTn id="24" dur="800"/>
                                        <p:tgtEl>
                                          <p:spTgt spid="58"/>
                                        </p:tgtEl>
                                      </p:cBhvr>
                                    </p:animEffect>
                                  </p:childTnLst>
                                </p:cTn>
                              </p:par>
                              <p:par>
                                <p:cTn id="25" presetID="2" presetClass="entr" presetSubtype="12"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0-#ppt_w/2"/>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par>
                                <p:cTn id="29" presetID="45" presetClass="entr" presetSubtype="0" fill="hold" grpId="0" nodeType="withEffect">
                                  <p:stCondLst>
                                    <p:cond delay="100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2000"/>
                                        <p:tgtEl>
                                          <p:spTgt spid="64"/>
                                        </p:tgtEl>
                                      </p:cBhvr>
                                    </p:animEffect>
                                    <p:anim calcmode="lin" valueType="num">
                                      <p:cBhvr>
                                        <p:cTn id="32" dur="2000" fill="hold"/>
                                        <p:tgtEl>
                                          <p:spTgt spid="64"/>
                                        </p:tgtEl>
                                        <p:attrNameLst>
                                          <p:attrName>ppt_w</p:attrName>
                                        </p:attrNameLst>
                                      </p:cBhvr>
                                      <p:tavLst>
                                        <p:tav tm="0" fmla="#ppt_w*sin(2.5*pi*$)">
                                          <p:val>
                                            <p:fltVal val="0"/>
                                          </p:val>
                                        </p:tav>
                                        <p:tav tm="100000">
                                          <p:val>
                                            <p:fltVal val="1"/>
                                          </p:val>
                                        </p:tav>
                                      </p:tavLst>
                                    </p:anim>
                                    <p:anim calcmode="lin" valueType="num">
                                      <p:cBhvr>
                                        <p:cTn id="33" dur="2000" fill="hold"/>
                                        <p:tgtEl>
                                          <p:spTgt spid="64"/>
                                        </p:tgtEl>
                                        <p:attrNameLst>
                                          <p:attrName>ppt_h</p:attrName>
                                        </p:attrNameLst>
                                      </p:cBhvr>
                                      <p:tavLst>
                                        <p:tav tm="0">
                                          <p:val>
                                            <p:strVal val="#ppt_h"/>
                                          </p:val>
                                        </p:tav>
                                        <p:tav tm="100000">
                                          <p:val>
                                            <p:strVal val="#ppt_h"/>
                                          </p:val>
                                        </p:tav>
                                      </p:tavLst>
                                    </p:anim>
                                  </p:childTnLst>
                                </p:cTn>
                              </p:par>
                              <p:par>
                                <p:cTn id="34" presetID="2" presetClass="entr" presetSubtype="12" fill="hold" nodeType="withEffect">
                                  <p:stCondLst>
                                    <p:cond delay="500"/>
                                  </p:stCondLst>
                                  <p:childTnLst>
                                    <p:set>
                                      <p:cBhvr>
                                        <p:cTn id="35" dur="1" fill="hold">
                                          <p:stCondLst>
                                            <p:cond delay="0"/>
                                          </p:stCondLst>
                                        </p:cTn>
                                        <p:tgtEl>
                                          <p:spTgt spid="65"/>
                                        </p:tgtEl>
                                        <p:attrNameLst>
                                          <p:attrName>style.visibility</p:attrName>
                                        </p:attrNameLst>
                                      </p:cBhvr>
                                      <p:to>
                                        <p:strVal val="visible"/>
                                      </p:to>
                                    </p:set>
                                    <p:anim calcmode="lin" valueType="num">
                                      <p:cBhvr additive="base">
                                        <p:cTn id="36" dur="500" fill="hold"/>
                                        <p:tgtEl>
                                          <p:spTgt spid="65"/>
                                        </p:tgtEl>
                                        <p:attrNameLst>
                                          <p:attrName>ppt_x</p:attrName>
                                        </p:attrNameLst>
                                      </p:cBhvr>
                                      <p:tavLst>
                                        <p:tav tm="0">
                                          <p:val>
                                            <p:strVal val="0-#ppt_w/2"/>
                                          </p:val>
                                        </p:tav>
                                        <p:tav tm="100000">
                                          <p:val>
                                            <p:strVal val="#ppt_x"/>
                                          </p:val>
                                        </p:tav>
                                      </p:tavLst>
                                    </p:anim>
                                    <p:anim calcmode="lin" valueType="num">
                                      <p:cBhvr additive="base">
                                        <p:cTn id="37" dur="500" fill="hold"/>
                                        <p:tgtEl>
                                          <p:spTgt spid="65"/>
                                        </p:tgtEl>
                                        <p:attrNameLst>
                                          <p:attrName>ppt_y</p:attrName>
                                        </p:attrNameLst>
                                      </p:cBhvr>
                                      <p:tavLst>
                                        <p:tav tm="0">
                                          <p:val>
                                            <p:strVal val="1+#ppt_h/2"/>
                                          </p:val>
                                        </p:tav>
                                        <p:tav tm="100000">
                                          <p:val>
                                            <p:strVal val="#ppt_y"/>
                                          </p:val>
                                        </p:tav>
                                      </p:tavLst>
                                    </p:anim>
                                  </p:childTnLst>
                                </p:cTn>
                              </p:par>
                              <p:par>
                                <p:cTn id="38" presetID="45" presetClass="entr" presetSubtype="0" fill="hold" grpId="0" nodeType="withEffect">
                                  <p:stCondLst>
                                    <p:cond delay="100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2000"/>
                                        <p:tgtEl>
                                          <p:spTgt spid="70"/>
                                        </p:tgtEl>
                                      </p:cBhvr>
                                    </p:animEffect>
                                    <p:anim calcmode="lin" valueType="num">
                                      <p:cBhvr>
                                        <p:cTn id="41" dur="2000" fill="hold"/>
                                        <p:tgtEl>
                                          <p:spTgt spid="70"/>
                                        </p:tgtEl>
                                        <p:attrNameLst>
                                          <p:attrName>ppt_w</p:attrName>
                                        </p:attrNameLst>
                                      </p:cBhvr>
                                      <p:tavLst>
                                        <p:tav tm="0" fmla="#ppt_w*sin(2.5*pi*$)">
                                          <p:val>
                                            <p:fltVal val="0"/>
                                          </p:val>
                                        </p:tav>
                                        <p:tav tm="100000">
                                          <p:val>
                                            <p:fltVal val="1"/>
                                          </p:val>
                                        </p:tav>
                                      </p:tavLst>
                                    </p:anim>
                                    <p:anim calcmode="lin" valueType="num">
                                      <p:cBhvr>
                                        <p:cTn id="42" dur="2000" fill="hold"/>
                                        <p:tgtEl>
                                          <p:spTgt spid="70"/>
                                        </p:tgtEl>
                                        <p:attrNameLst>
                                          <p:attrName>ppt_h</p:attrName>
                                        </p:attrNameLst>
                                      </p:cBhvr>
                                      <p:tavLst>
                                        <p:tav tm="0">
                                          <p:val>
                                            <p:strVal val="#ppt_h"/>
                                          </p:val>
                                        </p:tav>
                                        <p:tav tm="100000">
                                          <p:val>
                                            <p:strVal val="#ppt_h"/>
                                          </p:val>
                                        </p:tav>
                                      </p:tavLst>
                                    </p:anim>
                                  </p:childTnLst>
                                </p:cTn>
                              </p:par>
                              <p:par>
                                <p:cTn id="43" presetID="2" presetClass="entr" presetSubtype="12" fill="hold" nodeType="withEffect">
                                  <p:stCondLst>
                                    <p:cond delay="500"/>
                                  </p:stCondLst>
                                  <p:childTnLst>
                                    <p:set>
                                      <p:cBhvr>
                                        <p:cTn id="44" dur="1" fill="hold">
                                          <p:stCondLst>
                                            <p:cond delay="0"/>
                                          </p:stCondLst>
                                        </p:cTn>
                                        <p:tgtEl>
                                          <p:spTgt spid="71"/>
                                        </p:tgtEl>
                                        <p:attrNameLst>
                                          <p:attrName>style.visibility</p:attrName>
                                        </p:attrNameLst>
                                      </p:cBhvr>
                                      <p:to>
                                        <p:strVal val="visible"/>
                                      </p:to>
                                    </p:set>
                                    <p:anim calcmode="lin" valueType="num">
                                      <p:cBhvr additive="base">
                                        <p:cTn id="45" dur="500" fill="hold"/>
                                        <p:tgtEl>
                                          <p:spTgt spid="71"/>
                                        </p:tgtEl>
                                        <p:attrNameLst>
                                          <p:attrName>ppt_x</p:attrName>
                                        </p:attrNameLst>
                                      </p:cBhvr>
                                      <p:tavLst>
                                        <p:tav tm="0">
                                          <p:val>
                                            <p:strVal val="0-#ppt_w/2"/>
                                          </p:val>
                                        </p:tav>
                                        <p:tav tm="100000">
                                          <p:val>
                                            <p:strVal val="#ppt_x"/>
                                          </p:val>
                                        </p:tav>
                                      </p:tavLst>
                                    </p:anim>
                                    <p:anim calcmode="lin" valueType="num">
                                      <p:cBhvr additive="base">
                                        <p:cTn id="46" dur="500" fill="hold"/>
                                        <p:tgtEl>
                                          <p:spTgt spid="71"/>
                                        </p:tgtEl>
                                        <p:attrNameLst>
                                          <p:attrName>ppt_y</p:attrName>
                                        </p:attrNameLst>
                                      </p:cBhvr>
                                      <p:tavLst>
                                        <p:tav tm="0">
                                          <p:val>
                                            <p:strVal val="1+#ppt_h/2"/>
                                          </p:val>
                                        </p:tav>
                                        <p:tav tm="100000">
                                          <p:val>
                                            <p:strVal val="#ppt_y"/>
                                          </p:val>
                                        </p:tav>
                                      </p:tavLst>
                                    </p:anim>
                                  </p:childTnLst>
                                </p:cTn>
                              </p:par>
                              <p:par>
                                <p:cTn id="47" presetID="2" presetClass="entr" presetSubtype="12" fill="hold" nodeType="withEffect">
                                  <p:stCondLst>
                                    <p:cond delay="500"/>
                                  </p:stCondLst>
                                  <p:childTnLst>
                                    <p:set>
                                      <p:cBhvr>
                                        <p:cTn id="48" dur="1" fill="hold">
                                          <p:stCondLst>
                                            <p:cond delay="0"/>
                                          </p:stCondLst>
                                        </p:cTn>
                                        <p:tgtEl>
                                          <p:spTgt spid="76"/>
                                        </p:tgtEl>
                                        <p:attrNameLst>
                                          <p:attrName>style.visibility</p:attrName>
                                        </p:attrNameLst>
                                      </p:cBhvr>
                                      <p:to>
                                        <p:strVal val="visible"/>
                                      </p:to>
                                    </p:set>
                                    <p:anim calcmode="lin" valueType="num">
                                      <p:cBhvr additive="base">
                                        <p:cTn id="49" dur="500" fill="hold"/>
                                        <p:tgtEl>
                                          <p:spTgt spid="76"/>
                                        </p:tgtEl>
                                        <p:attrNameLst>
                                          <p:attrName>ppt_x</p:attrName>
                                        </p:attrNameLst>
                                      </p:cBhvr>
                                      <p:tavLst>
                                        <p:tav tm="0">
                                          <p:val>
                                            <p:strVal val="0-#ppt_w/2"/>
                                          </p:val>
                                        </p:tav>
                                        <p:tav tm="100000">
                                          <p:val>
                                            <p:strVal val="#ppt_x"/>
                                          </p:val>
                                        </p:tav>
                                      </p:tavLst>
                                    </p:anim>
                                    <p:anim calcmode="lin" valueType="num">
                                      <p:cBhvr additive="base">
                                        <p:cTn id="50" dur="500" fill="hold"/>
                                        <p:tgtEl>
                                          <p:spTgt spid="76"/>
                                        </p:tgtEl>
                                        <p:attrNameLst>
                                          <p:attrName>ppt_y</p:attrName>
                                        </p:attrNameLst>
                                      </p:cBhvr>
                                      <p:tavLst>
                                        <p:tav tm="0">
                                          <p:val>
                                            <p:strVal val="1+#ppt_h/2"/>
                                          </p:val>
                                        </p:tav>
                                        <p:tav tm="100000">
                                          <p:val>
                                            <p:strVal val="#ppt_y"/>
                                          </p:val>
                                        </p:tav>
                                      </p:tavLst>
                                    </p:anim>
                                  </p:childTnLst>
                                </p:cTn>
                              </p:par>
                              <p:par>
                                <p:cTn id="51" presetID="2" presetClass="entr" presetSubtype="12" fill="hold" nodeType="withEffect">
                                  <p:stCondLst>
                                    <p:cond delay="500"/>
                                  </p:stCondLst>
                                  <p:childTnLst>
                                    <p:set>
                                      <p:cBhvr>
                                        <p:cTn id="52" dur="1" fill="hold">
                                          <p:stCondLst>
                                            <p:cond delay="0"/>
                                          </p:stCondLst>
                                        </p:cTn>
                                        <p:tgtEl>
                                          <p:spTgt spid="82"/>
                                        </p:tgtEl>
                                        <p:attrNameLst>
                                          <p:attrName>style.visibility</p:attrName>
                                        </p:attrNameLst>
                                      </p:cBhvr>
                                      <p:to>
                                        <p:strVal val="visible"/>
                                      </p:to>
                                    </p:set>
                                    <p:anim calcmode="lin" valueType="num">
                                      <p:cBhvr additive="base">
                                        <p:cTn id="53" dur="500" fill="hold"/>
                                        <p:tgtEl>
                                          <p:spTgt spid="82"/>
                                        </p:tgtEl>
                                        <p:attrNameLst>
                                          <p:attrName>ppt_x</p:attrName>
                                        </p:attrNameLst>
                                      </p:cBhvr>
                                      <p:tavLst>
                                        <p:tav tm="0">
                                          <p:val>
                                            <p:strVal val="0-#ppt_w/2"/>
                                          </p:val>
                                        </p:tav>
                                        <p:tav tm="100000">
                                          <p:val>
                                            <p:strVal val="#ppt_x"/>
                                          </p:val>
                                        </p:tav>
                                      </p:tavLst>
                                    </p:anim>
                                    <p:anim calcmode="lin" valueType="num">
                                      <p:cBhvr additive="base">
                                        <p:cTn id="54" dur="500" fill="hold"/>
                                        <p:tgtEl>
                                          <p:spTgt spid="82"/>
                                        </p:tgtEl>
                                        <p:attrNameLst>
                                          <p:attrName>ppt_y</p:attrName>
                                        </p:attrNameLst>
                                      </p:cBhvr>
                                      <p:tavLst>
                                        <p:tav tm="0">
                                          <p:val>
                                            <p:strVal val="1+#ppt_h/2"/>
                                          </p:val>
                                        </p:tav>
                                        <p:tav tm="100000">
                                          <p:val>
                                            <p:strVal val="#ppt_y"/>
                                          </p:val>
                                        </p:tav>
                                      </p:tavLst>
                                    </p:anim>
                                  </p:childTnLst>
                                </p:cTn>
                              </p:par>
                              <p:par>
                                <p:cTn id="55" presetID="45" presetClass="entr" presetSubtype="0" fill="hold" nodeType="withEffect">
                                  <p:stCondLst>
                                    <p:cond delay="100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2000"/>
                                        <p:tgtEl>
                                          <p:spTgt spid="96"/>
                                        </p:tgtEl>
                                      </p:cBhvr>
                                    </p:animEffect>
                                    <p:anim calcmode="lin" valueType="num">
                                      <p:cBhvr>
                                        <p:cTn id="58" dur="2000" fill="hold"/>
                                        <p:tgtEl>
                                          <p:spTgt spid="96"/>
                                        </p:tgtEl>
                                        <p:attrNameLst>
                                          <p:attrName>ppt_w</p:attrName>
                                        </p:attrNameLst>
                                      </p:cBhvr>
                                      <p:tavLst>
                                        <p:tav tm="0" fmla="#ppt_w*sin(2.5*pi*$)">
                                          <p:val>
                                            <p:fltVal val="0"/>
                                          </p:val>
                                        </p:tav>
                                        <p:tav tm="100000">
                                          <p:val>
                                            <p:fltVal val="1"/>
                                          </p:val>
                                        </p:tav>
                                      </p:tavLst>
                                    </p:anim>
                                    <p:anim calcmode="lin" valueType="num">
                                      <p:cBhvr>
                                        <p:cTn id="59" dur="2000" fill="hold"/>
                                        <p:tgtEl>
                                          <p:spTgt spid="96"/>
                                        </p:tgtEl>
                                        <p:attrNameLst>
                                          <p:attrName>ppt_h</p:attrName>
                                        </p:attrNameLst>
                                      </p:cBhvr>
                                      <p:tavLst>
                                        <p:tav tm="0">
                                          <p:val>
                                            <p:strVal val="#ppt_h"/>
                                          </p:val>
                                        </p:tav>
                                        <p:tav tm="100000">
                                          <p:val>
                                            <p:strVal val="#ppt_h"/>
                                          </p:val>
                                        </p:tav>
                                      </p:tavLst>
                                    </p:anim>
                                  </p:childTnLst>
                                </p:cTn>
                              </p:par>
                              <p:par>
                                <p:cTn id="60" presetID="45" presetClass="entr" presetSubtype="0" fill="hold" grpId="0" nodeType="withEffect">
                                  <p:stCondLst>
                                    <p:cond delay="1000"/>
                                  </p:stCondLst>
                                  <p:childTnLst>
                                    <p:set>
                                      <p:cBhvr>
                                        <p:cTn id="61" dur="1" fill="hold">
                                          <p:stCondLst>
                                            <p:cond delay="0"/>
                                          </p:stCondLst>
                                        </p:cTn>
                                        <p:tgtEl>
                                          <p:spTgt spid="100"/>
                                        </p:tgtEl>
                                        <p:attrNameLst>
                                          <p:attrName>style.visibility</p:attrName>
                                        </p:attrNameLst>
                                      </p:cBhvr>
                                      <p:to>
                                        <p:strVal val="visible"/>
                                      </p:to>
                                    </p:set>
                                    <p:animEffect transition="in" filter="fade">
                                      <p:cBhvr>
                                        <p:cTn id="62" dur="2000"/>
                                        <p:tgtEl>
                                          <p:spTgt spid="100"/>
                                        </p:tgtEl>
                                      </p:cBhvr>
                                    </p:animEffect>
                                    <p:anim calcmode="lin" valueType="num">
                                      <p:cBhvr>
                                        <p:cTn id="63" dur="2000" fill="hold"/>
                                        <p:tgtEl>
                                          <p:spTgt spid="100"/>
                                        </p:tgtEl>
                                        <p:attrNameLst>
                                          <p:attrName>ppt_w</p:attrName>
                                        </p:attrNameLst>
                                      </p:cBhvr>
                                      <p:tavLst>
                                        <p:tav tm="0" fmla="#ppt_w*sin(2.5*pi*$)">
                                          <p:val>
                                            <p:fltVal val="0"/>
                                          </p:val>
                                        </p:tav>
                                        <p:tav tm="100000">
                                          <p:val>
                                            <p:fltVal val="1"/>
                                          </p:val>
                                        </p:tav>
                                      </p:tavLst>
                                    </p:anim>
                                    <p:anim calcmode="lin" valueType="num">
                                      <p:cBhvr>
                                        <p:cTn id="64" dur="2000" fill="hold"/>
                                        <p:tgtEl>
                                          <p:spTgt spid="100"/>
                                        </p:tgtEl>
                                        <p:attrNameLst>
                                          <p:attrName>ppt_h</p:attrName>
                                        </p:attrNameLst>
                                      </p:cBhvr>
                                      <p:tavLst>
                                        <p:tav tm="0">
                                          <p:val>
                                            <p:strVal val="#ppt_h"/>
                                          </p:val>
                                        </p:tav>
                                        <p:tav tm="100000">
                                          <p:val>
                                            <p:strVal val="#ppt_h"/>
                                          </p:val>
                                        </p:tav>
                                      </p:tavLst>
                                    </p:anim>
                                  </p:childTnLst>
                                </p:cTn>
                              </p:par>
                              <p:par>
                                <p:cTn id="65" presetID="45" presetClass="entr" presetSubtype="0" fill="hold" grpId="0" nodeType="withEffect">
                                  <p:stCondLst>
                                    <p:cond delay="1000"/>
                                  </p:stCondLst>
                                  <p:childTnLst>
                                    <p:set>
                                      <p:cBhvr>
                                        <p:cTn id="66" dur="1" fill="hold">
                                          <p:stCondLst>
                                            <p:cond delay="0"/>
                                          </p:stCondLst>
                                        </p:cTn>
                                        <p:tgtEl>
                                          <p:spTgt spid="101"/>
                                        </p:tgtEl>
                                        <p:attrNameLst>
                                          <p:attrName>style.visibility</p:attrName>
                                        </p:attrNameLst>
                                      </p:cBhvr>
                                      <p:to>
                                        <p:strVal val="visible"/>
                                      </p:to>
                                    </p:set>
                                    <p:animEffect transition="in" filter="fade">
                                      <p:cBhvr>
                                        <p:cTn id="67" dur="2000"/>
                                        <p:tgtEl>
                                          <p:spTgt spid="101"/>
                                        </p:tgtEl>
                                      </p:cBhvr>
                                    </p:animEffect>
                                    <p:anim calcmode="lin" valueType="num">
                                      <p:cBhvr>
                                        <p:cTn id="68" dur="2000" fill="hold"/>
                                        <p:tgtEl>
                                          <p:spTgt spid="101"/>
                                        </p:tgtEl>
                                        <p:attrNameLst>
                                          <p:attrName>ppt_w</p:attrName>
                                        </p:attrNameLst>
                                      </p:cBhvr>
                                      <p:tavLst>
                                        <p:tav tm="0" fmla="#ppt_w*sin(2.5*pi*$)">
                                          <p:val>
                                            <p:fltVal val="0"/>
                                          </p:val>
                                        </p:tav>
                                        <p:tav tm="100000">
                                          <p:val>
                                            <p:fltVal val="1"/>
                                          </p:val>
                                        </p:tav>
                                      </p:tavLst>
                                    </p:anim>
                                    <p:anim calcmode="lin" valueType="num">
                                      <p:cBhvr>
                                        <p:cTn id="69" dur="2000" fill="hold"/>
                                        <p:tgtEl>
                                          <p:spTgt spid="101"/>
                                        </p:tgtEl>
                                        <p:attrNameLst>
                                          <p:attrName>ppt_h</p:attrName>
                                        </p:attrNameLst>
                                      </p:cBhvr>
                                      <p:tavLst>
                                        <p:tav tm="0">
                                          <p:val>
                                            <p:strVal val="#ppt_h"/>
                                          </p:val>
                                        </p:tav>
                                        <p:tav tm="100000">
                                          <p:val>
                                            <p:strVal val="#ppt_h"/>
                                          </p:val>
                                        </p:tav>
                                      </p:tavLst>
                                    </p:anim>
                                  </p:childTnLst>
                                </p:cTn>
                              </p:par>
                            </p:childTnLst>
                          </p:cTn>
                        </p:par>
                        <p:par>
                          <p:cTn id="70" fill="hold">
                            <p:stCondLst>
                              <p:cond delay="3500"/>
                            </p:stCondLst>
                            <p:childTnLst>
                              <p:par>
                                <p:cTn id="71" presetID="22" presetClass="entr" presetSubtype="8" fill="hold" grpId="0" nodeType="afterEffect">
                                  <p:stCondLst>
                                    <p:cond delay="0"/>
                                  </p:stCondLst>
                                  <p:childTnLst>
                                    <p:set>
                                      <p:cBhvr>
                                        <p:cTn id="72" dur="1" fill="hold">
                                          <p:stCondLst>
                                            <p:cond delay="0"/>
                                          </p:stCondLst>
                                        </p:cTn>
                                        <p:tgtEl>
                                          <p:spTgt spid="103"/>
                                        </p:tgtEl>
                                        <p:attrNameLst>
                                          <p:attrName>style.visibility</p:attrName>
                                        </p:attrNameLst>
                                      </p:cBhvr>
                                      <p:to>
                                        <p:strVal val="visible"/>
                                      </p:to>
                                    </p:set>
                                    <p:animEffect transition="in" filter="wipe(left)">
                                      <p:cBhvr>
                                        <p:cTn id="7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bldLvl="0" animBg="1"/>
      <p:bldP spid="56" grpId="0"/>
      <p:bldP spid="58" grpId="0"/>
      <p:bldP spid="64" grpId="0" bldLvl="0" animBg="1"/>
      <p:bldP spid="70" grpId="0" bldLvl="0" animBg="1"/>
      <p:bldP spid="100" grpId="0" bldLvl="0" animBg="1"/>
      <p:bldP spid="101" grpId="0" bldLvl="0" animBg="1"/>
      <p:bldP spid="103"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UNIT_PLACING_PICTURE_USER_VIEWPORT" val="{&quot;height&quot;:4536,&quot;width&quot;:2784}"/>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UNIT_TABLE_BEAUTIFY" val="smartTable{d34f4ea7-5554-4b63-9e02-348fdd0c46c1}"/>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ISPRING_PRESENTATION_TITLE" val="7357.pptx"/>
  <p:tag name="commondata" val="eyJoZGlkIjoiNzE3ZDg2NGE0YmQ3Zjc0ZTIzYmM0ZmQ1MzgxZjRjZGIifQ=="/>
  <p:tag name="KSO_WPP_MARK_KEY" val="c11e879e-8979-4637-aee8-bb631085e125"/>
  <p:tag name="COMMONDATA" val="eyJoZGlkIjoiMWUyZmJlYjMwZjQxYjViOTNiYWM0NWNmNjNlMzRiOTgifQ=="/>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5377</Words>
  <Application>WPS 演示</Application>
  <PresentationFormat>全屏显示(4:3)</PresentationFormat>
  <Paragraphs>429</Paragraphs>
  <Slides>51</Slides>
  <Notes>23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51</vt:i4>
      </vt:variant>
    </vt:vector>
  </HeadingPairs>
  <TitlesOfParts>
    <vt:vector size="65" baseType="lpstr">
      <vt:lpstr>Arial</vt:lpstr>
      <vt:lpstr>宋体</vt:lpstr>
      <vt:lpstr>Wingdings</vt:lpstr>
      <vt:lpstr>微软雅黑</vt:lpstr>
      <vt:lpstr>华文行楷</vt:lpstr>
      <vt:lpstr>楷体</vt:lpstr>
      <vt:lpstr>Times New Roman</vt:lpstr>
      <vt:lpstr>Impact</vt:lpstr>
      <vt:lpstr>Calibri</vt:lpstr>
      <vt:lpstr>Arial Unicode MS</vt:lpstr>
      <vt:lpstr>Calibri Light</vt:lpstr>
      <vt:lpstr>PMingLiU</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7357.pptx</dc:title>
  <dc:creator/>
  <cp:lastModifiedBy>WPS_1628387001</cp:lastModifiedBy>
  <cp:revision>87</cp:revision>
  <dcterms:created xsi:type="dcterms:W3CDTF">2017-07-09T13:36:00Z</dcterms:created>
  <dcterms:modified xsi:type="dcterms:W3CDTF">2025-10-18T13:08:55Z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A17B4F9908C1486E9DFC2FBB24CF5C04</vt:lpwstr>
  </property>
  <property fmtid="{D5CDD505-2E9C-101B-9397-08002B2CF9AE}" pid="3" name="KSOProductBuildVer">
    <vt:lpwstr>2052-12.1.0.23125</vt:lpwstr>
  </property>
</Properties>
</file>