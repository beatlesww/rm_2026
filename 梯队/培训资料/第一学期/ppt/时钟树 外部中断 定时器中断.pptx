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sldIdLst>
    <p:sldId id="349" r:id="rId3"/>
    <p:sldId id="257" r:id="rId5"/>
    <p:sldId id="258" r:id="rId6"/>
    <p:sldId id="509" r:id="rId7"/>
    <p:sldId id="497" r:id="rId8"/>
    <p:sldId id="498" r:id="rId9"/>
    <p:sldId id="495" r:id="rId10"/>
    <p:sldId id="496" r:id="rId11"/>
    <p:sldId id="508" r:id="rId12"/>
    <p:sldId id="517" r:id="rId13"/>
    <p:sldId id="540" r:id="rId14"/>
    <p:sldId id="518" r:id="rId15"/>
    <p:sldId id="510" r:id="rId16"/>
    <p:sldId id="516" r:id="rId17"/>
    <p:sldId id="259" r:id="rId18"/>
    <p:sldId id="304" r:id="rId19"/>
    <p:sldId id="428" r:id="rId20"/>
    <p:sldId id="430" r:id="rId21"/>
    <p:sldId id="453" r:id="rId22"/>
    <p:sldId id="515" r:id="rId23"/>
    <p:sldId id="431" r:id="rId24"/>
    <p:sldId id="559" r:id="rId25"/>
    <p:sldId id="260" r:id="rId26"/>
    <p:sldId id="569" r:id="rId27"/>
    <p:sldId id="352" r:id="rId28"/>
    <p:sldId id="576" r:id="rId29"/>
    <p:sldId id="577" r:id="rId30"/>
    <p:sldId id="578" r:id="rId31"/>
    <p:sldId id="593" r:id="rId32"/>
    <p:sldId id="579" r:id="rId33"/>
    <p:sldId id="580" r:id="rId34"/>
    <p:sldId id="581" r:id="rId35"/>
    <p:sldId id="587" r:id="rId36"/>
    <p:sldId id="616" r:id="rId37"/>
    <p:sldId id="261" r:id="rId38"/>
    <p:sldId id="323" r:id="rId39"/>
    <p:sldId id="454" r:id="rId40"/>
    <p:sldId id="475" r:id="rId41"/>
    <p:sldId id="597" r:id="rId42"/>
    <p:sldId id="596" r:id="rId43"/>
    <p:sldId id="594" r:id="rId44"/>
    <p:sldId id="598" r:id="rId45"/>
    <p:sldId id="599" r:id="rId46"/>
    <p:sldId id="600" r:id="rId47"/>
    <p:sldId id="601" r:id="rId48"/>
    <p:sldId id="602" r:id="rId49"/>
    <p:sldId id="613" r:id="rId50"/>
    <p:sldId id="603" r:id="rId51"/>
    <p:sldId id="615" r:id="rId52"/>
    <p:sldId id="370" r:id="rId53"/>
  </p:sldIdLst>
  <p:sldSz cx="9144000" cy="6858000" type="screen4x3"/>
  <p:notesSz cx="6858000" cy="9144000"/>
  <p:custDataLst>
    <p:tags r:id="rId5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 initials="c"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0070C0"/>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43" autoAdjust="0"/>
    <p:restoredTop sz="92697" autoAdjust="0"/>
  </p:normalViewPr>
  <p:slideViewPr>
    <p:cSldViewPr snapToGrid="0" showGuides="1">
      <p:cViewPr varScale="1">
        <p:scale>
          <a:sx n="59" d="100"/>
          <a:sy n="59" d="100"/>
        </p:scale>
        <p:origin x="1674" y="60"/>
      </p:cViewPr>
      <p:guideLst>
        <p:guide orient="horz" pos="412"/>
        <p:guide pos="5486"/>
        <p:guide pos="384"/>
        <p:guide orient="horz" pos="3990"/>
      </p:guideLst>
    </p:cSldViewPr>
  </p:slideViewPr>
  <p:notesTextViewPr>
    <p:cViewPr>
      <p:scale>
        <a:sx n="1" d="1"/>
        <a:sy n="1" d="1"/>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8" Type="http://schemas.openxmlformats.org/officeDocument/2006/relationships/tags" Target="tags/tag84.xml"/><Relationship Id="rId57" Type="http://schemas.openxmlformats.org/officeDocument/2006/relationships/commentAuthors" Target="commentAuthors.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1T20:28:4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573 843,'2'0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1T20:28:4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543 849,'2'0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1T20:28:4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550 845,'3'-2,"0"1,0 1,0 0,0-1,0 1,1 0,-1 0,1 0,-1 0,1 0,-1 0,0 0,0 0,0 0,0 0,1 0,-1 0,1 0,-1 0,0 0,1 0,-1 0,0 0,1 0,0 0,-1 0,1 0,0 0,0 0,-1 0,1 0,-1 0,0 0,0 0,0 0,1 0,-1 0,0 0,0 0,0 0,0 0,0 0,0 0,0 0,0 0,0 0,0 1,0 0,0-1,0 1,0-1,0 0,0 1,0-1,0 0,0 0,0 0,0 0,0 0,0 0,2 0,-2 0,0 0,0 0,0 0,1 0,-1 0,1 0,-1 0,0-1,0 0,3 1,-3-1,0 1,0-1,2 1,-2-1,0 0,0 1,2 0,-2 0,1 0,2 0,-3 0,0 0,0 0,0-1,1 1,-1 0,0-1,0 1,0 0,0 0,0 0,0 0,0 0,0 0,0 0,0 0,0 0,0 0,1 0,-1 0,0 0,0 0,0 0,0-1</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1T20:28:4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64 797,'3'0,"0"0,0 0,0 0,0 0,0 0,7 0,-6 0,-1 0,0 0,0 0,0 0,0 0,0 0,1 0,0 0,-1 0,0 0,2 0,-1 0,-1 0,0 0,0 0,0 0,3 0,-2 0,-1 0,0 0,0 0,4 1,-4-1,0 0,0 0,1 0,-1 0,4 0,-4 0,0 0,0 0,0 0,0 0,0 0,1 0,0 0,-1 0,0 0,0 0,0 0,0 0,0 0,0 0,0 0,1 0,-1-1,0 1,0 0,0 0,0 0,0 0,0 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1T20:28:4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33 875,'3'0,"0"0,0 0,0 0,0 0,0 0,0 0,0 0,0 0,0 0,0 1,0-1,0 0,0 0,0 0,0 0,1 0,-1 0,2 0,-2 0,0 0,0 0,0 0,0 0,0 0,0 0,0 0,0 0,0 0,0 0,0 1,0-1,0 0,0 1,1-1,-1 0,1 1,-1-1,0 0,0 0,0 0,0 0,0 0,0 0,0 0,0 0,1 0,-1 0,0 0,0 1,0-1,2 1,-2-1,0 1,0-1,0 0,0 0,0 0,0 0,0 0,0 0,0 0,0 0,0 0,1 0,-1 0,2 0,-2 0,0 0,0 0,0 0,0 0,0 0,0 0,0 0,0 0,0 0,0 0,0 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1T20:28:4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248 877,'1'3,"1"0,-2 0,1 0,0 0,0 0,0 0,0 0,-1 0,0 2,1-2,-1 0,0 0,0 0,0 0,0 0,0 0,0 0,0 0,0 0,0 0,0 0,0 0,0 0,0 0,0 0,1 0,-1 0,1 1,-1-1,0 0,1 1,-1 0,0-1,0 0,0 0,0 0,0 0,0 0,0 0,0 0,0 0,0 1,0-1,-1 0,0 0,1 1,0-1,-1 0,1 0,0 0,3-1,0-1,0 1,0-1,2 1,-2-2,0 0,0 1,2 1,-1-2,-1 0,0 1,2 0,-2-1,0 1,0-1,1 0,0 1,0-1,0 0,-1 0,3 1,-3-1,0 0,0 0,0 0,0 1,0-1,0 0,0 0,1-1,-1 1,0 0,0 0,0 0,0 0,2 0,-2 0,0 0,0 0,0 0,1 0,-1 0,0 0,1 0,-1 0,0 0,0 0,0 0,0 0,0 0,0 0,0 0,0 0,3 0,-3 0,0 0,0 0,2 0,-2 0,0 0,0 0,1 0,-1 0,0 0,1 0,-1 0,0 0,0 0,0 0,0 0,0 0,0 0,1 0,-1 0,1 0,0 0,0 0,2 0,-3 0,0 0,0 0,2 0,-2 0,0-1,0 1,3-1,-2 0,-1 1,1-1,-1 0,0 1,0-1,0 0,2 1,-2 0,1 0,-1-1,0 1,0-1,2 1,-2 0,0 0,0-1,1 1,-1 0,0 0,4 0,-4 0,1 0,-1 0,0 0,3 0,-3 0,0 0,0 0,4 0,-3 0,-1 0,0 0,0 0,0 0,0 0,0 0,0 0,0 0,0 0,1 0,0 0,-1 0,1 0,-1 0,5 0,-5 0,1 0,0 0,-1 0,0 0,3 0,-3 0,0 0,0 0,0 0,1 0,0 0,1 0,-1 0,0 0,-1 0,0 0,0 0,1 0,0 0,1 0,-2 0,3 0,-3 0,0-1,-3-2,0 0,-2 0,1 0,0 0,0 0,0 0,-1 0,1 0,0 0,0-3,0 3,0 0,1 0,-2-3,2 3,-1 0,1 0,0 0,0 0,0 0,0-3,0 3,0 0,0 0,0 0,0 0,0 0,0 0,0 0,0 0,0 0,0 0,0 0,0 0,0 0,0 0,3 3,0-1,0 1,0 0,0-1,0 0,1 1,-1 0,0 0,0-1,2 1,-2-1,0 1,1 0,-1 0,0-1,1 1,-1 0,0 0,0 0,0 0,0 0,0-1,0 1,0 0,0 0,0 0,0-2,0 2,1 0,-1 1</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1T20:28:4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1225 880,'5'0,"7"0,-8 0,-1 0,1 0,-1 0,0 0,0 0,1 0,-1 0,1 0,0 0,-1 0,1 0,0 0,0 0,0 0,1 0,-1 0,-1 0,1 0,0 0,0 0,1 0,-2 0,4 0,-4 0,1 0,-1 0,1 0,-1 0,5 0,-5 0,0 0,0 0,2 0,-2 0,0 0,0-1,0 0,0 1,1-1,-1 1,0 0,0-1,0 1,0 0,0 0,1 0,-1-1,0 1,0 0,0-1,0 1,0 0,0 0,0 0,0 0,0-1,0 1,1-1,-1 1,2 0,-2-1,0 1,0 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1T19:06:4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573 843,'2'0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1T19:06:4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543 849,'2'0</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1T19:06:4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550 845,'3'-2,"0"1,0 1,0 0,0-1,0 1,1 0,-1 0,1 0,-1 0,1 0,-1 0,0 0,0 0,0 0,0 0,1 0,-1 0,1 0,-1 0,0 0,1 0,-1 0,0 0,1 0,0 0,-1 0,1 0,0 0,0 0,-1 0,1 0,-1 0,0 0,0 0,0 0,1 0,-1 0,0 0,0 0,0 0,0 0,0 0,0 0,0 0,0 0,0 0,0 1,0 0,0-1,0 1,0-1,0 0,0 1,0-1,0 0,0 0,0 0,0 0,0 0,0 0,2 0,-2 0,0 0,0 0,0 0,1 0,-1 0,1 0,-1 0,0-1,0 0,3 1,-3-1,0 1,0-1,2 1,-2-1,0 0,0 1,2 0,-2 0,1 0,2 0,-3 0,0 0,0 0,0-1,1 1,-1 0,0-1,0 1,0 0,0 0,0 0,0 0,0 0,0 0,0 0,0 0,0 0,0 0,1 0,-1 0,0 0,0 0,0 0,0-1</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1T19:06:4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64 797,'3'0,"0"0,0 0,0 0,0 0,0 0,7 0,-6 0,-1 0,0 0,0 0,0 0,0 0,0 0,1 0,0 0,-1 0,0 0,2 0,-1 0,-1 0,0 0,0 0,0 0,3 0,-2 0,-1 0,0 0,0 0,4 1,-4-1,0 0,0 0,1 0,-1 0,4 0,-4 0,0 0,0 0,0 0,0 0,0 0,1 0,0 0,-1 0,0 0,0 0,0 0,0 0,0 0,0 0,0 0,1 0,-1-1,0 1,0 0,0 0,0 0,0 0,0 0</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1T19:06:4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33 875,'3'0,"0"0,0 0,0 0,0 0,0 0,0 0,0 0,0 0,0 0,0 1,0-1,0 0,0 0,0 0,0 0,1 0,-1 0,2 0,-2 0,0 0,0 0,0 0,0 0,0 0,0 0,0 0,0 0,0 0,0 0,0 1,0-1,0 0,0 1,1-1,-1 0,1 1,-1-1,0 0,0 0,0 0,0 0,0 0,0 0,0 0,0 0,1 0,-1 0,0 0,0 1,0-1,2 1,-2-1,0 1,0-1,0 0,0 0,0 0,0 0,0 0,0 0,0 0,0 0,0 0,1 0,-1 0,2 0,-2 0,0 0,0 0,0 0,0 0,0 0,0 0,0 0,0 0,0 0,0 0,0 0</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1T19:06:4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248 877,'1'3,"1"0,-2 0,1 0,0 0,0 0,0 0,0 0,-1 0,0 2,1-2,-1 0,0 0,0 0,0 0,0 0,0 0,0 0,0 0,0 0,0 0,0 0,0 0,0 0,0 0,0 0,1 0,-1 0,1 1,-1-1,0 0,1 1,-1 0,0-1,0 0,0 0,0 0,0 0,0 0,0 0,0 0,0 0,0 1,0-1,-1 0,0 0,1 1,0-1,-1 0,1 0,0 0,3-1,0-1,0 1,0-1,2 1,-2-2,0 0,0 1,2 1,-1-2,-1 0,0 1,2 0,-2-1,0 1,0-1,1 0,0 1,0-1,0 0,-1 0,3 1,-3-1,0 0,0 0,0 0,0 1,0-1,0 0,0 0,1-1,-1 1,0 0,0 0,0 0,0 0,2 0,-2 0,0 0,0 0,0 0,1 0,-1 0,0 0,1 0,-1 0,0 0,0 0,0 0,0 0,0 0,0 0,0 0,0 0,3 0,-3 0,0 0,0 0,2 0,-2 0,0 0,0 0,1 0,-1 0,0 0,1 0,-1 0,0 0,0 0,0 0,0 0,0 0,0 0,1 0,-1 0,1 0,0 0,0 0,2 0,-3 0,0 0,0 0,2 0,-2 0,0-1,0 1,3-1,-2 0,-1 1,1-1,-1 0,0 1,0-1,0 0,2 1,-2 0,1 0,-1-1,0 1,0-1,2 1,-2 0,0 0,0-1,1 1,-1 0,0 0,4 0,-4 0,1 0,-1 0,0 0,3 0,-3 0,0 0,0 0,4 0,-3 0,-1 0,0 0,0 0,0 0,0 0,0 0,0 0,0 0,0 0,1 0,0 0,-1 0,1 0,-1 0,5 0,-5 0,1 0,0 0,-1 0,0 0,3 0,-3 0,0 0,0 0,0 0,1 0,0 0,1 0,-1 0,0 0,-1 0,0 0,0 0,1 0,0 0,1 0,-2 0,3 0,-3 0,0-1,-3-2,0 0,-2 0,1 0,0 0,0 0,0 0,-1 0,1 0,0 0,0-3,0 3,0 0,1 0,-2-3,2 3,-1 0,1 0,0 0,0 0,0 0,0-3,0 3,0 0,0 0,0 0,0 0,0 0,0 0,0 0,0 0,0 0,0 0,0 0,0 0,0 0,0 0,3 3,0-1,0 1,0 0,0-1,0 0,1 1,-1 0,0 0,0-1,2 1,-2-1,0 1,1 0,-1 0,0-1,1 1,-1 0,0 0,0 0,0 0,0 0,0-1,0 1,0 0,0 0,0 0,0-2,0 2,1 0,-1 1</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1T19:06:4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1225 880,'5'0,"7"0,-8 0,-1 0,1 0,-1 0,0 0,0 0,1 0,-1 0,1 0,0 0,-1 0,1 0,0 0,0 0,0 0,1 0,-1 0,-1 0,1 0,0 0,0 0,1 0,-2 0,4 0,-4 0,1 0,-1 0,1 0,-1 0,5 0,-5 0,0 0,0 0,2 0,-2 0,0 0,0-1,0 0,0 1,1-1,-1 1,0 0,0-1,0 1,0 0,0 0,1 0,-1-1,0 1,0 0,0-1,0 1,0 0,0 0,0 0,0 0,0-1,0 1,1-1,-1 1,2 0,-2-1,0 1,0 0</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1T20:28:4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1651 906,'3'0,"0"0,0 0,0 0,0 0,0 0,0 0,0-1,0 0,1 0,-1 0,0 1,0-1,0 1,0 0,0-1,0 0,0 0,0 1,0-1,0 0,0 1,0-1,0 1,0 0,1 0,-1 0,1 0,-1 0,0 0,0 0,1 0,0 0,0 0,0 0,-1 0,0 0,2 0,-2 0,0 0,0 0,0 0,0 0,1 0,-1 0,0 0,0 0,0 0,0 0</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3T23:29:04"/>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802 843,'3'0,"0"0,2 0,-2 0,0 0,0 0,0 0,0 0,0 0,0 0,0 0,0 0,0 0,0 0,0 0,0 0,0 0,0 0,1 1,-1-1,0 0</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3T23:29:04"/>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865 822,'3'1,"-1"2,8 3,-8-3,1-1,0 0,0-1,-1 2,-5 0,0 0,0-2,0 1,0 0,0 0</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3T23:29:04"/>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1445 845,'3'-1,"0"1,0-1,2-1,1 1,0 0,-3 1,0 0,0-1,0 1,0-1,0 1,0-1,0 1,0-1,0 1,1 0,-1-1,8 2,-8-1,0 1</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1-23T23:29:04"/>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1518 812,'3'1,"-1"2,1 0,0-1,-2 1,4 1,-3 0,1-3,-2 2,2-1,-1 1,-5-1,0-1,0 0,-2 1,1-1,-6 1,-3 1,10-2,0-1,-1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AD77B4-E4B4-4D3C-A9C5-EB900FF3B15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AD5EBB-275F-4C24-B082-C5EEF143550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endParaRPr lang="zh-CN" altLang="en-US" dirty="0"/>
          </a:p>
          <a:p>
            <a:r>
              <a:rPr lang="en-US" altLang="zh-CN" dirty="0"/>
              <a:t>https://liangliangtuwen.tmall.com</a:t>
            </a:r>
            <a:endParaRPr lang="en-US" altLang="zh-CN" dirty="0"/>
          </a:p>
        </p:txBody>
      </p:sp>
      <p:sp>
        <p:nvSpPr>
          <p:cNvPr id="4" name="灯片编号占位符 3"/>
          <p:cNvSpPr>
            <a:spLocks noGrp="1"/>
          </p:cNvSpPr>
          <p:nvPr>
            <p:ph type="sldNum" sz="quarter" idx="10"/>
          </p:nvPr>
        </p:nvSpPr>
        <p:spPr/>
        <p:txBody>
          <a:bodyPr/>
          <a:lstStyle/>
          <a:p>
            <a:fld id="{84E6CF1A-E888-4A07-B96A-456D0CF6948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endParaRPr lang="zh-CN" altLang="en-US" dirty="0"/>
          </a:p>
          <a:p>
            <a:r>
              <a:rPr lang="en-US" altLang="zh-CN" dirty="0"/>
              <a:t>https://liangliangtuwen.tmall.com</a:t>
            </a:r>
            <a:endParaRPr lang="en-US" altLang="zh-CN" dirty="0"/>
          </a:p>
        </p:txBody>
      </p:sp>
      <p:sp>
        <p:nvSpPr>
          <p:cNvPr id="4" name="灯片编号占位符 3"/>
          <p:cNvSpPr>
            <a:spLocks noGrp="1"/>
          </p:cNvSpPr>
          <p:nvPr>
            <p:ph type="sldNum" sz="quarter" idx="10"/>
          </p:nvPr>
        </p:nvSpPr>
        <p:spPr/>
        <p:txBody>
          <a:bodyPr/>
          <a:lstStyle/>
          <a:p>
            <a:fld id="{84E6CF1A-E888-4A07-B96A-456D0CF6948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1D302F-5E2D-4FF9-A986-02603DCE6FDA}" type="datetimeFigureOut">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6CA248-7BE1-4335-B3FB-1E6869F2EC7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tags" Target="../tags/tag3.xml"/><Relationship Id="rId3" Type="http://schemas.openxmlformats.org/officeDocument/2006/relationships/image" Target="../media/image3.png"/><Relationship Id="rId2" Type="http://schemas.openxmlformats.org/officeDocument/2006/relationships/tags" Target="../tags/tag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9" Type="http://schemas.openxmlformats.org/officeDocument/2006/relationships/customXml" Target="../ink/ink2.xml"/><Relationship Id="rId8" Type="http://schemas.openxmlformats.org/officeDocument/2006/relationships/image" Target="../media/image9.png"/><Relationship Id="rId7" Type="http://schemas.openxmlformats.org/officeDocument/2006/relationships/customXml" Target="../ink/ink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image" Target="../media/image8.png"/><Relationship Id="rId23" Type="http://schemas.openxmlformats.org/officeDocument/2006/relationships/notesSlide" Target="../notesSlides/notesSlide7.xml"/><Relationship Id="rId22" Type="http://schemas.openxmlformats.org/officeDocument/2006/relationships/slideLayout" Target="../slideLayouts/slideLayout1.xml"/><Relationship Id="rId21" Type="http://schemas.openxmlformats.org/officeDocument/2006/relationships/tags" Target="../tags/tag7.xml"/><Relationship Id="rId20" Type="http://schemas.openxmlformats.org/officeDocument/2006/relationships/image" Target="../media/image15.png"/><Relationship Id="rId2" Type="http://schemas.openxmlformats.org/officeDocument/2006/relationships/image" Target="../media/image7.png"/><Relationship Id="rId19" Type="http://schemas.openxmlformats.org/officeDocument/2006/relationships/customXml" Target="../ink/ink7.xml"/><Relationship Id="rId18" Type="http://schemas.openxmlformats.org/officeDocument/2006/relationships/image" Target="../media/image14.png"/><Relationship Id="rId17" Type="http://schemas.openxmlformats.org/officeDocument/2006/relationships/customXml" Target="../ink/ink6.xml"/><Relationship Id="rId16" Type="http://schemas.openxmlformats.org/officeDocument/2006/relationships/image" Target="../media/image13.png"/><Relationship Id="rId15" Type="http://schemas.openxmlformats.org/officeDocument/2006/relationships/customXml" Target="../ink/ink5.xml"/><Relationship Id="rId14" Type="http://schemas.openxmlformats.org/officeDocument/2006/relationships/image" Target="../media/image12.png"/><Relationship Id="rId13" Type="http://schemas.openxmlformats.org/officeDocument/2006/relationships/customXml" Target="../ink/ink4.xml"/><Relationship Id="rId12" Type="http://schemas.openxmlformats.org/officeDocument/2006/relationships/image" Target="../media/image11.png"/><Relationship Id="rId11" Type="http://schemas.openxmlformats.org/officeDocument/2006/relationships/customXml" Target="../ink/ink3.xml"/><Relationship Id="rId10" Type="http://schemas.openxmlformats.org/officeDocument/2006/relationships/image" Target="../media/image10.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9" Type="http://schemas.openxmlformats.org/officeDocument/2006/relationships/customXml" Target="../ink/ink10.xml"/><Relationship Id="rId8" Type="http://schemas.openxmlformats.org/officeDocument/2006/relationships/image" Target="../media/image10.png"/><Relationship Id="rId7" Type="http://schemas.openxmlformats.org/officeDocument/2006/relationships/customXml" Target="../ink/ink9.xml"/><Relationship Id="rId6" Type="http://schemas.openxmlformats.org/officeDocument/2006/relationships/image" Target="../media/image9.png"/><Relationship Id="rId5" Type="http://schemas.openxmlformats.org/officeDocument/2006/relationships/customXml" Target="../ink/ink8.xml"/><Relationship Id="rId4" Type="http://schemas.openxmlformats.org/officeDocument/2006/relationships/tags" Target="../tags/tag8.xml"/><Relationship Id="rId3" Type="http://schemas.openxmlformats.org/officeDocument/2006/relationships/image" Target="../media/image8.png"/><Relationship Id="rId26" Type="http://schemas.openxmlformats.org/officeDocument/2006/relationships/notesSlide" Target="../notesSlides/notesSlide8.xml"/><Relationship Id="rId25" Type="http://schemas.openxmlformats.org/officeDocument/2006/relationships/slideLayout" Target="../slideLayouts/slideLayout1.xml"/><Relationship Id="rId24" Type="http://schemas.openxmlformats.org/officeDocument/2006/relationships/image" Target="../media/image18.png"/><Relationship Id="rId23" Type="http://schemas.openxmlformats.org/officeDocument/2006/relationships/image" Target="../media/image17.png"/><Relationship Id="rId22" Type="http://schemas.openxmlformats.org/officeDocument/2006/relationships/customXml" Target="../ink/ink15.xml"/><Relationship Id="rId21" Type="http://schemas.openxmlformats.org/officeDocument/2006/relationships/tags" Target="../tags/tag10.xml"/><Relationship Id="rId20" Type="http://schemas.openxmlformats.org/officeDocument/2006/relationships/image" Target="../media/image16.png"/><Relationship Id="rId2" Type="http://schemas.openxmlformats.org/officeDocument/2006/relationships/image" Target="../media/image7.png"/><Relationship Id="rId19" Type="http://schemas.openxmlformats.org/officeDocument/2006/relationships/tags" Target="../tags/tag9.xml"/><Relationship Id="rId18" Type="http://schemas.openxmlformats.org/officeDocument/2006/relationships/image" Target="../media/image15.png"/><Relationship Id="rId17" Type="http://schemas.openxmlformats.org/officeDocument/2006/relationships/customXml" Target="../ink/ink14.xml"/><Relationship Id="rId16" Type="http://schemas.openxmlformats.org/officeDocument/2006/relationships/image" Target="../media/image14.png"/><Relationship Id="rId15" Type="http://schemas.openxmlformats.org/officeDocument/2006/relationships/customXml" Target="../ink/ink13.xml"/><Relationship Id="rId14" Type="http://schemas.openxmlformats.org/officeDocument/2006/relationships/image" Target="../media/image13.png"/><Relationship Id="rId13" Type="http://schemas.openxmlformats.org/officeDocument/2006/relationships/customXml" Target="../ink/ink12.xml"/><Relationship Id="rId12" Type="http://schemas.openxmlformats.org/officeDocument/2006/relationships/image" Target="../media/image12.png"/><Relationship Id="rId11" Type="http://schemas.openxmlformats.org/officeDocument/2006/relationships/customXml" Target="../ink/ink11.xml"/><Relationship Id="rId10" Type="http://schemas.openxmlformats.org/officeDocument/2006/relationships/image" Target="../media/image11.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tags" Target="../tags/tag11.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tags" Target="../tags/tag12.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21.png"/><Relationship Id="rId2" Type="http://schemas.openxmlformats.org/officeDocument/2006/relationships/tags" Target="../tags/tag14.xml"/><Relationship Id="rId1" Type="http://schemas.openxmlformats.org/officeDocument/2006/relationships/tags" Target="../tags/tag13.xml"/></Relationships>
</file>

<file path=ppt/slides/_rels/slide12.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9" Type="http://schemas.openxmlformats.org/officeDocument/2006/relationships/notesSlide" Target="../notesSlides/notesSlide12.xml"/><Relationship Id="rId48" Type="http://schemas.openxmlformats.org/officeDocument/2006/relationships/slideLayout" Target="../slideLayouts/slideLayout1.xml"/><Relationship Id="rId47" Type="http://schemas.openxmlformats.org/officeDocument/2006/relationships/tags" Target="../tags/tag61.xml"/><Relationship Id="rId46" Type="http://schemas.openxmlformats.org/officeDocument/2006/relationships/tags" Target="../tags/tag60.xml"/><Relationship Id="rId45" Type="http://schemas.openxmlformats.org/officeDocument/2006/relationships/tags" Target="../tags/tag59.xml"/><Relationship Id="rId44" Type="http://schemas.openxmlformats.org/officeDocument/2006/relationships/tags" Target="../tags/tag58.xml"/><Relationship Id="rId43" Type="http://schemas.openxmlformats.org/officeDocument/2006/relationships/tags" Target="../tags/tag57.xml"/><Relationship Id="rId42" Type="http://schemas.openxmlformats.org/officeDocument/2006/relationships/tags" Target="../tags/tag56.xml"/><Relationship Id="rId41" Type="http://schemas.openxmlformats.org/officeDocument/2006/relationships/tags" Target="../tags/tag55.xml"/><Relationship Id="rId40" Type="http://schemas.openxmlformats.org/officeDocument/2006/relationships/tags" Target="../tags/tag54.xml"/><Relationship Id="rId4" Type="http://schemas.openxmlformats.org/officeDocument/2006/relationships/tags" Target="../tags/tag18.xml"/><Relationship Id="rId39" Type="http://schemas.openxmlformats.org/officeDocument/2006/relationships/tags" Target="../tags/tag53.xml"/><Relationship Id="rId38" Type="http://schemas.openxmlformats.org/officeDocument/2006/relationships/tags" Target="../tags/tag52.xml"/><Relationship Id="rId37" Type="http://schemas.openxmlformats.org/officeDocument/2006/relationships/tags" Target="../tags/tag51.xml"/><Relationship Id="rId36" Type="http://schemas.openxmlformats.org/officeDocument/2006/relationships/tags" Target="../tags/tag50.xml"/><Relationship Id="rId35" Type="http://schemas.openxmlformats.org/officeDocument/2006/relationships/tags" Target="../tags/tag49.xml"/><Relationship Id="rId34" Type="http://schemas.openxmlformats.org/officeDocument/2006/relationships/tags" Target="../tags/tag48.xml"/><Relationship Id="rId33" Type="http://schemas.openxmlformats.org/officeDocument/2006/relationships/tags" Target="../tags/tag47.xml"/><Relationship Id="rId32" Type="http://schemas.openxmlformats.org/officeDocument/2006/relationships/tags" Target="../tags/tag46.xml"/><Relationship Id="rId31" Type="http://schemas.openxmlformats.org/officeDocument/2006/relationships/tags" Target="../tags/tag45.xml"/><Relationship Id="rId30" Type="http://schemas.openxmlformats.org/officeDocument/2006/relationships/tags" Target="../tags/tag44.xml"/><Relationship Id="rId3" Type="http://schemas.openxmlformats.org/officeDocument/2006/relationships/tags" Target="../tags/tag17.xml"/><Relationship Id="rId29" Type="http://schemas.openxmlformats.org/officeDocument/2006/relationships/tags" Target="../tags/tag43.xml"/><Relationship Id="rId28" Type="http://schemas.openxmlformats.org/officeDocument/2006/relationships/tags" Target="../tags/tag42.xml"/><Relationship Id="rId27" Type="http://schemas.openxmlformats.org/officeDocument/2006/relationships/tags" Target="../tags/tag41.xml"/><Relationship Id="rId26" Type="http://schemas.openxmlformats.org/officeDocument/2006/relationships/tags" Target="../tags/tag40.xml"/><Relationship Id="rId25" Type="http://schemas.openxmlformats.org/officeDocument/2006/relationships/tags" Target="../tags/tag39.xml"/><Relationship Id="rId24" Type="http://schemas.openxmlformats.org/officeDocument/2006/relationships/tags" Target="../tags/tag38.xml"/><Relationship Id="rId23" Type="http://schemas.openxmlformats.org/officeDocument/2006/relationships/tags" Target="../tags/tag37.xml"/><Relationship Id="rId22" Type="http://schemas.openxmlformats.org/officeDocument/2006/relationships/tags" Target="../tags/tag36.xml"/><Relationship Id="rId21" Type="http://schemas.openxmlformats.org/officeDocument/2006/relationships/tags" Target="../tags/tag35.xml"/><Relationship Id="rId20" Type="http://schemas.openxmlformats.org/officeDocument/2006/relationships/tags" Target="../tags/tag34.xml"/><Relationship Id="rId2" Type="http://schemas.openxmlformats.org/officeDocument/2006/relationships/tags" Target="../tags/tag16.xml"/><Relationship Id="rId19" Type="http://schemas.openxmlformats.org/officeDocument/2006/relationships/tags" Target="../tags/tag33.xml"/><Relationship Id="rId18" Type="http://schemas.openxmlformats.org/officeDocument/2006/relationships/tags" Target="../tags/tag32.xml"/><Relationship Id="rId17" Type="http://schemas.openxmlformats.org/officeDocument/2006/relationships/tags" Target="../tags/tag31.xml"/><Relationship Id="rId16" Type="http://schemas.openxmlformats.org/officeDocument/2006/relationships/tags" Target="../tags/tag30.xml"/><Relationship Id="rId15" Type="http://schemas.openxmlformats.org/officeDocument/2006/relationships/tags" Target="../tags/tag29.xml"/><Relationship Id="rId14" Type="http://schemas.openxmlformats.org/officeDocument/2006/relationships/tags" Target="../tags/tag28.xml"/><Relationship Id="rId13" Type="http://schemas.openxmlformats.org/officeDocument/2006/relationships/tags" Target="../tags/tag27.xml"/><Relationship Id="rId12" Type="http://schemas.openxmlformats.org/officeDocument/2006/relationships/tags" Target="../tags/tag26.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tags" Target="../tags/tag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22.png"/><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6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6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64.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tags" Target="../tags/tag66.xml"/><Relationship Id="rId1" Type="http://schemas.openxmlformats.org/officeDocument/2006/relationships/tags" Target="../tags/tag6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xml"/><Relationship Id="rId3" Type="http://schemas.openxmlformats.org/officeDocument/2006/relationships/image" Target="../media/image25.png"/><Relationship Id="rId2" Type="http://schemas.openxmlformats.org/officeDocument/2006/relationships/tags" Target="../tags/tag68.xml"/><Relationship Id="rId1" Type="http://schemas.openxmlformats.org/officeDocument/2006/relationships/tags" Target="../tags/tag6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27.png"/><Relationship Id="rId1" Type="http://schemas.openxmlformats.org/officeDocument/2006/relationships/tags" Target="../tags/tag69.xm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tags" Target="../tags/tag70.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32.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image" Target="../media/image33.png"/><Relationship Id="rId1" Type="http://schemas.openxmlformats.org/officeDocument/2006/relationships/tags" Target="../tags/tag7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3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3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1.xml"/><Relationship Id="rId3" Type="http://schemas.openxmlformats.org/officeDocument/2006/relationships/image" Target="../media/image37.png"/><Relationship Id="rId2" Type="http://schemas.openxmlformats.org/officeDocument/2006/relationships/tags" Target="../tags/tag73.xml"/><Relationship Id="rId1" Type="http://schemas.openxmlformats.org/officeDocument/2006/relationships/tags" Target="../tags/tag72.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xml"/><Relationship Id="rId2" Type="http://schemas.openxmlformats.org/officeDocument/2006/relationships/tags" Target="../tags/tag75.xml"/><Relationship Id="rId1" Type="http://schemas.openxmlformats.org/officeDocument/2006/relationships/tags" Target="../tags/tag74.xml"/></Relationships>
</file>

<file path=ppt/slides/_rels/slide38.xml.rels><?xml version="1.0" encoding="UTF-8" standalone="yes"?>
<Relationships xmlns="http://schemas.openxmlformats.org/package/2006/relationships"><Relationship Id="rId9" Type="http://schemas.openxmlformats.org/officeDocument/2006/relationships/customXml" Target="../ink/ink16.xml"/><Relationship Id="rId8" Type="http://schemas.openxmlformats.org/officeDocument/2006/relationships/image" Target="../media/image38.png"/><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image" Target="../media/image8.png"/><Relationship Id="rId4" Type="http://schemas.openxmlformats.org/officeDocument/2006/relationships/tags" Target="../tags/tag78.xml"/><Relationship Id="rId3" Type="http://schemas.openxmlformats.org/officeDocument/2006/relationships/image" Target="../media/image3.png"/><Relationship Id="rId20" Type="http://schemas.openxmlformats.org/officeDocument/2006/relationships/notesSlide" Target="../notesSlides/notesSlide38.xml"/><Relationship Id="rId2" Type="http://schemas.openxmlformats.org/officeDocument/2006/relationships/tags" Target="../tags/tag77.xml"/><Relationship Id="rId19" Type="http://schemas.openxmlformats.org/officeDocument/2006/relationships/slideLayout" Target="../slideLayouts/slideLayout1.xml"/><Relationship Id="rId18" Type="http://schemas.openxmlformats.org/officeDocument/2006/relationships/tags" Target="../tags/tag82.xml"/><Relationship Id="rId17" Type="http://schemas.openxmlformats.org/officeDocument/2006/relationships/tags" Target="../tags/tag81.xml"/><Relationship Id="rId16" Type="http://schemas.openxmlformats.org/officeDocument/2006/relationships/image" Target="../media/image42.png"/><Relationship Id="rId15" Type="http://schemas.openxmlformats.org/officeDocument/2006/relationships/customXml" Target="../ink/ink19.xml"/><Relationship Id="rId14" Type="http://schemas.openxmlformats.org/officeDocument/2006/relationships/image" Target="../media/image41.png"/><Relationship Id="rId13" Type="http://schemas.openxmlformats.org/officeDocument/2006/relationships/customXml" Target="../ink/ink18.xml"/><Relationship Id="rId12" Type="http://schemas.openxmlformats.org/officeDocument/2006/relationships/image" Target="../media/image40.png"/><Relationship Id="rId11" Type="http://schemas.openxmlformats.org/officeDocument/2006/relationships/customXml" Target="../ink/ink17.xml"/><Relationship Id="rId10" Type="http://schemas.openxmlformats.org/officeDocument/2006/relationships/image" Target="../media/image39.png"/><Relationship Id="rId1" Type="http://schemas.openxmlformats.org/officeDocument/2006/relationships/tags" Target="../tags/tag76.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43.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image" Target="../media/image44.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45.png"/></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slideLayout" Target="../slideLayouts/slideLayout1.xml"/><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46.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49.png"/></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slideLayout" Target="../slideLayouts/slideLayout1.xml"/><Relationship Id="rId3" Type="http://schemas.openxmlformats.org/officeDocument/2006/relationships/image" Target="../media/image51.png"/><Relationship Id="rId2" Type="http://schemas.openxmlformats.org/officeDocument/2006/relationships/tags" Target="../tags/tag83.xml"/><Relationship Id="rId1" Type="http://schemas.openxmlformats.org/officeDocument/2006/relationships/image" Target="../media/image50.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image" Target="../media/image52.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1.xml"/><Relationship Id="rId2" Type="http://schemas.openxmlformats.org/officeDocument/2006/relationships/image" Target="../media/image54.png"/><Relationship Id="rId1" Type="http://schemas.openxmlformats.org/officeDocument/2006/relationships/image" Target="../media/image53.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55.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image" Target="../media/image53.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53" name="矩形 52"/>
          <p:cNvSpPr/>
          <p:nvPr/>
        </p:nvSpPr>
        <p:spPr>
          <a:xfrm>
            <a:off x="-17145" y="2402852"/>
            <a:ext cx="9161315" cy="2105686"/>
          </a:xfrm>
          <a:prstGeom prst="rect">
            <a:avLst/>
          </a:prstGeom>
          <a:solidFill>
            <a:srgbClr val="5B5E7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4" name="矩形 23"/>
          <p:cNvSpPr/>
          <p:nvPr/>
        </p:nvSpPr>
        <p:spPr>
          <a:xfrm>
            <a:off x="3600145" y="2526185"/>
            <a:ext cx="5561170" cy="1931695"/>
          </a:xfrm>
          <a:custGeom>
            <a:avLst/>
            <a:gdLst>
              <a:gd name="connsiteX0" fmla="*/ 0 w 6480720"/>
              <a:gd name="connsiteY0" fmla="*/ 0 h 3104728"/>
              <a:gd name="connsiteX1" fmla="*/ 6480720 w 6480720"/>
              <a:gd name="connsiteY1" fmla="*/ 0 h 3104728"/>
              <a:gd name="connsiteX2" fmla="*/ 6480720 w 6480720"/>
              <a:gd name="connsiteY2" fmla="*/ 3104728 h 3104728"/>
              <a:gd name="connsiteX3" fmla="*/ 0 w 6480720"/>
              <a:gd name="connsiteY3" fmla="*/ 3104728 h 3104728"/>
              <a:gd name="connsiteX4" fmla="*/ 0 w 6480720"/>
              <a:gd name="connsiteY4" fmla="*/ 0 h 3104728"/>
              <a:gd name="connsiteX0-1" fmla="*/ 1190065 w 6480720"/>
              <a:gd name="connsiteY0-2" fmla="*/ 0 h 3104728"/>
              <a:gd name="connsiteX1-3" fmla="*/ 6480720 w 6480720"/>
              <a:gd name="connsiteY1-4" fmla="*/ 0 h 3104728"/>
              <a:gd name="connsiteX2-5" fmla="*/ 6480720 w 6480720"/>
              <a:gd name="connsiteY2-6" fmla="*/ 3104728 h 3104728"/>
              <a:gd name="connsiteX3-7" fmla="*/ 0 w 6480720"/>
              <a:gd name="connsiteY3-8" fmla="*/ 3104728 h 3104728"/>
              <a:gd name="connsiteX4-9" fmla="*/ 1190065 w 6480720"/>
              <a:gd name="connsiteY4-10" fmla="*/ 0 h 310472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80720" h="3104728">
                <a:moveTo>
                  <a:pt x="1190065" y="0"/>
                </a:moveTo>
                <a:lnTo>
                  <a:pt x="6480720" y="0"/>
                </a:lnTo>
                <a:lnTo>
                  <a:pt x="6480720" y="3104728"/>
                </a:lnTo>
                <a:lnTo>
                  <a:pt x="0" y="3104728"/>
                </a:lnTo>
                <a:lnTo>
                  <a:pt x="1190065" y="0"/>
                </a:lnTo>
                <a:close/>
              </a:path>
            </a:pathLst>
          </a:custGeom>
          <a:solidFill>
            <a:srgbClr val="414455">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6" name="TextBox 7"/>
          <p:cNvSpPr>
            <a:spLocks noChangeArrowheads="1"/>
          </p:cNvSpPr>
          <p:nvPr/>
        </p:nvSpPr>
        <p:spPr bwMode="auto">
          <a:xfrm>
            <a:off x="4356032" y="2856452"/>
            <a:ext cx="4697299"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45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电控组 培训</a:t>
            </a:r>
            <a:endParaRPr lang="zh-CN" altLang="en-US" sz="45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7" name="直接连接符 56"/>
          <p:cNvCxnSpPr/>
          <p:nvPr/>
        </p:nvCxnSpPr>
        <p:spPr>
          <a:xfrm>
            <a:off x="4949943" y="3622761"/>
            <a:ext cx="3671452" cy="0"/>
          </a:xfrm>
          <a:prstGeom prst="line">
            <a:avLst/>
          </a:prstGeom>
          <a:ln w="1905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58" name="TextBox 7"/>
          <p:cNvSpPr>
            <a:spLocks noChangeArrowheads="1"/>
          </p:cNvSpPr>
          <p:nvPr/>
        </p:nvSpPr>
        <p:spPr bwMode="auto">
          <a:xfrm>
            <a:off x="6329861" y="3689185"/>
            <a:ext cx="3293508"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en-US" altLang="zh-CN" sz="1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aurora</a:t>
            </a:r>
            <a:r>
              <a:rPr lang="zh-CN" altLang="en-US" sz="1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战队</a:t>
            </a:r>
            <a:endParaRPr lang="zh-CN" altLang="en-US" sz="1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9" name="组合 58"/>
          <p:cNvGrpSpPr/>
          <p:nvPr/>
        </p:nvGrpSpPr>
        <p:grpSpPr>
          <a:xfrm>
            <a:off x="5435871" y="1821826"/>
            <a:ext cx="502789" cy="453322"/>
            <a:chOff x="5424755" y="1340768"/>
            <a:chExt cx="670560" cy="604586"/>
          </a:xfrm>
        </p:grpSpPr>
        <p:grpSp>
          <p:nvGrpSpPr>
            <p:cNvPr id="60" name="组合 59"/>
            <p:cNvGrpSpPr/>
            <p:nvPr/>
          </p:nvGrpSpPr>
          <p:grpSpPr>
            <a:xfrm>
              <a:off x="5424755" y="1340768"/>
              <a:ext cx="670560" cy="604586"/>
              <a:chOff x="3720691" y="2824413"/>
              <a:chExt cx="1341120" cy="1209172"/>
            </a:xfrm>
          </p:grpSpPr>
          <p:sp>
            <p:nvSpPr>
              <p:cNvPr id="62"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6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61"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64" name="Freeform 126"/>
          <p:cNvSpPr>
            <a:spLocks noChangeAspect="1" noEditPoints="1"/>
          </p:cNvSpPr>
          <p:nvPr/>
        </p:nvSpPr>
        <p:spPr bwMode="auto">
          <a:xfrm>
            <a:off x="5585723" y="1927812"/>
            <a:ext cx="200874" cy="251355"/>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grpSp>
        <p:nvGrpSpPr>
          <p:cNvPr id="65" name="组合 64"/>
          <p:cNvGrpSpPr/>
          <p:nvPr/>
        </p:nvGrpSpPr>
        <p:grpSpPr>
          <a:xfrm>
            <a:off x="6093566" y="1809242"/>
            <a:ext cx="502789" cy="453322"/>
            <a:chOff x="5424755" y="1340768"/>
            <a:chExt cx="670560" cy="604586"/>
          </a:xfrm>
        </p:grpSpPr>
        <p:grpSp>
          <p:nvGrpSpPr>
            <p:cNvPr id="66" name="组合 65"/>
            <p:cNvGrpSpPr/>
            <p:nvPr/>
          </p:nvGrpSpPr>
          <p:grpSpPr>
            <a:xfrm>
              <a:off x="5424755" y="1340768"/>
              <a:ext cx="670560" cy="604586"/>
              <a:chOff x="3720691" y="2824413"/>
              <a:chExt cx="1341120" cy="1209172"/>
            </a:xfrm>
          </p:grpSpPr>
          <p:sp>
            <p:nvSpPr>
              <p:cNvPr id="68"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69"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67"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70" name="Freeform 261"/>
          <p:cNvSpPr/>
          <p:nvPr/>
        </p:nvSpPr>
        <p:spPr bwMode="auto">
          <a:xfrm>
            <a:off x="6221684" y="1937926"/>
            <a:ext cx="244343" cy="244343"/>
          </a:xfrm>
          <a:custGeom>
            <a:avLst/>
            <a:gdLst>
              <a:gd name="T0" fmla="*/ 84 w 86"/>
              <a:gd name="T1" fmla="*/ 13 h 86"/>
              <a:gd name="T2" fmla="*/ 74 w 86"/>
              <a:gd name="T3" fmla="*/ 1 h 86"/>
              <a:gd name="T4" fmla="*/ 72 w 86"/>
              <a:gd name="T5" fmla="*/ 1 h 86"/>
              <a:gd name="T6" fmla="*/ 71 w 86"/>
              <a:gd name="T7" fmla="*/ 1 h 86"/>
              <a:gd name="T8" fmla="*/ 69 w 86"/>
              <a:gd name="T9" fmla="*/ 4 h 86"/>
              <a:gd name="T10" fmla="*/ 69 w 86"/>
              <a:gd name="T11" fmla="*/ 10 h 86"/>
              <a:gd name="T12" fmla="*/ 59 w 86"/>
              <a:gd name="T13" fmla="*/ 10 h 86"/>
              <a:gd name="T14" fmla="*/ 59 w 86"/>
              <a:gd name="T15" fmla="*/ 1 h 86"/>
              <a:gd name="T16" fmla="*/ 58 w 86"/>
              <a:gd name="T17" fmla="*/ 0 h 86"/>
              <a:gd name="T18" fmla="*/ 46 w 86"/>
              <a:gd name="T19" fmla="*/ 0 h 86"/>
              <a:gd name="T20" fmla="*/ 45 w 86"/>
              <a:gd name="T21" fmla="*/ 1 h 86"/>
              <a:gd name="T22" fmla="*/ 45 w 86"/>
              <a:gd name="T23" fmla="*/ 10 h 86"/>
              <a:gd name="T24" fmla="*/ 44 w 86"/>
              <a:gd name="T25" fmla="*/ 13 h 86"/>
              <a:gd name="T26" fmla="*/ 44 w 86"/>
              <a:gd name="T27" fmla="*/ 21 h 86"/>
              <a:gd name="T28" fmla="*/ 45 w 86"/>
              <a:gd name="T29" fmla="*/ 24 h 86"/>
              <a:gd name="T30" fmla="*/ 45 w 86"/>
              <a:gd name="T31" fmla="*/ 27 h 86"/>
              <a:gd name="T32" fmla="*/ 37 w 86"/>
              <a:gd name="T33" fmla="*/ 27 h 86"/>
              <a:gd name="T34" fmla="*/ 37 w 86"/>
              <a:gd name="T35" fmla="*/ 21 h 86"/>
              <a:gd name="T36" fmla="*/ 34 w 86"/>
              <a:gd name="T37" fmla="*/ 18 h 86"/>
              <a:gd name="T38" fmla="*/ 32 w 86"/>
              <a:gd name="T39" fmla="*/ 18 h 86"/>
              <a:gd name="T40" fmla="*/ 29 w 86"/>
              <a:gd name="T41" fmla="*/ 18 h 86"/>
              <a:gd name="T42" fmla="*/ 3 w 86"/>
              <a:gd name="T43" fmla="*/ 30 h 86"/>
              <a:gd name="T44" fmla="*/ 0 w 86"/>
              <a:gd name="T45" fmla="*/ 34 h 86"/>
              <a:gd name="T46" fmla="*/ 3 w 86"/>
              <a:gd name="T47" fmla="*/ 38 h 86"/>
              <a:gd name="T48" fmla="*/ 29 w 86"/>
              <a:gd name="T49" fmla="*/ 50 h 86"/>
              <a:gd name="T50" fmla="*/ 31 w 86"/>
              <a:gd name="T51" fmla="*/ 51 h 86"/>
              <a:gd name="T52" fmla="*/ 34 w 86"/>
              <a:gd name="T53" fmla="*/ 50 h 86"/>
              <a:gd name="T54" fmla="*/ 37 w 86"/>
              <a:gd name="T55" fmla="*/ 47 h 86"/>
              <a:gd name="T56" fmla="*/ 37 w 86"/>
              <a:gd name="T57" fmla="*/ 42 h 86"/>
              <a:gd name="T58" fmla="*/ 45 w 86"/>
              <a:gd name="T59" fmla="*/ 42 h 86"/>
              <a:gd name="T60" fmla="*/ 45 w 86"/>
              <a:gd name="T61" fmla="*/ 85 h 86"/>
              <a:gd name="T62" fmla="*/ 46 w 86"/>
              <a:gd name="T63" fmla="*/ 86 h 86"/>
              <a:gd name="T64" fmla="*/ 58 w 86"/>
              <a:gd name="T65" fmla="*/ 86 h 86"/>
              <a:gd name="T66" fmla="*/ 59 w 86"/>
              <a:gd name="T67" fmla="*/ 85 h 86"/>
              <a:gd name="T68" fmla="*/ 59 w 86"/>
              <a:gd name="T69" fmla="*/ 41 h 86"/>
              <a:gd name="T70" fmla="*/ 62 w 86"/>
              <a:gd name="T71" fmla="*/ 38 h 86"/>
              <a:gd name="T72" fmla="*/ 62 w 86"/>
              <a:gd name="T73" fmla="*/ 30 h 86"/>
              <a:gd name="T74" fmla="*/ 59 w 86"/>
              <a:gd name="T75" fmla="*/ 27 h 86"/>
              <a:gd name="T76" fmla="*/ 59 w 86"/>
              <a:gd name="T77" fmla="*/ 25 h 86"/>
              <a:gd name="T78" fmla="*/ 69 w 86"/>
              <a:gd name="T79" fmla="*/ 25 h 86"/>
              <a:gd name="T80" fmla="*/ 69 w 86"/>
              <a:gd name="T81" fmla="*/ 30 h 86"/>
              <a:gd name="T82" fmla="*/ 71 w 86"/>
              <a:gd name="T83" fmla="*/ 33 h 86"/>
              <a:gd name="T84" fmla="*/ 73 w 86"/>
              <a:gd name="T85" fmla="*/ 34 h 86"/>
              <a:gd name="T86" fmla="*/ 74 w 86"/>
              <a:gd name="T87" fmla="*/ 33 h 86"/>
              <a:gd name="T88" fmla="*/ 84 w 86"/>
              <a:gd name="T89" fmla="*/ 21 h 86"/>
              <a:gd name="T90" fmla="*/ 86 w 86"/>
              <a:gd name="T91" fmla="*/ 17 h 86"/>
              <a:gd name="T92" fmla="*/ 84 w 86"/>
              <a:gd name="T93" fmla="*/ 1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 h="86">
                <a:moveTo>
                  <a:pt x="84" y="13"/>
                </a:moveTo>
                <a:cubicBezTo>
                  <a:pt x="74" y="1"/>
                  <a:pt x="74" y="1"/>
                  <a:pt x="74" y="1"/>
                </a:cubicBezTo>
                <a:cubicBezTo>
                  <a:pt x="73" y="1"/>
                  <a:pt x="73" y="1"/>
                  <a:pt x="72" y="1"/>
                </a:cubicBezTo>
                <a:cubicBezTo>
                  <a:pt x="72" y="1"/>
                  <a:pt x="71" y="1"/>
                  <a:pt x="71" y="1"/>
                </a:cubicBezTo>
                <a:cubicBezTo>
                  <a:pt x="70" y="2"/>
                  <a:pt x="69" y="3"/>
                  <a:pt x="69" y="4"/>
                </a:cubicBezTo>
                <a:cubicBezTo>
                  <a:pt x="69" y="10"/>
                  <a:pt x="69" y="10"/>
                  <a:pt x="69" y="10"/>
                </a:cubicBezTo>
                <a:cubicBezTo>
                  <a:pt x="59" y="10"/>
                  <a:pt x="59" y="10"/>
                  <a:pt x="59" y="10"/>
                </a:cubicBezTo>
                <a:cubicBezTo>
                  <a:pt x="59" y="1"/>
                  <a:pt x="59" y="1"/>
                  <a:pt x="59" y="1"/>
                </a:cubicBezTo>
                <a:cubicBezTo>
                  <a:pt x="59" y="1"/>
                  <a:pt x="59" y="0"/>
                  <a:pt x="58" y="0"/>
                </a:cubicBezTo>
                <a:cubicBezTo>
                  <a:pt x="46" y="0"/>
                  <a:pt x="46" y="0"/>
                  <a:pt x="46" y="0"/>
                </a:cubicBezTo>
                <a:cubicBezTo>
                  <a:pt x="45" y="0"/>
                  <a:pt x="45" y="1"/>
                  <a:pt x="45" y="1"/>
                </a:cubicBezTo>
                <a:cubicBezTo>
                  <a:pt x="45" y="10"/>
                  <a:pt x="45" y="10"/>
                  <a:pt x="45" y="10"/>
                </a:cubicBezTo>
                <a:cubicBezTo>
                  <a:pt x="44" y="11"/>
                  <a:pt x="44" y="12"/>
                  <a:pt x="44" y="13"/>
                </a:cubicBezTo>
                <a:cubicBezTo>
                  <a:pt x="44" y="21"/>
                  <a:pt x="44" y="21"/>
                  <a:pt x="44" y="21"/>
                </a:cubicBezTo>
                <a:cubicBezTo>
                  <a:pt x="44" y="22"/>
                  <a:pt x="44" y="23"/>
                  <a:pt x="45" y="24"/>
                </a:cubicBezTo>
                <a:cubicBezTo>
                  <a:pt x="45" y="27"/>
                  <a:pt x="45" y="27"/>
                  <a:pt x="45" y="27"/>
                </a:cubicBezTo>
                <a:cubicBezTo>
                  <a:pt x="37" y="27"/>
                  <a:pt x="37" y="27"/>
                  <a:pt x="37" y="27"/>
                </a:cubicBezTo>
                <a:cubicBezTo>
                  <a:pt x="37" y="21"/>
                  <a:pt x="37" y="21"/>
                  <a:pt x="37" y="21"/>
                </a:cubicBezTo>
                <a:cubicBezTo>
                  <a:pt x="37" y="20"/>
                  <a:pt x="36" y="19"/>
                  <a:pt x="34" y="18"/>
                </a:cubicBezTo>
                <a:cubicBezTo>
                  <a:pt x="34" y="18"/>
                  <a:pt x="33" y="18"/>
                  <a:pt x="32" y="18"/>
                </a:cubicBezTo>
                <a:cubicBezTo>
                  <a:pt x="31" y="18"/>
                  <a:pt x="30" y="18"/>
                  <a:pt x="29" y="18"/>
                </a:cubicBezTo>
                <a:cubicBezTo>
                  <a:pt x="3" y="30"/>
                  <a:pt x="3" y="30"/>
                  <a:pt x="3" y="30"/>
                </a:cubicBezTo>
                <a:cubicBezTo>
                  <a:pt x="1" y="31"/>
                  <a:pt x="0" y="33"/>
                  <a:pt x="0" y="34"/>
                </a:cubicBezTo>
                <a:cubicBezTo>
                  <a:pt x="0" y="36"/>
                  <a:pt x="1" y="38"/>
                  <a:pt x="3" y="38"/>
                </a:cubicBezTo>
                <a:cubicBezTo>
                  <a:pt x="29" y="50"/>
                  <a:pt x="29" y="50"/>
                  <a:pt x="29" y="50"/>
                </a:cubicBezTo>
                <a:cubicBezTo>
                  <a:pt x="29" y="51"/>
                  <a:pt x="30" y="51"/>
                  <a:pt x="31" y="51"/>
                </a:cubicBezTo>
                <a:cubicBezTo>
                  <a:pt x="32" y="51"/>
                  <a:pt x="33" y="51"/>
                  <a:pt x="34" y="50"/>
                </a:cubicBezTo>
                <a:cubicBezTo>
                  <a:pt x="36" y="50"/>
                  <a:pt x="37" y="48"/>
                  <a:pt x="37" y="47"/>
                </a:cubicBezTo>
                <a:cubicBezTo>
                  <a:pt x="37" y="42"/>
                  <a:pt x="37" y="42"/>
                  <a:pt x="37" y="42"/>
                </a:cubicBezTo>
                <a:cubicBezTo>
                  <a:pt x="45" y="42"/>
                  <a:pt x="45" y="42"/>
                  <a:pt x="45" y="42"/>
                </a:cubicBezTo>
                <a:cubicBezTo>
                  <a:pt x="45" y="85"/>
                  <a:pt x="45" y="85"/>
                  <a:pt x="45" y="85"/>
                </a:cubicBezTo>
                <a:cubicBezTo>
                  <a:pt x="45" y="86"/>
                  <a:pt x="45" y="86"/>
                  <a:pt x="46" y="86"/>
                </a:cubicBezTo>
                <a:cubicBezTo>
                  <a:pt x="58" y="86"/>
                  <a:pt x="58" y="86"/>
                  <a:pt x="58" y="86"/>
                </a:cubicBezTo>
                <a:cubicBezTo>
                  <a:pt x="59" y="86"/>
                  <a:pt x="59" y="86"/>
                  <a:pt x="59" y="85"/>
                </a:cubicBezTo>
                <a:cubicBezTo>
                  <a:pt x="59" y="41"/>
                  <a:pt x="59" y="41"/>
                  <a:pt x="59" y="41"/>
                </a:cubicBezTo>
                <a:cubicBezTo>
                  <a:pt x="61" y="41"/>
                  <a:pt x="62" y="40"/>
                  <a:pt x="62" y="38"/>
                </a:cubicBezTo>
                <a:cubicBezTo>
                  <a:pt x="62" y="30"/>
                  <a:pt x="62" y="30"/>
                  <a:pt x="62" y="30"/>
                </a:cubicBezTo>
                <a:cubicBezTo>
                  <a:pt x="62" y="29"/>
                  <a:pt x="61" y="28"/>
                  <a:pt x="59" y="27"/>
                </a:cubicBezTo>
                <a:cubicBezTo>
                  <a:pt x="59" y="25"/>
                  <a:pt x="59" y="25"/>
                  <a:pt x="59" y="25"/>
                </a:cubicBezTo>
                <a:cubicBezTo>
                  <a:pt x="69" y="25"/>
                  <a:pt x="69" y="25"/>
                  <a:pt x="69" y="25"/>
                </a:cubicBezTo>
                <a:cubicBezTo>
                  <a:pt x="69" y="30"/>
                  <a:pt x="69" y="30"/>
                  <a:pt x="69" y="30"/>
                </a:cubicBezTo>
                <a:cubicBezTo>
                  <a:pt x="69" y="31"/>
                  <a:pt x="70" y="33"/>
                  <a:pt x="71" y="33"/>
                </a:cubicBezTo>
                <a:cubicBezTo>
                  <a:pt x="71" y="34"/>
                  <a:pt x="72" y="34"/>
                  <a:pt x="73" y="34"/>
                </a:cubicBezTo>
                <a:cubicBezTo>
                  <a:pt x="73" y="34"/>
                  <a:pt x="74" y="34"/>
                  <a:pt x="74" y="33"/>
                </a:cubicBezTo>
                <a:cubicBezTo>
                  <a:pt x="84" y="21"/>
                  <a:pt x="84" y="21"/>
                  <a:pt x="84" y="21"/>
                </a:cubicBezTo>
                <a:cubicBezTo>
                  <a:pt x="85" y="21"/>
                  <a:pt x="86" y="19"/>
                  <a:pt x="86" y="17"/>
                </a:cubicBezTo>
                <a:cubicBezTo>
                  <a:pt x="86" y="16"/>
                  <a:pt x="85" y="14"/>
                  <a:pt x="84" y="13"/>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grpSp>
        <p:nvGrpSpPr>
          <p:cNvPr id="71" name="组合 70"/>
          <p:cNvGrpSpPr/>
          <p:nvPr/>
        </p:nvGrpSpPr>
        <p:grpSpPr>
          <a:xfrm>
            <a:off x="6775877" y="1809242"/>
            <a:ext cx="502789" cy="453322"/>
            <a:chOff x="5424755" y="1340768"/>
            <a:chExt cx="670560" cy="604586"/>
          </a:xfrm>
        </p:grpSpPr>
        <p:grpSp>
          <p:nvGrpSpPr>
            <p:cNvPr id="72" name="组合 71"/>
            <p:cNvGrpSpPr/>
            <p:nvPr/>
          </p:nvGrpSpPr>
          <p:grpSpPr>
            <a:xfrm>
              <a:off x="5424755" y="1340768"/>
              <a:ext cx="670560" cy="604586"/>
              <a:chOff x="3720691" y="2824413"/>
              <a:chExt cx="1341120" cy="1209172"/>
            </a:xfrm>
          </p:grpSpPr>
          <p:sp>
            <p:nvSpPr>
              <p:cNvPr id="74"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75"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73"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76" name="组合 75"/>
          <p:cNvGrpSpPr/>
          <p:nvPr/>
        </p:nvGrpSpPr>
        <p:grpSpPr>
          <a:xfrm>
            <a:off x="7440641" y="1830628"/>
            <a:ext cx="502789" cy="453322"/>
            <a:chOff x="5424755" y="1340768"/>
            <a:chExt cx="670560" cy="604586"/>
          </a:xfrm>
        </p:grpSpPr>
        <p:grpSp>
          <p:nvGrpSpPr>
            <p:cNvPr id="77" name="组合 76"/>
            <p:cNvGrpSpPr/>
            <p:nvPr/>
          </p:nvGrpSpPr>
          <p:grpSpPr>
            <a:xfrm>
              <a:off x="5424755" y="1340768"/>
              <a:ext cx="670560" cy="604586"/>
              <a:chOff x="3720691" y="2824413"/>
              <a:chExt cx="1341120" cy="1209172"/>
            </a:xfrm>
          </p:grpSpPr>
          <p:sp>
            <p:nvSpPr>
              <p:cNvPr id="79"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81"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78"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82" name="组合 81"/>
          <p:cNvGrpSpPr/>
          <p:nvPr/>
        </p:nvGrpSpPr>
        <p:grpSpPr>
          <a:xfrm>
            <a:off x="8125676" y="1809242"/>
            <a:ext cx="502789" cy="453322"/>
            <a:chOff x="5424755" y="1340768"/>
            <a:chExt cx="670560" cy="604586"/>
          </a:xfrm>
        </p:grpSpPr>
        <p:grpSp>
          <p:nvGrpSpPr>
            <p:cNvPr id="83" name="组合 82"/>
            <p:cNvGrpSpPr/>
            <p:nvPr/>
          </p:nvGrpSpPr>
          <p:grpSpPr>
            <a:xfrm>
              <a:off x="5424755" y="1340768"/>
              <a:ext cx="670560" cy="604586"/>
              <a:chOff x="3720691" y="2824413"/>
              <a:chExt cx="1341120" cy="1209172"/>
            </a:xfrm>
          </p:grpSpPr>
          <p:sp>
            <p:nvSpPr>
              <p:cNvPr id="94"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95"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8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96" name="组合 95"/>
          <p:cNvGrpSpPr>
            <a:grpSpLocks noChangeAspect="1"/>
          </p:cNvGrpSpPr>
          <p:nvPr/>
        </p:nvGrpSpPr>
        <p:grpSpPr>
          <a:xfrm>
            <a:off x="6896562" y="1929051"/>
            <a:ext cx="265649" cy="227877"/>
            <a:chOff x="5084763" y="971548"/>
            <a:chExt cx="323865" cy="277813"/>
          </a:xfrm>
          <a:solidFill>
            <a:srgbClr val="414455"/>
          </a:solidFill>
        </p:grpSpPr>
        <p:sp>
          <p:nvSpPr>
            <p:cNvPr id="97" name="Freeform 301"/>
            <p:cNvSpPr>
              <a:spLocks noEditPoints="1"/>
            </p:cNvSpPr>
            <p:nvPr/>
          </p:nvSpPr>
          <p:spPr bwMode="auto">
            <a:xfrm>
              <a:off x="5191140" y="1031873"/>
              <a:ext cx="217488" cy="217488"/>
            </a:xfrm>
            <a:custGeom>
              <a:avLst/>
              <a:gdLst>
                <a:gd name="T0" fmla="*/ 6 w 58"/>
                <a:gd name="T1" fmla="*/ 14 h 58"/>
                <a:gd name="T2" fmla="*/ 7 w 58"/>
                <a:gd name="T3" fmla="*/ 19 h 58"/>
                <a:gd name="T4" fmla="*/ 4 w 58"/>
                <a:gd name="T5" fmla="*/ 20 h 58"/>
                <a:gd name="T6" fmla="*/ 0 w 58"/>
                <a:gd name="T7" fmla="*/ 23 h 58"/>
                <a:gd name="T8" fmla="*/ 2 w 58"/>
                <a:gd name="T9" fmla="*/ 27 h 58"/>
                <a:gd name="T10" fmla="*/ 5 w 58"/>
                <a:gd name="T11" fmla="*/ 31 h 58"/>
                <a:gd name="T12" fmla="*/ 2 w 58"/>
                <a:gd name="T13" fmla="*/ 34 h 58"/>
                <a:gd name="T14" fmla="*/ 1 w 58"/>
                <a:gd name="T15" fmla="*/ 38 h 58"/>
                <a:gd name="T16" fmla="*/ 5 w 58"/>
                <a:gd name="T17" fmla="*/ 41 h 58"/>
                <a:gd name="T18" fmla="*/ 8 w 58"/>
                <a:gd name="T19" fmla="*/ 42 h 58"/>
                <a:gd name="T20" fmla="*/ 8 w 58"/>
                <a:gd name="T21" fmla="*/ 46 h 58"/>
                <a:gd name="T22" fmla="*/ 9 w 58"/>
                <a:gd name="T23" fmla="*/ 51 h 58"/>
                <a:gd name="T24" fmla="*/ 14 w 58"/>
                <a:gd name="T25" fmla="*/ 51 h 58"/>
                <a:gd name="T26" fmla="*/ 18 w 58"/>
                <a:gd name="T27" fmla="*/ 51 h 58"/>
                <a:gd name="T28" fmla="*/ 19 w 58"/>
                <a:gd name="T29" fmla="*/ 54 h 58"/>
                <a:gd name="T30" fmla="*/ 22 w 58"/>
                <a:gd name="T31" fmla="*/ 58 h 58"/>
                <a:gd name="T32" fmla="*/ 27 w 58"/>
                <a:gd name="T33" fmla="*/ 56 h 58"/>
                <a:gd name="T34" fmla="*/ 31 w 58"/>
                <a:gd name="T35" fmla="*/ 53 h 58"/>
                <a:gd name="T36" fmla="*/ 33 w 58"/>
                <a:gd name="T37" fmla="*/ 56 h 58"/>
                <a:gd name="T38" fmla="*/ 38 w 58"/>
                <a:gd name="T39" fmla="*/ 57 h 58"/>
                <a:gd name="T40" fmla="*/ 40 w 58"/>
                <a:gd name="T41" fmla="*/ 53 h 58"/>
                <a:gd name="T42" fmla="*/ 42 w 58"/>
                <a:gd name="T43" fmla="*/ 49 h 58"/>
                <a:gd name="T44" fmla="*/ 46 w 58"/>
                <a:gd name="T45" fmla="*/ 50 h 58"/>
                <a:gd name="T46" fmla="*/ 50 w 58"/>
                <a:gd name="T47" fmla="*/ 49 h 58"/>
                <a:gd name="T48" fmla="*/ 51 w 58"/>
                <a:gd name="T49" fmla="*/ 44 h 58"/>
                <a:gd name="T50" fmla="*/ 50 w 58"/>
                <a:gd name="T51" fmla="*/ 40 h 58"/>
                <a:gd name="T52" fmla="*/ 54 w 58"/>
                <a:gd name="T53" fmla="*/ 39 h 58"/>
                <a:gd name="T54" fmla="*/ 57 w 58"/>
                <a:gd name="T55" fmla="*/ 35 h 58"/>
                <a:gd name="T56" fmla="*/ 55 w 58"/>
                <a:gd name="T57" fmla="*/ 31 h 58"/>
                <a:gd name="T58" fmla="*/ 52 w 58"/>
                <a:gd name="T59" fmla="*/ 27 h 58"/>
                <a:gd name="T60" fmla="*/ 55 w 58"/>
                <a:gd name="T61" fmla="*/ 25 h 58"/>
                <a:gd name="T62" fmla="*/ 56 w 58"/>
                <a:gd name="T63" fmla="*/ 20 h 58"/>
                <a:gd name="T64" fmla="*/ 53 w 58"/>
                <a:gd name="T65" fmla="*/ 18 h 58"/>
                <a:gd name="T66" fmla="*/ 48 w 58"/>
                <a:gd name="T67" fmla="*/ 16 h 58"/>
                <a:gd name="T68" fmla="*/ 49 w 58"/>
                <a:gd name="T69" fmla="*/ 12 h 58"/>
                <a:gd name="T70" fmla="*/ 48 w 58"/>
                <a:gd name="T71" fmla="*/ 8 h 58"/>
                <a:gd name="T72" fmla="*/ 44 w 58"/>
                <a:gd name="T73" fmla="*/ 7 h 58"/>
                <a:gd name="T74" fmla="*/ 39 w 58"/>
                <a:gd name="T75" fmla="*/ 8 h 58"/>
                <a:gd name="T76" fmla="*/ 38 w 58"/>
                <a:gd name="T77" fmla="*/ 4 h 58"/>
                <a:gd name="T78" fmla="*/ 35 w 58"/>
                <a:gd name="T79" fmla="*/ 1 h 58"/>
                <a:gd name="T80" fmla="*/ 30 w 58"/>
                <a:gd name="T81" fmla="*/ 3 h 58"/>
                <a:gd name="T82" fmla="*/ 27 w 58"/>
                <a:gd name="T83" fmla="*/ 5 h 58"/>
                <a:gd name="T84" fmla="*/ 24 w 58"/>
                <a:gd name="T85" fmla="*/ 3 h 58"/>
                <a:gd name="T86" fmla="*/ 20 w 58"/>
                <a:gd name="T87" fmla="*/ 1 h 58"/>
                <a:gd name="T88" fmla="*/ 17 w 58"/>
                <a:gd name="T89" fmla="*/ 5 h 58"/>
                <a:gd name="T90" fmla="*/ 15 w 58"/>
                <a:gd name="T91" fmla="*/ 10 h 58"/>
                <a:gd name="T92" fmla="*/ 12 w 58"/>
                <a:gd name="T93" fmla="*/ 9 h 58"/>
                <a:gd name="T94" fmla="*/ 7 w 58"/>
                <a:gd name="T95" fmla="*/ 10 h 58"/>
                <a:gd name="T96" fmla="*/ 6 w 58"/>
                <a:gd name="T97" fmla="*/ 14 h 58"/>
                <a:gd name="T98" fmla="*/ 23 w 58"/>
                <a:gd name="T99" fmla="*/ 13 h 58"/>
                <a:gd name="T100" fmla="*/ 45 w 58"/>
                <a:gd name="T101" fmla="*/ 24 h 58"/>
                <a:gd name="T102" fmla="*/ 34 w 58"/>
                <a:gd name="T103" fmla="*/ 45 h 58"/>
                <a:gd name="T104" fmla="*/ 13 w 58"/>
                <a:gd name="T105" fmla="*/ 34 h 58"/>
                <a:gd name="T106" fmla="*/ 23 w 58"/>
                <a:gd name="T10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 h="58">
                  <a:moveTo>
                    <a:pt x="6" y="14"/>
                  </a:moveTo>
                  <a:cubicBezTo>
                    <a:pt x="8" y="15"/>
                    <a:pt x="7" y="18"/>
                    <a:pt x="7" y="19"/>
                  </a:cubicBezTo>
                  <a:cubicBezTo>
                    <a:pt x="7" y="20"/>
                    <a:pt x="5" y="20"/>
                    <a:pt x="4" y="20"/>
                  </a:cubicBezTo>
                  <a:cubicBezTo>
                    <a:pt x="2" y="20"/>
                    <a:pt x="0" y="21"/>
                    <a:pt x="0" y="23"/>
                  </a:cubicBezTo>
                  <a:cubicBezTo>
                    <a:pt x="0" y="25"/>
                    <a:pt x="0" y="27"/>
                    <a:pt x="2" y="27"/>
                  </a:cubicBezTo>
                  <a:cubicBezTo>
                    <a:pt x="3" y="28"/>
                    <a:pt x="5" y="30"/>
                    <a:pt x="5" y="31"/>
                  </a:cubicBezTo>
                  <a:cubicBezTo>
                    <a:pt x="5" y="32"/>
                    <a:pt x="4" y="33"/>
                    <a:pt x="2" y="34"/>
                  </a:cubicBezTo>
                  <a:cubicBezTo>
                    <a:pt x="1" y="34"/>
                    <a:pt x="0" y="36"/>
                    <a:pt x="1" y="38"/>
                  </a:cubicBezTo>
                  <a:cubicBezTo>
                    <a:pt x="1" y="40"/>
                    <a:pt x="3" y="42"/>
                    <a:pt x="5" y="41"/>
                  </a:cubicBezTo>
                  <a:cubicBezTo>
                    <a:pt x="6" y="41"/>
                    <a:pt x="8" y="41"/>
                    <a:pt x="8" y="42"/>
                  </a:cubicBezTo>
                  <a:cubicBezTo>
                    <a:pt x="9" y="42"/>
                    <a:pt x="9" y="45"/>
                    <a:pt x="8" y="46"/>
                  </a:cubicBezTo>
                  <a:cubicBezTo>
                    <a:pt x="7" y="47"/>
                    <a:pt x="7" y="50"/>
                    <a:pt x="9" y="51"/>
                  </a:cubicBezTo>
                  <a:cubicBezTo>
                    <a:pt x="11" y="52"/>
                    <a:pt x="13" y="53"/>
                    <a:pt x="14" y="51"/>
                  </a:cubicBezTo>
                  <a:cubicBezTo>
                    <a:pt x="15" y="50"/>
                    <a:pt x="18" y="51"/>
                    <a:pt x="18" y="51"/>
                  </a:cubicBezTo>
                  <a:cubicBezTo>
                    <a:pt x="19" y="51"/>
                    <a:pt x="20" y="53"/>
                    <a:pt x="19" y="54"/>
                  </a:cubicBezTo>
                  <a:cubicBezTo>
                    <a:pt x="19" y="56"/>
                    <a:pt x="20" y="57"/>
                    <a:pt x="22" y="58"/>
                  </a:cubicBezTo>
                  <a:cubicBezTo>
                    <a:pt x="25" y="58"/>
                    <a:pt x="26" y="57"/>
                    <a:pt x="27" y="56"/>
                  </a:cubicBezTo>
                  <a:cubicBezTo>
                    <a:pt x="27" y="54"/>
                    <a:pt x="30" y="53"/>
                    <a:pt x="31" y="53"/>
                  </a:cubicBezTo>
                  <a:cubicBezTo>
                    <a:pt x="31" y="53"/>
                    <a:pt x="33" y="54"/>
                    <a:pt x="33" y="56"/>
                  </a:cubicBezTo>
                  <a:cubicBezTo>
                    <a:pt x="34" y="57"/>
                    <a:pt x="36" y="58"/>
                    <a:pt x="38" y="57"/>
                  </a:cubicBezTo>
                  <a:cubicBezTo>
                    <a:pt x="40" y="57"/>
                    <a:pt x="41" y="55"/>
                    <a:pt x="40" y="53"/>
                  </a:cubicBezTo>
                  <a:cubicBezTo>
                    <a:pt x="40" y="52"/>
                    <a:pt x="42" y="49"/>
                    <a:pt x="42" y="49"/>
                  </a:cubicBezTo>
                  <a:cubicBezTo>
                    <a:pt x="43" y="48"/>
                    <a:pt x="44" y="49"/>
                    <a:pt x="46" y="50"/>
                  </a:cubicBezTo>
                  <a:cubicBezTo>
                    <a:pt x="47" y="51"/>
                    <a:pt x="49" y="51"/>
                    <a:pt x="50" y="49"/>
                  </a:cubicBezTo>
                  <a:cubicBezTo>
                    <a:pt x="52" y="47"/>
                    <a:pt x="52" y="45"/>
                    <a:pt x="51" y="44"/>
                  </a:cubicBezTo>
                  <a:cubicBezTo>
                    <a:pt x="50" y="43"/>
                    <a:pt x="50" y="40"/>
                    <a:pt x="50" y="40"/>
                  </a:cubicBezTo>
                  <a:cubicBezTo>
                    <a:pt x="51" y="39"/>
                    <a:pt x="52" y="38"/>
                    <a:pt x="54" y="39"/>
                  </a:cubicBezTo>
                  <a:cubicBezTo>
                    <a:pt x="55" y="39"/>
                    <a:pt x="57" y="38"/>
                    <a:pt x="57" y="35"/>
                  </a:cubicBezTo>
                  <a:cubicBezTo>
                    <a:pt x="58" y="33"/>
                    <a:pt x="57" y="31"/>
                    <a:pt x="55" y="31"/>
                  </a:cubicBezTo>
                  <a:cubicBezTo>
                    <a:pt x="54" y="31"/>
                    <a:pt x="53" y="28"/>
                    <a:pt x="52" y="27"/>
                  </a:cubicBezTo>
                  <a:cubicBezTo>
                    <a:pt x="52" y="26"/>
                    <a:pt x="54" y="25"/>
                    <a:pt x="55" y="25"/>
                  </a:cubicBezTo>
                  <a:cubicBezTo>
                    <a:pt x="56" y="24"/>
                    <a:pt x="57" y="22"/>
                    <a:pt x="56" y="20"/>
                  </a:cubicBezTo>
                  <a:cubicBezTo>
                    <a:pt x="56" y="18"/>
                    <a:pt x="54" y="17"/>
                    <a:pt x="53" y="18"/>
                  </a:cubicBezTo>
                  <a:cubicBezTo>
                    <a:pt x="51" y="18"/>
                    <a:pt x="49" y="16"/>
                    <a:pt x="48" y="16"/>
                  </a:cubicBezTo>
                  <a:cubicBezTo>
                    <a:pt x="48" y="15"/>
                    <a:pt x="48" y="13"/>
                    <a:pt x="49" y="12"/>
                  </a:cubicBezTo>
                  <a:cubicBezTo>
                    <a:pt x="50" y="11"/>
                    <a:pt x="50" y="9"/>
                    <a:pt x="48" y="8"/>
                  </a:cubicBezTo>
                  <a:cubicBezTo>
                    <a:pt x="47" y="6"/>
                    <a:pt x="45" y="6"/>
                    <a:pt x="44" y="7"/>
                  </a:cubicBezTo>
                  <a:cubicBezTo>
                    <a:pt x="42" y="8"/>
                    <a:pt x="40" y="8"/>
                    <a:pt x="39" y="8"/>
                  </a:cubicBezTo>
                  <a:cubicBezTo>
                    <a:pt x="38" y="7"/>
                    <a:pt x="38" y="6"/>
                    <a:pt x="38" y="4"/>
                  </a:cubicBezTo>
                  <a:cubicBezTo>
                    <a:pt x="38" y="3"/>
                    <a:pt x="37" y="1"/>
                    <a:pt x="35" y="1"/>
                  </a:cubicBezTo>
                  <a:cubicBezTo>
                    <a:pt x="33" y="0"/>
                    <a:pt x="31" y="1"/>
                    <a:pt x="30" y="3"/>
                  </a:cubicBezTo>
                  <a:cubicBezTo>
                    <a:pt x="30" y="4"/>
                    <a:pt x="28" y="5"/>
                    <a:pt x="27" y="5"/>
                  </a:cubicBezTo>
                  <a:cubicBezTo>
                    <a:pt x="26" y="6"/>
                    <a:pt x="25" y="4"/>
                    <a:pt x="24" y="3"/>
                  </a:cubicBezTo>
                  <a:cubicBezTo>
                    <a:pt x="24" y="1"/>
                    <a:pt x="22" y="1"/>
                    <a:pt x="20" y="1"/>
                  </a:cubicBezTo>
                  <a:cubicBezTo>
                    <a:pt x="18" y="2"/>
                    <a:pt x="16" y="4"/>
                    <a:pt x="17" y="5"/>
                  </a:cubicBezTo>
                  <a:cubicBezTo>
                    <a:pt x="17" y="7"/>
                    <a:pt x="16" y="9"/>
                    <a:pt x="15" y="10"/>
                  </a:cubicBezTo>
                  <a:cubicBezTo>
                    <a:pt x="14" y="10"/>
                    <a:pt x="13" y="10"/>
                    <a:pt x="12" y="9"/>
                  </a:cubicBezTo>
                  <a:cubicBezTo>
                    <a:pt x="10" y="8"/>
                    <a:pt x="8" y="8"/>
                    <a:pt x="7" y="10"/>
                  </a:cubicBezTo>
                  <a:cubicBezTo>
                    <a:pt x="6" y="11"/>
                    <a:pt x="5" y="13"/>
                    <a:pt x="6" y="14"/>
                  </a:cubicBezTo>
                  <a:close/>
                  <a:moveTo>
                    <a:pt x="23" y="13"/>
                  </a:moveTo>
                  <a:cubicBezTo>
                    <a:pt x="32" y="10"/>
                    <a:pt x="42" y="15"/>
                    <a:pt x="45" y="24"/>
                  </a:cubicBezTo>
                  <a:cubicBezTo>
                    <a:pt x="47" y="33"/>
                    <a:pt x="43" y="42"/>
                    <a:pt x="34" y="45"/>
                  </a:cubicBezTo>
                  <a:cubicBezTo>
                    <a:pt x="25" y="48"/>
                    <a:pt x="15" y="43"/>
                    <a:pt x="13" y="34"/>
                  </a:cubicBezTo>
                  <a:cubicBezTo>
                    <a:pt x="10" y="26"/>
                    <a:pt x="15" y="16"/>
                    <a:pt x="23" y="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98" name="Freeform 302"/>
            <p:cNvSpPr>
              <a:spLocks noEditPoints="1"/>
            </p:cNvSpPr>
            <p:nvPr/>
          </p:nvSpPr>
          <p:spPr bwMode="auto">
            <a:xfrm>
              <a:off x="5084781" y="971548"/>
              <a:ext cx="139701" cy="139700"/>
            </a:xfrm>
            <a:custGeom>
              <a:avLst/>
              <a:gdLst>
                <a:gd name="T0" fmla="*/ 4 w 37"/>
                <a:gd name="T1" fmla="*/ 9 h 37"/>
                <a:gd name="T2" fmla="*/ 5 w 37"/>
                <a:gd name="T3" fmla="*/ 12 h 37"/>
                <a:gd name="T4" fmla="*/ 2 w 37"/>
                <a:gd name="T5" fmla="*/ 12 h 37"/>
                <a:gd name="T6" fmla="*/ 0 w 37"/>
                <a:gd name="T7" fmla="*/ 14 h 37"/>
                <a:gd name="T8" fmla="*/ 1 w 37"/>
                <a:gd name="T9" fmla="*/ 17 h 37"/>
                <a:gd name="T10" fmla="*/ 3 w 37"/>
                <a:gd name="T11" fmla="*/ 20 h 37"/>
                <a:gd name="T12" fmla="*/ 2 w 37"/>
                <a:gd name="T13" fmla="*/ 21 h 37"/>
                <a:gd name="T14" fmla="*/ 1 w 37"/>
                <a:gd name="T15" fmla="*/ 24 h 37"/>
                <a:gd name="T16" fmla="*/ 3 w 37"/>
                <a:gd name="T17" fmla="*/ 26 h 37"/>
                <a:gd name="T18" fmla="*/ 5 w 37"/>
                <a:gd name="T19" fmla="*/ 26 h 37"/>
                <a:gd name="T20" fmla="*/ 5 w 37"/>
                <a:gd name="T21" fmla="*/ 29 h 37"/>
                <a:gd name="T22" fmla="*/ 6 w 37"/>
                <a:gd name="T23" fmla="*/ 32 h 37"/>
                <a:gd name="T24" fmla="*/ 9 w 37"/>
                <a:gd name="T25" fmla="*/ 33 h 37"/>
                <a:gd name="T26" fmla="*/ 12 w 37"/>
                <a:gd name="T27" fmla="*/ 32 h 37"/>
                <a:gd name="T28" fmla="*/ 12 w 37"/>
                <a:gd name="T29" fmla="*/ 34 h 37"/>
                <a:gd name="T30" fmla="*/ 15 w 37"/>
                <a:gd name="T31" fmla="*/ 37 h 37"/>
                <a:gd name="T32" fmla="*/ 17 w 37"/>
                <a:gd name="T33" fmla="*/ 35 h 37"/>
                <a:gd name="T34" fmla="*/ 20 w 37"/>
                <a:gd name="T35" fmla="*/ 34 h 37"/>
                <a:gd name="T36" fmla="*/ 21 w 37"/>
                <a:gd name="T37" fmla="*/ 35 h 37"/>
                <a:gd name="T38" fmla="*/ 24 w 37"/>
                <a:gd name="T39" fmla="*/ 36 h 37"/>
                <a:gd name="T40" fmla="*/ 26 w 37"/>
                <a:gd name="T41" fmla="*/ 34 h 37"/>
                <a:gd name="T42" fmla="*/ 27 w 37"/>
                <a:gd name="T43" fmla="*/ 31 h 37"/>
                <a:gd name="T44" fmla="*/ 29 w 37"/>
                <a:gd name="T45" fmla="*/ 32 h 37"/>
                <a:gd name="T46" fmla="*/ 32 w 37"/>
                <a:gd name="T47" fmla="*/ 31 h 37"/>
                <a:gd name="T48" fmla="*/ 33 w 37"/>
                <a:gd name="T49" fmla="*/ 28 h 37"/>
                <a:gd name="T50" fmla="*/ 32 w 37"/>
                <a:gd name="T51" fmla="*/ 25 h 37"/>
                <a:gd name="T52" fmla="*/ 35 w 37"/>
                <a:gd name="T53" fmla="*/ 24 h 37"/>
                <a:gd name="T54" fmla="*/ 37 w 37"/>
                <a:gd name="T55" fmla="*/ 22 h 37"/>
                <a:gd name="T56" fmla="*/ 36 w 37"/>
                <a:gd name="T57" fmla="*/ 19 h 37"/>
                <a:gd name="T58" fmla="*/ 34 w 37"/>
                <a:gd name="T59" fmla="*/ 17 h 37"/>
                <a:gd name="T60" fmla="*/ 35 w 37"/>
                <a:gd name="T61" fmla="*/ 15 h 37"/>
                <a:gd name="T62" fmla="*/ 36 w 37"/>
                <a:gd name="T63" fmla="*/ 12 h 37"/>
                <a:gd name="T64" fmla="*/ 34 w 37"/>
                <a:gd name="T65" fmla="*/ 11 h 37"/>
                <a:gd name="T66" fmla="*/ 31 w 37"/>
                <a:gd name="T67" fmla="*/ 9 h 37"/>
                <a:gd name="T68" fmla="*/ 32 w 37"/>
                <a:gd name="T69" fmla="*/ 7 h 37"/>
                <a:gd name="T70" fmla="*/ 31 w 37"/>
                <a:gd name="T71" fmla="*/ 4 h 37"/>
                <a:gd name="T72" fmla="*/ 28 w 37"/>
                <a:gd name="T73" fmla="*/ 4 h 37"/>
                <a:gd name="T74" fmla="*/ 25 w 37"/>
                <a:gd name="T75" fmla="*/ 4 h 37"/>
                <a:gd name="T76" fmla="*/ 25 w 37"/>
                <a:gd name="T77" fmla="*/ 2 h 37"/>
                <a:gd name="T78" fmla="*/ 22 w 37"/>
                <a:gd name="T79" fmla="*/ 0 h 37"/>
                <a:gd name="T80" fmla="*/ 20 w 37"/>
                <a:gd name="T81" fmla="*/ 1 h 37"/>
                <a:gd name="T82" fmla="*/ 17 w 37"/>
                <a:gd name="T83" fmla="*/ 3 h 37"/>
                <a:gd name="T84" fmla="*/ 16 w 37"/>
                <a:gd name="T85" fmla="*/ 1 h 37"/>
                <a:gd name="T86" fmla="*/ 13 w 37"/>
                <a:gd name="T87" fmla="*/ 0 h 37"/>
                <a:gd name="T88" fmla="*/ 11 w 37"/>
                <a:gd name="T89" fmla="*/ 3 h 37"/>
                <a:gd name="T90" fmla="*/ 10 w 37"/>
                <a:gd name="T91" fmla="*/ 6 h 37"/>
                <a:gd name="T92" fmla="*/ 8 w 37"/>
                <a:gd name="T93" fmla="*/ 5 h 37"/>
                <a:gd name="T94" fmla="*/ 5 w 37"/>
                <a:gd name="T95" fmla="*/ 6 h 37"/>
                <a:gd name="T96" fmla="*/ 4 w 37"/>
                <a:gd name="T97" fmla="*/ 9 h 37"/>
                <a:gd name="T98" fmla="*/ 15 w 37"/>
                <a:gd name="T99" fmla="*/ 8 h 37"/>
                <a:gd name="T100" fmla="*/ 29 w 37"/>
                <a:gd name="T101" fmla="*/ 15 h 37"/>
                <a:gd name="T102" fmla="*/ 22 w 37"/>
                <a:gd name="T103" fmla="*/ 29 h 37"/>
                <a:gd name="T104" fmla="*/ 8 w 37"/>
                <a:gd name="T105" fmla="*/ 22 h 37"/>
                <a:gd name="T106" fmla="*/ 15 w 37"/>
                <a:gd name="T107"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 h="37">
                  <a:moveTo>
                    <a:pt x="4" y="9"/>
                  </a:moveTo>
                  <a:cubicBezTo>
                    <a:pt x="5" y="9"/>
                    <a:pt x="5" y="11"/>
                    <a:pt x="5" y="12"/>
                  </a:cubicBezTo>
                  <a:cubicBezTo>
                    <a:pt x="4" y="12"/>
                    <a:pt x="3" y="12"/>
                    <a:pt x="2" y="12"/>
                  </a:cubicBezTo>
                  <a:cubicBezTo>
                    <a:pt x="1" y="12"/>
                    <a:pt x="0" y="13"/>
                    <a:pt x="0" y="14"/>
                  </a:cubicBezTo>
                  <a:cubicBezTo>
                    <a:pt x="0" y="16"/>
                    <a:pt x="0" y="17"/>
                    <a:pt x="1" y="17"/>
                  </a:cubicBezTo>
                  <a:cubicBezTo>
                    <a:pt x="2" y="17"/>
                    <a:pt x="3" y="19"/>
                    <a:pt x="3" y="20"/>
                  </a:cubicBezTo>
                  <a:cubicBezTo>
                    <a:pt x="3" y="20"/>
                    <a:pt x="2" y="21"/>
                    <a:pt x="2" y="21"/>
                  </a:cubicBezTo>
                  <a:cubicBezTo>
                    <a:pt x="1" y="21"/>
                    <a:pt x="0" y="23"/>
                    <a:pt x="1" y="24"/>
                  </a:cubicBezTo>
                  <a:cubicBezTo>
                    <a:pt x="1" y="25"/>
                    <a:pt x="2" y="26"/>
                    <a:pt x="3" y="26"/>
                  </a:cubicBezTo>
                  <a:cubicBezTo>
                    <a:pt x="4" y="26"/>
                    <a:pt x="5" y="26"/>
                    <a:pt x="5" y="26"/>
                  </a:cubicBezTo>
                  <a:cubicBezTo>
                    <a:pt x="6" y="27"/>
                    <a:pt x="6" y="28"/>
                    <a:pt x="5" y="29"/>
                  </a:cubicBezTo>
                  <a:cubicBezTo>
                    <a:pt x="5" y="30"/>
                    <a:pt x="5" y="31"/>
                    <a:pt x="6" y="32"/>
                  </a:cubicBezTo>
                  <a:cubicBezTo>
                    <a:pt x="7" y="33"/>
                    <a:pt x="8" y="33"/>
                    <a:pt x="9" y="33"/>
                  </a:cubicBezTo>
                  <a:cubicBezTo>
                    <a:pt x="10" y="32"/>
                    <a:pt x="11" y="32"/>
                    <a:pt x="12" y="32"/>
                  </a:cubicBezTo>
                  <a:cubicBezTo>
                    <a:pt x="12" y="32"/>
                    <a:pt x="13" y="33"/>
                    <a:pt x="12" y="34"/>
                  </a:cubicBezTo>
                  <a:cubicBezTo>
                    <a:pt x="12" y="35"/>
                    <a:pt x="13" y="36"/>
                    <a:pt x="15" y="37"/>
                  </a:cubicBezTo>
                  <a:cubicBezTo>
                    <a:pt x="16" y="37"/>
                    <a:pt x="17" y="36"/>
                    <a:pt x="17" y="35"/>
                  </a:cubicBezTo>
                  <a:cubicBezTo>
                    <a:pt x="18" y="34"/>
                    <a:pt x="19" y="34"/>
                    <a:pt x="20" y="34"/>
                  </a:cubicBezTo>
                  <a:cubicBezTo>
                    <a:pt x="20" y="34"/>
                    <a:pt x="21" y="34"/>
                    <a:pt x="21" y="35"/>
                  </a:cubicBezTo>
                  <a:cubicBezTo>
                    <a:pt x="22" y="36"/>
                    <a:pt x="23" y="37"/>
                    <a:pt x="24" y="36"/>
                  </a:cubicBezTo>
                  <a:cubicBezTo>
                    <a:pt x="26" y="36"/>
                    <a:pt x="26" y="35"/>
                    <a:pt x="26" y="34"/>
                  </a:cubicBezTo>
                  <a:cubicBezTo>
                    <a:pt x="26" y="33"/>
                    <a:pt x="27" y="31"/>
                    <a:pt x="27" y="31"/>
                  </a:cubicBezTo>
                  <a:cubicBezTo>
                    <a:pt x="28" y="31"/>
                    <a:pt x="29" y="31"/>
                    <a:pt x="29" y="32"/>
                  </a:cubicBezTo>
                  <a:cubicBezTo>
                    <a:pt x="30" y="32"/>
                    <a:pt x="32" y="32"/>
                    <a:pt x="32" y="31"/>
                  </a:cubicBezTo>
                  <a:cubicBezTo>
                    <a:pt x="33" y="30"/>
                    <a:pt x="34" y="28"/>
                    <a:pt x="33" y="28"/>
                  </a:cubicBezTo>
                  <a:cubicBezTo>
                    <a:pt x="32" y="27"/>
                    <a:pt x="32" y="25"/>
                    <a:pt x="32" y="25"/>
                  </a:cubicBezTo>
                  <a:cubicBezTo>
                    <a:pt x="33" y="24"/>
                    <a:pt x="34" y="24"/>
                    <a:pt x="35" y="24"/>
                  </a:cubicBezTo>
                  <a:cubicBezTo>
                    <a:pt x="36" y="24"/>
                    <a:pt x="37" y="24"/>
                    <a:pt x="37" y="22"/>
                  </a:cubicBezTo>
                  <a:cubicBezTo>
                    <a:pt x="37" y="21"/>
                    <a:pt x="37" y="20"/>
                    <a:pt x="36" y="19"/>
                  </a:cubicBezTo>
                  <a:cubicBezTo>
                    <a:pt x="35" y="19"/>
                    <a:pt x="34" y="18"/>
                    <a:pt x="34" y="17"/>
                  </a:cubicBezTo>
                  <a:cubicBezTo>
                    <a:pt x="34" y="16"/>
                    <a:pt x="35" y="16"/>
                    <a:pt x="35" y="15"/>
                  </a:cubicBezTo>
                  <a:cubicBezTo>
                    <a:pt x="36" y="15"/>
                    <a:pt x="37" y="14"/>
                    <a:pt x="36" y="12"/>
                  </a:cubicBezTo>
                  <a:cubicBezTo>
                    <a:pt x="36" y="11"/>
                    <a:pt x="35" y="10"/>
                    <a:pt x="34" y="11"/>
                  </a:cubicBezTo>
                  <a:cubicBezTo>
                    <a:pt x="33" y="11"/>
                    <a:pt x="31" y="10"/>
                    <a:pt x="31" y="9"/>
                  </a:cubicBezTo>
                  <a:cubicBezTo>
                    <a:pt x="31" y="9"/>
                    <a:pt x="31" y="8"/>
                    <a:pt x="32" y="7"/>
                  </a:cubicBezTo>
                  <a:cubicBezTo>
                    <a:pt x="32" y="7"/>
                    <a:pt x="32" y="5"/>
                    <a:pt x="31" y="4"/>
                  </a:cubicBezTo>
                  <a:cubicBezTo>
                    <a:pt x="30" y="3"/>
                    <a:pt x="29" y="3"/>
                    <a:pt x="28" y="4"/>
                  </a:cubicBezTo>
                  <a:cubicBezTo>
                    <a:pt x="27" y="5"/>
                    <a:pt x="26" y="5"/>
                    <a:pt x="25" y="4"/>
                  </a:cubicBezTo>
                  <a:cubicBezTo>
                    <a:pt x="25" y="4"/>
                    <a:pt x="24" y="3"/>
                    <a:pt x="25" y="2"/>
                  </a:cubicBezTo>
                  <a:cubicBezTo>
                    <a:pt x="25" y="1"/>
                    <a:pt x="24" y="0"/>
                    <a:pt x="22" y="0"/>
                  </a:cubicBezTo>
                  <a:cubicBezTo>
                    <a:pt x="21" y="0"/>
                    <a:pt x="20" y="0"/>
                    <a:pt x="20" y="1"/>
                  </a:cubicBezTo>
                  <a:cubicBezTo>
                    <a:pt x="19" y="2"/>
                    <a:pt x="18" y="3"/>
                    <a:pt x="17" y="3"/>
                  </a:cubicBezTo>
                  <a:cubicBezTo>
                    <a:pt x="17" y="3"/>
                    <a:pt x="16" y="2"/>
                    <a:pt x="16" y="1"/>
                  </a:cubicBezTo>
                  <a:cubicBezTo>
                    <a:pt x="15" y="0"/>
                    <a:pt x="14" y="0"/>
                    <a:pt x="13" y="0"/>
                  </a:cubicBezTo>
                  <a:cubicBezTo>
                    <a:pt x="11" y="1"/>
                    <a:pt x="11" y="2"/>
                    <a:pt x="11" y="3"/>
                  </a:cubicBezTo>
                  <a:cubicBezTo>
                    <a:pt x="11" y="4"/>
                    <a:pt x="10" y="5"/>
                    <a:pt x="10" y="6"/>
                  </a:cubicBezTo>
                  <a:cubicBezTo>
                    <a:pt x="9" y="6"/>
                    <a:pt x="8" y="6"/>
                    <a:pt x="8" y="5"/>
                  </a:cubicBezTo>
                  <a:cubicBezTo>
                    <a:pt x="7" y="4"/>
                    <a:pt x="5" y="5"/>
                    <a:pt x="5" y="6"/>
                  </a:cubicBezTo>
                  <a:cubicBezTo>
                    <a:pt x="4" y="7"/>
                    <a:pt x="3" y="8"/>
                    <a:pt x="4" y="9"/>
                  </a:cubicBezTo>
                  <a:close/>
                  <a:moveTo>
                    <a:pt x="15" y="8"/>
                  </a:moveTo>
                  <a:cubicBezTo>
                    <a:pt x="21" y="6"/>
                    <a:pt x="27" y="9"/>
                    <a:pt x="29" y="15"/>
                  </a:cubicBezTo>
                  <a:cubicBezTo>
                    <a:pt x="31" y="21"/>
                    <a:pt x="27" y="27"/>
                    <a:pt x="22" y="29"/>
                  </a:cubicBezTo>
                  <a:cubicBezTo>
                    <a:pt x="16" y="30"/>
                    <a:pt x="10" y="27"/>
                    <a:pt x="8" y="22"/>
                  </a:cubicBezTo>
                  <a:cubicBezTo>
                    <a:pt x="6" y="16"/>
                    <a:pt x="10" y="10"/>
                    <a:pt x="15"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99" name="Freeform 303"/>
            <p:cNvSpPr>
              <a:spLocks noEditPoints="1"/>
            </p:cNvSpPr>
            <p:nvPr/>
          </p:nvSpPr>
          <p:spPr bwMode="auto">
            <a:xfrm>
              <a:off x="5084763" y="1111250"/>
              <a:ext cx="109538" cy="104775"/>
            </a:xfrm>
            <a:custGeom>
              <a:avLst/>
              <a:gdLst>
                <a:gd name="T0" fmla="*/ 3 w 29"/>
                <a:gd name="T1" fmla="*/ 7 h 28"/>
                <a:gd name="T2" fmla="*/ 4 w 29"/>
                <a:gd name="T3" fmla="*/ 9 h 28"/>
                <a:gd name="T4" fmla="*/ 2 w 29"/>
                <a:gd name="T5" fmla="*/ 9 h 28"/>
                <a:gd name="T6" fmla="*/ 0 w 29"/>
                <a:gd name="T7" fmla="*/ 11 h 28"/>
                <a:gd name="T8" fmla="*/ 1 w 29"/>
                <a:gd name="T9" fmla="*/ 13 h 28"/>
                <a:gd name="T10" fmla="*/ 3 w 29"/>
                <a:gd name="T11" fmla="*/ 15 h 28"/>
                <a:gd name="T12" fmla="*/ 1 w 29"/>
                <a:gd name="T13" fmla="*/ 16 h 28"/>
                <a:gd name="T14" fmla="*/ 1 w 29"/>
                <a:gd name="T15" fmla="*/ 19 h 28"/>
                <a:gd name="T16" fmla="*/ 3 w 29"/>
                <a:gd name="T17" fmla="*/ 20 h 28"/>
                <a:gd name="T18" fmla="*/ 4 w 29"/>
                <a:gd name="T19" fmla="*/ 20 h 28"/>
                <a:gd name="T20" fmla="*/ 4 w 29"/>
                <a:gd name="T21" fmla="*/ 23 h 28"/>
                <a:gd name="T22" fmla="*/ 5 w 29"/>
                <a:gd name="T23" fmla="*/ 25 h 28"/>
                <a:gd name="T24" fmla="*/ 7 w 29"/>
                <a:gd name="T25" fmla="*/ 25 h 28"/>
                <a:gd name="T26" fmla="*/ 9 w 29"/>
                <a:gd name="T27" fmla="*/ 25 h 28"/>
                <a:gd name="T28" fmla="*/ 10 w 29"/>
                <a:gd name="T29" fmla="*/ 27 h 28"/>
                <a:gd name="T30" fmla="*/ 11 w 29"/>
                <a:gd name="T31" fmla="*/ 28 h 28"/>
                <a:gd name="T32" fmla="*/ 13 w 29"/>
                <a:gd name="T33" fmla="*/ 27 h 28"/>
                <a:gd name="T34" fmla="*/ 15 w 29"/>
                <a:gd name="T35" fmla="*/ 26 h 28"/>
                <a:gd name="T36" fmla="*/ 17 w 29"/>
                <a:gd name="T37" fmla="*/ 27 h 28"/>
                <a:gd name="T38" fmla="*/ 19 w 29"/>
                <a:gd name="T39" fmla="*/ 28 h 28"/>
                <a:gd name="T40" fmla="*/ 20 w 29"/>
                <a:gd name="T41" fmla="*/ 26 h 28"/>
                <a:gd name="T42" fmla="*/ 21 w 29"/>
                <a:gd name="T43" fmla="*/ 24 h 28"/>
                <a:gd name="T44" fmla="*/ 23 w 29"/>
                <a:gd name="T45" fmla="*/ 24 h 28"/>
                <a:gd name="T46" fmla="*/ 25 w 29"/>
                <a:gd name="T47" fmla="*/ 24 h 28"/>
                <a:gd name="T48" fmla="*/ 25 w 29"/>
                <a:gd name="T49" fmla="*/ 21 h 28"/>
                <a:gd name="T50" fmla="*/ 25 w 29"/>
                <a:gd name="T51" fmla="*/ 19 h 28"/>
                <a:gd name="T52" fmla="*/ 27 w 29"/>
                <a:gd name="T53" fmla="*/ 19 h 28"/>
                <a:gd name="T54" fmla="*/ 29 w 29"/>
                <a:gd name="T55" fmla="*/ 17 h 28"/>
                <a:gd name="T56" fmla="*/ 28 w 29"/>
                <a:gd name="T57" fmla="*/ 15 h 28"/>
                <a:gd name="T58" fmla="*/ 26 w 29"/>
                <a:gd name="T59" fmla="*/ 13 h 28"/>
                <a:gd name="T60" fmla="*/ 27 w 29"/>
                <a:gd name="T61" fmla="*/ 12 h 28"/>
                <a:gd name="T62" fmla="*/ 28 w 29"/>
                <a:gd name="T63" fmla="*/ 10 h 28"/>
                <a:gd name="T64" fmla="*/ 26 w 29"/>
                <a:gd name="T65" fmla="*/ 8 h 28"/>
                <a:gd name="T66" fmla="*/ 24 w 29"/>
                <a:gd name="T67" fmla="*/ 7 h 28"/>
                <a:gd name="T68" fmla="*/ 25 w 29"/>
                <a:gd name="T69" fmla="*/ 6 h 28"/>
                <a:gd name="T70" fmla="*/ 24 w 29"/>
                <a:gd name="T71" fmla="*/ 3 h 28"/>
                <a:gd name="T72" fmla="*/ 22 w 29"/>
                <a:gd name="T73" fmla="*/ 3 h 28"/>
                <a:gd name="T74" fmla="*/ 19 w 29"/>
                <a:gd name="T75" fmla="*/ 3 h 28"/>
                <a:gd name="T76" fmla="*/ 19 w 29"/>
                <a:gd name="T77" fmla="*/ 2 h 28"/>
                <a:gd name="T78" fmla="*/ 17 w 29"/>
                <a:gd name="T79" fmla="*/ 0 h 28"/>
                <a:gd name="T80" fmla="*/ 15 w 29"/>
                <a:gd name="T81" fmla="*/ 1 h 28"/>
                <a:gd name="T82" fmla="*/ 13 w 29"/>
                <a:gd name="T83" fmla="*/ 2 h 28"/>
                <a:gd name="T84" fmla="*/ 12 w 29"/>
                <a:gd name="T85" fmla="*/ 1 h 28"/>
                <a:gd name="T86" fmla="*/ 10 w 29"/>
                <a:gd name="T87" fmla="*/ 0 h 28"/>
                <a:gd name="T88" fmla="*/ 9 w 29"/>
                <a:gd name="T89" fmla="*/ 2 h 28"/>
                <a:gd name="T90" fmla="*/ 8 w 29"/>
                <a:gd name="T91" fmla="*/ 4 h 28"/>
                <a:gd name="T92" fmla="*/ 6 w 29"/>
                <a:gd name="T93" fmla="*/ 4 h 28"/>
                <a:gd name="T94" fmla="*/ 4 w 29"/>
                <a:gd name="T95" fmla="*/ 4 h 28"/>
                <a:gd name="T96" fmla="*/ 3 w 29"/>
                <a:gd name="T97" fmla="*/ 7 h 28"/>
                <a:gd name="T98" fmla="*/ 12 w 29"/>
                <a:gd name="T99" fmla="*/ 6 h 28"/>
                <a:gd name="T100" fmla="*/ 22 w 29"/>
                <a:gd name="T101" fmla="*/ 12 h 28"/>
                <a:gd name="T102" fmla="*/ 17 w 29"/>
                <a:gd name="T103" fmla="*/ 22 h 28"/>
                <a:gd name="T104" fmla="*/ 6 w 29"/>
                <a:gd name="T105" fmla="*/ 17 h 28"/>
                <a:gd name="T106" fmla="*/ 12 w 29"/>
                <a:gd name="T10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 h="28">
                  <a:moveTo>
                    <a:pt x="3" y="7"/>
                  </a:moveTo>
                  <a:cubicBezTo>
                    <a:pt x="4" y="7"/>
                    <a:pt x="4" y="9"/>
                    <a:pt x="4" y="9"/>
                  </a:cubicBezTo>
                  <a:cubicBezTo>
                    <a:pt x="4" y="9"/>
                    <a:pt x="3" y="10"/>
                    <a:pt x="2" y="9"/>
                  </a:cubicBezTo>
                  <a:cubicBezTo>
                    <a:pt x="1" y="9"/>
                    <a:pt x="0" y="10"/>
                    <a:pt x="0" y="11"/>
                  </a:cubicBezTo>
                  <a:cubicBezTo>
                    <a:pt x="0" y="12"/>
                    <a:pt x="0" y="13"/>
                    <a:pt x="1" y="13"/>
                  </a:cubicBezTo>
                  <a:cubicBezTo>
                    <a:pt x="2" y="13"/>
                    <a:pt x="3" y="15"/>
                    <a:pt x="3" y="15"/>
                  </a:cubicBezTo>
                  <a:cubicBezTo>
                    <a:pt x="3" y="16"/>
                    <a:pt x="2" y="16"/>
                    <a:pt x="1" y="16"/>
                  </a:cubicBezTo>
                  <a:cubicBezTo>
                    <a:pt x="1" y="17"/>
                    <a:pt x="0" y="18"/>
                    <a:pt x="1" y="19"/>
                  </a:cubicBezTo>
                  <a:cubicBezTo>
                    <a:pt x="1" y="20"/>
                    <a:pt x="2" y="20"/>
                    <a:pt x="3" y="20"/>
                  </a:cubicBezTo>
                  <a:cubicBezTo>
                    <a:pt x="3" y="20"/>
                    <a:pt x="4" y="20"/>
                    <a:pt x="4" y="20"/>
                  </a:cubicBezTo>
                  <a:cubicBezTo>
                    <a:pt x="4" y="21"/>
                    <a:pt x="5" y="22"/>
                    <a:pt x="4" y="23"/>
                  </a:cubicBezTo>
                  <a:cubicBezTo>
                    <a:pt x="4" y="23"/>
                    <a:pt x="4" y="24"/>
                    <a:pt x="5" y="25"/>
                  </a:cubicBezTo>
                  <a:cubicBezTo>
                    <a:pt x="5" y="26"/>
                    <a:pt x="7" y="26"/>
                    <a:pt x="7" y="25"/>
                  </a:cubicBezTo>
                  <a:cubicBezTo>
                    <a:pt x="8" y="25"/>
                    <a:pt x="9" y="25"/>
                    <a:pt x="9" y="25"/>
                  </a:cubicBezTo>
                  <a:cubicBezTo>
                    <a:pt x="10" y="25"/>
                    <a:pt x="10" y="26"/>
                    <a:pt x="10" y="27"/>
                  </a:cubicBezTo>
                  <a:cubicBezTo>
                    <a:pt x="10" y="27"/>
                    <a:pt x="10" y="28"/>
                    <a:pt x="11" y="28"/>
                  </a:cubicBezTo>
                  <a:cubicBezTo>
                    <a:pt x="12" y="28"/>
                    <a:pt x="13" y="28"/>
                    <a:pt x="13" y="27"/>
                  </a:cubicBezTo>
                  <a:cubicBezTo>
                    <a:pt x="14" y="27"/>
                    <a:pt x="15" y="26"/>
                    <a:pt x="15" y="26"/>
                  </a:cubicBezTo>
                  <a:cubicBezTo>
                    <a:pt x="16" y="26"/>
                    <a:pt x="16" y="26"/>
                    <a:pt x="17" y="27"/>
                  </a:cubicBezTo>
                  <a:cubicBezTo>
                    <a:pt x="17" y="28"/>
                    <a:pt x="18" y="28"/>
                    <a:pt x="19" y="28"/>
                  </a:cubicBezTo>
                  <a:cubicBezTo>
                    <a:pt x="20" y="28"/>
                    <a:pt x="20" y="27"/>
                    <a:pt x="20" y="26"/>
                  </a:cubicBezTo>
                  <a:cubicBezTo>
                    <a:pt x="20" y="25"/>
                    <a:pt x="21" y="24"/>
                    <a:pt x="21" y="24"/>
                  </a:cubicBezTo>
                  <a:cubicBezTo>
                    <a:pt x="21" y="24"/>
                    <a:pt x="22" y="24"/>
                    <a:pt x="23" y="24"/>
                  </a:cubicBezTo>
                  <a:cubicBezTo>
                    <a:pt x="23" y="25"/>
                    <a:pt x="24" y="25"/>
                    <a:pt x="25" y="24"/>
                  </a:cubicBezTo>
                  <a:cubicBezTo>
                    <a:pt x="26" y="23"/>
                    <a:pt x="26" y="22"/>
                    <a:pt x="25" y="21"/>
                  </a:cubicBezTo>
                  <a:cubicBezTo>
                    <a:pt x="25" y="21"/>
                    <a:pt x="25" y="20"/>
                    <a:pt x="25" y="19"/>
                  </a:cubicBezTo>
                  <a:cubicBezTo>
                    <a:pt x="25" y="19"/>
                    <a:pt x="26" y="19"/>
                    <a:pt x="27" y="19"/>
                  </a:cubicBezTo>
                  <a:cubicBezTo>
                    <a:pt x="28" y="19"/>
                    <a:pt x="28" y="18"/>
                    <a:pt x="29" y="17"/>
                  </a:cubicBezTo>
                  <a:cubicBezTo>
                    <a:pt x="29" y="16"/>
                    <a:pt x="28" y="15"/>
                    <a:pt x="28" y="15"/>
                  </a:cubicBezTo>
                  <a:cubicBezTo>
                    <a:pt x="27" y="15"/>
                    <a:pt x="26" y="14"/>
                    <a:pt x="26" y="13"/>
                  </a:cubicBezTo>
                  <a:cubicBezTo>
                    <a:pt x="26" y="13"/>
                    <a:pt x="27" y="12"/>
                    <a:pt x="27" y="12"/>
                  </a:cubicBezTo>
                  <a:cubicBezTo>
                    <a:pt x="28" y="12"/>
                    <a:pt x="28" y="11"/>
                    <a:pt x="28" y="10"/>
                  </a:cubicBezTo>
                  <a:cubicBezTo>
                    <a:pt x="28" y="9"/>
                    <a:pt x="27" y="8"/>
                    <a:pt x="26" y="8"/>
                  </a:cubicBezTo>
                  <a:cubicBezTo>
                    <a:pt x="26" y="9"/>
                    <a:pt x="24" y="8"/>
                    <a:pt x="24" y="7"/>
                  </a:cubicBezTo>
                  <a:cubicBezTo>
                    <a:pt x="24" y="7"/>
                    <a:pt x="24" y="6"/>
                    <a:pt x="25" y="6"/>
                  </a:cubicBezTo>
                  <a:cubicBezTo>
                    <a:pt x="25" y="5"/>
                    <a:pt x="25" y="4"/>
                    <a:pt x="24" y="3"/>
                  </a:cubicBezTo>
                  <a:cubicBezTo>
                    <a:pt x="23" y="3"/>
                    <a:pt x="22" y="3"/>
                    <a:pt x="22" y="3"/>
                  </a:cubicBezTo>
                  <a:cubicBezTo>
                    <a:pt x="21" y="4"/>
                    <a:pt x="20" y="4"/>
                    <a:pt x="19" y="3"/>
                  </a:cubicBezTo>
                  <a:cubicBezTo>
                    <a:pt x="19" y="3"/>
                    <a:pt x="19" y="2"/>
                    <a:pt x="19" y="2"/>
                  </a:cubicBezTo>
                  <a:cubicBezTo>
                    <a:pt x="19" y="1"/>
                    <a:pt x="18" y="0"/>
                    <a:pt x="17" y="0"/>
                  </a:cubicBezTo>
                  <a:cubicBezTo>
                    <a:pt x="16" y="0"/>
                    <a:pt x="15" y="0"/>
                    <a:pt x="15" y="1"/>
                  </a:cubicBezTo>
                  <a:cubicBezTo>
                    <a:pt x="15" y="2"/>
                    <a:pt x="14" y="2"/>
                    <a:pt x="13" y="2"/>
                  </a:cubicBezTo>
                  <a:cubicBezTo>
                    <a:pt x="13" y="2"/>
                    <a:pt x="12" y="2"/>
                    <a:pt x="12" y="1"/>
                  </a:cubicBezTo>
                  <a:cubicBezTo>
                    <a:pt x="12" y="0"/>
                    <a:pt x="11" y="0"/>
                    <a:pt x="10" y="0"/>
                  </a:cubicBezTo>
                  <a:cubicBezTo>
                    <a:pt x="9" y="1"/>
                    <a:pt x="8" y="2"/>
                    <a:pt x="9" y="2"/>
                  </a:cubicBezTo>
                  <a:cubicBezTo>
                    <a:pt x="9" y="3"/>
                    <a:pt x="8" y="4"/>
                    <a:pt x="8" y="4"/>
                  </a:cubicBezTo>
                  <a:cubicBezTo>
                    <a:pt x="7" y="5"/>
                    <a:pt x="7" y="4"/>
                    <a:pt x="6" y="4"/>
                  </a:cubicBezTo>
                  <a:cubicBezTo>
                    <a:pt x="5" y="3"/>
                    <a:pt x="4" y="4"/>
                    <a:pt x="4" y="4"/>
                  </a:cubicBezTo>
                  <a:cubicBezTo>
                    <a:pt x="3" y="5"/>
                    <a:pt x="3" y="6"/>
                    <a:pt x="3" y="7"/>
                  </a:cubicBezTo>
                  <a:close/>
                  <a:moveTo>
                    <a:pt x="12" y="6"/>
                  </a:moveTo>
                  <a:cubicBezTo>
                    <a:pt x="16" y="5"/>
                    <a:pt x="21" y="7"/>
                    <a:pt x="22" y="12"/>
                  </a:cubicBezTo>
                  <a:cubicBezTo>
                    <a:pt x="24" y="16"/>
                    <a:pt x="21" y="21"/>
                    <a:pt x="17" y="22"/>
                  </a:cubicBezTo>
                  <a:cubicBezTo>
                    <a:pt x="13" y="23"/>
                    <a:pt x="8" y="21"/>
                    <a:pt x="6" y="17"/>
                  </a:cubicBezTo>
                  <a:cubicBezTo>
                    <a:pt x="5" y="12"/>
                    <a:pt x="7" y="8"/>
                    <a:pt x="12" y="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grpSp>
      <p:sp>
        <p:nvSpPr>
          <p:cNvPr id="100" name="Freeform 9"/>
          <p:cNvSpPr>
            <a:spLocks noEditPoints="1"/>
          </p:cNvSpPr>
          <p:nvPr/>
        </p:nvSpPr>
        <p:spPr bwMode="auto">
          <a:xfrm rot="19469485">
            <a:off x="7546084" y="1906136"/>
            <a:ext cx="283701" cy="302301"/>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sp>
        <p:nvSpPr>
          <p:cNvPr id="101" name="Freeform 206"/>
          <p:cNvSpPr>
            <a:spLocks noChangeAspect="1" noEditPoints="1"/>
          </p:cNvSpPr>
          <p:nvPr/>
        </p:nvSpPr>
        <p:spPr bwMode="auto">
          <a:xfrm>
            <a:off x="8264982" y="1900379"/>
            <a:ext cx="228407" cy="276096"/>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sp>
        <p:nvSpPr>
          <p:cNvPr id="103" name="矩形 3"/>
          <p:cNvSpPr>
            <a:spLocks noChangeArrowheads="1"/>
          </p:cNvSpPr>
          <p:nvPr/>
        </p:nvSpPr>
        <p:spPr bwMode="auto">
          <a:xfrm>
            <a:off x="4862204" y="2550874"/>
            <a:ext cx="2210811"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1416" tIns="25708" rIns="51416" bIns="25708">
            <a:spAutoFit/>
          </a:bodyPr>
          <a:lstStyle/>
          <a:p>
            <a:pPr>
              <a:spcBef>
                <a:spcPct val="0"/>
              </a:spcBef>
              <a:buFont typeface="Arial" panose="020B0604020202020204" pitchFamily="34" charset="0"/>
              <a:buNone/>
            </a:pPr>
            <a:r>
              <a:rPr lang="en-US" altLang="zh-CN" sz="1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ROBOMASTER 2024</a:t>
            </a:r>
            <a:endParaRPr lang="zh-CN" altLang="en-US" sz="1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1"/>
          <p:cNvSpPr txBox="1"/>
          <p:nvPr/>
        </p:nvSpPr>
        <p:spPr>
          <a:xfrm>
            <a:off x="5911850" y="5248275"/>
            <a:ext cx="3047365" cy="553085"/>
          </a:xfrm>
          <a:prstGeom prst="rect">
            <a:avLst/>
          </a:prstGeom>
          <a:noFill/>
        </p:spPr>
        <p:txBody>
          <a:bodyPr wrap="square" rtlCol="0">
            <a:spAutoFit/>
          </a:bodyPr>
          <a:lstStyle/>
          <a:p>
            <a:r>
              <a:rPr lang="en-US" altLang="zh-CN" sz="3000" b="1" dirty="0">
                <a:solidFill>
                  <a:schemeClr val="bg1"/>
                </a:solidFill>
              </a:rPr>
              <a:t>2024</a:t>
            </a:r>
            <a:r>
              <a:rPr lang="zh-CN" altLang="en-US" sz="3000" b="1" dirty="0">
                <a:solidFill>
                  <a:schemeClr val="bg1"/>
                </a:solidFill>
              </a:rPr>
              <a:t>年</a:t>
            </a:r>
            <a:r>
              <a:rPr lang="en-US" altLang="zh-CN" sz="3000" b="1" dirty="0">
                <a:solidFill>
                  <a:schemeClr val="bg1"/>
                </a:solidFill>
              </a:rPr>
              <a:t>11</a:t>
            </a:r>
            <a:r>
              <a:rPr lang="zh-CN" altLang="en-US" sz="3000" b="1" dirty="0">
                <a:solidFill>
                  <a:schemeClr val="bg1"/>
                </a:solidFill>
              </a:rPr>
              <a:t>月</a:t>
            </a:r>
            <a:r>
              <a:rPr lang="en-US" altLang="zh-CN" sz="3000" b="1" dirty="0">
                <a:solidFill>
                  <a:schemeClr val="bg1"/>
                </a:solidFill>
              </a:rPr>
              <a:t>16</a:t>
            </a:r>
            <a:r>
              <a:rPr lang="zh-CN" altLang="en-US" sz="3000" b="1" dirty="0">
                <a:solidFill>
                  <a:schemeClr val="bg1"/>
                </a:solidFill>
              </a:rPr>
              <a:t>日</a:t>
            </a:r>
            <a:endParaRPr lang="zh-CN" altLang="en-US" sz="3000" b="1" dirty="0">
              <a:solidFill>
                <a:schemeClr val="bg1"/>
              </a:solidFill>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5455" y="150495"/>
            <a:ext cx="1744980" cy="1701165"/>
          </a:xfrm>
          <a:prstGeom prst="rect">
            <a:avLst/>
          </a:prstGeom>
        </p:spPr>
      </p:pic>
      <p:sp>
        <p:nvSpPr>
          <p:cNvPr id="3" name="文本框 2"/>
          <p:cNvSpPr txBox="1"/>
          <p:nvPr/>
        </p:nvSpPr>
        <p:spPr>
          <a:xfrm>
            <a:off x="7536815" y="4042410"/>
            <a:ext cx="950595" cy="368300"/>
          </a:xfrm>
          <a:prstGeom prst="rect">
            <a:avLst/>
          </a:prstGeom>
          <a:noFill/>
        </p:spPr>
        <p:txBody>
          <a:bodyPr wrap="square" rtlCol="0">
            <a:spAutoFit/>
          </a:bodyPr>
          <a:p>
            <a:r>
              <a:rPr lang="zh-CN" altLang="en-US">
                <a:solidFill>
                  <a:schemeClr val="bg1"/>
                </a:solidFill>
              </a:rPr>
              <a:t>郭骐玮</a:t>
            </a:r>
            <a:endParaRPr lang="zh-CN" altLang="en-US">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0-#ppt_w/2"/>
                                          </p:val>
                                        </p:tav>
                                        <p:tav tm="100000">
                                          <p:val>
                                            <p:strVal val="#ppt_x"/>
                                          </p:val>
                                        </p:tav>
                                      </p:tavLst>
                                    </p:anim>
                                    <p:anim calcmode="lin" valueType="num">
                                      <p:cBhvr additive="base">
                                        <p:cTn id="8" dur="500" fill="hold"/>
                                        <p:tgtEl>
                                          <p:spTgt spid="5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3"/>
                                        </p:tgtEl>
                                        <p:attrNameLst>
                                          <p:attrName>style.visibility</p:attrName>
                                        </p:attrNameLst>
                                      </p:cBhvr>
                                      <p:to>
                                        <p:strVal val="visible"/>
                                      </p:to>
                                    </p:set>
                                    <p:anim calcmode="lin" valueType="num">
                                      <p:cBhvr additive="base">
                                        <p:cTn id="12" dur="500" fill="hold"/>
                                        <p:tgtEl>
                                          <p:spTgt spid="53"/>
                                        </p:tgtEl>
                                        <p:attrNameLst>
                                          <p:attrName>ppt_x</p:attrName>
                                        </p:attrNameLst>
                                      </p:cBhvr>
                                      <p:tavLst>
                                        <p:tav tm="0">
                                          <p:val>
                                            <p:strVal val="0-#ppt_w/2"/>
                                          </p:val>
                                        </p:tav>
                                        <p:tav tm="100000">
                                          <p:val>
                                            <p:strVal val="#ppt_x"/>
                                          </p:val>
                                        </p:tav>
                                      </p:tavLst>
                                    </p:anim>
                                    <p:anim calcmode="lin" valueType="num">
                                      <p:cBhvr additive="base">
                                        <p:cTn id="13" dur="500" fill="hold"/>
                                        <p:tgtEl>
                                          <p:spTgt spid="53"/>
                                        </p:tgtEl>
                                        <p:attrNameLst>
                                          <p:attrName>ppt_y</p:attrName>
                                        </p:attrNameLst>
                                      </p:cBhvr>
                                      <p:tavLst>
                                        <p:tav tm="0">
                                          <p:val>
                                            <p:strVal val="#ppt_y"/>
                                          </p:val>
                                        </p:tav>
                                        <p:tav tm="100000">
                                          <p:val>
                                            <p:strVal val="#ppt_y"/>
                                          </p:val>
                                        </p:tav>
                                      </p:tavLst>
                                    </p:anim>
                                  </p:childTnLst>
                                </p:cTn>
                              </p:par>
                              <p:par>
                                <p:cTn id="14" presetID="52" presetClass="entr" presetSubtype="0" fill="hold" grpId="0" nodeType="withEffect">
                                  <p:stCondLst>
                                    <p:cond delay="500"/>
                                  </p:stCondLst>
                                  <p:iterate type="lt">
                                    <p:tmPct val="10000"/>
                                  </p:iterate>
                                  <p:childTnLst>
                                    <p:set>
                                      <p:cBhvr>
                                        <p:cTn id="15" dur="1" fill="hold">
                                          <p:stCondLst>
                                            <p:cond delay="0"/>
                                          </p:stCondLst>
                                        </p:cTn>
                                        <p:tgtEl>
                                          <p:spTgt spid="56"/>
                                        </p:tgtEl>
                                        <p:attrNameLst>
                                          <p:attrName>style.visibility</p:attrName>
                                        </p:attrNameLst>
                                      </p:cBhvr>
                                      <p:to>
                                        <p:strVal val="visible"/>
                                      </p:to>
                                    </p:set>
                                    <p:animScale>
                                      <p:cBhvr>
                                        <p:cTn id="16" dur="1000" decel="50000" fill="hold">
                                          <p:stCondLst>
                                            <p:cond delay="0"/>
                                          </p:stCondLst>
                                        </p:cTn>
                                        <p:tgtEl>
                                          <p:spTgt spid="5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7" dur="1000" decel="50000" fill="hold">
                                          <p:stCondLst>
                                            <p:cond delay="0"/>
                                          </p:stCondLst>
                                        </p:cTn>
                                        <p:tgtEl>
                                          <p:spTgt spid="56"/>
                                        </p:tgtEl>
                                        <p:attrNameLst>
                                          <p:attrName>ppt_x</p:attrName>
                                          <p:attrName>ppt_y</p:attrName>
                                        </p:attrNameLst>
                                      </p:cBhvr>
                                    </p:animMotion>
                                    <p:animEffect transition="in" filter="fade">
                                      <p:cBhvr>
                                        <p:cTn id="18" dur="1000"/>
                                        <p:tgtEl>
                                          <p:spTgt spid="56"/>
                                        </p:tgtEl>
                                      </p:cBhvr>
                                    </p:animEffect>
                                  </p:childTnLst>
                                </p:cTn>
                              </p:par>
                              <p:par>
                                <p:cTn id="19" presetID="22" presetClass="entr" presetSubtype="8" fill="hold" nodeType="withEffect">
                                  <p:stCondLst>
                                    <p:cond delay="1000"/>
                                  </p:stCondLst>
                                  <p:childTnLst>
                                    <p:set>
                                      <p:cBhvr>
                                        <p:cTn id="20" dur="1" fill="hold">
                                          <p:stCondLst>
                                            <p:cond delay="0"/>
                                          </p:stCondLst>
                                        </p:cTn>
                                        <p:tgtEl>
                                          <p:spTgt spid="57"/>
                                        </p:tgtEl>
                                        <p:attrNameLst>
                                          <p:attrName>style.visibility</p:attrName>
                                        </p:attrNameLst>
                                      </p:cBhvr>
                                      <p:to>
                                        <p:strVal val="visible"/>
                                      </p:to>
                                    </p:set>
                                    <p:animEffect transition="in" filter="wipe(left)">
                                      <p:cBhvr>
                                        <p:cTn id="21" dur="500"/>
                                        <p:tgtEl>
                                          <p:spTgt spid="57"/>
                                        </p:tgtEl>
                                      </p:cBhvr>
                                    </p:animEffect>
                                  </p:childTnLst>
                                </p:cTn>
                              </p:par>
                              <p:par>
                                <p:cTn id="22" presetID="22" presetClass="entr" presetSubtype="8" fill="hold" grpId="0" nodeType="withEffect">
                                  <p:stCondLst>
                                    <p:cond delay="1500"/>
                                  </p:stCondLst>
                                  <p:childTnLst>
                                    <p:set>
                                      <p:cBhvr>
                                        <p:cTn id="23" dur="1" fill="hold">
                                          <p:stCondLst>
                                            <p:cond delay="0"/>
                                          </p:stCondLst>
                                        </p:cTn>
                                        <p:tgtEl>
                                          <p:spTgt spid="58"/>
                                        </p:tgtEl>
                                        <p:attrNameLst>
                                          <p:attrName>style.visibility</p:attrName>
                                        </p:attrNameLst>
                                      </p:cBhvr>
                                      <p:to>
                                        <p:strVal val="visible"/>
                                      </p:to>
                                    </p:set>
                                    <p:animEffect transition="in" filter="wipe(left)">
                                      <p:cBhvr>
                                        <p:cTn id="24" dur="800"/>
                                        <p:tgtEl>
                                          <p:spTgt spid="58"/>
                                        </p:tgtEl>
                                      </p:cBhvr>
                                    </p:animEffect>
                                  </p:childTnLst>
                                </p:cTn>
                              </p:par>
                              <p:par>
                                <p:cTn id="25" presetID="2" presetClass="entr" presetSubtype="12" fill="hold" nodeType="withEffect">
                                  <p:stCondLst>
                                    <p:cond delay="500"/>
                                  </p:stCondLst>
                                  <p:childTnLst>
                                    <p:set>
                                      <p:cBhvr>
                                        <p:cTn id="26" dur="1" fill="hold">
                                          <p:stCondLst>
                                            <p:cond delay="0"/>
                                          </p:stCondLst>
                                        </p:cTn>
                                        <p:tgtEl>
                                          <p:spTgt spid="59"/>
                                        </p:tgtEl>
                                        <p:attrNameLst>
                                          <p:attrName>style.visibility</p:attrName>
                                        </p:attrNameLst>
                                      </p:cBhvr>
                                      <p:to>
                                        <p:strVal val="visible"/>
                                      </p:to>
                                    </p:set>
                                    <p:anim calcmode="lin" valueType="num">
                                      <p:cBhvr additive="base">
                                        <p:cTn id="27" dur="500" fill="hold"/>
                                        <p:tgtEl>
                                          <p:spTgt spid="59"/>
                                        </p:tgtEl>
                                        <p:attrNameLst>
                                          <p:attrName>ppt_x</p:attrName>
                                        </p:attrNameLst>
                                      </p:cBhvr>
                                      <p:tavLst>
                                        <p:tav tm="0">
                                          <p:val>
                                            <p:strVal val="0-#ppt_w/2"/>
                                          </p:val>
                                        </p:tav>
                                        <p:tav tm="100000">
                                          <p:val>
                                            <p:strVal val="#ppt_x"/>
                                          </p:val>
                                        </p:tav>
                                      </p:tavLst>
                                    </p:anim>
                                    <p:anim calcmode="lin" valueType="num">
                                      <p:cBhvr additive="base">
                                        <p:cTn id="28" dur="500" fill="hold"/>
                                        <p:tgtEl>
                                          <p:spTgt spid="59"/>
                                        </p:tgtEl>
                                        <p:attrNameLst>
                                          <p:attrName>ppt_y</p:attrName>
                                        </p:attrNameLst>
                                      </p:cBhvr>
                                      <p:tavLst>
                                        <p:tav tm="0">
                                          <p:val>
                                            <p:strVal val="1+#ppt_h/2"/>
                                          </p:val>
                                        </p:tav>
                                        <p:tav tm="100000">
                                          <p:val>
                                            <p:strVal val="#ppt_y"/>
                                          </p:val>
                                        </p:tav>
                                      </p:tavLst>
                                    </p:anim>
                                  </p:childTnLst>
                                </p:cTn>
                              </p:par>
                              <p:par>
                                <p:cTn id="29" presetID="45" presetClass="entr" presetSubtype="0" fill="hold" grpId="0" nodeType="withEffect">
                                  <p:stCondLst>
                                    <p:cond delay="1000"/>
                                  </p:stCondLst>
                                  <p:childTnLst>
                                    <p:set>
                                      <p:cBhvr>
                                        <p:cTn id="30" dur="1" fill="hold">
                                          <p:stCondLst>
                                            <p:cond delay="0"/>
                                          </p:stCondLst>
                                        </p:cTn>
                                        <p:tgtEl>
                                          <p:spTgt spid="64"/>
                                        </p:tgtEl>
                                        <p:attrNameLst>
                                          <p:attrName>style.visibility</p:attrName>
                                        </p:attrNameLst>
                                      </p:cBhvr>
                                      <p:to>
                                        <p:strVal val="visible"/>
                                      </p:to>
                                    </p:set>
                                    <p:animEffect transition="in" filter="fade">
                                      <p:cBhvr>
                                        <p:cTn id="31" dur="2000"/>
                                        <p:tgtEl>
                                          <p:spTgt spid="64"/>
                                        </p:tgtEl>
                                      </p:cBhvr>
                                    </p:animEffect>
                                    <p:anim calcmode="lin" valueType="num">
                                      <p:cBhvr>
                                        <p:cTn id="32" dur="2000" fill="hold"/>
                                        <p:tgtEl>
                                          <p:spTgt spid="64"/>
                                        </p:tgtEl>
                                        <p:attrNameLst>
                                          <p:attrName>ppt_w</p:attrName>
                                        </p:attrNameLst>
                                      </p:cBhvr>
                                      <p:tavLst>
                                        <p:tav tm="0" fmla="#ppt_w*sin(2.5*pi*$)">
                                          <p:val>
                                            <p:fltVal val="0"/>
                                          </p:val>
                                        </p:tav>
                                        <p:tav tm="100000">
                                          <p:val>
                                            <p:fltVal val="1"/>
                                          </p:val>
                                        </p:tav>
                                      </p:tavLst>
                                    </p:anim>
                                    <p:anim calcmode="lin" valueType="num">
                                      <p:cBhvr>
                                        <p:cTn id="33" dur="2000" fill="hold"/>
                                        <p:tgtEl>
                                          <p:spTgt spid="64"/>
                                        </p:tgtEl>
                                        <p:attrNameLst>
                                          <p:attrName>ppt_h</p:attrName>
                                        </p:attrNameLst>
                                      </p:cBhvr>
                                      <p:tavLst>
                                        <p:tav tm="0">
                                          <p:val>
                                            <p:strVal val="#ppt_h"/>
                                          </p:val>
                                        </p:tav>
                                        <p:tav tm="100000">
                                          <p:val>
                                            <p:strVal val="#ppt_h"/>
                                          </p:val>
                                        </p:tav>
                                      </p:tavLst>
                                    </p:anim>
                                  </p:childTnLst>
                                </p:cTn>
                              </p:par>
                              <p:par>
                                <p:cTn id="34" presetID="2" presetClass="entr" presetSubtype="12" fill="hold" nodeType="withEffect">
                                  <p:stCondLst>
                                    <p:cond delay="500"/>
                                  </p:stCondLst>
                                  <p:childTnLst>
                                    <p:set>
                                      <p:cBhvr>
                                        <p:cTn id="35" dur="1" fill="hold">
                                          <p:stCondLst>
                                            <p:cond delay="0"/>
                                          </p:stCondLst>
                                        </p:cTn>
                                        <p:tgtEl>
                                          <p:spTgt spid="65"/>
                                        </p:tgtEl>
                                        <p:attrNameLst>
                                          <p:attrName>style.visibility</p:attrName>
                                        </p:attrNameLst>
                                      </p:cBhvr>
                                      <p:to>
                                        <p:strVal val="visible"/>
                                      </p:to>
                                    </p:set>
                                    <p:anim calcmode="lin" valueType="num">
                                      <p:cBhvr additive="base">
                                        <p:cTn id="36" dur="500" fill="hold"/>
                                        <p:tgtEl>
                                          <p:spTgt spid="65"/>
                                        </p:tgtEl>
                                        <p:attrNameLst>
                                          <p:attrName>ppt_x</p:attrName>
                                        </p:attrNameLst>
                                      </p:cBhvr>
                                      <p:tavLst>
                                        <p:tav tm="0">
                                          <p:val>
                                            <p:strVal val="0-#ppt_w/2"/>
                                          </p:val>
                                        </p:tav>
                                        <p:tav tm="100000">
                                          <p:val>
                                            <p:strVal val="#ppt_x"/>
                                          </p:val>
                                        </p:tav>
                                      </p:tavLst>
                                    </p:anim>
                                    <p:anim calcmode="lin" valueType="num">
                                      <p:cBhvr additive="base">
                                        <p:cTn id="37" dur="500" fill="hold"/>
                                        <p:tgtEl>
                                          <p:spTgt spid="65"/>
                                        </p:tgtEl>
                                        <p:attrNameLst>
                                          <p:attrName>ppt_y</p:attrName>
                                        </p:attrNameLst>
                                      </p:cBhvr>
                                      <p:tavLst>
                                        <p:tav tm="0">
                                          <p:val>
                                            <p:strVal val="1+#ppt_h/2"/>
                                          </p:val>
                                        </p:tav>
                                        <p:tav tm="100000">
                                          <p:val>
                                            <p:strVal val="#ppt_y"/>
                                          </p:val>
                                        </p:tav>
                                      </p:tavLst>
                                    </p:anim>
                                  </p:childTnLst>
                                </p:cTn>
                              </p:par>
                              <p:par>
                                <p:cTn id="38" presetID="45" presetClass="entr" presetSubtype="0" fill="hold" grpId="0" nodeType="withEffect">
                                  <p:stCondLst>
                                    <p:cond delay="1000"/>
                                  </p:stCondLst>
                                  <p:childTnLst>
                                    <p:set>
                                      <p:cBhvr>
                                        <p:cTn id="39" dur="1" fill="hold">
                                          <p:stCondLst>
                                            <p:cond delay="0"/>
                                          </p:stCondLst>
                                        </p:cTn>
                                        <p:tgtEl>
                                          <p:spTgt spid="70"/>
                                        </p:tgtEl>
                                        <p:attrNameLst>
                                          <p:attrName>style.visibility</p:attrName>
                                        </p:attrNameLst>
                                      </p:cBhvr>
                                      <p:to>
                                        <p:strVal val="visible"/>
                                      </p:to>
                                    </p:set>
                                    <p:animEffect transition="in" filter="fade">
                                      <p:cBhvr>
                                        <p:cTn id="40" dur="2000"/>
                                        <p:tgtEl>
                                          <p:spTgt spid="70"/>
                                        </p:tgtEl>
                                      </p:cBhvr>
                                    </p:animEffect>
                                    <p:anim calcmode="lin" valueType="num">
                                      <p:cBhvr>
                                        <p:cTn id="41" dur="2000" fill="hold"/>
                                        <p:tgtEl>
                                          <p:spTgt spid="70"/>
                                        </p:tgtEl>
                                        <p:attrNameLst>
                                          <p:attrName>ppt_w</p:attrName>
                                        </p:attrNameLst>
                                      </p:cBhvr>
                                      <p:tavLst>
                                        <p:tav tm="0" fmla="#ppt_w*sin(2.5*pi*$)">
                                          <p:val>
                                            <p:fltVal val="0"/>
                                          </p:val>
                                        </p:tav>
                                        <p:tav tm="100000">
                                          <p:val>
                                            <p:fltVal val="1"/>
                                          </p:val>
                                        </p:tav>
                                      </p:tavLst>
                                    </p:anim>
                                    <p:anim calcmode="lin" valueType="num">
                                      <p:cBhvr>
                                        <p:cTn id="42" dur="2000" fill="hold"/>
                                        <p:tgtEl>
                                          <p:spTgt spid="70"/>
                                        </p:tgtEl>
                                        <p:attrNameLst>
                                          <p:attrName>ppt_h</p:attrName>
                                        </p:attrNameLst>
                                      </p:cBhvr>
                                      <p:tavLst>
                                        <p:tav tm="0">
                                          <p:val>
                                            <p:strVal val="#ppt_h"/>
                                          </p:val>
                                        </p:tav>
                                        <p:tav tm="100000">
                                          <p:val>
                                            <p:strVal val="#ppt_h"/>
                                          </p:val>
                                        </p:tav>
                                      </p:tavLst>
                                    </p:anim>
                                  </p:childTnLst>
                                </p:cTn>
                              </p:par>
                              <p:par>
                                <p:cTn id="43" presetID="2" presetClass="entr" presetSubtype="12" fill="hold" nodeType="withEffect">
                                  <p:stCondLst>
                                    <p:cond delay="500"/>
                                  </p:stCondLst>
                                  <p:childTnLst>
                                    <p:set>
                                      <p:cBhvr>
                                        <p:cTn id="44" dur="1" fill="hold">
                                          <p:stCondLst>
                                            <p:cond delay="0"/>
                                          </p:stCondLst>
                                        </p:cTn>
                                        <p:tgtEl>
                                          <p:spTgt spid="71"/>
                                        </p:tgtEl>
                                        <p:attrNameLst>
                                          <p:attrName>style.visibility</p:attrName>
                                        </p:attrNameLst>
                                      </p:cBhvr>
                                      <p:to>
                                        <p:strVal val="visible"/>
                                      </p:to>
                                    </p:set>
                                    <p:anim calcmode="lin" valueType="num">
                                      <p:cBhvr additive="base">
                                        <p:cTn id="45" dur="500" fill="hold"/>
                                        <p:tgtEl>
                                          <p:spTgt spid="71"/>
                                        </p:tgtEl>
                                        <p:attrNameLst>
                                          <p:attrName>ppt_x</p:attrName>
                                        </p:attrNameLst>
                                      </p:cBhvr>
                                      <p:tavLst>
                                        <p:tav tm="0">
                                          <p:val>
                                            <p:strVal val="0-#ppt_w/2"/>
                                          </p:val>
                                        </p:tav>
                                        <p:tav tm="100000">
                                          <p:val>
                                            <p:strVal val="#ppt_x"/>
                                          </p:val>
                                        </p:tav>
                                      </p:tavLst>
                                    </p:anim>
                                    <p:anim calcmode="lin" valueType="num">
                                      <p:cBhvr additive="base">
                                        <p:cTn id="46" dur="500" fill="hold"/>
                                        <p:tgtEl>
                                          <p:spTgt spid="71"/>
                                        </p:tgtEl>
                                        <p:attrNameLst>
                                          <p:attrName>ppt_y</p:attrName>
                                        </p:attrNameLst>
                                      </p:cBhvr>
                                      <p:tavLst>
                                        <p:tav tm="0">
                                          <p:val>
                                            <p:strVal val="1+#ppt_h/2"/>
                                          </p:val>
                                        </p:tav>
                                        <p:tav tm="100000">
                                          <p:val>
                                            <p:strVal val="#ppt_y"/>
                                          </p:val>
                                        </p:tav>
                                      </p:tavLst>
                                    </p:anim>
                                  </p:childTnLst>
                                </p:cTn>
                              </p:par>
                              <p:par>
                                <p:cTn id="47" presetID="2" presetClass="entr" presetSubtype="12" fill="hold" nodeType="withEffect">
                                  <p:stCondLst>
                                    <p:cond delay="500"/>
                                  </p:stCondLst>
                                  <p:childTnLst>
                                    <p:set>
                                      <p:cBhvr>
                                        <p:cTn id="48" dur="1" fill="hold">
                                          <p:stCondLst>
                                            <p:cond delay="0"/>
                                          </p:stCondLst>
                                        </p:cTn>
                                        <p:tgtEl>
                                          <p:spTgt spid="76"/>
                                        </p:tgtEl>
                                        <p:attrNameLst>
                                          <p:attrName>style.visibility</p:attrName>
                                        </p:attrNameLst>
                                      </p:cBhvr>
                                      <p:to>
                                        <p:strVal val="visible"/>
                                      </p:to>
                                    </p:set>
                                    <p:anim calcmode="lin" valueType="num">
                                      <p:cBhvr additive="base">
                                        <p:cTn id="49" dur="500" fill="hold"/>
                                        <p:tgtEl>
                                          <p:spTgt spid="76"/>
                                        </p:tgtEl>
                                        <p:attrNameLst>
                                          <p:attrName>ppt_x</p:attrName>
                                        </p:attrNameLst>
                                      </p:cBhvr>
                                      <p:tavLst>
                                        <p:tav tm="0">
                                          <p:val>
                                            <p:strVal val="0-#ppt_w/2"/>
                                          </p:val>
                                        </p:tav>
                                        <p:tav tm="100000">
                                          <p:val>
                                            <p:strVal val="#ppt_x"/>
                                          </p:val>
                                        </p:tav>
                                      </p:tavLst>
                                    </p:anim>
                                    <p:anim calcmode="lin" valueType="num">
                                      <p:cBhvr additive="base">
                                        <p:cTn id="50" dur="500" fill="hold"/>
                                        <p:tgtEl>
                                          <p:spTgt spid="76"/>
                                        </p:tgtEl>
                                        <p:attrNameLst>
                                          <p:attrName>ppt_y</p:attrName>
                                        </p:attrNameLst>
                                      </p:cBhvr>
                                      <p:tavLst>
                                        <p:tav tm="0">
                                          <p:val>
                                            <p:strVal val="1+#ppt_h/2"/>
                                          </p:val>
                                        </p:tav>
                                        <p:tav tm="100000">
                                          <p:val>
                                            <p:strVal val="#ppt_y"/>
                                          </p:val>
                                        </p:tav>
                                      </p:tavLst>
                                    </p:anim>
                                  </p:childTnLst>
                                </p:cTn>
                              </p:par>
                              <p:par>
                                <p:cTn id="51" presetID="2" presetClass="entr" presetSubtype="12" fill="hold" nodeType="withEffect">
                                  <p:stCondLst>
                                    <p:cond delay="500"/>
                                  </p:stCondLst>
                                  <p:childTnLst>
                                    <p:set>
                                      <p:cBhvr>
                                        <p:cTn id="52" dur="1" fill="hold">
                                          <p:stCondLst>
                                            <p:cond delay="0"/>
                                          </p:stCondLst>
                                        </p:cTn>
                                        <p:tgtEl>
                                          <p:spTgt spid="82"/>
                                        </p:tgtEl>
                                        <p:attrNameLst>
                                          <p:attrName>style.visibility</p:attrName>
                                        </p:attrNameLst>
                                      </p:cBhvr>
                                      <p:to>
                                        <p:strVal val="visible"/>
                                      </p:to>
                                    </p:set>
                                    <p:anim calcmode="lin" valueType="num">
                                      <p:cBhvr additive="base">
                                        <p:cTn id="53" dur="500" fill="hold"/>
                                        <p:tgtEl>
                                          <p:spTgt spid="82"/>
                                        </p:tgtEl>
                                        <p:attrNameLst>
                                          <p:attrName>ppt_x</p:attrName>
                                        </p:attrNameLst>
                                      </p:cBhvr>
                                      <p:tavLst>
                                        <p:tav tm="0">
                                          <p:val>
                                            <p:strVal val="0-#ppt_w/2"/>
                                          </p:val>
                                        </p:tav>
                                        <p:tav tm="100000">
                                          <p:val>
                                            <p:strVal val="#ppt_x"/>
                                          </p:val>
                                        </p:tav>
                                      </p:tavLst>
                                    </p:anim>
                                    <p:anim calcmode="lin" valueType="num">
                                      <p:cBhvr additive="base">
                                        <p:cTn id="54" dur="500" fill="hold"/>
                                        <p:tgtEl>
                                          <p:spTgt spid="82"/>
                                        </p:tgtEl>
                                        <p:attrNameLst>
                                          <p:attrName>ppt_y</p:attrName>
                                        </p:attrNameLst>
                                      </p:cBhvr>
                                      <p:tavLst>
                                        <p:tav tm="0">
                                          <p:val>
                                            <p:strVal val="1+#ppt_h/2"/>
                                          </p:val>
                                        </p:tav>
                                        <p:tav tm="100000">
                                          <p:val>
                                            <p:strVal val="#ppt_y"/>
                                          </p:val>
                                        </p:tav>
                                      </p:tavLst>
                                    </p:anim>
                                  </p:childTnLst>
                                </p:cTn>
                              </p:par>
                              <p:par>
                                <p:cTn id="55" presetID="45" presetClass="entr" presetSubtype="0" fill="hold" nodeType="withEffect">
                                  <p:stCondLst>
                                    <p:cond delay="1000"/>
                                  </p:stCondLst>
                                  <p:childTnLst>
                                    <p:set>
                                      <p:cBhvr>
                                        <p:cTn id="56" dur="1" fill="hold">
                                          <p:stCondLst>
                                            <p:cond delay="0"/>
                                          </p:stCondLst>
                                        </p:cTn>
                                        <p:tgtEl>
                                          <p:spTgt spid="96"/>
                                        </p:tgtEl>
                                        <p:attrNameLst>
                                          <p:attrName>style.visibility</p:attrName>
                                        </p:attrNameLst>
                                      </p:cBhvr>
                                      <p:to>
                                        <p:strVal val="visible"/>
                                      </p:to>
                                    </p:set>
                                    <p:animEffect transition="in" filter="fade">
                                      <p:cBhvr>
                                        <p:cTn id="57" dur="2000"/>
                                        <p:tgtEl>
                                          <p:spTgt spid="96"/>
                                        </p:tgtEl>
                                      </p:cBhvr>
                                    </p:animEffect>
                                    <p:anim calcmode="lin" valueType="num">
                                      <p:cBhvr>
                                        <p:cTn id="58" dur="2000" fill="hold"/>
                                        <p:tgtEl>
                                          <p:spTgt spid="96"/>
                                        </p:tgtEl>
                                        <p:attrNameLst>
                                          <p:attrName>ppt_w</p:attrName>
                                        </p:attrNameLst>
                                      </p:cBhvr>
                                      <p:tavLst>
                                        <p:tav tm="0" fmla="#ppt_w*sin(2.5*pi*$)">
                                          <p:val>
                                            <p:fltVal val="0"/>
                                          </p:val>
                                        </p:tav>
                                        <p:tav tm="100000">
                                          <p:val>
                                            <p:fltVal val="1"/>
                                          </p:val>
                                        </p:tav>
                                      </p:tavLst>
                                    </p:anim>
                                    <p:anim calcmode="lin" valueType="num">
                                      <p:cBhvr>
                                        <p:cTn id="59" dur="2000" fill="hold"/>
                                        <p:tgtEl>
                                          <p:spTgt spid="96"/>
                                        </p:tgtEl>
                                        <p:attrNameLst>
                                          <p:attrName>ppt_h</p:attrName>
                                        </p:attrNameLst>
                                      </p:cBhvr>
                                      <p:tavLst>
                                        <p:tav tm="0">
                                          <p:val>
                                            <p:strVal val="#ppt_h"/>
                                          </p:val>
                                        </p:tav>
                                        <p:tav tm="100000">
                                          <p:val>
                                            <p:strVal val="#ppt_h"/>
                                          </p:val>
                                        </p:tav>
                                      </p:tavLst>
                                    </p:anim>
                                  </p:childTnLst>
                                </p:cTn>
                              </p:par>
                              <p:par>
                                <p:cTn id="60" presetID="45" presetClass="entr" presetSubtype="0" fill="hold" grpId="0" nodeType="withEffect">
                                  <p:stCondLst>
                                    <p:cond delay="1000"/>
                                  </p:stCondLst>
                                  <p:childTnLst>
                                    <p:set>
                                      <p:cBhvr>
                                        <p:cTn id="61" dur="1" fill="hold">
                                          <p:stCondLst>
                                            <p:cond delay="0"/>
                                          </p:stCondLst>
                                        </p:cTn>
                                        <p:tgtEl>
                                          <p:spTgt spid="100"/>
                                        </p:tgtEl>
                                        <p:attrNameLst>
                                          <p:attrName>style.visibility</p:attrName>
                                        </p:attrNameLst>
                                      </p:cBhvr>
                                      <p:to>
                                        <p:strVal val="visible"/>
                                      </p:to>
                                    </p:set>
                                    <p:animEffect transition="in" filter="fade">
                                      <p:cBhvr>
                                        <p:cTn id="62" dur="2000"/>
                                        <p:tgtEl>
                                          <p:spTgt spid="100"/>
                                        </p:tgtEl>
                                      </p:cBhvr>
                                    </p:animEffect>
                                    <p:anim calcmode="lin" valueType="num">
                                      <p:cBhvr>
                                        <p:cTn id="63" dur="2000" fill="hold"/>
                                        <p:tgtEl>
                                          <p:spTgt spid="100"/>
                                        </p:tgtEl>
                                        <p:attrNameLst>
                                          <p:attrName>ppt_w</p:attrName>
                                        </p:attrNameLst>
                                      </p:cBhvr>
                                      <p:tavLst>
                                        <p:tav tm="0" fmla="#ppt_w*sin(2.5*pi*$)">
                                          <p:val>
                                            <p:fltVal val="0"/>
                                          </p:val>
                                        </p:tav>
                                        <p:tav tm="100000">
                                          <p:val>
                                            <p:fltVal val="1"/>
                                          </p:val>
                                        </p:tav>
                                      </p:tavLst>
                                    </p:anim>
                                    <p:anim calcmode="lin" valueType="num">
                                      <p:cBhvr>
                                        <p:cTn id="64" dur="2000" fill="hold"/>
                                        <p:tgtEl>
                                          <p:spTgt spid="100"/>
                                        </p:tgtEl>
                                        <p:attrNameLst>
                                          <p:attrName>ppt_h</p:attrName>
                                        </p:attrNameLst>
                                      </p:cBhvr>
                                      <p:tavLst>
                                        <p:tav tm="0">
                                          <p:val>
                                            <p:strVal val="#ppt_h"/>
                                          </p:val>
                                        </p:tav>
                                        <p:tav tm="100000">
                                          <p:val>
                                            <p:strVal val="#ppt_h"/>
                                          </p:val>
                                        </p:tav>
                                      </p:tavLst>
                                    </p:anim>
                                  </p:childTnLst>
                                </p:cTn>
                              </p:par>
                              <p:par>
                                <p:cTn id="65" presetID="45" presetClass="entr" presetSubtype="0" fill="hold" grpId="0" nodeType="withEffect">
                                  <p:stCondLst>
                                    <p:cond delay="1000"/>
                                  </p:stCondLst>
                                  <p:childTnLst>
                                    <p:set>
                                      <p:cBhvr>
                                        <p:cTn id="66" dur="1" fill="hold">
                                          <p:stCondLst>
                                            <p:cond delay="0"/>
                                          </p:stCondLst>
                                        </p:cTn>
                                        <p:tgtEl>
                                          <p:spTgt spid="101"/>
                                        </p:tgtEl>
                                        <p:attrNameLst>
                                          <p:attrName>style.visibility</p:attrName>
                                        </p:attrNameLst>
                                      </p:cBhvr>
                                      <p:to>
                                        <p:strVal val="visible"/>
                                      </p:to>
                                    </p:set>
                                    <p:animEffect transition="in" filter="fade">
                                      <p:cBhvr>
                                        <p:cTn id="67" dur="2000"/>
                                        <p:tgtEl>
                                          <p:spTgt spid="101"/>
                                        </p:tgtEl>
                                      </p:cBhvr>
                                    </p:animEffect>
                                    <p:anim calcmode="lin" valueType="num">
                                      <p:cBhvr>
                                        <p:cTn id="68" dur="2000" fill="hold"/>
                                        <p:tgtEl>
                                          <p:spTgt spid="101"/>
                                        </p:tgtEl>
                                        <p:attrNameLst>
                                          <p:attrName>ppt_w</p:attrName>
                                        </p:attrNameLst>
                                      </p:cBhvr>
                                      <p:tavLst>
                                        <p:tav tm="0" fmla="#ppt_w*sin(2.5*pi*$)">
                                          <p:val>
                                            <p:fltVal val="0"/>
                                          </p:val>
                                        </p:tav>
                                        <p:tav tm="100000">
                                          <p:val>
                                            <p:fltVal val="1"/>
                                          </p:val>
                                        </p:tav>
                                      </p:tavLst>
                                    </p:anim>
                                    <p:anim calcmode="lin" valueType="num">
                                      <p:cBhvr>
                                        <p:cTn id="69" dur="2000" fill="hold"/>
                                        <p:tgtEl>
                                          <p:spTgt spid="101"/>
                                        </p:tgtEl>
                                        <p:attrNameLst>
                                          <p:attrName>ppt_h</p:attrName>
                                        </p:attrNameLst>
                                      </p:cBhvr>
                                      <p:tavLst>
                                        <p:tav tm="0">
                                          <p:val>
                                            <p:strVal val="#ppt_h"/>
                                          </p:val>
                                        </p:tav>
                                        <p:tav tm="100000">
                                          <p:val>
                                            <p:strVal val="#ppt_h"/>
                                          </p:val>
                                        </p:tav>
                                      </p:tavLst>
                                    </p:anim>
                                  </p:childTnLst>
                                </p:cTn>
                              </p:par>
                            </p:childTnLst>
                          </p:cTn>
                        </p:par>
                        <p:par>
                          <p:cTn id="70" fill="hold">
                            <p:stCondLst>
                              <p:cond delay="3500"/>
                            </p:stCondLst>
                            <p:childTnLst>
                              <p:par>
                                <p:cTn id="71" presetID="22" presetClass="entr" presetSubtype="8" fill="hold" grpId="0" nodeType="afterEffect">
                                  <p:stCondLst>
                                    <p:cond delay="0"/>
                                  </p:stCondLst>
                                  <p:childTnLst>
                                    <p:set>
                                      <p:cBhvr>
                                        <p:cTn id="72" dur="1" fill="hold">
                                          <p:stCondLst>
                                            <p:cond delay="0"/>
                                          </p:stCondLst>
                                        </p:cTn>
                                        <p:tgtEl>
                                          <p:spTgt spid="103"/>
                                        </p:tgtEl>
                                        <p:attrNameLst>
                                          <p:attrName>style.visibility</p:attrName>
                                        </p:attrNameLst>
                                      </p:cBhvr>
                                      <p:to>
                                        <p:strVal val="visible"/>
                                      </p:to>
                                    </p:set>
                                    <p:animEffect transition="in" filter="wipe(left)">
                                      <p:cBhvr>
                                        <p:cTn id="73"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ldLvl="0" animBg="1"/>
      <p:bldP spid="54" grpId="0" bldLvl="0" animBg="1"/>
      <p:bldP spid="56" grpId="0"/>
      <p:bldP spid="58" grpId="0"/>
      <p:bldP spid="64" grpId="0" bldLvl="0" animBg="1"/>
      <p:bldP spid="70" grpId="0" bldLvl="0" animBg="1"/>
      <p:bldP spid="100" grpId="0" bldLvl="0" animBg="1"/>
      <p:bldP spid="101" grpId="0" bldLvl="0" animBg="1"/>
      <p:bldP spid="10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平行四边形 4"/>
          <p:cNvSpPr/>
          <p:nvPr/>
        </p:nvSpPr>
        <p:spPr>
          <a:xfrm flipH="1">
            <a:off x="-26964" y="-6251"/>
            <a:ext cx="4635476" cy="6904592"/>
          </a:xfrm>
          <a:custGeom>
            <a:avLst/>
            <a:gdLst>
              <a:gd name="connsiteX0" fmla="*/ 0 w 4608514"/>
              <a:gd name="connsiteY0" fmla="*/ 6043981 h 6043981"/>
              <a:gd name="connsiteX1" fmla="*/ 2819212 w 4608514"/>
              <a:gd name="connsiteY1" fmla="*/ 0 h 6043981"/>
              <a:gd name="connsiteX2" fmla="*/ 4608514 w 4608514"/>
              <a:gd name="connsiteY2" fmla="*/ 0 h 6043981"/>
              <a:gd name="connsiteX3" fmla="*/ 1789302 w 4608514"/>
              <a:gd name="connsiteY3" fmla="*/ 6043981 h 6043981"/>
              <a:gd name="connsiteX4" fmla="*/ 0 w 4608514"/>
              <a:gd name="connsiteY4" fmla="*/ 6043981 h 6043981"/>
              <a:gd name="connsiteX0-1" fmla="*/ 0 w 4613184"/>
              <a:gd name="connsiteY0-2" fmla="*/ 6043981 h 6084322"/>
              <a:gd name="connsiteX1-3" fmla="*/ 2819212 w 4613184"/>
              <a:gd name="connsiteY1-4" fmla="*/ 0 h 6084322"/>
              <a:gd name="connsiteX2-5" fmla="*/ 4608514 w 4613184"/>
              <a:gd name="connsiteY2-6" fmla="*/ 0 h 6084322"/>
              <a:gd name="connsiteX3-7" fmla="*/ 4613184 w 4613184"/>
              <a:gd name="connsiteY3-8" fmla="*/ 6084322 h 6084322"/>
              <a:gd name="connsiteX4-9" fmla="*/ 0 w 4613184"/>
              <a:gd name="connsiteY4-10" fmla="*/ 6043981 h 6084322"/>
              <a:gd name="connsiteX0-11" fmla="*/ 0 w 4613184"/>
              <a:gd name="connsiteY0-12" fmla="*/ 6864251 h 6904592"/>
              <a:gd name="connsiteX1-13" fmla="*/ 3209177 w 4613184"/>
              <a:gd name="connsiteY1-14" fmla="*/ 0 h 6904592"/>
              <a:gd name="connsiteX2-15" fmla="*/ 4608514 w 4613184"/>
              <a:gd name="connsiteY2-16" fmla="*/ 820270 h 6904592"/>
              <a:gd name="connsiteX3-17" fmla="*/ 4613184 w 4613184"/>
              <a:gd name="connsiteY3-18" fmla="*/ 6904592 h 6904592"/>
              <a:gd name="connsiteX4-19" fmla="*/ 0 w 4613184"/>
              <a:gd name="connsiteY4-20" fmla="*/ 6864251 h 6904592"/>
              <a:gd name="connsiteX0-21" fmla="*/ 0 w 4635476"/>
              <a:gd name="connsiteY0-22" fmla="*/ 6864251 h 6904592"/>
              <a:gd name="connsiteX1-23" fmla="*/ 3209177 w 4635476"/>
              <a:gd name="connsiteY1-24" fmla="*/ 0 h 6904592"/>
              <a:gd name="connsiteX2-25" fmla="*/ 4635408 w 4635476"/>
              <a:gd name="connsiteY2-26" fmla="*/ 0 h 6904592"/>
              <a:gd name="connsiteX3-27" fmla="*/ 4613184 w 4635476"/>
              <a:gd name="connsiteY3-28" fmla="*/ 6904592 h 6904592"/>
              <a:gd name="connsiteX4-29" fmla="*/ 0 w 4635476"/>
              <a:gd name="connsiteY4-30" fmla="*/ 6864251 h 69045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635476" h="6904592">
                <a:moveTo>
                  <a:pt x="0" y="6864251"/>
                </a:moveTo>
                <a:lnTo>
                  <a:pt x="3209177" y="0"/>
                </a:lnTo>
                <a:lnTo>
                  <a:pt x="4635408" y="0"/>
                </a:lnTo>
                <a:cubicBezTo>
                  <a:pt x="4636965" y="2028107"/>
                  <a:pt x="4611627" y="4876485"/>
                  <a:pt x="4613184" y="6904592"/>
                </a:cubicBezTo>
                <a:lnTo>
                  <a:pt x="0" y="6864251"/>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827149" y="1625954"/>
            <a:ext cx="828000" cy="828000"/>
            <a:chOff x="1827149" y="1625954"/>
            <a:chExt cx="828000" cy="828000"/>
          </a:xfrm>
        </p:grpSpPr>
        <p:sp>
          <p:nvSpPr>
            <p:cNvPr id="9" name="椭圆 8"/>
            <p:cNvSpPr>
              <a:spLocks noChangeAspect="1"/>
            </p:cNvSpPr>
            <p:nvPr/>
          </p:nvSpPr>
          <p:spPr>
            <a:xfrm>
              <a:off x="1827149" y="1625954"/>
              <a:ext cx="828000" cy="828000"/>
            </a:xfrm>
            <a:prstGeom prst="ellipse">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1904142" y="1782985"/>
              <a:ext cx="674014" cy="523220"/>
            </a:xfrm>
            <a:prstGeom prst="rect">
              <a:avLst/>
            </a:prstGeom>
            <a:noFill/>
          </p:spPr>
          <p:txBody>
            <a:bodyPr wrap="square" rtlCol="0">
              <a:spAutoFit/>
            </a:bodyPr>
            <a:lstStyle/>
            <a:p>
              <a:pPr algn="ctr"/>
              <a:r>
                <a:rPr lang="en-US" altLang="zh-CN" sz="2800" b="1" dirty="0">
                  <a:solidFill>
                    <a:schemeClr val="tx1">
                      <a:lumMod val="85000"/>
                      <a:lumOff val="15000"/>
                    </a:schemeClr>
                  </a:solidFill>
                  <a:latin typeface="微软雅黑" panose="020B0503020204020204" pitchFamily="34" charset="-122"/>
                  <a:ea typeface="微软雅黑" panose="020B0503020204020204" pitchFamily="34" charset="-122"/>
                </a:rPr>
                <a:t>01</a:t>
              </a:r>
              <a:endPar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2405971" y="2838627"/>
            <a:ext cx="828000" cy="828000"/>
            <a:chOff x="2405971" y="2838627"/>
            <a:chExt cx="828000" cy="828000"/>
          </a:xfrm>
        </p:grpSpPr>
        <p:sp>
          <p:nvSpPr>
            <p:cNvPr id="10" name="椭圆 9"/>
            <p:cNvSpPr>
              <a:spLocks noChangeAspect="1"/>
            </p:cNvSpPr>
            <p:nvPr/>
          </p:nvSpPr>
          <p:spPr>
            <a:xfrm>
              <a:off x="2405971" y="2838627"/>
              <a:ext cx="828000" cy="828000"/>
            </a:xfrm>
            <a:prstGeom prst="ellipse">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2482964" y="2991017"/>
              <a:ext cx="674014" cy="523220"/>
            </a:xfrm>
            <a:prstGeom prst="rect">
              <a:avLst/>
            </a:prstGeom>
            <a:noFill/>
          </p:spPr>
          <p:txBody>
            <a:bodyPr wrap="square" rtlCol="0">
              <a:spAutoFit/>
            </a:bodyPr>
            <a:lstStyle/>
            <a:p>
              <a:pPr algn="ctr"/>
              <a:r>
                <a:rPr lang="en-US" altLang="zh-CN" sz="2800" b="1" dirty="0">
                  <a:solidFill>
                    <a:schemeClr val="tx1">
                      <a:lumMod val="85000"/>
                      <a:lumOff val="15000"/>
                    </a:schemeClr>
                  </a:solidFill>
                  <a:latin typeface="微软雅黑" panose="020B0503020204020204" pitchFamily="34" charset="-122"/>
                  <a:ea typeface="微软雅黑" panose="020B0503020204020204" pitchFamily="34" charset="-122"/>
                </a:rPr>
                <a:t>02</a:t>
              </a:r>
              <a:endPar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2984793" y="4046659"/>
            <a:ext cx="828000" cy="828000"/>
            <a:chOff x="2984793" y="4046659"/>
            <a:chExt cx="828000" cy="828000"/>
          </a:xfrm>
        </p:grpSpPr>
        <p:sp>
          <p:nvSpPr>
            <p:cNvPr id="11" name="椭圆 10"/>
            <p:cNvSpPr>
              <a:spLocks noChangeAspect="1"/>
            </p:cNvSpPr>
            <p:nvPr/>
          </p:nvSpPr>
          <p:spPr>
            <a:xfrm>
              <a:off x="2984793" y="4046659"/>
              <a:ext cx="828000" cy="828000"/>
            </a:xfrm>
            <a:prstGeom prst="ellipse">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3061786" y="4199049"/>
              <a:ext cx="674014" cy="523220"/>
            </a:xfrm>
            <a:prstGeom prst="rect">
              <a:avLst/>
            </a:prstGeom>
            <a:noFill/>
          </p:spPr>
          <p:txBody>
            <a:bodyPr wrap="square" rtlCol="0">
              <a:spAutoFit/>
            </a:bodyPr>
            <a:lstStyle/>
            <a:p>
              <a:pPr algn="ctr"/>
              <a:r>
                <a:rPr lang="en-US" altLang="zh-CN" sz="2800" b="1" dirty="0">
                  <a:solidFill>
                    <a:schemeClr val="tx1">
                      <a:lumMod val="85000"/>
                      <a:lumOff val="15000"/>
                    </a:schemeClr>
                  </a:solidFill>
                  <a:latin typeface="微软雅黑" panose="020B0503020204020204" pitchFamily="34" charset="-122"/>
                  <a:ea typeface="微软雅黑" panose="020B0503020204020204" pitchFamily="34" charset="-122"/>
                </a:rPr>
                <a:t>03</a:t>
              </a:r>
              <a:endPar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grpSp>
        <p:nvGrpSpPr>
          <p:cNvPr id="18" name="组合 17"/>
          <p:cNvGrpSpPr/>
          <p:nvPr/>
        </p:nvGrpSpPr>
        <p:grpSpPr>
          <a:xfrm>
            <a:off x="3563616" y="5254690"/>
            <a:ext cx="828000" cy="828000"/>
            <a:chOff x="3563616" y="5254690"/>
            <a:chExt cx="828000" cy="828000"/>
          </a:xfrm>
        </p:grpSpPr>
        <p:sp>
          <p:nvSpPr>
            <p:cNvPr id="12" name="椭圆 11"/>
            <p:cNvSpPr>
              <a:spLocks noChangeAspect="1"/>
            </p:cNvSpPr>
            <p:nvPr/>
          </p:nvSpPr>
          <p:spPr>
            <a:xfrm>
              <a:off x="3563616" y="5254690"/>
              <a:ext cx="828000" cy="828000"/>
            </a:xfrm>
            <a:prstGeom prst="ellipse">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640609" y="5407080"/>
              <a:ext cx="674014" cy="523220"/>
            </a:xfrm>
            <a:prstGeom prst="rect">
              <a:avLst/>
            </a:prstGeom>
            <a:noFill/>
          </p:spPr>
          <p:txBody>
            <a:bodyPr wrap="square" rtlCol="0">
              <a:spAutoFit/>
            </a:bodyPr>
            <a:lstStyle/>
            <a:p>
              <a:pPr algn="ctr"/>
              <a:r>
                <a:rPr lang="en-US" altLang="zh-CN" sz="2800" b="1" dirty="0">
                  <a:solidFill>
                    <a:schemeClr val="tx1">
                      <a:lumMod val="85000"/>
                      <a:lumOff val="15000"/>
                    </a:schemeClr>
                  </a:solidFill>
                  <a:latin typeface="微软雅黑" panose="020B0503020204020204" pitchFamily="34" charset="-122"/>
                  <a:ea typeface="微软雅黑" panose="020B0503020204020204" pitchFamily="34" charset="-122"/>
                </a:rPr>
                <a:t>04</a:t>
              </a:r>
              <a:endPar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17" name="文本框 16"/>
          <p:cNvSpPr txBox="1"/>
          <p:nvPr/>
        </p:nvSpPr>
        <p:spPr>
          <a:xfrm>
            <a:off x="2984793" y="1625954"/>
            <a:ext cx="5582946" cy="645160"/>
          </a:xfrm>
          <a:prstGeom prst="rect">
            <a:avLst/>
          </a:prstGeom>
          <a:noFill/>
        </p:spPr>
        <p:txBody>
          <a:bodyPr wrap="square" rtlCol="0">
            <a:spAutoFit/>
          </a:bodyPr>
          <a:lstStyle/>
          <a:p>
            <a:r>
              <a:rPr lang="zh-CN" altLang="da-DK" sz="3600" b="1" dirty="0">
                <a:latin typeface="微软雅黑" panose="020B0503020204020204" pitchFamily="34" charset="-122"/>
                <a:ea typeface="微软雅黑" panose="020B0503020204020204" pitchFamily="34" charset="-122"/>
                <a:cs typeface="Times New Roman" panose="02020603050405020304" pitchFamily="18" charset="0"/>
              </a:rPr>
              <a:t>时钟</a:t>
            </a:r>
            <a:r>
              <a:rPr lang="zh-CN" altLang="da-DK" sz="3600" b="1" dirty="0">
                <a:latin typeface="微软雅黑" panose="020B0503020204020204" pitchFamily="34" charset="-122"/>
                <a:ea typeface="微软雅黑" panose="020B0503020204020204" pitchFamily="34" charset="-122"/>
                <a:cs typeface="Times New Roman" panose="02020603050405020304" pitchFamily="18" charset="0"/>
              </a:rPr>
              <a:t>树</a:t>
            </a:r>
            <a:endParaRPr lang="zh-CN" altLang="da-DK" sz="3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文本框 20"/>
          <p:cNvSpPr txBox="1"/>
          <p:nvPr/>
        </p:nvSpPr>
        <p:spPr>
          <a:xfrm>
            <a:off x="3566308" y="2835533"/>
            <a:ext cx="5001431" cy="645160"/>
          </a:xfrm>
          <a:prstGeom prst="rect">
            <a:avLst/>
          </a:prstGeom>
          <a:noFill/>
        </p:spPr>
        <p:txBody>
          <a:bodyPr wrap="square" rtlCol="0">
            <a:spAutoFit/>
          </a:bodyPr>
          <a:lstStyle/>
          <a:p>
            <a:r>
              <a:rPr lang="zh-CN" altLang="en-US" sz="36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中断</a:t>
            </a:r>
            <a:r>
              <a:rPr lang="zh-CN" altLang="en-US" sz="36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简介</a:t>
            </a:r>
            <a:endParaRPr lang="zh-CN" altLang="en-US" sz="3600" b="1"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22" name="文本框 21"/>
          <p:cNvSpPr txBox="1"/>
          <p:nvPr/>
        </p:nvSpPr>
        <p:spPr>
          <a:xfrm>
            <a:off x="4147822" y="4045112"/>
            <a:ext cx="4996177" cy="645160"/>
          </a:xfrm>
          <a:prstGeom prst="rect">
            <a:avLst/>
          </a:prstGeom>
          <a:noFill/>
        </p:spPr>
        <p:txBody>
          <a:bodyPr wrap="square" rtlCol="0">
            <a:spAutoFit/>
          </a:bodyPr>
          <a:lstStyle/>
          <a:p>
            <a:r>
              <a:rPr lang="zh-CN" altLang="en-US" sz="36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外部中断</a:t>
            </a:r>
            <a:endParaRPr lang="zh-CN" altLang="en-US" sz="36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文本框 22"/>
          <p:cNvSpPr txBox="1"/>
          <p:nvPr/>
        </p:nvSpPr>
        <p:spPr>
          <a:xfrm>
            <a:off x="4729339" y="5254690"/>
            <a:ext cx="4414660" cy="645160"/>
          </a:xfrm>
          <a:prstGeom prst="rect">
            <a:avLst/>
          </a:prstGeom>
          <a:noFill/>
        </p:spPr>
        <p:txBody>
          <a:bodyPr wrap="square" rtlCol="0">
            <a:spAutoFit/>
          </a:bodyPr>
          <a:lstStyle/>
          <a:p>
            <a:r>
              <a:rPr lang="zh-CN" altLang="en-US" sz="360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定时器</a:t>
            </a:r>
            <a:r>
              <a:rPr lang="zh-CN" altLang="en-US" sz="360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中断</a:t>
            </a:r>
            <a:endParaRPr lang="zh-CN" altLang="en-US" sz="360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文本框 24"/>
          <p:cNvSpPr txBox="1"/>
          <p:nvPr/>
        </p:nvSpPr>
        <p:spPr>
          <a:xfrm>
            <a:off x="4362218" y="259392"/>
            <a:ext cx="4205521" cy="923330"/>
          </a:xfrm>
          <a:prstGeom prst="rect">
            <a:avLst/>
          </a:prstGeom>
          <a:noFill/>
        </p:spPr>
        <p:txBody>
          <a:bodyPr wrap="square" rtlCol="0">
            <a:spAutoFit/>
          </a:bodyPr>
          <a:lstStyle/>
          <a:p>
            <a:pPr algn="ctr"/>
            <a:r>
              <a:rPr lang="en-US" altLang="zh-CN" sz="5400" b="1" dirty="0">
                <a:latin typeface="Times New Roman" panose="02020603050405020304" pitchFamily="18" charset="0"/>
                <a:cs typeface="Times New Roman" panose="02020603050405020304" pitchFamily="18" charset="0"/>
              </a:rPr>
              <a:t>CONTENT</a:t>
            </a:r>
            <a:endParaRPr lang="zh-CN" altLang="en-US" sz="5400" b="1" dirty="0">
              <a:latin typeface="Times New Roman" panose="02020603050405020304" pitchFamily="18" charset="0"/>
              <a:cs typeface="Times New Roman" panose="02020603050405020304" pitchFamily="18" charset="0"/>
            </a:endParaRPr>
          </a:p>
        </p:txBody>
      </p:sp>
      <p:grpSp>
        <p:nvGrpSpPr>
          <p:cNvPr id="24" name="组合 23"/>
          <p:cNvGrpSpPr/>
          <p:nvPr/>
        </p:nvGrpSpPr>
        <p:grpSpPr>
          <a:xfrm>
            <a:off x="8606970" y="6519446"/>
            <a:ext cx="638628" cy="338554"/>
            <a:chOff x="8663567" y="6519446"/>
            <a:chExt cx="638628" cy="338554"/>
          </a:xfrm>
        </p:grpSpPr>
        <p:sp>
          <p:nvSpPr>
            <p:cNvPr id="26" name="矩形 25"/>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8663567" y="6519446"/>
              <a:ext cx="638628" cy="338554"/>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02</a:t>
              </a:r>
              <a:endParaRPr lang="zh-CN" altLang="en-US" sz="160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53" presetClass="entr" presetSubtype="16" fill="hold" nodeType="withEffect">
                                  <p:stCondLst>
                                    <p:cond delay="250"/>
                                  </p:stCondLst>
                                  <p:childTnLst>
                                    <p:set>
                                      <p:cBhvr>
                                        <p:cTn id="9" dur="1" fill="hold">
                                          <p:stCondLst>
                                            <p:cond delay="0"/>
                                          </p:stCondLst>
                                        </p:cTn>
                                        <p:tgtEl>
                                          <p:spTgt spid="3"/>
                                        </p:tgtEl>
                                        <p:attrNameLst>
                                          <p:attrName>style.visibility</p:attrName>
                                        </p:attrNameLst>
                                      </p:cBhvr>
                                      <p:to>
                                        <p:strVal val="visible"/>
                                      </p:to>
                                    </p:set>
                                    <p:anim calcmode="lin" valueType="num">
                                      <p:cBhvr>
                                        <p:cTn id="10" dur="500" fill="hold"/>
                                        <p:tgtEl>
                                          <p:spTgt spid="3"/>
                                        </p:tgtEl>
                                        <p:attrNameLst>
                                          <p:attrName>ppt_w</p:attrName>
                                        </p:attrNameLst>
                                      </p:cBhvr>
                                      <p:tavLst>
                                        <p:tav tm="0">
                                          <p:val>
                                            <p:fltVal val="0"/>
                                          </p:val>
                                        </p:tav>
                                        <p:tav tm="100000">
                                          <p:val>
                                            <p:strVal val="#ppt_w"/>
                                          </p:val>
                                        </p:tav>
                                      </p:tavLst>
                                    </p:anim>
                                    <p:anim calcmode="lin" valueType="num">
                                      <p:cBhvr>
                                        <p:cTn id="11" dur="500" fill="hold"/>
                                        <p:tgtEl>
                                          <p:spTgt spid="3"/>
                                        </p:tgtEl>
                                        <p:attrNameLst>
                                          <p:attrName>ppt_h</p:attrName>
                                        </p:attrNameLst>
                                      </p:cBhvr>
                                      <p:tavLst>
                                        <p:tav tm="0">
                                          <p:val>
                                            <p:fltVal val="0"/>
                                          </p:val>
                                        </p:tav>
                                        <p:tav tm="100000">
                                          <p:val>
                                            <p:strVal val="#ppt_h"/>
                                          </p:val>
                                        </p:tav>
                                      </p:tavLst>
                                    </p:anim>
                                    <p:animEffect transition="in" filter="fade">
                                      <p:cBhvr>
                                        <p:cTn id="12" dur="500"/>
                                        <p:tgtEl>
                                          <p:spTgt spid="3"/>
                                        </p:tgtEl>
                                      </p:cBhvr>
                                    </p:animEffect>
                                  </p:childTnLst>
                                </p:cTn>
                              </p:par>
                              <p:par>
                                <p:cTn id="13" presetID="53" presetClass="entr" presetSubtype="16" fill="hold" nodeType="withEffect">
                                  <p:stCondLst>
                                    <p:cond delay="25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animEffect transition="in" filter="fade">
                                      <p:cBhvr>
                                        <p:cTn id="17" dur="500"/>
                                        <p:tgtEl>
                                          <p:spTgt spid="4"/>
                                        </p:tgtEl>
                                      </p:cBhvr>
                                    </p:animEffect>
                                  </p:childTnLst>
                                </p:cTn>
                              </p:par>
                              <p:par>
                                <p:cTn id="18" presetID="53" presetClass="entr" presetSubtype="16" fill="hold" nodeType="withEffect">
                                  <p:stCondLst>
                                    <p:cond delay="250"/>
                                  </p:stCondLst>
                                  <p:childTnLst>
                                    <p:set>
                                      <p:cBhvr>
                                        <p:cTn id="19" dur="1" fill="hold">
                                          <p:stCondLst>
                                            <p:cond delay="0"/>
                                          </p:stCondLst>
                                        </p:cTn>
                                        <p:tgtEl>
                                          <p:spTgt spid="7"/>
                                        </p:tgtEl>
                                        <p:attrNameLst>
                                          <p:attrName>style.visibility</p:attrName>
                                        </p:attrNameLst>
                                      </p:cBhvr>
                                      <p:to>
                                        <p:strVal val="visible"/>
                                      </p:to>
                                    </p:set>
                                    <p:anim calcmode="lin" valueType="num">
                                      <p:cBhvr>
                                        <p:cTn id="20" dur="500" fill="hold"/>
                                        <p:tgtEl>
                                          <p:spTgt spid="7"/>
                                        </p:tgtEl>
                                        <p:attrNameLst>
                                          <p:attrName>ppt_w</p:attrName>
                                        </p:attrNameLst>
                                      </p:cBhvr>
                                      <p:tavLst>
                                        <p:tav tm="0">
                                          <p:val>
                                            <p:fltVal val="0"/>
                                          </p:val>
                                        </p:tav>
                                        <p:tav tm="100000">
                                          <p:val>
                                            <p:strVal val="#ppt_w"/>
                                          </p:val>
                                        </p:tav>
                                      </p:tavLst>
                                    </p:anim>
                                    <p:anim calcmode="lin" valueType="num">
                                      <p:cBhvr>
                                        <p:cTn id="21" dur="500" fill="hold"/>
                                        <p:tgtEl>
                                          <p:spTgt spid="7"/>
                                        </p:tgtEl>
                                        <p:attrNameLst>
                                          <p:attrName>ppt_h</p:attrName>
                                        </p:attrNameLst>
                                      </p:cBhvr>
                                      <p:tavLst>
                                        <p:tav tm="0">
                                          <p:val>
                                            <p:fltVal val="0"/>
                                          </p:val>
                                        </p:tav>
                                        <p:tav tm="100000">
                                          <p:val>
                                            <p:strVal val="#ppt_h"/>
                                          </p:val>
                                        </p:tav>
                                      </p:tavLst>
                                    </p:anim>
                                    <p:animEffect transition="in" filter="fade">
                                      <p:cBhvr>
                                        <p:cTn id="22" dur="500"/>
                                        <p:tgtEl>
                                          <p:spTgt spid="7"/>
                                        </p:tgtEl>
                                      </p:cBhvr>
                                    </p:animEffect>
                                  </p:childTnLst>
                                </p:cTn>
                              </p:par>
                              <p:par>
                                <p:cTn id="23" presetID="53" presetClass="entr" presetSubtype="16" fill="hold" nodeType="withEffect">
                                  <p:stCondLst>
                                    <p:cond delay="250"/>
                                  </p:stCondLst>
                                  <p:childTnLst>
                                    <p:set>
                                      <p:cBhvr>
                                        <p:cTn id="24" dur="1" fill="hold">
                                          <p:stCondLst>
                                            <p:cond delay="0"/>
                                          </p:stCondLst>
                                        </p:cTn>
                                        <p:tgtEl>
                                          <p:spTgt spid="18"/>
                                        </p:tgtEl>
                                        <p:attrNameLst>
                                          <p:attrName>style.visibility</p:attrName>
                                        </p:attrNameLst>
                                      </p:cBhvr>
                                      <p:to>
                                        <p:strVal val="visible"/>
                                      </p:to>
                                    </p:set>
                                    <p:anim calcmode="lin" valueType="num">
                                      <p:cBhvr>
                                        <p:cTn id="25" dur="500" fill="hold"/>
                                        <p:tgtEl>
                                          <p:spTgt spid="18"/>
                                        </p:tgtEl>
                                        <p:attrNameLst>
                                          <p:attrName>ppt_w</p:attrName>
                                        </p:attrNameLst>
                                      </p:cBhvr>
                                      <p:tavLst>
                                        <p:tav tm="0">
                                          <p:val>
                                            <p:fltVal val="0"/>
                                          </p:val>
                                        </p:tav>
                                        <p:tav tm="100000">
                                          <p:val>
                                            <p:strVal val="#ppt_w"/>
                                          </p:val>
                                        </p:tav>
                                      </p:tavLst>
                                    </p:anim>
                                    <p:anim calcmode="lin" valueType="num">
                                      <p:cBhvr>
                                        <p:cTn id="26" dur="500" fill="hold"/>
                                        <p:tgtEl>
                                          <p:spTgt spid="18"/>
                                        </p:tgtEl>
                                        <p:attrNameLst>
                                          <p:attrName>ppt_h</p:attrName>
                                        </p:attrNameLst>
                                      </p:cBhvr>
                                      <p:tavLst>
                                        <p:tav tm="0">
                                          <p:val>
                                            <p:fltVal val="0"/>
                                          </p:val>
                                        </p:tav>
                                        <p:tav tm="100000">
                                          <p:val>
                                            <p:strVal val="#ppt_h"/>
                                          </p:val>
                                        </p:tav>
                                      </p:tavLst>
                                    </p:anim>
                                    <p:animEffect transition="in" filter="fade">
                                      <p:cBhvr>
                                        <p:cTn id="27" dur="500"/>
                                        <p:tgtEl>
                                          <p:spTgt spid="18"/>
                                        </p:tgtEl>
                                      </p:cBhvr>
                                    </p:animEffect>
                                  </p:childTnLst>
                                </p:cTn>
                              </p:par>
                              <p:par>
                                <p:cTn id="28" presetID="22" presetClass="entr" presetSubtype="8" fill="hold" grpId="0" nodeType="withEffect">
                                  <p:stCondLst>
                                    <p:cond delay="50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500"/>
                                        <p:tgtEl>
                                          <p:spTgt spid="17"/>
                                        </p:tgtEl>
                                      </p:cBhvr>
                                    </p:animEffect>
                                  </p:childTnLst>
                                </p:cTn>
                              </p:par>
                              <p:par>
                                <p:cTn id="31" presetID="22" presetClass="entr" presetSubtype="8" fill="hold" grpId="0" nodeType="withEffect">
                                  <p:stCondLst>
                                    <p:cond delay="500"/>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500"/>
                                        <p:tgtEl>
                                          <p:spTgt spid="21"/>
                                        </p:tgtEl>
                                      </p:cBhvr>
                                    </p:animEffect>
                                  </p:childTnLst>
                                </p:cTn>
                              </p:par>
                              <p:par>
                                <p:cTn id="34" presetID="22" presetClass="entr" presetSubtype="8" fill="hold" grpId="0" nodeType="withEffect">
                                  <p:stCondLst>
                                    <p:cond delay="500"/>
                                  </p:stCondLst>
                                  <p:childTnLst>
                                    <p:set>
                                      <p:cBhvr>
                                        <p:cTn id="35" dur="1" fill="hold">
                                          <p:stCondLst>
                                            <p:cond delay="0"/>
                                          </p:stCondLst>
                                        </p:cTn>
                                        <p:tgtEl>
                                          <p:spTgt spid="22"/>
                                        </p:tgtEl>
                                        <p:attrNameLst>
                                          <p:attrName>style.visibility</p:attrName>
                                        </p:attrNameLst>
                                      </p:cBhvr>
                                      <p:to>
                                        <p:strVal val="visible"/>
                                      </p:to>
                                    </p:set>
                                    <p:animEffect transition="in" filter="wipe(left)">
                                      <p:cBhvr>
                                        <p:cTn id="36" dur="500"/>
                                        <p:tgtEl>
                                          <p:spTgt spid="22"/>
                                        </p:tgtEl>
                                      </p:cBhvr>
                                    </p:animEffect>
                                  </p:childTnLst>
                                </p:cTn>
                              </p:par>
                              <p:par>
                                <p:cTn id="37" presetID="22" presetClass="entr" presetSubtype="8" fill="hold" grpId="0" nodeType="withEffect">
                                  <p:stCondLst>
                                    <p:cond delay="500"/>
                                  </p:stCondLst>
                                  <p:childTnLst>
                                    <p:set>
                                      <p:cBhvr>
                                        <p:cTn id="38" dur="1" fill="hold">
                                          <p:stCondLst>
                                            <p:cond delay="0"/>
                                          </p:stCondLst>
                                        </p:cTn>
                                        <p:tgtEl>
                                          <p:spTgt spid="23"/>
                                        </p:tgtEl>
                                        <p:attrNameLst>
                                          <p:attrName>style.visibility</p:attrName>
                                        </p:attrNameLst>
                                      </p:cBhvr>
                                      <p:to>
                                        <p:strVal val="visible"/>
                                      </p:to>
                                    </p:set>
                                    <p:animEffect transition="in" filter="wipe(left)">
                                      <p:cBhvr>
                                        <p:cTn id="39" dur="500"/>
                                        <p:tgtEl>
                                          <p:spTgt spid="23"/>
                                        </p:tgtEl>
                                      </p:cBhvr>
                                    </p:animEffect>
                                  </p:childTnLst>
                                </p:cTn>
                              </p:par>
                              <p:par>
                                <p:cTn id="40" presetID="22" presetClass="entr" presetSubtype="8" fill="hold" grpId="0" nodeType="withEffect">
                                  <p:stCondLst>
                                    <p:cond delay="500"/>
                                  </p:stCondLst>
                                  <p:childTnLst>
                                    <p:set>
                                      <p:cBhvr>
                                        <p:cTn id="41" dur="1" fill="hold">
                                          <p:stCondLst>
                                            <p:cond delay="0"/>
                                          </p:stCondLst>
                                        </p:cTn>
                                        <p:tgtEl>
                                          <p:spTgt spid="25"/>
                                        </p:tgtEl>
                                        <p:attrNameLst>
                                          <p:attrName>style.visibility</p:attrName>
                                        </p:attrNameLst>
                                      </p:cBhvr>
                                      <p:to>
                                        <p:strVal val="visible"/>
                                      </p:to>
                                    </p:set>
                                    <p:animEffect transition="in" filter="wipe(left)">
                                      <p:cBhvr>
                                        <p:cTn id="42" dur="500"/>
                                        <p:tgtEl>
                                          <p:spTgt spid="25"/>
                                        </p:tgtEl>
                                      </p:cBhvr>
                                    </p:animEffect>
                                  </p:childTnLst>
                                </p:cTn>
                              </p:par>
                              <p:par>
                                <p:cTn id="43" presetID="22" presetClass="entr" presetSubtype="2"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wipe(right)">
                                      <p:cBhvr>
                                        <p:cTn id="4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7" grpId="0"/>
      <p:bldP spid="21" grpId="0"/>
      <p:bldP spid="22" grpId="0"/>
      <p:bldP spid="23" grpId="0"/>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1851645"/>
            <a:ext cx="4205521" cy="3154710"/>
          </a:xfrm>
          <a:prstGeom prst="rect">
            <a:avLst/>
          </a:prstGeom>
          <a:noFill/>
        </p:spPr>
        <p:txBody>
          <a:bodyPr wrap="square" rtlCol="0">
            <a:spAutoFit/>
          </a:bodyPr>
          <a:lstStyle/>
          <a:p>
            <a:pPr algn="ctr"/>
            <a:r>
              <a:rPr lang="en-US" altLang="zh-CN"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01</a:t>
            </a:r>
            <a:endParaRPr lang="zh-CN" altLang="en-US"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p:cNvSpPr txBox="1"/>
          <p:nvPr/>
        </p:nvSpPr>
        <p:spPr>
          <a:xfrm>
            <a:off x="3887470" y="2844800"/>
            <a:ext cx="4663440" cy="756285"/>
          </a:xfrm>
          <a:prstGeom prst="rect">
            <a:avLst/>
          </a:prstGeom>
          <a:noFill/>
        </p:spPr>
        <p:txBody>
          <a:bodyPr wrap="square" rtlCol="0">
            <a:noAutofit/>
          </a:bodyPr>
          <a:lstStyle/>
          <a:p>
            <a:r>
              <a:rPr lang="zh-CN" altLang="da-DK" sz="4800" b="1" dirty="0">
                <a:latin typeface="微软雅黑" panose="020B0503020204020204" pitchFamily="34" charset="-122"/>
                <a:ea typeface="微软雅黑" panose="020B0503020204020204" pitchFamily="34" charset="-122"/>
                <a:cs typeface="Times New Roman" panose="02020603050405020304" pitchFamily="18" charset="0"/>
                <a:sym typeface="+mn-ea"/>
              </a:rPr>
              <a:t>时钟树</a:t>
            </a:r>
            <a:endParaRPr lang="zh-CN" altLang="da-DK" sz="4800" b="1"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15" name="组合 14"/>
          <p:cNvGrpSpPr/>
          <p:nvPr/>
        </p:nvGrpSpPr>
        <p:grpSpPr>
          <a:xfrm>
            <a:off x="3887162" y="3698215"/>
            <a:ext cx="4663440" cy="108000"/>
            <a:chOff x="3649980" y="3375660"/>
            <a:chExt cx="4663440" cy="108000"/>
          </a:xfrm>
        </p:grpSpPr>
        <p:cxnSp>
          <p:nvCxnSpPr>
            <p:cNvPr id="10" name="直接连接符 9"/>
            <p:cNvCxnSpPr/>
            <p:nvPr/>
          </p:nvCxnSpPr>
          <p:spPr>
            <a:xfrm>
              <a:off x="3733800" y="3429660"/>
              <a:ext cx="44958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364998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820542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useBgFill="1">
        <p:nvSpPr>
          <p:cNvPr id="16" name="文本框 15"/>
          <p:cNvSpPr txBox="1"/>
          <p:nvPr/>
        </p:nvSpPr>
        <p:spPr>
          <a:xfrm>
            <a:off x="487591" y="3105835"/>
            <a:ext cx="3230339" cy="646331"/>
          </a:xfrm>
          <a:prstGeom prst="rect">
            <a:avLst/>
          </a:prstGeom>
        </p:spPr>
        <p:txBody>
          <a:bodyPr wrap="square" rtlCol="0">
            <a:spAutoFit/>
          </a:bodyPr>
          <a:lstStyle/>
          <a:p>
            <a:pPr algn="ctr"/>
            <a:r>
              <a:rPr lang="en-US" altLang="zh-CN" sz="3600" b="1" dirty="0">
                <a:solidFill>
                  <a:schemeClr val="accent1"/>
                </a:solidFill>
                <a:latin typeface="Times New Roman" panose="02020603050405020304" pitchFamily="18" charset="0"/>
                <a:cs typeface="Times New Roman" panose="02020603050405020304" pitchFamily="18" charset="0"/>
              </a:rPr>
              <a:t>PART ONE</a:t>
            </a:r>
            <a:endParaRPr lang="zh-CN" altLang="en-US" sz="3600"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22" presetClass="entr" presetSubtype="8"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p:tgtEl>
                                          <p:spTgt spid="7"/>
                                        </p:tgtEl>
                                        <p:attrNameLst>
                                          <p:attrName>ppt_y</p:attrName>
                                        </p:attrNameLst>
                                      </p:cBhvr>
                                      <p:tavLst>
                                        <p:tav tm="0">
                                          <p:val>
                                            <p:strVal val="#ppt_y+#ppt_h*1.125000"/>
                                          </p:val>
                                        </p:tav>
                                        <p:tav tm="100000">
                                          <p:val>
                                            <p:strVal val="#ppt_y"/>
                                          </p:val>
                                        </p:tav>
                                      </p:tavLst>
                                    </p:anim>
                                    <p:animEffect transition="in" filter="wipe(up)">
                                      <p:cBhvr>
                                        <p:cTn id="16" dur="500"/>
                                        <p:tgtEl>
                                          <p:spTgt spid="7"/>
                                        </p:tgtEl>
                                      </p:cBhvr>
                                    </p:animEffect>
                                  </p:childTnLst>
                                </p:cTn>
                              </p:par>
                              <p:par>
                                <p:cTn id="17" presetID="16" presetClass="entr" presetSubtype="37" fill="hold" grpId="0" nodeType="withEffect">
                                  <p:stCondLst>
                                    <p:cond delay="400"/>
                                  </p:stCondLst>
                                  <p:childTnLst>
                                    <p:set>
                                      <p:cBhvr>
                                        <p:cTn id="18" dur="1" fill="hold">
                                          <p:stCondLst>
                                            <p:cond delay="0"/>
                                          </p:stCondLst>
                                        </p:cTn>
                                        <p:tgtEl>
                                          <p:spTgt spid="16"/>
                                        </p:tgtEl>
                                        <p:attrNameLst>
                                          <p:attrName>style.visibility</p:attrName>
                                        </p:attrNameLst>
                                      </p:cBhvr>
                                      <p:to>
                                        <p:strVal val="visible"/>
                                      </p:to>
                                    </p:set>
                                    <p:animEffect transition="in" filter="barn(outVertical)">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93235" y="362672"/>
            <a:ext cx="7113238" cy="583565"/>
          </a:xfrm>
          <a:prstGeom prst="rect">
            <a:avLst/>
          </a:prstGeom>
          <a:noFill/>
        </p:spPr>
        <p:txBody>
          <a:bodyPr wrap="square" rtlCol="0">
            <a:spAutoFit/>
          </a:bodyPr>
          <a:lstStyle/>
          <a:p>
            <a:r>
              <a:rPr lang="zh-CN" altLang="en-US" sz="3200" b="1" dirty="0" smtClean="0">
                <a:solidFill>
                  <a:schemeClr val="tx1"/>
                </a:solidFill>
                <a:sym typeface="+mn-ea"/>
              </a:rPr>
              <a:t>时钟</a:t>
            </a:r>
            <a:endParaRPr lang="zh-CN" altLang="en-US" sz="3200" b="1" dirty="0" smtClean="0">
              <a:solidFill>
                <a:schemeClr val="tx1"/>
              </a:solidFill>
              <a:latin typeface="微软雅黑" panose="020B0503020204020204" pitchFamily="34" charset="-122"/>
              <a:ea typeface="微软雅黑" panose="020B0503020204020204" pitchFamily="34" charset="-122"/>
              <a:sym typeface="+mn-ea"/>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17</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6" name="文本框 5"/>
          <p:cNvSpPr txBox="1"/>
          <p:nvPr>
            <p:custDataLst>
              <p:tags r:id="rId1"/>
            </p:custDataLst>
          </p:nvPr>
        </p:nvSpPr>
        <p:spPr>
          <a:xfrm>
            <a:off x="182880" y="1075055"/>
            <a:ext cx="8255635" cy="4461510"/>
          </a:xfrm>
          <a:prstGeom prst="rect">
            <a:avLst/>
          </a:prstGeom>
          <a:noFill/>
        </p:spPr>
        <p:txBody>
          <a:bodyPr wrap="square" rtlCol="0">
            <a:spAutoFit/>
          </a:bodyPr>
          <a:p>
            <a:pPr lvl="1" indent="457200">
              <a:buFont typeface="Arial" panose="020B0604020202020204" pitchFamily="34" charset="0"/>
              <a:buNone/>
            </a:pPr>
            <a:r>
              <a:rPr lang="zh-CN" altLang="en-US" sz="3200" b="1" dirty="0" smtClean="0">
                <a:solidFill>
                  <a:schemeClr val="tx1"/>
                </a:solidFill>
                <a:sym typeface="+mn-ea"/>
              </a:rPr>
              <a:t>什么是</a:t>
            </a:r>
            <a:r>
              <a:rPr lang="zh-CN" altLang="en-US" sz="3200" b="1" dirty="0" smtClean="0">
                <a:solidFill>
                  <a:schemeClr val="tx1"/>
                </a:solidFill>
                <a:sym typeface="+mn-ea"/>
              </a:rPr>
              <a:t>时钟？</a:t>
            </a:r>
            <a:endParaRPr lang="zh-CN" altLang="en-US" sz="3200" b="1" dirty="0" smtClean="0">
              <a:solidFill>
                <a:schemeClr val="tx1"/>
              </a:solidFill>
              <a:sym typeface="+mn-ea"/>
            </a:endParaRPr>
          </a:p>
          <a:p>
            <a:pPr lvl="1" indent="457200">
              <a:buFont typeface="Arial" panose="020B0604020202020204" pitchFamily="34" charset="0"/>
              <a:buNone/>
            </a:pPr>
            <a:r>
              <a:rPr lang="zh-CN" altLang="en-US" sz="3200" b="1" dirty="0" smtClean="0">
                <a:solidFill>
                  <a:schemeClr val="tx1"/>
                </a:solidFill>
                <a:sym typeface="+mn-ea"/>
              </a:rPr>
              <a:t>时钟可以理解为一个总指挥，发出统一节拍</a:t>
            </a:r>
            <a:r>
              <a:rPr lang="en-US" altLang="zh-CN" sz="3200" b="1" dirty="0" smtClean="0">
                <a:solidFill>
                  <a:schemeClr val="tx1"/>
                </a:solidFill>
                <a:sym typeface="+mn-ea"/>
              </a:rPr>
              <a:t>(</a:t>
            </a:r>
            <a:r>
              <a:rPr lang="zh-CN" altLang="en-US" sz="3200" b="1" dirty="0" smtClean="0">
                <a:solidFill>
                  <a:schemeClr val="tx1"/>
                </a:solidFill>
                <a:sym typeface="+mn-ea"/>
              </a:rPr>
              <a:t>时钟脉冲</a:t>
            </a:r>
            <a:r>
              <a:rPr lang="en-US" altLang="zh-CN" sz="3200" b="1" dirty="0" smtClean="0">
                <a:solidFill>
                  <a:schemeClr val="tx1"/>
                </a:solidFill>
                <a:sym typeface="+mn-ea"/>
              </a:rPr>
              <a:t>)</a:t>
            </a:r>
            <a:r>
              <a:rPr lang="zh-CN" altLang="en-US" sz="3200" b="1" dirty="0" smtClean="0">
                <a:solidFill>
                  <a:schemeClr val="tx1"/>
                </a:solidFill>
                <a:sym typeface="+mn-ea"/>
              </a:rPr>
              <a:t>协调单片机中各个模块的有序运行，没有时钟，相当于工人们没有指挥，单片机就会不干活。</a:t>
            </a:r>
            <a:endParaRPr lang="zh-CN" altLang="en-US" sz="3200" b="1" dirty="0" smtClean="0">
              <a:solidFill>
                <a:schemeClr val="tx1"/>
              </a:solidFill>
              <a:sym typeface="+mn-ea"/>
            </a:endParaRPr>
          </a:p>
          <a:p>
            <a:pPr lvl="1" indent="457200">
              <a:buFont typeface="Arial" panose="020B0604020202020204" pitchFamily="34" charset="0"/>
              <a:buNone/>
            </a:pPr>
            <a:r>
              <a:rPr lang="zh-CN" altLang="en-US" sz="3200" b="1" dirty="0" smtClean="0">
                <a:solidFill>
                  <a:schemeClr val="tx1"/>
                </a:solidFill>
                <a:sym typeface="+mn-ea"/>
              </a:rPr>
              <a:t>串口</a:t>
            </a:r>
            <a:r>
              <a:rPr lang="en-US" altLang="zh-CN" sz="3200" b="1" dirty="0" smtClean="0">
                <a:solidFill>
                  <a:schemeClr val="tx1"/>
                </a:solidFill>
                <a:sym typeface="+mn-ea"/>
              </a:rPr>
              <a:t>:</a:t>
            </a:r>
            <a:r>
              <a:rPr lang="zh-CN" altLang="en-US" sz="3200" b="1" dirty="0" smtClean="0">
                <a:solidFill>
                  <a:schemeClr val="tx1"/>
                </a:solidFill>
                <a:sym typeface="+mn-ea"/>
              </a:rPr>
              <a:t>波特率</a:t>
            </a:r>
            <a:r>
              <a:rPr lang="en-US" altLang="zh-CN" sz="3200" b="1" dirty="0" smtClean="0">
                <a:solidFill>
                  <a:schemeClr val="tx1"/>
                </a:solidFill>
                <a:sym typeface="+mn-ea"/>
              </a:rPr>
              <a:t>            iic/spi</a:t>
            </a:r>
            <a:r>
              <a:rPr lang="zh-CN" altLang="en-US" sz="3200" b="1" dirty="0" smtClean="0">
                <a:solidFill>
                  <a:schemeClr val="tx1"/>
                </a:solidFill>
                <a:sym typeface="+mn-ea"/>
              </a:rPr>
              <a:t>：时钟线</a:t>
            </a:r>
            <a:endParaRPr lang="zh-CN" altLang="en-US" sz="3200" b="1" dirty="0" smtClean="0">
              <a:solidFill>
                <a:schemeClr val="tx1"/>
              </a:solidFill>
              <a:sym typeface="+mn-ea"/>
            </a:endParaRPr>
          </a:p>
          <a:p>
            <a:pPr lvl="1" indent="457200">
              <a:buFont typeface="Arial" panose="020B0604020202020204" pitchFamily="34" charset="0"/>
              <a:buNone/>
            </a:pPr>
            <a:r>
              <a:rPr lang="en-US" altLang="zh-CN" sz="3200" b="1" dirty="0" smtClean="0">
                <a:solidFill>
                  <a:schemeClr val="tx1"/>
                </a:solidFill>
                <a:sym typeface="+mn-ea"/>
              </a:rPr>
              <a:t>ADC:</a:t>
            </a:r>
            <a:r>
              <a:rPr lang="zh-CN" altLang="en-US" sz="3200" b="1" dirty="0" smtClean="0">
                <a:solidFill>
                  <a:schemeClr val="tx1"/>
                </a:solidFill>
                <a:sym typeface="+mn-ea"/>
              </a:rPr>
              <a:t>采样时间</a:t>
            </a:r>
            <a:r>
              <a:rPr lang="en-US" altLang="zh-CN" sz="3200" b="1" dirty="0" smtClean="0">
                <a:solidFill>
                  <a:schemeClr val="tx1"/>
                </a:solidFill>
                <a:sym typeface="+mn-ea"/>
              </a:rPr>
              <a:t>        </a:t>
            </a:r>
            <a:r>
              <a:rPr lang="zh-CN" altLang="en-US" sz="3200" b="1" dirty="0" smtClean="0">
                <a:solidFill>
                  <a:schemeClr val="tx1"/>
                </a:solidFill>
                <a:sym typeface="+mn-ea"/>
              </a:rPr>
              <a:t>定时器：计时</a:t>
            </a:r>
            <a:endParaRPr lang="zh-TW" altLang="en-US" sz="3200" b="1" dirty="0">
              <a:solidFill>
                <a:schemeClr val="tx1"/>
              </a:solidFill>
            </a:endParaRPr>
          </a:p>
          <a:p>
            <a:pPr lvl="1" indent="457200">
              <a:buFont typeface="Arial" panose="020B0604020202020204" pitchFamily="34" charset="0"/>
              <a:buNone/>
            </a:pPr>
            <a:endParaRPr sz="2000"/>
          </a:p>
          <a:p>
            <a:pPr indent="457200">
              <a:buFont typeface="Arial" panose="020B0604020202020204" pitchFamily="34" charset="0"/>
              <a:buNone/>
            </a:pPr>
            <a:endParaRPr sz="2000"/>
          </a:p>
          <a:p>
            <a:pPr indent="457200">
              <a:buFont typeface="Arial" panose="020B0604020202020204" pitchFamily="34" charset="0"/>
              <a:buNone/>
            </a:pPr>
            <a:endParaRPr sz="2000"/>
          </a:p>
        </p:txBody>
      </p:sp>
      <p:pic>
        <p:nvPicPr>
          <p:cNvPr id="1026" name="Picture 2"/>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2420620" y="4716145"/>
            <a:ext cx="4302125" cy="1237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custDataLst>
              <p:tags r:id="rId4"/>
            </p:custDataLst>
          </p:nvPr>
        </p:nvSpPr>
        <p:spPr>
          <a:xfrm>
            <a:off x="3318778" y="6205410"/>
            <a:ext cx="2808312" cy="398780"/>
          </a:xfrm>
          <a:prstGeom prst="rect">
            <a:avLst/>
          </a:prstGeom>
          <a:noFill/>
        </p:spPr>
        <p:txBody>
          <a:bodyPr wrap="square" rtlCol="0">
            <a:spAutoFit/>
          </a:bodyPr>
          <a:p>
            <a:r>
              <a:rPr lang="zh-CN" altLang="en-US" sz="2000" b="1" dirty="0" smtClean="0">
                <a:solidFill>
                  <a:schemeClr val="tx1"/>
                </a:solidFill>
              </a:rPr>
              <a:t>时钟</a:t>
            </a:r>
            <a:r>
              <a:rPr lang="en-US" altLang="zh-CN" sz="2000" b="1" dirty="0" smtClean="0">
                <a:solidFill>
                  <a:schemeClr val="tx1"/>
                </a:solidFill>
              </a:rPr>
              <a:t>:</a:t>
            </a:r>
            <a:r>
              <a:rPr lang="zh-CN" altLang="en-US" sz="2000" b="1" dirty="0" smtClean="0">
                <a:solidFill>
                  <a:schemeClr val="tx1"/>
                </a:solidFill>
              </a:rPr>
              <a:t>统一的节拍</a:t>
            </a:r>
            <a:endParaRPr lang="zh-CN" altLang="en-US" sz="2000" b="1" dirty="0" smtClean="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da-DK" sz="2400" b="1" dirty="0">
                <a:latin typeface="微软雅黑" panose="020B0503020204020204" pitchFamily="34" charset="-122"/>
                <a:ea typeface="微软雅黑" panose="020B0503020204020204" pitchFamily="34" charset="-122"/>
                <a:cs typeface="Times New Roman" panose="02020603050405020304" pitchFamily="18" charset="0"/>
                <a:sym typeface="+mn-ea"/>
              </a:rPr>
              <a:t>时钟树</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04</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100" name="图片 99"/>
          <p:cNvPicPr/>
          <p:nvPr/>
        </p:nvPicPr>
        <p:blipFill>
          <a:blip r:embed="rId1"/>
          <a:stretch>
            <a:fillRect/>
          </a:stretch>
        </p:blipFill>
        <p:spPr>
          <a:xfrm>
            <a:off x="-1905" y="1635659"/>
            <a:ext cx="9144000" cy="2626562"/>
          </a:xfrm>
          <a:prstGeom prst="rect">
            <a:avLst/>
          </a:prstGeom>
          <a:noFill/>
          <a:ln w="9525">
            <a:noFill/>
          </a:ln>
        </p:spPr>
      </p:pic>
      <p:sp>
        <p:nvSpPr>
          <p:cNvPr id="2" name="文本框 1"/>
          <p:cNvSpPr txBox="1"/>
          <p:nvPr/>
        </p:nvSpPr>
        <p:spPr>
          <a:xfrm>
            <a:off x="3333115" y="906780"/>
            <a:ext cx="2478405" cy="645160"/>
          </a:xfrm>
          <a:prstGeom prst="rect">
            <a:avLst/>
          </a:prstGeom>
          <a:noFill/>
        </p:spPr>
        <p:txBody>
          <a:bodyPr wrap="none" rtlCol="0">
            <a:spAutoFit/>
          </a:bodyPr>
          <a:p>
            <a:r>
              <a:rPr lang="zh-CN" altLang="en-US" sz="3600" b="1"/>
              <a:t>认识逻辑门</a:t>
            </a:r>
            <a:endParaRPr lang="zh-CN" altLang="en-US" sz="3600" b="1"/>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16"/>
                                        </p:tgtEl>
                                        <p:attrNameLst>
                                          <p:attrName>style.visibility</p:attrName>
                                        </p:attrNameLst>
                                      </p:cBhvr>
                                      <p:to>
                                        <p:strVal val="visible"/>
                                      </p:to>
                                    </p:set>
                                    <p:animEffect transition="in" filter="wipe(right)">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da-DK" sz="2400" b="1" dirty="0">
                <a:latin typeface="微软雅黑" panose="020B0503020204020204" pitchFamily="34" charset="-122"/>
                <a:ea typeface="微软雅黑" panose="020B0503020204020204" pitchFamily="34" charset="-122"/>
                <a:cs typeface="Times New Roman" panose="02020603050405020304" pitchFamily="18" charset="0"/>
                <a:sym typeface="+mn-ea"/>
              </a:rPr>
              <a:t>时钟树</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04</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101" name="图片 100"/>
          <p:cNvPicPr/>
          <p:nvPr/>
        </p:nvPicPr>
        <p:blipFill>
          <a:blip r:embed="rId1"/>
          <a:stretch>
            <a:fillRect/>
          </a:stretch>
        </p:blipFill>
        <p:spPr>
          <a:xfrm>
            <a:off x="0" y="0"/>
            <a:ext cx="9144000" cy="685736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16"/>
                                        </p:tgtEl>
                                        <p:attrNameLst>
                                          <p:attrName>style.visibility</p:attrName>
                                        </p:attrNameLst>
                                      </p:cBhvr>
                                      <p:to>
                                        <p:strVal val="visible"/>
                                      </p:to>
                                    </p:set>
                                    <p:animEffect transition="in" filter="wipe(right)">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583565"/>
          </a:xfrm>
          <a:prstGeom prst="rect">
            <a:avLst/>
          </a:prstGeom>
          <a:noFill/>
        </p:spPr>
        <p:txBody>
          <a:bodyPr wrap="square" rtlCol="0">
            <a:spAutoFit/>
          </a:bodyPr>
          <a:lstStyle/>
          <a:p>
            <a:r>
              <a:rPr lang="zh-CN" altLang="da-DK" sz="3200" b="1" dirty="0">
                <a:latin typeface="微软雅黑" panose="020B0503020204020204" pitchFamily="34" charset="-122"/>
                <a:ea typeface="微软雅黑" panose="020B0503020204020204" pitchFamily="34" charset="-122"/>
                <a:cs typeface="Times New Roman" panose="02020603050405020304" pitchFamily="18" charset="0"/>
                <a:sym typeface="+mn-ea"/>
              </a:rPr>
              <a:t>时钟树</a:t>
            </a:r>
            <a:endPar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grpSp>
        <p:nvGrpSpPr>
          <p:cNvPr id="20" name="组合 19"/>
          <p:cNvGrpSpPr/>
          <p:nvPr/>
        </p:nvGrpSpPr>
        <p:grpSpPr>
          <a:xfrm>
            <a:off x="1220659" y="6519446"/>
            <a:ext cx="8024939" cy="338554"/>
            <a:chOff x="1277256" y="6519446"/>
            <a:chExt cx="8024939" cy="338554"/>
          </a:xfrm>
        </p:grpSpPr>
        <p:sp>
          <p:nvSpPr>
            <p:cNvPr id="21" name="矩形 20"/>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2" name="图片 1"/>
          <p:cNvPicPr>
            <a:picLocks noChangeAspect="1"/>
          </p:cNvPicPr>
          <p:nvPr/>
        </p:nvPicPr>
        <p:blipFill>
          <a:blip r:embed="rId1"/>
          <a:stretch>
            <a:fillRect/>
          </a:stretch>
        </p:blipFill>
        <p:spPr>
          <a:xfrm>
            <a:off x="955040" y="3014345"/>
            <a:ext cx="1619250" cy="1416050"/>
          </a:xfrm>
          <a:prstGeom prst="rect">
            <a:avLst/>
          </a:prstGeom>
        </p:spPr>
      </p:pic>
      <p:pic>
        <p:nvPicPr>
          <p:cNvPr id="3" name="图片 2"/>
          <p:cNvPicPr>
            <a:picLocks noChangeAspect="1"/>
          </p:cNvPicPr>
          <p:nvPr/>
        </p:nvPicPr>
        <p:blipFill>
          <a:blip r:embed="rId2"/>
          <a:stretch>
            <a:fillRect/>
          </a:stretch>
        </p:blipFill>
        <p:spPr>
          <a:xfrm>
            <a:off x="3632835" y="3094355"/>
            <a:ext cx="1771650" cy="1631950"/>
          </a:xfrm>
          <a:prstGeom prst="rect">
            <a:avLst/>
          </a:prstGeom>
        </p:spPr>
      </p:pic>
      <p:pic>
        <p:nvPicPr>
          <p:cNvPr id="5" name="图片 4"/>
          <p:cNvPicPr>
            <a:picLocks noChangeAspect="1"/>
          </p:cNvPicPr>
          <p:nvPr/>
        </p:nvPicPr>
        <p:blipFill>
          <a:blip r:embed="rId3"/>
          <a:stretch>
            <a:fillRect/>
          </a:stretch>
        </p:blipFill>
        <p:spPr>
          <a:xfrm rot="5400000">
            <a:off x="6887210" y="2897505"/>
            <a:ext cx="962660" cy="2175510"/>
          </a:xfrm>
          <a:prstGeom prst="rect">
            <a:avLst/>
          </a:prstGeom>
        </p:spPr>
      </p:pic>
      <p:sp>
        <p:nvSpPr>
          <p:cNvPr id="10" name="文本框 9"/>
          <p:cNvSpPr txBox="1"/>
          <p:nvPr>
            <p:custDataLst>
              <p:tags r:id="rId4"/>
            </p:custDataLst>
          </p:nvPr>
        </p:nvSpPr>
        <p:spPr>
          <a:xfrm>
            <a:off x="664845" y="4726305"/>
            <a:ext cx="3773805" cy="1680210"/>
          </a:xfrm>
          <a:prstGeom prst="rect">
            <a:avLst/>
          </a:prstGeom>
          <a:noFill/>
        </p:spPr>
        <p:txBody>
          <a:bodyPr wrap="square" rtlCol="0">
            <a:noAutofit/>
          </a:bodyPr>
          <a:p>
            <a:r>
              <a:rPr lang="zh-CN" altLang="en-US" sz="2000" b="1" dirty="0">
                <a:solidFill>
                  <a:schemeClr val="tx1"/>
                </a:solidFill>
                <a:latin typeface="Times New Roman" panose="02020603050405020304" pitchFamily="18" charset="0"/>
                <a:cs typeface="Times New Roman" panose="02020603050405020304" pitchFamily="18" charset="0"/>
              </a:rPr>
              <a:t>输入</a:t>
            </a:r>
            <a:r>
              <a:rPr lang="en-US" altLang="zh-CN" sz="2000" b="1" dirty="0">
                <a:solidFill>
                  <a:schemeClr val="tx1"/>
                </a:solidFill>
                <a:latin typeface="Times New Roman" panose="02020603050405020304" pitchFamily="18" charset="0"/>
                <a:cs typeface="Times New Roman" panose="02020603050405020304" pitchFamily="18" charset="0"/>
              </a:rPr>
              <a:t>1</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cs typeface="Times New Roman" panose="02020603050405020304" pitchFamily="18" charset="0"/>
              </a:rPr>
              <a:t>0   0   1   1</a:t>
            </a:r>
            <a:endParaRPr lang="zh-CN" altLang="en-US" sz="2000" b="1" dirty="0">
              <a:solidFill>
                <a:schemeClr val="tx1"/>
              </a:solidFill>
              <a:latin typeface="Times New Roman" panose="02020603050405020304" pitchFamily="18" charset="0"/>
              <a:cs typeface="Times New Roman" panose="02020603050405020304" pitchFamily="18" charset="0"/>
            </a:endParaRPr>
          </a:p>
          <a:p>
            <a:r>
              <a:rPr lang="zh-CN" altLang="en-US" sz="2000" b="1" dirty="0">
                <a:solidFill>
                  <a:schemeClr val="tx1"/>
                </a:solidFill>
                <a:latin typeface="Times New Roman" panose="02020603050405020304" pitchFamily="18" charset="0"/>
                <a:cs typeface="Times New Roman" panose="02020603050405020304" pitchFamily="18" charset="0"/>
              </a:rPr>
              <a:t>输入</a:t>
            </a:r>
            <a:r>
              <a:rPr lang="en-US" altLang="zh-CN" sz="2000" b="1" dirty="0">
                <a:solidFill>
                  <a:schemeClr val="tx1"/>
                </a:solidFill>
                <a:latin typeface="Times New Roman" panose="02020603050405020304" pitchFamily="18" charset="0"/>
                <a:cs typeface="Times New Roman" panose="02020603050405020304" pitchFamily="18" charset="0"/>
              </a:rPr>
              <a:t>2</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cs typeface="Times New Roman" panose="02020603050405020304" pitchFamily="18" charset="0"/>
              </a:rPr>
              <a:t>0   1   0   1</a:t>
            </a:r>
            <a:endParaRPr lang="zh-CN" altLang="en-US" sz="2000" b="1" dirty="0">
              <a:solidFill>
                <a:schemeClr val="tx1"/>
              </a:solidFill>
              <a:latin typeface="Times New Roman" panose="02020603050405020304" pitchFamily="18" charset="0"/>
              <a:cs typeface="Times New Roman" panose="02020603050405020304" pitchFamily="18" charset="0"/>
            </a:endParaRPr>
          </a:p>
          <a:p>
            <a:r>
              <a:rPr lang="zh-CN" altLang="en-US" sz="2000" b="1" dirty="0">
                <a:solidFill>
                  <a:schemeClr val="tx1"/>
                </a:solidFill>
                <a:latin typeface="Times New Roman" panose="02020603050405020304" pitchFamily="18" charset="0"/>
                <a:cs typeface="Times New Roman" panose="02020603050405020304" pitchFamily="18" charset="0"/>
              </a:rPr>
              <a:t>输出：</a:t>
            </a:r>
            <a:r>
              <a:rPr lang="en-US" altLang="zh-CN" sz="2000" b="1" dirty="0">
                <a:solidFill>
                  <a:schemeClr val="tx1"/>
                </a:solidFill>
                <a:latin typeface="Times New Roman" panose="02020603050405020304" pitchFamily="18" charset="0"/>
                <a:cs typeface="Times New Roman" panose="02020603050405020304" pitchFamily="18" charset="0"/>
              </a:rPr>
              <a:t>  0   0   0   1</a:t>
            </a:r>
            <a:endParaRPr lang="en-US" altLang="zh-CN" sz="2000" b="1" dirty="0">
              <a:solidFill>
                <a:schemeClr val="tx1"/>
              </a:solidFill>
              <a:latin typeface="Times New Roman" panose="02020603050405020304" pitchFamily="18" charset="0"/>
              <a:cs typeface="Times New Roman" panose="02020603050405020304" pitchFamily="18" charset="0"/>
            </a:endParaRPr>
          </a:p>
        </p:txBody>
      </p:sp>
      <p:sp>
        <p:nvSpPr>
          <p:cNvPr id="6" name="文本框 5"/>
          <p:cNvSpPr txBox="1"/>
          <p:nvPr>
            <p:custDataLst>
              <p:tags r:id="rId5"/>
            </p:custDataLst>
          </p:nvPr>
        </p:nvSpPr>
        <p:spPr>
          <a:xfrm>
            <a:off x="3567430" y="4782820"/>
            <a:ext cx="3773805" cy="1680210"/>
          </a:xfrm>
          <a:prstGeom prst="rect">
            <a:avLst/>
          </a:prstGeom>
          <a:noFill/>
        </p:spPr>
        <p:txBody>
          <a:bodyPr wrap="square" rtlCol="0">
            <a:noAutofit/>
          </a:bodyPr>
          <a:p>
            <a:r>
              <a:rPr lang="zh-CN" altLang="en-US" sz="2000" b="1" dirty="0">
                <a:solidFill>
                  <a:schemeClr val="tx1"/>
                </a:solidFill>
                <a:latin typeface="Times New Roman" panose="02020603050405020304" pitchFamily="18" charset="0"/>
                <a:cs typeface="Times New Roman" panose="02020603050405020304" pitchFamily="18" charset="0"/>
              </a:rPr>
              <a:t>输入</a:t>
            </a:r>
            <a:r>
              <a:rPr lang="en-US" altLang="zh-CN" sz="2000" b="1" dirty="0">
                <a:solidFill>
                  <a:schemeClr val="tx1"/>
                </a:solidFill>
                <a:latin typeface="Times New Roman" panose="02020603050405020304" pitchFamily="18" charset="0"/>
                <a:cs typeface="Times New Roman" panose="02020603050405020304" pitchFamily="18" charset="0"/>
              </a:rPr>
              <a:t>1</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cs typeface="Times New Roman" panose="02020603050405020304" pitchFamily="18" charset="0"/>
              </a:rPr>
              <a:t>0   0   1   1</a:t>
            </a:r>
            <a:endParaRPr lang="zh-CN" altLang="en-US" sz="2000" b="1" dirty="0">
              <a:solidFill>
                <a:schemeClr val="tx1"/>
              </a:solidFill>
              <a:latin typeface="Times New Roman" panose="02020603050405020304" pitchFamily="18" charset="0"/>
              <a:cs typeface="Times New Roman" panose="02020603050405020304" pitchFamily="18" charset="0"/>
            </a:endParaRPr>
          </a:p>
          <a:p>
            <a:r>
              <a:rPr lang="zh-CN" altLang="en-US" sz="2000" b="1" dirty="0">
                <a:solidFill>
                  <a:schemeClr val="tx1"/>
                </a:solidFill>
                <a:latin typeface="Times New Roman" panose="02020603050405020304" pitchFamily="18" charset="0"/>
                <a:cs typeface="Times New Roman" panose="02020603050405020304" pitchFamily="18" charset="0"/>
              </a:rPr>
              <a:t>输入</a:t>
            </a:r>
            <a:r>
              <a:rPr lang="en-US" altLang="zh-CN" sz="2000" b="1" dirty="0">
                <a:solidFill>
                  <a:schemeClr val="tx1"/>
                </a:solidFill>
                <a:latin typeface="Times New Roman" panose="02020603050405020304" pitchFamily="18" charset="0"/>
                <a:cs typeface="Times New Roman" panose="02020603050405020304" pitchFamily="18" charset="0"/>
              </a:rPr>
              <a:t>2</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cs typeface="Times New Roman" panose="02020603050405020304" pitchFamily="18" charset="0"/>
              </a:rPr>
              <a:t>0   1   0   1</a:t>
            </a:r>
            <a:endParaRPr lang="zh-CN" altLang="en-US" sz="2000" b="1" dirty="0">
              <a:solidFill>
                <a:schemeClr val="tx1"/>
              </a:solidFill>
              <a:latin typeface="Times New Roman" panose="02020603050405020304" pitchFamily="18" charset="0"/>
              <a:cs typeface="Times New Roman" panose="02020603050405020304" pitchFamily="18" charset="0"/>
            </a:endParaRPr>
          </a:p>
          <a:p>
            <a:r>
              <a:rPr lang="zh-CN" altLang="en-US" sz="2000" b="1" dirty="0">
                <a:solidFill>
                  <a:schemeClr val="tx1"/>
                </a:solidFill>
                <a:latin typeface="Times New Roman" panose="02020603050405020304" pitchFamily="18" charset="0"/>
                <a:cs typeface="Times New Roman" panose="02020603050405020304" pitchFamily="18" charset="0"/>
              </a:rPr>
              <a:t>输出：</a:t>
            </a:r>
            <a:r>
              <a:rPr lang="en-US" altLang="zh-CN" sz="2000" b="1" dirty="0">
                <a:solidFill>
                  <a:schemeClr val="tx1"/>
                </a:solidFill>
                <a:latin typeface="Times New Roman" panose="02020603050405020304" pitchFamily="18" charset="0"/>
                <a:cs typeface="Times New Roman" panose="02020603050405020304" pitchFamily="18" charset="0"/>
              </a:rPr>
              <a:t>  0   1   1   0</a:t>
            </a:r>
            <a:endParaRPr lang="en-US" altLang="zh-CN" sz="2000" b="1" dirty="0">
              <a:solidFill>
                <a:schemeClr val="tx1"/>
              </a:solidFill>
              <a:latin typeface="Times New Roman" panose="02020603050405020304" pitchFamily="18" charset="0"/>
              <a:cs typeface="Times New Roman" panose="02020603050405020304" pitchFamily="18" charset="0"/>
            </a:endParaRPr>
          </a:p>
        </p:txBody>
      </p:sp>
      <p:sp>
        <p:nvSpPr>
          <p:cNvPr id="7" name="文本框 6"/>
          <p:cNvSpPr txBox="1"/>
          <p:nvPr>
            <p:custDataLst>
              <p:tags r:id="rId6"/>
            </p:custDataLst>
          </p:nvPr>
        </p:nvSpPr>
        <p:spPr>
          <a:xfrm>
            <a:off x="1150620" y="1290320"/>
            <a:ext cx="7383145" cy="1680210"/>
          </a:xfrm>
          <a:prstGeom prst="rect">
            <a:avLst/>
          </a:prstGeom>
          <a:noFill/>
        </p:spPr>
        <p:txBody>
          <a:bodyPr wrap="square" rtlCol="0">
            <a:noAutofit/>
          </a:bodyPr>
          <a:p>
            <a:r>
              <a:rPr lang="zh-CN" altLang="en-US" sz="3200" b="1" dirty="0">
                <a:solidFill>
                  <a:schemeClr val="tx1"/>
                </a:solidFill>
                <a:latin typeface="Times New Roman" panose="02020603050405020304" pitchFamily="18" charset="0"/>
                <a:cs typeface="Times New Roman" panose="02020603050405020304" pitchFamily="18" charset="0"/>
              </a:rPr>
              <a:t>寄存器是程序设计的桥梁</a:t>
            </a:r>
            <a:endParaRPr lang="zh-CN" altLang="en-US" sz="3200" b="1" dirty="0">
              <a:solidFill>
                <a:schemeClr val="tx1"/>
              </a:solidFill>
              <a:latin typeface="Times New Roman" panose="02020603050405020304" pitchFamily="18" charset="0"/>
              <a:cs typeface="Times New Roman" panose="02020603050405020304" pitchFamily="18" charset="0"/>
            </a:endParaRPr>
          </a:p>
          <a:p>
            <a:r>
              <a:rPr lang="zh-CN" altLang="en-US" sz="3200" b="1" dirty="0">
                <a:solidFill>
                  <a:schemeClr val="tx1"/>
                </a:solidFill>
                <a:latin typeface="Times New Roman" panose="02020603050405020304" pitchFamily="18" charset="0"/>
                <a:cs typeface="Times New Roman" panose="02020603050405020304" pitchFamily="18" charset="0"/>
              </a:rPr>
              <a:t>通过读取寄存器获取电路的状态</a:t>
            </a:r>
            <a:endParaRPr lang="zh-CN" altLang="en-US" sz="3200" b="1" dirty="0">
              <a:solidFill>
                <a:schemeClr val="tx1"/>
              </a:solidFill>
              <a:latin typeface="Times New Roman" panose="02020603050405020304" pitchFamily="18" charset="0"/>
              <a:cs typeface="Times New Roman" panose="02020603050405020304" pitchFamily="18" charset="0"/>
            </a:endParaRPr>
          </a:p>
          <a:p>
            <a:r>
              <a:rPr lang="zh-CN" altLang="en-US" sz="3200" b="1" dirty="0">
                <a:solidFill>
                  <a:schemeClr val="tx1"/>
                </a:solidFill>
                <a:latin typeface="Times New Roman" panose="02020603050405020304" pitchFamily="18" charset="0"/>
                <a:cs typeface="Times New Roman" panose="02020603050405020304" pitchFamily="18" charset="0"/>
              </a:rPr>
              <a:t>通过设置寄存器控制电路的运行</a:t>
            </a:r>
            <a:endParaRPr lang="zh-CN" altLang="en-US" sz="3200" b="1"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r:id="rId7" p14:bwMode="auto">
            <p14:nvContentPartPr>
              <p14:cNvPr id="8" name="墨迹 7"/>
              <p14:cNvContentPartPr/>
              <p14:nvPr/>
            </p14:nvContentPartPr>
            <p14:xfrm>
              <a:off x="2456180" y="3613150"/>
              <a:ext cx="8255" cy="360"/>
            </p14:xfrm>
          </p:contentPart>
        </mc:Choice>
        <mc:Fallback xmlns="">
          <p:pic>
            <p:nvPicPr>
              <p:cNvPr id="8" name="墨迹 7"/>
            </p:nvPicPr>
            <p:blipFill>
              <a:blip r:embed="rId8"/>
            </p:blipFill>
            <p:spPr>
              <a:xfrm>
                <a:off x="2456180" y="3613150"/>
                <a:ext cx="8255" cy="3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1" name="墨迹 10"/>
              <p14:cNvContentPartPr/>
              <p14:nvPr/>
            </p14:nvContentPartPr>
            <p14:xfrm>
              <a:off x="2327275" y="3638550"/>
              <a:ext cx="8890" cy="360"/>
            </p14:xfrm>
          </p:contentPart>
        </mc:Choice>
        <mc:Fallback xmlns="">
          <p:pic>
            <p:nvPicPr>
              <p:cNvPr id="11" name="墨迹 10"/>
            </p:nvPicPr>
            <p:blipFill>
              <a:blip r:embed="rId10"/>
            </p:blipFill>
            <p:spPr>
              <a:xfrm>
                <a:off x="2327275" y="3638550"/>
                <a:ext cx="8890" cy="36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2" name="墨迹 11"/>
              <p14:cNvContentPartPr/>
              <p14:nvPr/>
            </p14:nvContentPartPr>
            <p14:xfrm>
              <a:off x="2357755" y="3583305"/>
              <a:ext cx="1517015" cy="38100"/>
            </p14:xfrm>
          </p:contentPart>
        </mc:Choice>
        <mc:Fallback xmlns="">
          <p:pic>
            <p:nvPicPr>
              <p:cNvPr id="12" name="墨迹 11"/>
            </p:nvPicPr>
            <p:blipFill>
              <a:blip r:embed="rId12"/>
            </p:blipFill>
            <p:spPr>
              <a:xfrm>
                <a:off x="2357755" y="3583305"/>
                <a:ext cx="1517015" cy="381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4" name="墨迹 13"/>
              <p14:cNvContentPartPr/>
              <p14:nvPr/>
            </p14:nvContentPartPr>
            <p14:xfrm>
              <a:off x="274320" y="3415665"/>
              <a:ext cx="895985" cy="4445"/>
            </p14:xfrm>
          </p:contentPart>
        </mc:Choice>
        <mc:Fallback xmlns="">
          <p:pic>
            <p:nvPicPr>
              <p:cNvPr id="14" name="墨迹 13"/>
            </p:nvPicPr>
            <p:blipFill>
              <a:blip r:embed="rId14"/>
            </p:blipFill>
            <p:spPr>
              <a:xfrm>
                <a:off x="274320" y="3415665"/>
                <a:ext cx="895985" cy="444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23" name="墨迹 22"/>
              <p14:cNvContentPartPr/>
              <p14:nvPr/>
            </p14:nvContentPartPr>
            <p14:xfrm>
              <a:off x="140970" y="3750310"/>
              <a:ext cx="1063625" cy="29845"/>
            </p14:xfrm>
          </p:contentPart>
        </mc:Choice>
        <mc:Fallback xmlns="">
          <p:pic>
            <p:nvPicPr>
              <p:cNvPr id="23" name="墨迹 22"/>
            </p:nvPicPr>
            <p:blipFill>
              <a:blip r:embed="rId16"/>
            </p:blipFill>
            <p:spPr>
              <a:xfrm>
                <a:off x="140970" y="3750310"/>
                <a:ext cx="1063625" cy="2984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25" name="墨迹 24"/>
              <p14:cNvContentPartPr/>
              <p14:nvPr/>
            </p14:nvContentPartPr>
            <p14:xfrm>
              <a:off x="1062990" y="3758565"/>
              <a:ext cx="2790825" cy="758825"/>
            </p14:xfrm>
          </p:contentPart>
        </mc:Choice>
        <mc:Fallback xmlns="">
          <p:pic>
            <p:nvPicPr>
              <p:cNvPr id="25" name="墨迹 24"/>
            </p:nvPicPr>
            <p:blipFill>
              <a:blip r:embed="rId18"/>
            </p:blipFill>
            <p:spPr>
              <a:xfrm>
                <a:off x="1062990" y="3758565"/>
                <a:ext cx="2790825" cy="75882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26" name="墨迹 25"/>
              <p14:cNvContentPartPr/>
              <p14:nvPr/>
            </p14:nvContentPartPr>
            <p14:xfrm>
              <a:off x="5251450" y="3733165"/>
              <a:ext cx="1045845" cy="38735"/>
            </p14:xfrm>
          </p:contentPart>
        </mc:Choice>
        <mc:Fallback xmlns="">
          <p:pic>
            <p:nvPicPr>
              <p:cNvPr id="26" name="墨迹 25"/>
            </p:nvPicPr>
            <p:blipFill>
              <a:blip r:embed="rId20"/>
            </p:blipFill>
            <p:spPr>
              <a:xfrm>
                <a:off x="5251450" y="3733165"/>
                <a:ext cx="1045845" cy="38735"/>
              </a:xfrm>
              <a:prstGeom prst="rect"/>
            </p:spPr>
          </p:pic>
        </mc:Fallback>
      </mc:AlternateContent>
      <p:sp>
        <p:nvSpPr>
          <p:cNvPr id="31" name="文本框 30"/>
          <p:cNvSpPr txBox="1"/>
          <p:nvPr>
            <p:custDataLst>
              <p:tags r:id="rId21"/>
            </p:custDataLst>
          </p:nvPr>
        </p:nvSpPr>
        <p:spPr>
          <a:xfrm>
            <a:off x="274955" y="5944870"/>
            <a:ext cx="8217535" cy="1680210"/>
          </a:xfrm>
          <a:prstGeom prst="rect">
            <a:avLst/>
          </a:prstGeom>
          <a:noFill/>
        </p:spPr>
        <p:txBody>
          <a:bodyPr wrap="square" rtlCol="0">
            <a:noAutofit/>
          </a:bodyPr>
          <a:p>
            <a:r>
              <a:rPr lang="zh-CN" altLang="en-US" sz="2000" b="1" dirty="0">
                <a:solidFill>
                  <a:schemeClr val="tx1"/>
                </a:solidFill>
                <a:latin typeface="Times New Roman" panose="02020603050405020304" pitchFamily="18" charset="0"/>
                <a:cs typeface="Times New Roman" panose="02020603050405020304" pitchFamily="18" charset="0"/>
              </a:rPr>
              <a:t>逻辑门中的运算涉及到</a:t>
            </a:r>
            <a:r>
              <a:rPr lang="en-US" altLang="zh-CN" sz="2000" b="1" dirty="0">
                <a:solidFill>
                  <a:schemeClr val="tx1"/>
                </a:solidFill>
                <a:latin typeface="Times New Roman" panose="02020603050405020304" pitchFamily="18" charset="0"/>
                <a:cs typeface="Times New Roman" panose="02020603050405020304" pitchFamily="18" charset="0"/>
              </a:rPr>
              <a:t>mos</a:t>
            </a:r>
            <a:r>
              <a:rPr lang="zh-CN" altLang="en-US" sz="2000" b="1" dirty="0">
                <a:solidFill>
                  <a:schemeClr val="tx1"/>
                </a:solidFill>
                <a:latin typeface="Times New Roman" panose="02020603050405020304" pitchFamily="18" charset="0"/>
                <a:cs typeface="Times New Roman" panose="02020603050405020304" pitchFamily="18" charset="0"/>
              </a:rPr>
              <a:t>管的充放电，时间较光速传播时间</a:t>
            </a:r>
            <a:r>
              <a:rPr lang="zh-CN" altLang="en-US" sz="2000" b="1" dirty="0">
                <a:solidFill>
                  <a:schemeClr val="tx1"/>
                </a:solidFill>
                <a:latin typeface="Times New Roman" panose="02020603050405020304" pitchFamily="18" charset="0"/>
                <a:cs typeface="Times New Roman" panose="02020603050405020304" pitchFamily="18" charset="0"/>
              </a:rPr>
              <a:t>长</a:t>
            </a:r>
            <a:endParaRPr lang="zh-CN" altLang="en-US" sz="2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par>
                                <p:cTn id="16" presetID="12" presetClass="entr" presetSubtype="8" fill="hold" grpId="0" nodeType="withEffect">
                                  <p:stCondLst>
                                    <p:cond delay="60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00"/>
                                        <p:tgtEl>
                                          <p:spTgt spid="10"/>
                                        </p:tgtEl>
                                        <p:attrNameLst>
                                          <p:attrName>ppt_x</p:attrName>
                                        </p:attrNameLst>
                                      </p:cBhvr>
                                      <p:tavLst>
                                        <p:tav tm="0">
                                          <p:val>
                                            <p:strVal val="#ppt_x-#ppt_w*1.125000"/>
                                          </p:val>
                                        </p:tav>
                                        <p:tav tm="100000">
                                          <p:val>
                                            <p:strVal val="#ppt_x"/>
                                          </p:val>
                                        </p:tav>
                                      </p:tavLst>
                                    </p:anim>
                                    <p:animEffect transition="in" filter="wipe(right)">
                                      <p:cBhvr>
                                        <p:cTn id="19" dur="500"/>
                                        <p:tgtEl>
                                          <p:spTgt spid="10"/>
                                        </p:tgtEl>
                                      </p:cBhvr>
                                    </p:animEffect>
                                  </p:childTnLst>
                                </p:cTn>
                              </p:par>
                              <p:par>
                                <p:cTn id="20" presetID="12" presetClass="entr" presetSubtype="8" fill="hold" grpId="0" nodeType="withEffect">
                                  <p:stCondLst>
                                    <p:cond delay="60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p:tgtEl>
                                          <p:spTgt spid="6"/>
                                        </p:tgtEl>
                                        <p:attrNameLst>
                                          <p:attrName>ppt_x</p:attrName>
                                        </p:attrNameLst>
                                      </p:cBhvr>
                                      <p:tavLst>
                                        <p:tav tm="0">
                                          <p:val>
                                            <p:strVal val="#ppt_x-#ppt_w*1.125000"/>
                                          </p:val>
                                        </p:tav>
                                        <p:tav tm="100000">
                                          <p:val>
                                            <p:strVal val="#ppt_x"/>
                                          </p:val>
                                        </p:tav>
                                      </p:tavLst>
                                    </p:anim>
                                    <p:animEffect transition="in" filter="wipe(right)">
                                      <p:cBhvr>
                                        <p:cTn id="23" dur="500"/>
                                        <p:tgtEl>
                                          <p:spTgt spid="6"/>
                                        </p:tgtEl>
                                      </p:cBhvr>
                                    </p:animEffect>
                                  </p:childTnLst>
                                </p:cTn>
                              </p:par>
                              <p:par>
                                <p:cTn id="24" presetID="12" presetClass="entr" presetSubtype="8" fill="hold" grpId="0" nodeType="withEffect">
                                  <p:stCondLst>
                                    <p:cond delay="60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p:tgtEl>
                                          <p:spTgt spid="7"/>
                                        </p:tgtEl>
                                        <p:attrNameLst>
                                          <p:attrName>ppt_x</p:attrName>
                                        </p:attrNameLst>
                                      </p:cBhvr>
                                      <p:tavLst>
                                        <p:tav tm="0">
                                          <p:val>
                                            <p:strVal val="#ppt_x-#ppt_w*1.125000"/>
                                          </p:val>
                                        </p:tav>
                                        <p:tav tm="100000">
                                          <p:val>
                                            <p:strVal val="#ppt_x"/>
                                          </p:val>
                                        </p:tav>
                                      </p:tavLst>
                                    </p:anim>
                                    <p:animEffect transition="in" filter="wipe(right)">
                                      <p:cBhvr>
                                        <p:cTn id="27" dur="500"/>
                                        <p:tgtEl>
                                          <p:spTgt spid="7"/>
                                        </p:tgtEl>
                                      </p:cBhvr>
                                    </p:animEffect>
                                  </p:childTnLst>
                                </p:cTn>
                              </p:par>
                              <p:par>
                                <p:cTn id="28" presetID="12" presetClass="entr" presetSubtype="8" fill="hold" grpId="0" nodeType="withEffect">
                                  <p:stCondLst>
                                    <p:cond delay="600"/>
                                  </p:stCondLst>
                                  <p:childTnLst>
                                    <p:set>
                                      <p:cBhvr>
                                        <p:cTn id="29" dur="1" fill="hold">
                                          <p:stCondLst>
                                            <p:cond delay="0"/>
                                          </p:stCondLst>
                                        </p:cTn>
                                        <p:tgtEl>
                                          <p:spTgt spid="31"/>
                                        </p:tgtEl>
                                        <p:attrNameLst>
                                          <p:attrName>style.visibility</p:attrName>
                                        </p:attrNameLst>
                                      </p:cBhvr>
                                      <p:to>
                                        <p:strVal val="visible"/>
                                      </p:to>
                                    </p:set>
                                    <p:anim calcmode="lin" valueType="num">
                                      <p:cBhvr additive="base">
                                        <p:cTn id="30" dur="500"/>
                                        <p:tgtEl>
                                          <p:spTgt spid="31"/>
                                        </p:tgtEl>
                                        <p:attrNameLst>
                                          <p:attrName>ppt_x</p:attrName>
                                        </p:attrNameLst>
                                      </p:cBhvr>
                                      <p:tavLst>
                                        <p:tav tm="0">
                                          <p:val>
                                            <p:strVal val="#ppt_x-#ppt_w*1.125000"/>
                                          </p:val>
                                        </p:tav>
                                        <p:tav tm="100000">
                                          <p:val>
                                            <p:strVal val="#ppt_x"/>
                                          </p:val>
                                        </p:tav>
                                      </p:tavLst>
                                    </p:anim>
                                    <p:animEffect transition="in" filter="wipe(right)">
                                      <p:cBhvr>
                                        <p:cTn id="3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0" grpId="0"/>
      <p:bldP spid="6" grpId="0"/>
      <p:bldP spid="7"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583565"/>
          </a:xfrm>
          <a:prstGeom prst="rect">
            <a:avLst/>
          </a:prstGeom>
          <a:noFill/>
        </p:spPr>
        <p:txBody>
          <a:bodyPr wrap="square" rtlCol="0">
            <a:spAutoFit/>
          </a:bodyPr>
          <a:lstStyle/>
          <a:p>
            <a:r>
              <a:rPr lang="zh-CN" altLang="da-DK" sz="3200" b="1" dirty="0">
                <a:latin typeface="微软雅黑" panose="020B0503020204020204" pitchFamily="34" charset="-122"/>
                <a:ea typeface="微软雅黑" panose="020B0503020204020204" pitchFamily="34" charset="-122"/>
                <a:cs typeface="Times New Roman" panose="02020603050405020304" pitchFamily="18" charset="0"/>
                <a:sym typeface="+mn-ea"/>
              </a:rPr>
              <a:t>时钟树</a:t>
            </a:r>
            <a:endPar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grpSp>
        <p:nvGrpSpPr>
          <p:cNvPr id="20" name="组合 19"/>
          <p:cNvGrpSpPr/>
          <p:nvPr/>
        </p:nvGrpSpPr>
        <p:grpSpPr>
          <a:xfrm>
            <a:off x="1220659" y="6519446"/>
            <a:ext cx="8024939" cy="338554"/>
            <a:chOff x="1277256" y="6519446"/>
            <a:chExt cx="8024939" cy="338554"/>
          </a:xfrm>
        </p:grpSpPr>
        <p:sp>
          <p:nvSpPr>
            <p:cNvPr id="21" name="矩形 20"/>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2" name="图片 1"/>
          <p:cNvPicPr>
            <a:picLocks noChangeAspect="1"/>
          </p:cNvPicPr>
          <p:nvPr/>
        </p:nvPicPr>
        <p:blipFill>
          <a:blip r:embed="rId1"/>
          <a:stretch>
            <a:fillRect/>
          </a:stretch>
        </p:blipFill>
        <p:spPr>
          <a:xfrm>
            <a:off x="664845" y="3014980"/>
            <a:ext cx="1619250" cy="1416050"/>
          </a:xfrm>
          <a:prstGeom prst="rect">
            <a:avLst/>
          </a:prstGeom>
        </p:spPr>
      </p:pic>
      <p:pic>
        <p:nvPicPr>
          <p:cNvPr id="3" name="图片 2"/>
          <p:cNvPicPr>
            <a:picLocks noChangeAspect="1"/>
          </p:cNvPicPr>
          <p:nvPr/>
        </p:nvPicPr>
        <p:blipFill>
          <a:blip r:embed="rId2"/>
          <a:stretch>
            <a:fillRect/>
          </a:stretch>
        </p:blipFill>
        <p:spPr>
          <a:xfrm>
            <a:off x="3342640" y="3094990"/>
            <a:ext cx="1771650" cy="1631950"/>
          </a:xfrm>
          <a:prstGeom prst="rect">
            <a:avLst/>
          </a:prstGeom>
        </p:spPr>
      </p:pic>
      <p:pic>
        <p:nvPicPr>
          <p:cNvPr id="5" name="图片 4"/>
          <p:cNvPicPr>
            <a:picLocks noChangeAspect="1"/>
          </p:cNvPicPr>
          <p:nvPr/>
        </p:nvPicPr>
        <p:blipFill>
          <a:blip r:embed="rId3"/>
          <a:stretch>
            <a:fillRect/>
          </a:stretch>
        </p:blipFill>
        <p:spPr>
          <a:xfrm rot="5400000">
            <a:off x="7913370" y="3115945"/>
            <a:ext cx="962660" cy="1400175"/>
          </a:xfrm>
          <a:prstGeom prst="rect">
            <a:avLst/>
          </a:prstGeom>
        </p:spPr>
      </p:pic>
      <p:sp>
        <p:nvSpPr>
          <p:cNvPr id="7" name="文本框 6"/>
          <p:cNvSpPr txBox="1"/>
          <p:nvPr>
            <p:custDataLst>
              <p:tags r:id="rId4"/>
            </p:custDataLst>
          </p:nvPr>
        </p:nvSpPr>
        <p:spPr>
          <a:xfrm>
            <a:off x="1150620" y="1290320"/>
            <a:ext cx="7383145" cy="1680210"/>
          </a:xfrm>
          <a:prstGeom prst="rect">
            <a:avLst/>
          </a:prstGeom>
          <a:noFill/>
        </p:spPr>
        <p:txBody>
          <a:bodyPr wrap="square" rtlCol="0">
            <a:noAutofit/>
          </a:bodyPr>
          <a:p>
            <a:endParaRPr lang="zh-CN" altLang="en-US" sz="3200" b="1"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r:id="rId5" p14:bwMode="auto">
            <p14:nvContentPartPr>
              <p14:cNvPr id="8" name="墨迹 7"/>
              <p14:cNvContentPartPr/>
              <p14:nvPr/>
            </p14:nvContentPartPr>
            <p14:xfrm>
              <a:off x="2165985" y="3613785"/>
              <a:ext cx="8255" cy="360"/>
            </p14:xfrm>
          </p:contentPart>
        </mc:Choice>
        <mc:Fallback xmlns="">
          <p:pic>
            <p:nvPicPr>
              <p:cNvPr id="8" name="墨迹 7"/>
            </p:nvPicPr>
            <p:blipFill>
              <a:blip r:embed="rId6"/>
            </p:blipFill>
            <p:spPr>
              <a:xfrm>
                <a:off x="2165985" y="3613785"/>
                <a:ext cx="8255" cy="36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11" name="墨迹 10"/>
              <p14:cNvContentPartPr/>
              <p14:nvPr/>
            </p14:nvContentPartPr>
            <p14:xfrm>
              <a:off x="2037080" y="3639185"/>
              <a:ext cx="8890" cy="360"/>
            </p14:xfrm>
          </p:contentPart>
        </mc:Choice>
        <mc:Fallback xmlns="">
          <p:pic>
            <p:nvPicPr>
              <p:cNvPr id="11" name="墨迹 10"/>
            </p:nvPicPr>
            <p:blipFill>
              <a:blip r:embed="rId8"/>
            </p:blipFill>
            <p:spPr>
              <a:xfrm>
                <a:off x="2037080" y="3639185"/>
                <a:ext cx="8890" cy="3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2" name="墨迹 11"/>
              <p14:cNvContentPartPr/>
              <p14:nvPr/>
            </p14:nvContentPartPr>
            <p14:xfrm>
              <a:off x="2067560" y="3583940"/>
              <a:ext cx="1517015" cy="38100"/>
            </p14:xfrm>
          </p:contentPart>
        </mc:Choice>
        <mc:Fallback xmlns="">
          <p:pic>
            <p:nvPicPr>
              <p:cNvPr id="12" name="墨迹 11"/>
            </p:nvPicPr>
            <p:blipFill>
              <a:blip r:embed="rId10"/>
            </p:blipFill>
            <p:spPr>
              <a:xfrm>
                <a:off x="2067560" y="3583940"/>
                <a:ext cx="1517015" cy="381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4" name="墨迹 13"/>
              <p14:cNvContentPartPr/>
              <p14:nvPr/>
            </p14:nvContentPartPr>
            <p14:xfrm>
              <a:off x="-15875" y="3416300"/>
              <a:ext cx="895985" cy="4445"/>
            </p14:xfrm>
          </p:contentPart>
        </mc:Choice>
        <mc:Fallback xmlns="">
          <p:pic>
            <p:nvPicPr>
              <p:cNvPr id="14" name="墨迹 13"/>
            </p:nvPicPr>
            <p:blipFill>
              <a:blip r:embed="rId12"/>
            </p:blipFill>
            <p:spPr>
              <a:xfrm>
                <a:off x="-15875" y="3416300"/>
                <a:ext cx="895985" cy="444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23" name="墨迹 22"/>
              <p14:cNvContentPartPr/>
              <p14:nvPr/>
            </p14:nvContentPartPr>
            <p14:xfrm>
              <a:off x="140970" y="3750310"/>
              <a:ext cx="1063625" cy="29845"/>
            </p14:xfrm>
          </p:contentPart>
        </mc:Choice>
        <mc:Fallback xmlns="">
          <p:pic>
            <p:nvPicPr>
              <p:cNvPr id="23" name="墨迹 22"/>
            </p:nvPicPr>
            <p:blipFill>
              <a:blip r:embed="rId14"/>
            </p:blipFill>
            <p:spPr>
              <a:xfrm>
                <a:off x="140970" y="3750310"/>
                <a:ext cx="1063625" cy="2984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25" name="墨迹 24"/>
              <p14:cNvContentPartPr/>
              <p14:nvPr/>
            </p14:nvContentPartPr>
            <p14:xfrm>
              <a:off x="772795" y="3759200"/>
              <a:ext cx="2790825" cy="758825"/>
            </p14:xfrm>
          </p:contentPart>
        </mc:Choice>
        <mc:Fallback xmlns="">
          <p:pic>
            <p:nvPicPr>
              <p:cNvPr id="25" name="墨迹 24"/>
            </p:nvPicPr>
            <p:blipFill>
              <a:blip r:embed="rId16"/>
            </p:blipFill>
            <p:spPr>
              <a:xfrm>
                <a:off x="772795" y="3759200"/>
                <a:ext cx="2790825" cy="75882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26" name="墨迹 25"/>
              <p14:cNvContentPartPr/>
              <p14:nvPr/>
            </p14:nvContentPartPr>
            <p14:xfrm>
              <a:off x="4961255" y="3733800"/>
              <a:ext cx="1045845" cy="38735"/>
            </p14:xfrm>
          </p:contentPart>
        </mc:Choice>
        <mc:Fallback xmlns="">
          <p:pic>
            <p:nvPicPr>
              <p:cNvPr id="26" name="墨迹 25"/>
            </p:nvPicPr>
            <p:blipFill>
              <a:blip r:embed="rId18"/>
            </p:blipFill>
            <p:spPr>
              <a:xfrm>
                <a:off x="4961255" y="3733800"/>
                <a:ext cx="1045845" cy="38735"/>
              </a:xfrm>
              <a:prstGeom prst="rect"/>
            </p:spPr>
          </p:pic>
        </mc:Fallback>
      </mc:AlternateContent>
      <p:sp>
        <p:nvSpPr>
          <p:cNvPr id="31" name="文本框 30"/>
          <p:cNvSpPr txBox="1"/>
          <p:nvPr>
            <p:custDataLst>
              <p:tags r:id="rId19"/>
            </p:custDataLst>
          </p:nvPr>
        </p:nvSpPr>
        <p:spPr>
          <a:xfrm>
            <a:off x="492760" y="4782820"/>
            <a:ext cx="3564890" cy="1680210"/>
          </a:xfrm>
          <a:prstGeom prst="rect">
            <a:avLst/>
          </a:prstGeom>
          <a:noFill/>
        </p:spPr>
        <p:txBody>
          <a:bodyPr wrap="square" rtlCol="0">
            <a:noAutofit/>
          </a:bodyPr>
          <a:p>
            <a:r>
              <a:rPr lang="zh-CN" altLang="en-US" sz="2400" b="1" dirty="0">
                <a:solidFill>
                  <a:schemeClr val="tx1"/>
                </a:solidFill>
                <a:highlight>
                  <a:srgbClr val="FFFF00"/>
                </a:highlight>
                <a:latin typeface="Times New Roman" panose="02020603050405020304" pitchFamily="18" charset="0"/>
                <a:cs typeface="Times New Roman" panose="02020603050405020304" pitchFamily="18" charset="0"/>
              </a:rPr>
              <a:t>边沿触发器</a:t>
            </a:r>
            <a:r>
              <a:rPr lang="zh-CN" altLang="en-US" sz="2400" b="1" dirty="0">
                <a:solidFill>
                  <a:schemeClr val="tx1"/>
                </a:solidFill>
                <a:latin typeface="Times New Roman" panose="02020603050405020304" pitchFamily="18" charset="0"/>
                <a:cs typeface="Times New Roman" panose="02020603050405020304" pitchFamily="18" charset="0"/>
              </a:rPr>
              <a:t>：当控制端由低电平变为高电平的上升沿时，输出端会变为输入端的电平。</a:t>
            </a:r>
            <a:endParaRPr lang="zh-CN" altLang="en-US" sz="2400" b="1" dirty="0">
              <a:solidFill>
                <a:schemeClr val="tx1"/>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20"/>
          <a:stretch>
            <a:fillRect/>
          </a:stretch>
        </p:blipFill>
        <p:spPr>
          <a:xfrm>
            <a:off x="5838190" y="3267710"/>
            <a:ext cx="1332865" cy="1218565"/>
          </a:xfrm>
          <a:prstGeom prst="rect">
            <a:avLst/>
          </a:prstGeom>
        </p:spPr>
      </p:pic>
      <p:sp>
        <p:nvSpPr>
          <p:cNvPr id="13" name="文本框 12"/>
          <p:cNvSpPr txBox="1"/>
          <p:nvPr>
            <p:custDataLst>
              <p:tags r:id="rId21"/>
            </p:custDataLst>
          </p:nvPr>
        </p:nvSpPr>
        <p:spPr>
          <a:xfrm>
            <a:off x="1277620" y="1417320"/>
            <a:ext cx="7383145" cy="1680210"/>
          </a:xfrm>
          <a:prstGeom prst="rect">
            <a:avLst/>
          </a:prstGeom>
          <a:noFill/>
        </p:spPr>
        <p:txBody>
          <a:bodyPr wrap="square" rtlCol="0">
            <a:noAutofit/>
          </a:bodyPr>
          <a:p>
            <a:r>
              <a:rPr lang="zh-CN" altLang="en-US" sz="3200" b="1" dirty="0">
                <a:solidFill>
                  <a:schemeClr val="tx1"/>
                </a:solidFill>
                <a:latin typeface="Times New Roman" panose="02020603050405020304" pitchFamily="18" charset="0"/>
                <a:cs typeface="Times New Roman" panose="02020603050405020304" pitchFamily="18" charset="0"/>
              </a:rPr>
              <a:t>寄存器是程序设计的桥梁</a:t>
            </a:r>
            <a:endParaRPr lang="zh-CN" altLang="en-US" sz="3200" b="1" dirty="0">
              <a:solidFill>
                <a:schemeClr val="tx1"/>
              </a:solidFill>
              <a:latin typeface="Times New Roman" panose="02020603050405020304" pitchFamily="18" charset="0"/>
              <a:cs typeface="Times New Roman" panose="02020603050405020304" pitchFamily="18" charset="0"/>
            </a:endParaRPr>
          </a:p>
          <a:p>
            <a:r>
              <a:rPr lang="zh-CN" altLang="en-US" sz="3200" b="1" dirty="0">
                <a:solidFill>
                  <a:schemeClr val="tx1"/>
                </a:solidFill>
                <a:latin typeface="Times New Roman" panose="02020603050405020304" pitchFamily="18" charset="0"/>
                <a:cs typeface="Times New Roman" panose="02020603050405020304" pitchFamily="18" charset="0"/>
              </a:rPr>
              <a:t>通过读取寄存器获取电路的状态</a:t>
            </a:r>
            <a:endParaRPr lang="zh-CN" altLang="en-US" sz="3200" b="1" dirty="0">
              <a:solidFill>
                <a:schemeClr val="tx1"/>
              </a:solidFill>
              <a:latin typeface="Times New Roman" panose="02020603050405020304" pitchFamily="18" charset="0"/>
              <a:cs typeface="Times New Roman" panose="02020603050405020304" pitchFamily="18" charset="0"/>
            </a:endParaRPr>
          </a:p>
          <a:p>
            <a:r>
              <a:rPr lang="zh-CN" altLang="en-US" sz="3200" b="1" dirty="0">
                <a:solidFill>
                  <a:schemeClr val="tx1"/>
                </a:solidFill>
                <a:latin typeface="Times New Roman" panose="02020603050405020304" pitchFamily="18" charset="0"/>
                <a:cs typeface="Times New Roman" panose="02020603050405020304" pitchFamily="18" charset="0"/>
              </a:rPr>
              <a:t>通过设置寄存器控制电路的运行</a:t>
            </a:r>
            <a:endParaRPr lang="zh-CN" altLang="en-US" sz="3200" b="1"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r:id="rId22" p14:bwMode="auto">
            <p14:nvContentPartPr>
              <p14:cNvPr id="15" name="墨迹 14"/>
              <p14:cNvContentPartPr/>
              <p14:nvPr/>
            </p14:nvContentPartPr>
            <p14:xfrm>
              <a:off x="7077075" y="3836035"/>
              <a:ext cx="673100" cy="46990"/>
            </p14:xfrm>
          </p:contentPart>
        </mc:Choice>
        <mc:Fallback xmlns="">
          <p:pic>
            <p:nvPicPr>
              <p:cNvPr id="15" name="墨迹 14"/>
            </p:nvPicPr>
            <p:blipFill>
              <a:blip r:embed="rId23"/>
            </p:blipFill>
            <p:spPr>
              <a:xfrm>
                <a:off x="7077075" y="3836035"/>
                <a:ext cx="673100" cy="46990"/>
              </a:xfrm>
              <a:prstGeom prst="rect"/>
            </p:spPr>
          </p:pic>
        </mc:Fallback>
      </mc:AlternateContent>
      <p:pic>
        <p:nvPicPr>
          <p:cNvPr id="16" name="图片 15"/>
          <p:cNvPicPr>
            <a:picLocks noChangeAspect="1"/>
          </p:cNvPicPr>
          <p:nvPr/>
        </p:nvPicPr>
        <p:blipFill>
          <a:blip r:embed="rId24"/>
          <a:stretch>
            <a:fillRect/>
          </a:stretch>
        </p:blipFill>
        <p:spPr>
          <a:xfrm>
            <a:off x="4250690" y="4783455"/>
            <a:ext cx="4508500" cy="1460500"/>
          </a:xfrm>
          <a:prstGeom prst="rect">
            <a:avLst/>
          </a:prstGeom>
        </p:spPr>
      </p:pic>
      <p:sp>
        <p:nvSpPr>
          <p:cNvPr id="6" name="文本框 5"/>
          <p:cNvSpPr txBox="1"/>
          <p:nvPr/>
        </p:nvSpPr>
        <p:spPr>
          <a:xfrm>
            <a:off x="3347720" y="230505"/>
            <a:ext cx="5929630" cy="922020"/>
          </a:xfrm>
          <a:prstGeom prst="rect">
            <a:avLst/>
          </a:prstGeom>
          <a:noFill/>
        </p:spPr>
        <p:txBody>
          <a:bodyPr wrap="none" rtlCol="0">
            <a:spAutoFit/>
          </a:bodyPr>
          <a:p>
            <a:r>
              <a:rPr lang="zh-CN" altLang="en-US" b="1"/>
              <a:t>我们发现，只通过门电路去控制和读取寄存器是不够的，</a:t>
            </a:r>
            <a:endParaRPr lang="zh-CN" altLang="en-US" b="1"/>
          </a:p>
          <a:p>
            <a:r>
              <a:rPr lang="zh-CN" altLang="en-US" b="1"/>
              <a:t>容易发生错误（竞争与冒险），所以我们要规定什么</a:t>
            </a:r>
            <a:endParaRPr lang="zh-CN" altLang="en-US" b="1"/>
          </a:p>
          <a:p>
            <a:r>
              <a:rPr lang="zh-CN" altLang="en-US" b="1"/>
              <a:t>时候去读取，什么时候去存储，这就要用到定时器</a:t>
            </a:r>
            <a:endParaRPr lang="zh-CN" altLang="en-US" b="1"/>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par>
                                <p:cTn id="16" presetID="12" presetClass="entr" presetSubtype="8" fill="hold" grpId="0" nodeType="withEffect">
                                  <p:stCondLst>
                                    <p:cond delay="60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p:tgtEl>
                                          <p:spTgt spid="7"/>
                                        </p:tgtEl>
                                        <p:attrNameLst>
                                          <p:attrName>ppt_x</p:attrName>
                                        </p:attrNameLst>
                                      </p:cBhvr>
                                      <p:tavLst>
                                        <p:tav tm="0">
                                          <p:val>
                                            <p:strVal val="#ppt_x-#ppt_w*1.125000"/>
                                          </p:val>
                                        </p:tav>
                                        <p:tav tm="100000">
                                          <p:val>
                                            <p:strVal val="#ppt_x"/>
                                          </p:val>
                                        </p:tav>
                                      </p:tavLst>
                                    </p:anim>
                                    <p:animEffect transition="in" filter="wipe(right)">
                                      <p:cBhvr>
                                        <p:cTn id="19" dur="500"/>
                                        <p:tgtEl>
                                          <p:spTgt spid="7"/>
                                        </p:tgtEl>
                                      </p:cBhvr>
                                    </p:animEffect>
                                  </p:childTnLst>
                                </p:cTn>
                              </p:par>
                              <p:par>
                                <p:cTn id="20" presetID="12" presetClass="entr" presetSubtype="8" fill="hold" grpId="0" nodeType="withEffect">
                                  <p:stCondLst>
                                    <p:cond delay="600"/>
                                  </p:stCondLst>
                                  <p:childTnLst>
                                    <p:set>
                                      <p:cBhvr>
                                        <p:cTn id="21" dur="1" fill="hold">
                                          <p:stCondLst>
                                            <p:cond delay="0"/>
                                          </p:stCondLst>
                                        </p:cTn>
                                        <p:tgtEl>
                                          <p:spTgt spid="31"/>
                                        </p:tgtEl>
                                        <p:attrNameLst>
                                          <p:attrName>style.visibility</p:attrName>
                                        </p:attrNameLst>
                                      </p:cBhvr>
                                      <p:to>
                                        <p:strVal val="visible"/>
                                      </p:to>
                                    </p:set>
                                    <p:anim calcmode="lin" valueType="num">
                                      <p:cBhvr additive="base">
                                        <p:cTn id="22" dur="500"/>
                                        <p:tgtEl>
                                          <p:spTgt spid="31"/>
                                        </p:tgtEl>
                                        <p:attrNameLst>
                                          <p:attrName>ppt_x</p:attrName>
                                        </p:attrNameLst>
                                      </p:cBhvr>
                                      <p:tavLst>
                                        <p:tav tm="0">
                                          <p:val>
                                            <p:strVal val="#ppt_x-#ppt_w*1.125000"/>
                                          </p:val>
                                        </p:tav>
                                        <p:tav tm="100000">
                                          <p:val>
                                            <p:strVal val="#ppt_x"/>
                                          </p:val>
                                        </p:tav>
                                      </p:tavLst>
                                    </p:anim>
                                    <p:animEffect transition="in" filter="wipe(right)">
                                      <p:cBhvr>
                                        <p:cTn id="23" dur="500"/>
                                        <p:tgtEl>
                                          <p:spTgt spid="31"/>
                                        </p:tgtEl>
                                      </p:cBhvr>
                                    </p:animEffect>
                                  </p:childTnLst>
                                </p:cTn>
                              </p:par>
                              <p:par>
                                <p:cTn id="24" presetID="12" presetClass="entr" presetSubtype="8" fill="hold" grpId="0" nodeType="withEffect">
                                  <p:stCondLst>
                                    <p:cond delay="60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p:tgtEl>
                                          <p:spTgt spid="13"/>
                                        </p:tgtEl>
                                        <p:attrNameLst>
                                          <p:attrName>ppt_x</p:attrName>
                                        </p:attrNameLst>
                                      </p:cBhvr>
                                      <p:tavLst>
                                        <p:tav tm="0">
                                          <p:val>
                                            <p:strVal val="#ppt_x-#ppt_w*1.125000"/>
                                          </p:val>
                                        </p:tav>
                                        <p:tav tm="100000">
                                          <p:val>
                                            <p:strVal val="#ppt_x"/>
                                          </p:val>
                                        </p:tav>
                                      </p:tavLst>
                                    </p:anim>
                                    <p:animEffect transition="in" filter="wipe(right)">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7" grpId="0"/>
      <p:bldP spid="31"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da-DK" sz="2400" b="1" dirty="0">
                <a:latin typeface="微软雅黑" panose="020B0503020204020204" pitchFamily="34" charset="-122"/>
                <a:ea typeface="微软雅黑" panose="020B0503020204020204" pitchFamily="34" charset="-122"/>
                <a:cs typeface="Times New Roman" panose="02020603050405020304" pitchFamily="18" charset="0"/>
                <a:sym typeface="+mn-ea"/>
              </a:rPr>
              <a:t>时钟树</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04</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3" name="文本框 2"/>
          <p:cNvSpPr txBox="1"/>
          <p:nvPr/>
        </p:nvSpPr>
        <p:spPr>
          <a:xfrm>
            <a:off x="526415" y="1107440"/>
            <a:ext cx="6789420" cy="1630045"/>
          </a:xfrm>
          <a:prstGeom prst="rect">
            <a:avLst/>
          </a:prstGeom>
          <a:noFill/>
        </p:spPr>
        <p:txBody>
          <a:bodyPr wrap="square" rtlCol="0">
            <a:spAutoFit/>
          </a:bodyPr>
          <a:p>
            <a:r>
              <a:rPr lang="en-US" altLang="zh-CN" sz="2000"/>
              <a:t>	</a:t>
            </a:r>
            <a:r>
              <a:rPr lang="zh-CN" altLang="en-US" sz="2000"/>
              <a:t>时钟是由电路产生的具有周期性的脉冲信号，相当于单片机的心脏，要想使用单片机的外设必须开启相应的时钟，驱动外设的本质是操作寄存器，而寄存器是由D触发器构成，而触发器需要时钟才能改写值，</a:t>
            </a:r>
            <a:r>
              <a:rPr lang="zh-CN" altLang="en-US" sz="2000">
                <a:highlight>
                  <a:srgbClr val="FFFF00"/>
                </a:highlight>
              </a:rPr>
              <a:t>所以要想操作寄存器必须开启对应外设的时钟。</a:t>
            </a:r>
            <a:endParaRPr lang="zh-CN" altLang="en-US" sz="2000">
              <a:highlight>
                <a:srgbClr val="FFFF00"/>
              </a:highlight>
            </a:endParaRPr>
          </a:p>
        </p:txBody>
      </p:sp>
      <p:sp>
        <p:nvSpPr>
          <p:cNvPr id="2" name="文本框 1"/>
          <p:cNvSpPr txBox="1"/>
          <p:nvPr/>
        </p:nvSpPr>
        <p:spPr>
          <a:xfrm>
            <a:off x="610870" y="3046095"/>
            <a:ext cx="7674610" cy="398780"/>
          </a:xfrm>
          <a:prstGeom prst="rect">
            <a:avLst/>
          </a:prstGeom>
          <a:noFill/>
        </p:spPr>
        <p:txBody>
          <a:bodyPr wrap="none" rtlCol="0">
            <a:spAutoFit/>
          </a:bodyPr>
          <a:p>
            <a:r>
              <a:rPr lang="zh-CN" altLang="en-US" sz="2000" b="1"/>
              <a:t>例如想要驱动</a:t>
            </a:r>
            <a:r>
              <a:rPr lang="en-US" altLang="zh-CN" sz="2000" b="1"/>
              <a:t>oled </a:t>
            </a:r>
            <a:r>
              <a:rPr lang="zh-CN" altLang="en-US" sz="2000" b="1"/>
              <a:t>就要通过</a:t>
            </a:r>
            <a:r>
              <a:rPr lang="en-US" altLang="zh-CN" sz="2000" b="1"/>
              <a:t>iic</a:t>
            </a:r>
            <a:r>
              <a:rPr lang="zh-CN" altLang="en-US" sz="2000" b="1"/>
              <a:t>通信，而</a:t>
            </a:r>
            <a:r>
              <a:rPr lang="en-US" altLang="zh-CN" sz="2000" b="1"/>
              <a:t>iic</a:t>
            </a:r>
            <a:r>
              <a:rPr lang="zh-CN" altLang="en-US" sz="2000" b="1"/>
              <a:t>就有一根线叫</a:t>
            </a:r>
            <a:r>
              <a:rPr lang="en-US" altLang="zh-CN" sz="2000" b="1"/>
              <a:t>SCL</a:t>
            </a:r>
            <a:r>
              <a:rPr lang="zh-CN" altLang="en-US" sz="2000" b="1"/>
              <a:t>（</a:t>
            </a:r>
            <a:r>
              <a:rPr lang="en-US" altLang="zh-CN" sz="2000" b="1"/>
              <a:t>clock</a:t>
            </a:r>
            <a:r>
              <a:rPr lang="zh-CN" altLang="en-US" sz="2000" b="1"/>
              <a:t>）</a:t>
            </a:r>
            <a:endParaRPr lang="zh-CN" altLang="en-US" sz="2000" b="1"/>
          </a:p>
        </p:txBody>
      </p:sp>
      <p:sp>
        <p:nvSpPr>
          <p:cNvPr id="4" name="文本框 3"/>
          <p:cNvSpPr txBox="1"/>
          <p:nvPr/>
        </p:nvSpPr>
        <p:spPr>
          <a:xfrm>
            <a:off x="711200" y="3723005"/>
            <a:ext cx="6783070" cy="398780"/>
          </a:xfrm>
          <a:prstGeom prst="rect">
            <a:avLst/>
          </a:prstGeom>
          <a:noFill/>
        </p:spPr>
        <p:txBody>
          <a:bodyPr wrap="none" rtlCol="0">
            <a:spAutoFit/>
          </a:bodyPr>
          <a:p>
            <a:r>
              <a:rPr lang="zh-CN" altLang="en-US" sz="2000" b="1"/>
              <a:t>延时函数</a:t>
            </a:r>
            <a:r>
              <a:rPr lang="en-US" altLang="zh-CN" sz="2000" b="1"/>
              <a:t>HAl_Delay</a:t>
            </a:r>
            <a:r>
              <a:rPr lang="zh-CN" altLang="en-US" sz="2000" b="1"/>
              <a:t>就是使用了</a:t>
            </a:r>
            <a:r>
              <a:rPr lang="en-US" altLang="zh-CN" sz="2000" b="1"/>
              <a:t>system tick</a:t>
            </a:r>
            <a:r>
              <a:rPr lang="zh-CN" altLang="en-US" sz="2000" b="1"/>
              <a:t>定时器发挥作用的</a:t>
            </a:r>
            <a:endParaRPr lang="zh-CN" altLang="en-US" sz="2000" b="1"/>
          </a:p>
        </p:txBody>
      </p:sp>
      <p:pic>
        <p:nvPicPr>
          <p:cNvPr id="100" name="图片 99"/>
          <p:cNvPicPr/>
          <p:nvPr>
            <p:custDataLst>
              <p:tags r:id="rId1"/>
            </p:custDataLst>
          </p:nvPr>
        </p:nvPicPr>
        <p:blipFill>
          <a:blip r:embed="rId2"/>
          <a:stretch>
            <a:fillRect/>
          </a:stretch>
        </p:blipFill>
        <p:spPr>
          <a:xfrm>
            <a:off x="489903" y="4924108"/>
            <a:ext cx="7915275" cy="1476375"/>
          </a:xfrm>
          <a:prstGeom prst="rect">
            <a:avLst/>
          </a:prstGeom>
          <a:noFill/>
          <a:ln w="9525">
            <a:noFill/>
          </a:ln>
        </p:spPr>
      </p:pic>
      <p:sp>
        <p:nvSpPr>
          <p:cNvPr id="5" name="文本框 4"/>
          <p:cNvSpPr txBox="1"/>
          <p:nvPr/>
        </p:nvSpPr>
        <p:spPr>
          <a:xfrm>
            <a:off x="610870" y="4444365"/>
            <a:ext cx="7645400" cy="368300"/>
          </a:xfrm>
          <a:prstGeom prst="rect">
            <a:avLst/>
          </a:prstGeom>
          <a:noFill/>
        </p:spPr>
        <p:txBody>
          <a:bodyPr wrap="none" rtlCol="0">
            <a:spAutoFit/>
          </a:bodyPr>
          <a:p>
            <a:pPr algn="l"/>
            <a:r>
              <a:rPr lang="zh-CN" altLang="en-US"/>
              <a:t>时钟怎么供给STM32的系统工作：时钟的流向（输入——&gt;处理——&gt;输出）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16"/>
                                        </p:tgtEl>
                                        <p:attrNameLst>
                                          <p:attrName>style.visibility</p:attrName>
                                        </p:attrNameLst>
                                      </p:cBhvr>
                                      <p:to>
                                        <p:strVal val="visible"/>
                                      </p:to>
                                    </p:set>
                                    <p:animEffect transition="in" filter="wipe(right)">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da-DK" sz="2400" b="1" dirty="0">
                <a:latin typeface="微软雅黑" panose="020B0503020204020204" pitchFamily="34" charset="-122"/>
                <a:ea typeface="微软雅黑" panose="020B0503020204020204" pitchFamily="34" charset="-122"/>
                <a:cs typeface="Times New Roman" panose="02020603050405020304" pitchFamily="18" charset="0"/>
                <a:sym typeface="+mn-ea"/>
              </a:rPr>
              <a:t>时钟树</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04</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3" name="图片 2"/>
          <p:cNvPicPr>
            <a:picLocks noChangeAspect="1"/>
          </p:cNvPicPr>
          <p:nvPr>
            <p:custDataLst>
              <p:tags r:id="rId1"/>
            </p:custDataLst>
          </p:nvPr>
        </p:nvPicPr>
        <p:blipFill>
          <a:blip r:embed="rId2"/>
          <a:stretch>
            <a:fillRect/>
          </a:stretch>
        </p:blipFill>
        <p:spPr>
          <a:xfrm>
            <a:off x="304165" y="942975"/>
            <a:ext cx="8368030" cy="56654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16"/>
                                        </p:tgtEl>
                                        <p:attrNameLst>
                                          <p:attrName>style.visibility</p:attrName>
                                        </p:attrNameLst>
                                      </p:cBhvr>
                                      <p:to>
                                        <p:strVal val="visible"/>
                                      </p:to>
                                    </p:set>
                                    <p:animEffect transition="in" filter="wipe(right)">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da-DK" sz="2400" b="1" dirty="0">
                <a:latin typeface="微软雅黑" panose="020B0503020204020204" pitchFamily="34" charset="-122"/>
                <a:ea typeface="微软雅黑" panose="020B0503020204020204" pitchFamily="34" charset="-122"/>
                <a:cs typeface="Times New Roman" panose="02020603050405020304" pitchFamily="18" charset="0"/>
                <a:sym typeface="+mn-ea"/>
              </a:rPr>
              <a:t>时钟树</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628015" y="6434426"/>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04</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4" name="文本框 3"/>
          <p:cNvSpPr txBox="1"/>
          <p:nvPr>
            <p:custDataLst>
              <p:tags r:id="rId1"/>
            </p:custDataLst>
          </p:nvPr>
        </p:nvSpPr>
        <p:spPr>
          <a:xfrm>
            <a:off x="473075" y="6005195"/>
            <a:ext cx="4958080" cy="342265"/>
          </a:xfrm>
          <a:prstGeom prst="rect">
            <a:avLst/>
          </a:prstGeom>
          <a:noFill/>
        </p:spPr>
        <p:txBody>
          <a:bodyPr wrap="square" rtlCol="0">
            <a:noAutofit/>
          </a:bodyPr>
          <a:p>
            <a:r>
              <a:rPr lang="en-US" altLang="zh-CN" b="1" dirty="0">
                <a:solidFill>
                  <a:schemeClr val="tx1">
                    <a:lumMod val="85000"/>
                    <a:lumOff val="15000"/>
                  </a:schemeClr>
                </a:solidFill>
                <a:latin typeface="微软雅黑" panose="020B0503020204020204" pitchFamily="34" charset="-122"/>
                <a:ea typeface="微软雅黑" panose="020B0503020204020204" pitchFamily="34" charset="-122"/>
              </a:rPr>
              <a:t>PLL</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锁相环起倍频器的</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作用</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6" name="文本框 5"/>
          <p:cNvSpPr txBox="1"/>
          <p:nvPr>
            <p:custDataLst>
              <p:tags r:id="rId2"/>
            </p:custDataLst>
          </p:nvPr>
        </p:nvSpPr>
        <p:spPr>
          <a:xfrm>
            <a:off x="2499360" y="344805"/>
            <a:ext cx="6403340" cy="342265"/>
          </a:xfrm>
          <a:prstGeom prst="rect">
            <a:avLst/>
          </a:prstGeom>
          <a:noFill/>
        </p:spPr>
        <p:txBody>
          <a:bodyPr wrap="square" rtlCol="0">
            <a:noAutofit/>
          </a:bodyPr>
          <a:p>
            <a:r>
              <a:rPr lang="en-US" altLang="zh-CN" b="1" dirty="0">
                <a:solidFill>
                  <a:schemeClr val="tx1">
                    <a:lumMod val="85000"/>
                    <a:lumOff val="15000"/>
                  </a:schemeClr>
                </a:solidFill>
                <a:latin typeface="微软雅黑" panose="020B0503020204020204" pitchFamily="34" charset="-122"/>
                <a:ea typeface="微软雅黑" panose="020B0503020204020204" pitchFamily="34" charset="-122"/>
              </a:rPr>
              <a:t>HSI  </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高速内部时钟</a:t>
            </a:r>
            <a:r>
              <a:rPr lang="en-US" altLang="zh-CN"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芯片内部默认时钟</a:t>
            </a:r>
            <a:r>
              <a:rPr lang="en-US" altLang="zh-CN"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为</a:t>
            </a:r>
            <a:r>
              <a:rPr lang="en-US" altLang="zh-CN" b="1" dirty="0">
                <a:solidFill>
                  <a:schemeClr val="tx1">
                    <a:lumMod val="85000"/>
                    <a:lumOff val="15000"/>
                  </a:schemeClr>
                </a:solidFill>
                <a:latin typeface="微软雅黑" panose="020B0503020204020204" pitchFamily="34" charset="-122"/>
                <a:ea typeface="微软雅黑" panose="020B0503020204020204" pitchFamily="34" charset="-122"/>
              </a:rPr>
              <a:t>8mhz  </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精度</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不高</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r>
              <a:rPr lang="en-US" altLang="zh-CN" b="1" dirty="0">
                <a:solidFill>
                  <a:schemeClr val="tx1">
                    <a:lumMod val="85000"/>
                    <a:lumOff val="15000"/>
                  </a:schemeClr>
                </a:solidFill>
                <a:latin typeface="微软雅黑" panose="020B0503020204020204" pitchFamily="34" charset="-122"/>
                <a:ea typeface="微软雅黑" panose="020B0503020204020204" pitchFamily="34" charset="-122"/>
              </a:rPr>
              <a:t>HSE </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高速外部时钟</a:t>
            </a:r>
            <a:r>
              <a:rPr lang="en-US" altLang="zh-CN"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外接晶振的脉冲信号</a:t>
            </a:r>
            <a:r>
              <a:rPr lang="en-US" altLang="zh-CN"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精度</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高</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221615" y="989965"/>
            <a:ext cx="8921750" cy="50844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16"/>
                                        </p:tgtEl>
                                        <p:attrNameLst>
                                          <p:attrName>style.visibility</p:attrName>
                                        </p:attrNameLst>
                                      </p:cBhvr>
                                      <p:to>
                                        <p:strVal val="visible"/>
                                      </p:to>
                                    </p:set>
                                    <p:animEffect transition="in" filter="wipe(right)">
                                      <p:cBhvr>
                                        <p:cTn id="15" dur="500"/>
                                        <p:tgtEl>
                                          <p:spTgt spid="16"/>
                                        </p:tgtEl>
                                      </p:cBhvr>
                                    </p:animEffect>
                                  </p:childTnLst>
                                </p:cTn>
                              </p:par>
                              <p:par>
                                <p:cTn id="16" presetID="16" presetClass="entr" presetSubtype="37" fill="hold" nodeType="withEffect">
                                  <p:stCondLst>
                                    <p:cond delay="250"/>
                                  </p:stCondLst>
                                  <p:childTnLst>
                                    <p:set>
                                      <p:cBhvr>
                                        <p:cTn id="17" dur="1" fill="hold">
                                          <p:stCondLst>
                                            <p:cond delay="0"/>
                                          </p:stCondLst>
                                        </p:cTn>
                                        <p:tgtEl>
                                          <p:spTgt spid="5"/>
                                        </p:tgtEl>
                                        <p:attrNameLst>
                                          <p:attrName>style.visibility</p:attrName>
                                        </p:attrNameLst>
                                      </p:cBhvr>
                                      <p:to>
                                        <p:strVal val="visible"/>
                                      </p:to>
                                    </p:set>
                                    <p:animEffect transition="in" filter="barn(outVertical)">
                                      <p:cBhvr>
                                        <p:cTn id="18" dur="500"/>
                                        <p:tgtEl>
                                          <p:spTgt spid="5"/>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p:tgtEl>
                                          <p:spTgt spid="4"/>
                                        </p:tgtEl>
                                        <p:attrNameLst>
                                          <p:attrName>ppt_y</p:attrName>
                                        </p:attrNameLst>
                                      </p:cBhvr>
                                      <p:tavLst>
                                        <p:tav tm="0">
                                          <p:val>
                                            <p:strVal val="#ppt_y+#ppt_h*1.125000"/>
                                          </p:val>
                                        </p:tav>
                                        <p:tav tm="100000">
                                          <p:val>
                                            <p:strVal val="#ppt_y"/>
                                          </p:val>
                                        </p:tav>
                                      </p:tavLst>
                                    </p:anim>
                                    <p:animEffect transition="in" filter="wipe(up)">
                                      <p:cBhvr>
                                        <p:cTn id="22" dur="500"/>
                                        <p:tgtEl>
                                          <p:spTgt spid="4"/>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p:tgtEl>
                                          <p:spTgt spid="6"/>
                                        </p:tgtEl>
                                        <p:attrNameLst>
                                          <p:attrName>ppt_y</p:attrName>
                                        </p:attrNameLst>
                                      </p:cBhvr>
                                      <p:tavLst>
                                        <p:tav tm="0">
                                          <p:val>
                                            <p:strVal val="#ppt_y+#ppt_h*1.125000"/>
                                          </p:val>
                                        </p:tav>
                                        <p:tav tm="100000">
                                          <p:val>
                                            <p:strVal val="#ppt_y"/>
                                          </p:val>
                                        </p:tav>
                                      </p:tavLst>
                                    </p:anim>
                                    <p:animEffect transition="in" filter="wipe(up)">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1220659" y="6519446"/>
            <a:ext cx="8024939" cy="338554"/>
            <a:chOff x="1277256" y="6519446"/>
            <a:chExt cx="8024939" cy="338554"/>
          </a:xfrm>
        </p:grpSpPr>
        <p:sp>
          <p:nvSpPr>
            <p:cNvPr id="13" name="矩形 12"/>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8663567" y="6519446"/>
              <a:ext cx="638628" cy="338554"/>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44" name="左右箭头 43"/>
          <p:cNvSpPr/>
          <p:nvPr>
            <p:custDataLst>
              <p:tags r:id="rId1"/>
            </p:custDataLst>
          </p:nvPr>
        </p:nvSpPr>
        <p:spPr>
          <a:xfrm>
            <a:off x="517525" y="4792345"/>
            <a:ext cx="8306435" cy="1000125"/>
          </a:xfrm>
          <a:prstGeom prst="lef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AHB</a:t>
            </a:r>
            <a:endParaRPr lang="en-US" altLang="zh-CN"/>
          </a:p>
          <a:p>
            <a:pPr algn="ctr"/>
            <a:r>
              <a:rPr lang="zh-CN" altLang="en-US"/>
              <a:t>先进高性能</a:t>
            </a:r>
            <a:r>
              <a:rPr lang="zh-CN" altLang="en-US"/>
              <a:t>总线</a:t>
            </a:r>
            <a:endParaRPr lang="zh-CN" altLang="en-US"/>
          </a:p>
        </p:txBody>
      </p:sp>
      <p:sp>
        <p:nvSpPr>
          <p:cNvPr id="5" name="矩形 4"/>
          <p:cNvSpPr/>
          <p:nvPr>
            <p:custDataLst>
              <p:tags r:id="rId2"/>
            </p:custDataLst>
          </p:nvPr>
        </p:nvSpPr>
        <p:spPr>
          <a:xfrm>
            <a:off x="459866" y="5897871"/>
            <a:ext cx="1899634" cy="425002"/>
          </a:xfrm>
          <a:prstGeom prst="rect">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en-US" altLang="zh-CN"/>
              <a:t>DMA</a:t>
            </a:r>
            <a:endParaRPr lang="en-US" altLang="zh-CN"/>
          </a:p>
        </p:txBody>
      </p:sp>
      <p:sp>
        <p:nvSpPr>
          <p:cNvPr id="2" name="矩形 1"/>
          <p:cNvSpPr/>
          <p:nvPr>
            <p:custDataLst>
              <p:tags r:id="rId3"/>
            </p:custDataLst>
          </p:nvPr>
        </p:nvSpPr>
        <p:spPr>
          <a:xfrm>
            <a:off x="2611246" y="5897871"/>
            <a:ext cx="1899634" cy="425002"/>
          </a:xfrm>
          <a:prstGeom prst="rect">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内存</a:t>
            </a:r>
            <a:endParaRPr lang="zh-CN" altLang="en-US"/>
          </a:p>
        </p:txBody>
      </p:sp>
      <p:sp>
        <p:nvSpPr>
          <p:cNvPr id="4" name="矩形 3"/>
          <p:cNvSpPr/>
          <p:nvPr>
            <p:custDataLst>
              <p:tags r:id="rId4"/>
            </p:custDataLst>
          </p:nvPr>
        </p:nvSpPr>
        <p:spPr>
          <a:xfrm>
            <a:off x="636270" y="4283075"/>
            <a:ext cx="8074025" cy="398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en-US" altLang="zh-CN" sz="1200"/>
          </a:p>
          <a:p>
            <a:pPr algn="ctr"/>
            <a:endParaRPr lang="en-US" altLang="zh-CN" sz="1200"/>
          </a:p>
          <a:p>
            <a:pPr algn="ctr"/>
            <a:endParaRPr lang="en-US" altLang="zh-CN" sz="1200"/>
          </a:p>
          <a:p>
            <a:pPr algn="ctr"/>
            <a:r>
              <a:rPr lang="en-US" altLang="zh-CN" sz="2000"/>
              <a:t>HCLK</a:t>
            </a:r>
            <a:endParaRPr lang="en-US" altLang="zh-CN" sz="2000"/>
          </a:p>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zh-CN" altLang="en-US"/>
          </a:p>
        </p:txBody>
      </p:sp>
      <p:sp>
        <p:nvSpPr>
          <p:cNvPr id="6" name="矩形 5"/>
          <p:cNvSpPr/>
          <p:nvPr>
            <p:custDataLst>
              <p:tags r:id="rId5"/>
            </p:custDataLst>
          </p:nvPr>
        </p:nvSpPr>
        <p:spPr>
          <a:xfrm>
            <a:off x="586740" y="2440305"/>
            <a:ext cx="1194435" cy="801370"/>
          </a:xfrm>
          <a:prstGeom prst="rect">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en-US" altLang="zh-CN">
                <a:solidFill>
                  <a:schemeClr val="tx1"/>
                </a:solidFill>
              </a:rPr>
              <a:t>Sys Tick</a:t>
            </a:r>
            <a:endParaRPr lang="en-US" altLang="zh-CN">
              <a:solidFill>
                <a:schemeClr val="tx1"/>
              </a:solidFill>
            </a:endParaRPr>
          </a:p>
          <a:p>
            <a:pPr algn="ctr"/>
            <a:r>
              <a:rPr lang="zh-CN" altLang="en-US">
                <a:solidFill>
                  <a:schemeClr val="tx1"/>
                </a:solidFill>
              </a:rPr>
              <a:t>系统滴答定时器</a:t>
            </a:r>
            <a:endParaRPr lang="zh-CN" altLang="en-US">
              <a:solidFill>
                <a:schemeClr val="tx1"/>
              </a:solidFill>
            </a:endParaRPr>
          </a:p>
        </p:txBody>
      </p:sp>
      <p:sp>
        <p:nvSpPr>
          <p:cNvPr id="7" name="矩形 6"/>
          <p:cNvSpPr/>
          <p:nvPr>
            <p:custDataLst>
              <p:tags r:id="rId6"/>
            </p:custDataLst>
          </p:nvPr>
        </p:nvSpPr>
        <p:spPr>
          <a:xfrm>
            <a:off x="2184400" y="2541270"/>
            <a:ext cx="866775" cy="601345"/>
          </a:xfrm>
          <a:prstGeom prst="rect">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zh-CN" altLang="en-US" sz="1600" b="1">
                <a:solidFill>
                  <a:schemeClr val="tx1"/>
                </a:solidFill>
              </a:rPr>
              <a:t>分频器</a:t>
            </a:r>
            <a:endParaRPr lang="zh-CN" altLang="en-US" sz="1600" b="1">
              <a:solidFill>
                <a:schemeClr val="tx1"/>
              </a:solidFill>
            </a:endParaRPr>
          </a:p>
        </p:txBody>
      </p:sp>
      <p:sp>
        <p:nvSpPr>
          <p:cNvPr id="8" name="文本框 7"/>
          <p:cNvSpPr txBox="1"/>
          <p:nvPr>
            <p:custDataLst>
              <p:tags r:id="rId7"/>
            </p:custDataLst>
          </p:nvPr>
        </p:nvSpPr>
        <p:spPr>
          <a:xfrm>
            <a:off x="4185920" y="609600"/>
            <a:ext cx="2174875" cy="342265"/>
          </a:xfrm>
          <a:prstGeom prst="rect">
            <a:avLst/>
          </a:prstGeom>
          <a:noFill/>
        </p:spPr>
        <p:txBody>
          <a:bodyPr wrap="square" rtlCol="0">
            <a:noAutofit/>
          </a:bodyPr>
          <a:p>
            <a:r>
              <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rPr>
              <a:t>         APB1</a:t>
            </a:r>
            <a:endPar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endParaRPr>
          </a:p>
          <a:p>
            <a:r>
              <a:rPr lang="zh-CN" altLang="en-US" sz="1400" b="1" dirty="0">
                <a:solidFill>
                  <a:schemeClr val="tx1">
                    <a:lumMod val="85000"/>
                    <a:lumOff val="15000"/>
                  </a:schemeClr>
                </a:solidFill>
                <a:latin typeface="微软雅黑" panose="020B0503020204020204" pitchFamily="34" charset="-122"/>
                <a:ea typeface="微软雅黑" panose="020B0503020204020204" pitchFamily="34" charset="-122"/>
              </a:rPr>
              <a:t>先进外设</a:t>
            </a:r>
            <a:r>
              <a:rPr lang="zh-CN" altLang="en-US" sz="1400" b="1" dirty="0">
                <a:solidFill>
                  <a:schemeClr val="tx1">
                    <a:lumMod val="85000"/>
                    <a:lumOff val="15000"/>
                  </a:schemeClr>
                </a:solidFill>
                <a:latin typeface="微软雅黑" panose="020B0503020204020204" pitchFamily="34" charset="-122"/>
                <a:ea typeface="微软雅黑" panose="020B0503020204020204" pitchFamily="34" charset="-122"/>
              </a:rPr>
              <a:t>处理器</a:t>
            </a:r>
            <a:endParaRPr lang="zh-CN" altLang="en-US" sz="1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0" name="文本框 19"/>
          <p:cNvSpPr txBox="1"/>
          <p:nvPr>
            <p:custDataLst>
              <p:tags r:id="rId8"/>
            </p:custDataLst>
          </p:nvPr>
        </p:nvSpPr>
        <p:spPr>
          <a:xfrm>
            <a:off x="273685" y="1191895"/>
            <a:ext cx="4958080" cy="342265"/>
          </a:xfrm>
          <a:prstGeom prst="rect">
            <a:avLst/>
          </a:prstGeom>
          <a:noFill/>
        </p:spPr>
        <p:txBody>
          <a:bodyPr wrap="square" rtlCol="0">
            <a:noAutofit/>
          </a:bodyPr>
          <a:p>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分频器可以简单理解为做除法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sym typeface="+mn-ea"/>
              </a:rPr>
              <a:t>倍频器可以简单理解为做</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sym typeface="+mn-ea"/>
              </a:rPr>
              <a:t>乘法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1" name="文本框 20"/>
          <p:cNvSpPr txBox="1"/>
          <p:nvPr>
            <p:custDataLst>
              <p:tags r:id="rId9"/>
            </p:custDataLst>
          </p:nvPr>
        </p:nvSpPr>
        <p:spPr>
          <a:xfrm>
            <a:off x="316865" y="3277235"/>
            <a:ext cx="960120" cy="342265"/>
          </a:xfrm>
          <a:prstGeom prst="rect">
            <a:avLst/>
          </a:prstGeom>
          <a:noFill/>
        </p:spPr>
        <p:txBody>
          <a:bodyPr wrap="square" rtlCol="0">
            <a:noAutofit/>
          </a:bodyPr>
          <a:p>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rPr>
              <a:t>为程序提供时间基准</a:t>
            </a:r>
            <a:endPar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24" name="直接箭头连接符 23"/>
          <p:cNvCxnSpPr>
            <a:endCxn id="6" idx="2"/>
          </p:cNvCxnSpPr>
          <p:nvPr>
            <p:custDataLst>
              <p:tags r:id="rId10"/>
            </p:custDataLst>
          </p:nvPr>
        </p:nvCxnSpPr>
        <p:spPr>
          <a:xfrm flipH="1" flipV="1">
            <a:off x="1184130" y="3241563"/>
            <a:ext cx="12065" cy="10172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6" idx="3"/>
            <a:endCxn id="7" idx="1"/>
          </p:cNvCxnSpPr>
          <p:nvPr>
            <p:custDataLst>
              <p:tags r:id="rId11"/>
            </p:custDataLst>
          </p:nvPr>
        </p:nvCxnSpPr>
        <p:spPr>
          <a:xfrm>
            <a:off x="1781030" y="2840878"/>
            <a:ext cx="403225" cy="12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custDataLst>
              <p:tags r:id="rId12"/>
            </p:custDataLst>
          </p:nvPr>
        </p:nvCxnSpPr>
        <p:spPr>
          <a:xfrm>
            <a:off x="2588750" y="3156473"/>
            <a:ext cx="5715" cy="11531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26"/>
          <p:cNvSpPr/>
          <p:nvPr>
            <p:custDataLst>
              <p:tags r:id="rId13"/>
            </p:custDataLst>
          </p:nvPr>
        </p:nvSpPr>
        <p:spPr>
          <a:xfrm rot="16200000" flipV="1">
            <a:off x="3670935" y="2171065"/>
            <a:ext cx="3161030" cy="102743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sz="1200">
              <a:highlight>
                <a:srgbClr val="00FFFF"/>
              </a:highlight>
            </a:endParaRPr>
          </a:p>
          <a:p>
            <a:pPr algn="ctr"/>
            <a:endParaRPr lang="en-US" altLang="zh-CN" sz="1200">
              <a:highlight>
                <a:srgbClr val="00FFFF"/>
              </a:highlight>
            </a:endParaRPr>
          </a:p>
          <a:p>
            <a:pPr algn="ctr"/>
            <a:endParaRPr lang="en-US" altLang="zh-CN" sz="1200">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p:txBody>
      </p:sp>
      <p:sp>
        <p:nvSpPr>
          <p:cNvPr id="28" name="文本框 27"/>
          <p:cNvSpPr txBox="1"/>
          <p:nvPr>
            <p:custDataLst>
              <p:tags r:id="rId14"/>
            </p:custDataLst>
          </p:nvPr>
        </p:nvSpPr>
        <p:spPr>
          <a:xfrm>
            <a:off x="2359660" y="2195830"/>
            <a:ext cx="878840" cy="342265"/>
          </a:xfrm>
          <a:prstGeom prst="rect">
            <a:avLst/>
          </a:prstGeom>
          <a:noFill/>
        </p:spPr>
        <p:txBody>
          <a:bodyPr wrap="square" rtlCol="0">
            <a:noAutofit/>
          </a:bodyPr>
          <a:p>
            <a:r>
              <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rPr>
              <a:t>/1  /8</a:t>
            </a:r>
            <a:endPar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30" name="矩形 29"/>
          <p:cNvSpPr/>
          <p:nvPr>
            <p:custDataLst>
              <p:tags r:id="rId15"/>
            </p:custDataLst>
          </p:nvPr>
        </p:nvSpPr>
        <p:spPr>
          <a:xfrm>
            <a:off x="6304915" y="3840480"/>
            <a:ext cx="891540" cy="424815"/>
          </a:xfrm>
          <a:prstGeom prst="rect">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en-US" altLang="zh-CN" b="1">
                <a:solidFill>
                  <a:schemeClr val="tx1"/>
                </a:solidFill>
              </a:rPr>
              <a:t>GPIO</a:t>
            </a:r>
            <a:endParaRPr lang="en-US" altLang="zh-CN" b="1">
              <a:solidFill>
                <a:schemeClr val="tx1"/>
              </a:solidFill>
            </a:endParaRPr>
          </a:p>
        </p:txBody>
      </p:sp>
      <p:sp>
        <p:nvSpPr>
          <p:cNvPr id="31" name="矩形 30"/>
          <p:cNvSpPr/>
          <p:nvPr>
            <p:custDataLst>
              <p:tags r:id="rId16"/>
            </p:custDataLst>
          </p:nvPr>
        </p:nvSpPr>
        <p:spPr>
          <a:xfrm>
            <a:off x="3643630" y="1675130"/>
            <a:ext cx="1094105" cy="424815"/>
          </a:xfrm>
          <a:prstGeom prst="rect">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en-US" altLang="zh-CN" b="1">
                <a:solidFill>
                  <a:schemeClr val="tx1"/>
                </a:solidFill>
              </a:rPr>
              <a:t>CAN</a:t>
            </a:r>
            <a:endParaRPr lang="en-US" altLang="zh-CN" b="1">
              <a:solidFill>
                <a:schemeClr val="tx1"/>
              </a:solidFill>
            </a:endParaRPr>
          </a:p>
        </p:txBody>
      </p:sp>
      <p:sp>
        <p:nvSpPr>
          <p:cNvPr id="32" name="矩形 31"/>
          <p:cNvSpPr/>
          <p:nvPr>
            <p:custDataLst>
              <p:tags r:id="rId17"/>
            </p:custDataLst>
          </p:nvPr>
        </p:nvSpPr>
        <p:spPr>
          <a:xfrm>
            <a:off x="3643630" y="2252345"/>
            <a:ext cx="1094105" cy="424815"/>
          </a:xfrm>
          <a:prstGeom prst="rect">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en-US" altLang="zh-CN" b="1">
                <a:solidFill>
                  <a:schemeClr val="tx1"/>
                </a:solidFill>
              </a:rPr>
              <a:t>SPI2/3</a:t>
            </a:r>
            <a:endParaRPr lang="en-US" altLang="zh-CN" b="1">
              <a:solidFill>
                <a:schemeClr val="tx1"/>
              </a:solidFill>
            </a:endParaRPr>
          </a:p>
        </p:txBody>
      </p:sp>
      <p:sp>
        <p:nvSpPr>
          <p:cNvPr id="33" name="矩形 32"/>
          <p:cNvSpPr/>
          <p:nvPr>
            <p:custDataLst>
              <p:tags r:id="rId18"/>
            </p:custDataLst>
          </p:nvPr>
        </p:nvSpPr>
        <p:spPr>
          <a:xfrm>
            <a:off x="3633470" y="2823210"/>
            <a:ext cx="1094105" cy="424815"/>
          </a:xfrm>
          <a:prstGeom prst="rect">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en-US" altLang="zh-CN" b="1">
                <a:solidFill>
                  <a:schemeClr val="tx1"/>
                </a:solidFill>
              </a:rPr>
              <a:t>IIC</a:t>
            </a:r>
            <a:endParaRPr lang="en-US" altLang="zh-CN" b="1">
              <a:solidFill>
                <a:schemeClr val="tx1"/>
              </a:solidFill>
            </a:endParaRPr>
          </a:p>
        </p:txBody>
      </p:sp>
      <p:sp>
        <p:nvSpPr>
          <p:cNvPr id="34" name="矩形 33"/>
          <p:cNvSpPr/>
          <p:nvPr>
            <p:custDataLst>
              <p:tags r:id="rId19"/>
            </p:custDataLst>
          </p:nvPr>
        </p:nvSpPr>
        <p:spPr>
          <a:xfrm>
            <a:off x="3643630" y="3359785"/>
            <a:ext cx="1094105" cy="424815"/>
          </a:xfrm>
          <a:prstGeom prst="rect">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en-US" altLang="zh-CN" b="1">
                <a:solidFill>
                  <a:schemeClr val="tx1"/>
                </a:solidFill>
              </a:rPr>
              <a:t>USB</a:t>
            </a:r>
            <a:endParaRPr lang="en-US" altLang="zh-CN" b="1">
              <a:solidFill>
                <a:schemeClr val="tx1"/>
              </a:solidFill>
            </a:endParaRPr>
          </a:p>
        </p:txBody>
      </p:sp>
      <p:sp>
        <p:nvSpPr>
          <p:cNvPr id="35" name="矩形 34"/>
          <p:cNvSpPr/>
          <p:nvPr>
            <p:custDataLst>
              <p:tags r:id="rId20"/>
            </p:custDataLst>
          </p:nvPr>
        </p:nvSpPr>
        <p:spPr>
          <a:xfrm>
            <a:off x="3633470" y="3824605"/>
            <a:ext cx="1094105" cy="424815"/>
          </a:xfrm>
          <a:prstGeom prst="rect">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en-US" altLang="zh-CN" b="1">
                <a:solidFill>
                  <a:schemeClr val="tx1"/>
                </a:solidFill>
              </a:rPr>
              <a:t>UART2-5</a:t>
            </a:r>
            <a:endParaRPr lang="en-US" altLang="zh-CN" b="1">
              <a:solidFill>
                <a:schemeClr val="tx1"/>
              </a:solidFill>
            </a:endParaRPr>
          </a:p>
        </p:txBody>
      </p:sp>
      <p:sp>
        <p:nvSpPr>
          <p:cNvPr id="36" name="矩形 35"/>
          <p:cNvSpPr/>
          <p:nvPr>
            <p:custDataLst>
              <p:tags r:id="rId21"/>
            </p:custDataLst>
          </p:nvPr>
        </p:nvSpPr>
        <p:spPr>
          <a:xfrm>
            <a:off x="5765165" y="1534160"/>
            <a:ext cx="1094105" cy="424815"/>
          </a:xfrm>
          <a:prstGeom prst="rect">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zh-CN" altLang="en-US" sz="1400" b="1">
                <a:solidFill>
                  <a:schemeClr val="tx1"/>
                </a:solidFill>
              </a:rPr>
              <a:t>基本定时器</a:t>
            </a:r>
            <a:endParaRPr lang="zh-CN" altLang="en-US" sz="1400" b="1">
              <a:solidFill>
                <a:schemeClr val="tx1"/>
              </a:solidFill>
            </a:endParaRPr>
          </a:p>
        </p:txBody>
      </p:sp>
      <p:sp>
        <p:nvSpPr>
          <p:cNvPr id="37" name="矩形 36"/>
          <p:cNvSpPr/>
          <p:nvPr>
            <p:custDataLst>
              <p:tags r:id="rId22"/>
            </p:custDataLst>
          </p:nvPr>
        </p:nvSpPr>
        <p:spPr>
          <a:xfrm>
            <a:off x="5765165" y="2245995"/>
            <a:ext cx="1094105" cy="424815"/>
          </a:xfrm>
          <a:prstGeom prst="rect">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zh-CN" altLang="en-US" sz="1400" b="1">
                <a:solidFill>
                  <a:schemeClr val="tx1"/>
                </a:solidFill>
              </a:rPr>
              <a:t>通用定时器</a:t>
            </a:r>
            <a:endParaRPr lang="zh-CN" altLang="en-US" sz="1400" b="1">
              <a:solidFill>
                <a:schemeClr val="tx1"/>
              </a:solidFill>
            </a:endParaRPr>
          </a:p>
        </p:txBody>
      </p:sp>
      <p:sp>
        <p:nvSpPr>
          <p:cNvPr id="38" name="矩形 37"/>
          <p:cNvSpPr/>
          <p:nvPr>
            <p:custDataLst>
              <p:tags r:id="rId23"/>
            </p:custDataLst>
          </p:nvPr>
        </p:nvSpPr>
        <p:spPr>
          <a:xfrm rot="16200000" flipV="1">
            <a:off x="6300470" y="2400935"/>
            <a:ext cx="3161030" cy="60325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sz="1200">
              <a:highlight>
                <a:srgbClr val="00FFFF"/>
              </a:highlight>
            </a:endParaRPr>
          </a:p>
          <a:p>
            <a:pPr algn="ctr"/>
            <a:endParaRPr lang="en-US" altLang="zh-CN" sz="1200">
              <a:highlight>
                <a:srgbClr val="00FFFF"/>
              </a:highlight>
            </a:endParaRPr>
          </a:p>
          <a:p>
            <a:pPr algn="ctr"/>
            <a:endParaRPr lang="en-US" altLang="zh-CN" sz="1200">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p:txBody>
      </p:sp>
      <p:sp>
        <p:nvSpPr>
          <p:cNvPr id="40" name="矩形 39"/>
          <p:cNvSpPr/>
          <p:nvPr>
            <p:custDataLst>
              <p:tags r:id="rId24"/>
            </p:custDataLst>
          </p:nvPr>
        </p:nvSpPr>
        <p:spPr>
          <a:xfrm>
            <a:off x="6334125" y="3399790"/>
            <a:ext cx="890905" cy="424815"/>
          </a:xfrm>
          <a:prstGeom prst="rect">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en-US" altLang="zh-CN" b="1">
                <a:solidFill>
                  <a:schemeClr val="tx1"/>
                </a:solidFill>
              </a:rPr>
              <a:t>UART1</a:t>
            </a:r>
            <a:endParaRPr lang="en-US" altLang="zh-CN" b="1">
              <a:solidFill>
                <a:schemeClr val="tx1"/>
              </a:solidFill>
            </a:endParaRPr>
          </a:p>
        </p:txBody>
      </p:sp>
      <p:sp>
        <p:nvSpPr>
          <p:cNvPr id="41" name="矩形 40"/>
          <p:cNvSpPr/>
          <p:nvPr>
            <p:custDataLst>
              <p:tags r:id="rId25"/>
            </p:custDataLst>
          </p:nvPr>
        </p:nvSpPr>
        <p:spPr>
          <a:xfrm>
            <a:off x="6344285" y="1068070"/>
            <a:ext cx="862330" cy="424815"/>
          </a:xfrm>
          <a:prstGeom prst="rect">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en-US" altLang="zh-CN" b="1">
                <a:solidFill>
                  <a:schemeClr val="tx1"/>
                </a:solidFill>
              </a:rPr>
              <a:t>ADC</a:t>
            </a:r>
            <a:endParaRPr lang="en-US" altLang="zh-CN" b="1">
              <a:solidFill>
                <a:schemeClr val="tx1"/>
              </a:solidFill>
            </a:endParaRPr>
          </a:p>
        </p:txBody>
      </p:sp>
      <p:sp>
        <p:nvSpPr>
          <p:cNvPr id="42" name="矩形 41"/>
          <p:cNvSpPr/>
          <p:nvPr>
            <p:custDataLst>
              <p:tags r:id="rId26"/>
            </p:custDataLst>
          </p:nvPr>
        </p:nvSpPr>
        <p:spPr>
          <a:xfrm>
            <a:off x="8227060" y="1708785"/>
            <a:ext cx="854075" cy="424815"/>
          </a:xfrm>
          <a:prstGeom prst="rect">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zh-CN" altLang="en-US" sz="1400" b="1">
                <a:solidFill>
                  <a:schemeClr val="tx1"/>
                </a:solidFill>
              </a:rPr>
              <a:t>高级定时器</a:t>
            </a:r>
            <a:endParaRPr lang="zh-CN" altLang="en-US" sz="1400" b="1">
              <a:solidFill>
                <a:schemeClr val="tx1"/>
              </a:solidFill>
            </a:endParaRPr>
          </a:p>
        </p:txBody>
      </p:sp>
      <p:sp>
        <p:nvSpPr>
          <p:cNvPr id="43" name="矩形 42"/>
          <p:cNvSpPr/>
          <p:nvPr>
            <p:custDataLst>
              <p:tags r:id="rId27"/>
            </p:custDataLst>
          </p:nvPr>
        </p:nvSpPr>
        <p:spPr>
          <a:xfrm>
            <a:off x="6318250" y="2939415"/>
            <a:ext cx="878205" cy="424815"/>
          </a:xfrm>
          <a:prstGeom prst="rect">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en-US" altLang="zh-CN" b="1">
                <a:solidFill>
                  <a:schemeClr val="tx1"/>
                </a:solidFill>
              </a:rPr>
              <a:t>SPI1</a:t>
            </a:r>
            <a:endParaRPr lang="en-US" altLang="zh-CN" b="1">
              <a:solidFill>
                <a:schemeClr val="tx1"/>
              </a:solidFill>
            </a:endParaRPr>
          </a:p>
        </p:txBody>
      </p:sp>
      <p:cxnSp>
        <p:nvCxnSpPr>
          <p:cNvPr id="45" name="直接箭头连接符 44"/>
          <p:cNvCxnSpPr/>
          <p:nvPr>
            <p:custDataLst>
              <p:tags r:id="rId28"/>
            </p:custDataLst>
          </p:nvPr>
        </p:nvCxnSpPr>
        <p:spPr>
          <a:xfrm flipH="1" flipV="1">
            <a:off x="4727430" y="2747533"/>
            <a:ext cx="316865" cy="63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custDataLst>
              <p:tags r:id="rId29"/>
            </p:custDataLst>
          </p:nvPr>
        </p:nvCxnSpPr>
        <p:spPr>
          <a:xfrm flipH="1" flipV="1">
            <a:off x="5029690" y="1492773"/>
            <a:ext cx="23495" cy="25571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p:cNvSpPr txBox="1"/>
          <p:nvPr>
            <p:custDataLst>
              <p:tags r:id="rId30"/>
            </p:custDataLst>
          </p:nvPr>
        </p:nvSpPr>
        <p:spPr>
          <a:xfrm>
            <a:off x="4727575" y="2939415"/>
            <a:ext cx="298450" cy="342265"/>
          </a:xfrm>
          <a:prstGeom prst="rect">
            <a:avLst/>
          </a:prstGeom>
          <a:noFill/>
        </p:spPr>
        <p:txBody>
          <a:bodyPr wrap="square" rtlCol="0">
            <a:noAutofit/>
          </a:bodyPr>
          <a:p>
            <a:r>
              <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rPr>
              <a:t>PCLK1</a:t>
            </a:r>
            <a:endPar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48" name="直接箭头连接符 47"/>
          <p:cNvCxnSpPr/>
          <p:nvPr>
            <p:custDataLst>
              <p:tags r:id="rId31"/>
            </p:custDataLst>
          </p:nvPr>
        </p:nvCxnSpPr>
        <p:spPr>
          <a:xfrm>
            <a:off x="5053185" y="1844563"/>
            <a:ext cx="704850" cy="63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矩形 48"/>
          <p:cNvSpPr/>
          <p:nvPr>
            <p:custDataLst>
              <p:tags r:id="rId32"/>
            </p:custDataLst>
          </p:nvPr>
        </p:nvSpPr>
        <p:spPr>
          <a:xfrm>
            <a:off x="4839970" y="4042410"/>
            <a:ext cx="866775" cy="207010"/>
          </a:xfrm>
          <a:prstGeom prst="rect">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zh-CN" altLang="en-US" sz="1600" b="1">
                <a:solidFill>
                  <a:schemeClr val="tx1"/>
                </a:solidFill>
              </a:rPr>
              <a:t>分频器</a:t>
            </a:r>
            <a:endParaRPr lang="zh-CN" altLang="en-US" sz="1600" b="1">
              <a:solidFill>
                <a:schemeClr val="tx1"/>
              </a:solidFill>
            </a:endParaRPr>
          </a:p>
        </p:txBody>
      </p:sp>
      <p:sp>
        <p:nvSpPr>
          <p:cNvPr id="50" name="矩形 49"/>
          <p:cNvSpPr/>
          <p:nvPr>
            <p:custDataLst>
              <p:tags r:id="rId33"/>
            </p:custDataLst>
          </p:nvPr>
        </p:nvSpPr>
        <p:spPr>
          <a:xfrm>
            <a:off x="5196205" y="1534160"/>
            <a:ext cx="389890" cy="773430"/>
          </a:xfrm>
          <a:prstGeom prst="rect">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zh-CN" altLang="en-US" sz="1600" b="1">
                <a:solidFill>
                  <a:schemeClr val="tx1"/>
                </a:solidFill>
              </a:rPr>
              <a:t>倍频器</a:t>
            </a:r>
            <a:endParaRPr lang="zh-CN" altLang="en-US" sz="1600" b="1">
              <a:solidFill>
                <a:schemeClr val="tx1"/>
              </a:solidFill>
            </a:endParaRPr>
          </a:p>
        </p:txBody>
      </p:sp>
      <p:sp>
        <p:nvSpPr>
          <p:cNvPr id="51" name="文本框 50"/>
          <p:cNvSpPr txBox="1"/>
          <p:nvPr>
            <p:custDataLst>
              <p:tags r:id="rId34"/>
            </p:custDataLst>
          </p:nvPr>
        </p:nvSpPr>
        <p:spPr>
          <a:xfrm>
            <a:off x="5152390" y="3359785"/>
            <a:ext cx="842645" cy="342265"/>
          </a:xfrm>
          <a:prstGeom prst="rect">
            <a:avLst/>
          </a:prstGeom>
          <a:noFill/>
        </p:spPr>
        <p:txBody>
          <a:bodyPr wrap="square" rtlCol="0">
            <a:noAutofit/>
          </a:bodyPr>
          <a:p>
            <a:r>
              <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rPr>
              <a:t>/1 /2/4/8/16</a:t>
            </a:r>
            <a:endPar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54" name="文本框 53"/>
          <p:cNvSpPr txBox="1"/>
          <p:nvPr>
            <p:custDataLst>
              <p:tags r:id="rId35"/>
            </p:custDataLst>
          </p:nvPr>
        </p:nvSpPr>
        <p:spPr>
          <a:xfrm>
            <a:off x="5116195" y="2405380"/>
            <a:ext cx="878840" cy="342265"/>
          </a:xfrm>
          <a:prstGeom prst="rect">
            <a:avLst/>
          </a:prstGeom>
          <a:noFill/>
        </p:spPr>
        <p:txBody>
          <a:bodyPr wrap="square" rtlCol="0">
            <a:noAutofit/>
          </a:bodyPr>
          <a:p>
            <a:r>
              <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rPr>
              <a:t>x1  x2</a:t>
            </a:r>
            <a:endPar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55" name="文本框 54"/>
          <p:cNvSpPr txBox="1"/>
          <p:nvPr>
            <p:custDataLst>
              <p:tags r:id="rId36"/>
            </p:custDataLst>
          </p:nvPr>
        </p:nvSpPr>
        <p:spPr>
          <a:xfrm>
            <a:off x="7070725" y="609600"/>
            <a:ext cx="2174875" cy="342265"/>
          </a:xfrm>
          <a:prstGeom prst="rect">
            <a:avLst/>
          </a:prstGeom>
          <a:noFill/>
        </p:spPr>
        <p:txBody>
          <a:bodyPr wrap="square" rtlCol="0">
            <a:noAutofit/>
          </a:bodyPr>
          <a:p>
            <a:r>
              <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rPr>
              <a:t>         APB2</a:t>
            </a:r>
            <a:endPar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endParaRPr>
          </a:p>
          <a:p>
            <a:r>
              <a:rPr lang="zh-CN" altLang="en-US" sz="1400" b="1" dirty="0">
                <a:solidFill>
                  <a:schemeClr val="tx1">
                    <a:lumMod val="85000"/>
                    <a:lumOff val="15000"/>
                  </a:schemeClr>
                </a:solidFill>
                <a:latin typeface="微软雅黑" panose="020B0503020204020204" pitchFamily="34" charset="-122"/>
                <a:ea typeface="微软雅黑" panose="020B0503020204020204" pitchFamily="34" charset="-122"/>
              </a:rPr>
              <a:t>先进外设</a:t>
            </a:r>
            <a:r>
              <a:rPr lang="zh-CN" altLang="en-US" sz="1400" b="1" dirty="0">
                <a:solidFill>
                  <a:schemeClr val="tx1">
                    <a:lumMod val="85000"/>
                    <a:lumOff val="15000"/>
                  </a:schemeClr>
                </a:solidFill>
                <a:latin typeface="微软雅黑" panose="020B0503020204020204" pitchFamily="34" charset="-122"/>
                <a:ea typeface="微软雅黑" panose="020B0503020204020204" pitchFamily="34" charset="-122"/>
              </a:rPr>
              <a:t>处理器</a:t>
            </a:r>
            <a:endParaRPr lang="zh-CN" altLang="en-US" sz="1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56" name="矩形 55"/>
          <p:cNvSpPr/>
          <p:nvPr>
            <p:custDataLst>
              <p:tags r:id="rId37"/>
            </p:custDataLst>
          </p:nvPr>
        </p:nvSpPr>
        <p:spPr>
          <a:xfrm rot="16200000" flipV="1">
            <a:off x="6139815" y="2171065"/>
            <a:ext cx="3161030" cy="102743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sz="1200">
              <a:highlight>
                <a:srgbClr val="00FFFF"/>
              </a:highlight>
            </a:endParaRPr>
          </a:p>
          <a:p>
            <a:pPr algn="ctr"/>
            <a:endParaRPr lang="en-US" altLang="zh-CN" sz="1200">
              <a:highlight>
                <a:srgbClr val="00FFFF"/>
              </a:highlight>
            </a:endParaRPr>
          </a:p>
          <a:p>
            <a:pPr algn="ctr"/>
            <a:endParaRPr lang="en-US" altLang="zh-CN" sz="1200">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a:p>
            <a:pPr algn="ctr"/>
            <a:endParaRPr lang="en-US" altLang="zh-CN">
              <a:highlight>
                <a:srgbClr val="00FFFF"/>
              </a:highlight>
            </a:endParaRPr>
          </a:p>
        </p:txBody>
      </p:sp>
      <p:cxnSp>
        <p:nvCxnSpPr>
          <p:cNvPr id="57" name="直接箭头连接符 56"/>
          <p:cNvCxnSpPr/>
          <p:nvPr>
            <p:custDataLst>
              <p:tags r:id="rId38"/>
            </p:custDataLst>
          </p:nvPr>
        </p:nvCxnSpPr>
        <p:spPr>
          <a:xfrm flipH="1" flipV="1">
            <a:off x="7196310" y="2747533"/>
            <a:ext cx="316865" cy="63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custDataLst>
              <p:tags r:id="rId39"/>
            </p:custDataLst>
          </p:nvPr>
        </p:nvCxnSpPr>
        <p:spPr>
          <a:xfrm flipH="1" flipV="1">
            <a:off x="7498570" y="1492773"/>
            <a:ext cx="23495" cy="25571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文本框 58"/>
          <p:cNvSpPr txBox="1"/>
          <p:nvPr>
            <p:custDataLst>
              <p:tags r:id="rId40"/>
            </p:custDataLst>
          </p:nvPr>
        </p:nvSpPr>
        <p:spPr>
          <a:xfrm>
            <a:off x="7196455" y="2939415"/>
            <a:ext cx="298450" cy="342265"/>
          </a:xfrm>
          <a:prstGeom prst="rect">
            <a:avLst/>
          </a:prstGeom>
          <a:noFill/>
        </p:spPr>
        <p:txBody>
          <a:bodyPr wrap="square" rtlCol="0">
            <a:noAutofit/>
          </a:bodyPr>
          <a:p>
            <a:r>
              <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rPr>
              <a:t>PCLK1</a:t>
            </a:r>
            <a:endPar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60" name="直接箭头连接符 59"/>
          <p:cNvCxnSpPr/>
          <p:nvPr>
            <p:custDataLst>
              <p:tags r:id="rId41"/>
            </p:custDataLst>
          </p:nvPr>
        </p:nvCxnSpPr>
        <p:spPr>
          <a:xfrm>
            <a:off x="7522065" y="1844563"/>
            <a:ext cx="704850" cy="63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矩形 60"/>
          <p:cNvSpPr/>
          <p:nvPr>
            <p:custDataLst>
              <p:tags r:id="rId42"/>
            </p:custDataLst>
          </p:nvPr>
        </p:nvSpPr>
        <p:spPr>
          <a:xfrm>
            <a:off x="7308850" y="4042410"/>
            <a:ext cx="866775" cy="207010"/>
          </a:xfrm>
          <a:prstGeom prst="rect">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zh-CN" altLang="en-US" sz="1600" b="1">
                <a:solidFill>
                  <a:schemeClr val="tx1"/>
                </a:solidFill>
              </a:rPr>
              <a:t>分频器</a:t>
            </a:r>
            <a:endParaRPr lang="zh-CN" altLang="en-US" sz="1600" b="1">
              <a:solidFill>
                <a:schemeClr val="tx1"/>
              </a:solidFill>
            </a:endParaRPr>
          </a:p>
        </p:txBody>
      </p:sp>
      <p:sp>
        <p:nvSpPr>
          <p:cNvPr id="62" name="矩形 61"/>
          <p:cNvSpPr/>
          <p:nvPr>
            <p:custDataLst>
              <p:tags r:id="rId43"/>
            </p:custDataLst>
          </p:nvPr>
        </p:nvSpPr>
        <p:spPr>
          <a:xfrm>
            <a:off x="7665085" y="1534160"/>
            <a:ext cx="389890" cy="773430"/>
          </a:xfrm>
          <a:prstGeom prst="rect">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zh-CN" altLang="en-US" sz="1600" b="1">
                <a:solidFill>
                  <a:schemeClr val="tx1"/>
                </a:solidFill>
              </a:rPr>
              <a:t>倍频器</a:t>
            </a:r>
            <a:endParaRPr lang="zh-CN" altLang="en-US" sz="1600" b="1">
              <a:solidFill>
                <a:schemeClr val="tx1"/>
              </a:solidFill>
            </a:endParaRPr>
          </a:p>
        </p:txBody>
      </p:sp>
      <p:sp>
        <p:nvSpPr>
          <p:cNvPr id="63" name="文本框 62"/>
          <p:cNvSpPr txBox="1"/>
          <p:nvPr>
            <p:custDataLst>
              <p:tags r:id="rId44"/>
            </p:custDataLst>
          </p:nvPr>
        </p:nvSpPr>
        <p:spPr>
          <a:xfrm>
            <a:off x="7621270" y="3359785"/>
            <a:ext cx="842645" cy="342265"/>
          </a:xfrm>
          <a:prstGeom prst="rect">
            <a:avLst/>
          </a:prstGeom>
          <a:noFill/>
        </p:spPr>
        <p:txBody>
          <a:bodyPr wrap="square" rtlCol="0">
            <a:noAutofit/>
          </a:bodyPr>
          <a:p>
            <a:r>
              <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rPr>
              <a:t>/1 /2/4/8/16</a:t>
            </a:r>
            <a:endPar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64" name="文本框 63"/>
          <p:cNvSpPr txBox="1"/>
          <p:nvPr>
            <p:custDataLst>
              <p:tags r:id="rId45"/>
            </p:custDataLst>
          </p:nvPr>
        </p:nvSpPr>
        <p:spPr>
          <a:xfrm>
            <a:off x="7585075" y="2405380"/>
            <a:ext cx="878840" cy="342265"/>
          </a:xfrm>
          <a:prstGeom prst="rect">
            <a:avLst/>
          </a:prstGeom>
          <a:noFill/>
        </p:spPr>
        <p:txBody>
          <a:bodyPr wrap="square" rtlCol="0">
            <a:noAutofit/>
          </a:bodyPr>
          <a:p>
            <a:r>
              <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rPr>
              <a:t>x1  x2</a:t>
            </a:r>
            <a:endPar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65" name="矩形 64"/>
          <p:cNvSpPr/>
          <p:nvPr>
            <p:custDataLst>
              <p:tags r:id="rId46"/>
            </p:custDataLst>
          </p:nvPr>
        </p:nvSpPr>
        <p:spPr>
          <a:xfrm>
            <a:off x="7286625" y="1142365"/>
            <a:ext cx="866775" cy="207010"/>
          </a:xfrm>
          <a:prstGeom prst="rect">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zh-CN" altLang="en-US" sz="1600" b="1">
                <a:solidFill>
                  <a:schemeClr val="tx1"/>
                </a:solidFill>
              </a:rPr>
              <a:t>分频器</a:t>
            </a:r>
            <a:endParaRPr lang="zh-CN" altLang="en-US" sz="1600" b="1">
              <a:solidFill>
                <a:schemeClr val="tx1"/>
              </a:solidFill>
            </a:endParaRPr>
          </a:p>
        </p:txBody>
      </p:sp>
      <p:sp>
        <p:nvSpPr>
          <p:cNvPr id="66" name="文本框 65"/>
          <p:cNvSpPr txBox="1"/>
          <p:nvPr>
            <p:custDataLst>
              <p:tags r:id="rId47"/>
            </p:custDataLst>
          </p:nvPr>
        </p:nvSpPr>
        <p:spPr>
          <a:xfrm>
            <a:off x="8182610" y="1104265"/>
            <a:ext cx="989965" cy="342265"/>
          </a:xfrm>
          <a:prstGeom prst="rect">
            <a:avLst/>
          </a:prstGeom>
          <a:noFill/>
        </p:spPr>
        <p:txBody>
          <a:bodyPr wrap="square" rtlCol="0">
            <a:noAutofit/>
          </a:bodyPr>
          <a:p>
            <a:r>
              <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rPr>
              <a:t>/2/4/6/8</a:t>
            </a:r>
            <a:endParaRPr lang="en-US" altLang="zh-CN" sz="1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2" fill="hold" nodeType="withEffect">
                                  <p:stCondLst>
                                    <p:cond delay="250"/>
                                  </p:stCondLst>
                                  <p:childTnLst>
                                    <p:set>
                                      <p:cBhvr>
                                        <p:cTn id="11" dur="1" fill="hold">
                                          <p:stCondLst>
                                            <p:cond delay="0"/>
                                          </p:stCondLst>
                                        </p:cTn>
                                        <p:tgtEl>
                                          <p:spTgt spid="12"/>
                                        </p:tgtEl>
                                        <p:attrNameLst>
                                          <p:attrName>style.visibility</p:attrName>
                                        </p:attrNameLst>
                                      </p:cBhvr>
                                      <p:to>
                                        <p:strVal val="visible"/>
                                      </p:to>
                                    </p:set>
                                    <p:animEffect transition="in" filter="wipe(right)">
                                      <p:cBhvr>
                                        <p:cTn id="12" dur="500"/>
                                        <p:tgtEl>
                                          <p:spTgt spid="12"/>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p:tgtEl>
                                          <p:spTgt spid="8"/>
                                        </p:tgtEl>
                                        <p:attrNameLst>
                                          <p:attrName>ppt_y</p:attrName>
                                        </p:attrNameLst>
                                      </p:cBhvr>
                                      <p:tavLst>
                                        <p:tav tm="0">
                                          <p:val>
                                            <p:strVal val="#ppt_y+#ppt_h*1.125000"/>
                                          </p:val>
                                        </p:tav>
                                        <p:tav tm="100000">
                                          <p:val>
                                            <p:strVal val="#ppt_y"/>
                                          </p:val>
                                        </p:tav>
                                      </p:tavLst>
                                    </p:anim>
                                    <p:animEffect transition="in" filter="wipe(up)">
                                      <p:cBhvr>
                                        <p:cTn id="16" dur="500"/>
                                        <p:tgtEl>
                                          <p:spTgt spid="8"/>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p:tgtEl>
                                          <p:spTgt spid="21"/>
                                        </p:tgtEl>
                                        <p:attrNameLst>
                                          <p:attrName>ppt_y</p:attrName>
                                        </p:attrNameLst>
                                      </p:cBhvr>
                                      <p:tavLst>
                                        <p:tav tm="0">
                                          <p:val>
                                            <p:strVal val="#ppt_y+#ppt_h*1.125000"/>
                                          </p:val>
                                        </p:tav>
                                        <p:tav tm="100000">
                                          <p:val>
                                            <p:strVal val="#ppt_y"/>
                                          </p:val>
                                        </p:tav>
                                      </p:tavLst>
                                    </p:anim>
                                    <p:animEffect transition="in" filter="wipe(up)">
                                      <p:cBhvr>
                                        <p:cTn id="24" dur="500"/>
                                        <p:tgtEl>
                                          <p:spTgt spid="21"/>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500"/>
                                        <p:tgtEl>
                                          <p:spTgt spid="28"/>
                                        </p:tgtEl>
                                        <p:attrNameLst>
                                          <p:attrName>ppt_y</p:attrName>
                                        </p:attrNameLst>
                                      </p:cBhvr>
                                      <p:tavLst>
                                        <p:tav tm="0">
                                          <p:val>
                                            <p:strVal val="#ppt_y+#ppt_h*1.125000"/>
                                          </p:val>
                                        </p:tav>
                                        <p:tav tm="100000">
                                          <p:val>
                                            <p:strVal val="#ppt_y"/>
                                          </p:val>
                                        </p:tav>
                                      </p:tavLst>
                                    </p:anim>
                                    <p:animEffect transition="in" filter="wipe(up)">
                                      <p:cBhvr>
                                        <p:cTn id="28" dur="500"/>
                                        <p:tgtEl>
                                          <p:spTgt spid="28"/>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p:tgtEl>
                                          <p:spTgt spid="47"/>
                                        </p:tgtEl>
                                        <p:attrNameLst>
                                          <p:attrName>ppt_y</p:attrName>
                                        </p:attrNameLst>
                                      </p:cBhvr>
                                      <p:tavLst>
                                        <p:tav tm="0">
                                          <p:val>
                                            <p:strVal val="#ppt_y+#ppt_h*1.125000"/>
                                          </p:val>
                                        </p:tav>
                                        <p:tav tm="100000">
                                          <p:val>
                                            <p:strVal val="#ppt_y"/>
                                          </p:val>
                                        </p:tav>
                                      </p:tavLst>
                                    </p:anim>
                                    <p:animEffect transition="in" filter="wipe(up)">
                                      <p:cBhvr>
                                        <p:cTn id="32" dur="500"/>
                                        <p:tgtEl>
                                          <p:spTgt spid="47"/>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anim calcmode="lin" valueType="num">
                                      <p:cBhvr additive="base">
                                        <p:cTn id="35" dur="500"/>
                                        <p:tgtEl>
                                          <p:spTgt spid="51"/>
                                        </p:tgtEl>
                                        <p:attrNameLst>
                                          <p:attrName>ppt_y</p:attrName>
                                        </p:attrNameLst>
                                      </p:cBhvr>
                                      <p:tavLst>
                                        <p:tav tm="0">
                                          <p:val>
                                            <p:strVal val="#ppt_y+#ppt_h*1.125000"/>
                                          </p:val>
                                        </p:tav>
                                        <p:tav tm="100000">
                                          <p:val>
                                            <p:strVal val="#ppt_y"/>
                                          </p:val>
                                        </p:tav>
                                      </p:tavLst>
                                    </p:anim>
                                    <p:animEffect transition="in" filter="wipe(up)">
                                      <p:cBhvr>
                                        <p:cTn id="36" dur="500"/>
                                        <p:tgtEl>
                                          <p:spTgt spid="51"/>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anim calcmode="lin" valueType="num">
                                      <p:cBhvr additive="base">
                                        <p:cTn id="39" dur="500"/>
                                        <p:tgtEl>
                                          <p:spTgt spid="54"/>
                                        </p:tgtEl>
                                        <p:attrNameLst>
                                          <p:attrName>ppt_y</p:attrName>
                                        </p:attrNameLst>
                                      </p:cBhvr>
                                      <p:tavLst>
                                        <p:tav tm="0">
                                          <p:val>
                                            <p:strVal val="#ppt_y+#ppt_h*1.125000"/>
                                          </p:val>
                                        </p:tav>
                                        <p:tav tm="100000">
                                          <p:val>
                                            <p:strVal val="#ppt_y"/>
                                          </p:val>
                                        </p:tav>
                                      </p:tavLst>
                                    </p:anim>
                                    <p:animEffect transition="in" filter="wipe(up)">
                                      <p:cBhvr>
                                        <p:cTn id="40" dur="500"/>
                                        <p:tgtEl>
                                          <p:spTgt spid="54"/>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anim calcmode="lin" valueType="num">
                                      <p:cBhvr additive="base">
                                        <p:cTn id="43" dur="500"/>
                                        <p:tgtEl>
                                          <p:spTgt spid="55"/>
                                        </p:tgtEl>
                                        <p:attrNameLst>
                                          <p:attrName>ppt_y</p:attrName>
                                        </p:attrNameLst>
                                      </p:cBhvr>
                                      <p:tavLst>
                                        <p:tav tm="0">
                                          <p:val>
                                            <p:strVal val="#ppt_y+#ppt_h*1.125000"/>
                                          </p:val>
                                        </p:tav>
                                        <p:tav tm="100000">
                                          <p:val>
                                            <p:strVal val="#ppt_y"/>
                                          </p:val>
                                        </p:tav>
                                      </p:tavLst>
                                    </p:anim>
                                    <p:animEffect transition="in" filter="wipe(up)">
                                      <p:cBhvr>
                                        <p:cTn id="44" dur="500"/>
                                        <p:tgtEl>
                                          <p:spTgt spid="55"/>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59"/>
                                        </p:tgtEl>
                                        <p:attrNameLst>
                                          <p:attrName>style.visibility</p:attrName>
                                        </p:attrNameLst>
                                      </p:cBhvr>
                                      <p:to>
                                        <p:strVal val="visible"/>
                                      </p:to>
                                    </p:set>
                                    <p:anim calcmode="lin" valueType="num">
                                      <p:cBhvr additive="base">
                                        <p:cTn id="47" dur="500"/>
                                        <p:tgtEl>
                                          <p:spTgt spid="59"/>
                                        </p:tgtEl>
                                        <p:attrNameLst>
                                          <p:attrName>ppt_y</p:attrName>
                                        </p:attrNameLst>
                                      </p:cBhvr>
                                      <p:tavLst>
                                        <p:tav tm="0">
                                          <p:val>
                                            <p:strVal val="#ppt_y+#ppt_h*1.125000"/>
                                          </p:val>
                                        </p:tav>
                                        <p:tav tm="100000">
                                          <p:val>
                                            <p:strVal val="#ppt_y"/>
                                          </p:val>
                                        </p:tav>
                                      </p:tavLst>
                                    </p:anim>
                                    <p:animEffect transition="in" filter="wipe(up)">
                                      <p:cBhvr>
                                        <p:cTn id="48" dur="500"/>
                                        <p:tgtEl>
                                          <p:spTgt spid="59"/>
                                        </p:tgtEl>
                                      </p:cBhvr>
                                    </p:animEffect>
                                  </p:childTnLst>
                                </p:cTn>
                              </p:par>
                              <p:par>
                                <p:cTn id="49" presetID="12" presetClass="entr" presetSubtype="4" fill="hold" grpId="0" nodeType="withEffect">
                                  <p:stCondLst>
                                    <p:cond delay="0"/>
                                  </p:stCondLst>
                                  <p:childTnLst>
                                    <p:set>
                                      <p:cBhvr>
                                        <p:cTn id="50" dur="1" fill="hold">
                                          <p:stCondLst>
                                            <p:cond delay="0"/>
                                          </p:stCondLst>
                                        </p:cTn>
                                        <p:tgtEl>
                                          <p:spTgt spid="63"/>
                                        </p:tgtEl>
                                        <p:attrNameLst>
                                          <p:attrName>style.visibility</p:attrName>
                                        </p:attrNameLst>
                                      </p:cBhvr>
                                      <p:to>
                                        <p:strVal val="visible"/>
                                      </p:to>
                                    </p:set>
                                    <p:anim calcmode="lin" valueType="num">
                                      <p:cBhvr additive="base">
                                        <p:cTn id="51" dur="500"/>
                                        <p:tgtEl>
                                          <p:spTgt spid="63"/>
                                        </p:tgtEl>
                                        <p:attrNameLst>
                                          <p:attrName>ppt_y</p:attrName>
                                        </p:attrNameLst>
                                      </p:cBhvr>
                                      <p:tavLst>
                                        <p:tav tm="0">
                                          <p:val>
                                            <p:strVal val="#ppt_y+#ppt_h*1.125000"/>
                                          </p:val>
                                        </p:tav>
                                        <p:tav tm="100000">
                                          <p:val>
                                            <p:strVal val="#ppt_y"/>
                                          </p:val>
                                        </p:tav>
                                      </p:tavLst>
                                    </p:anim>
                                    <p:animEffect transition="in" filter="wipe(up)">
                                      <p:cBhvr>
                                        <p:cTn id="52" dur="500"/>
                                        <p:tgtEl>
                                          <p:spTgt spid="63"/>
                                        </p:tgtEl>
                                      </p:cBhvr>
                                    </p:animEffect>
                                  </p:childTnLst>
                                </p:cTn>
                              </p:par>
                              <p:par>
                                <p:cTn id="53" presetID="12" presetClass="entr" presetSubtype="4" fill="hold" grpId="0" nodeType="withEffect">
                                  <p:stCondLst>
                                    <p:cond delay="0"/>
                                  </p:stCondLst>
                                  <p:childTnLst>
                                    <p:set>
                                      <p:cBhvr>
                                        <p:cTn id="54" dur="1" fill="hold">
                                          <p:stCondLst>
                                            <p:cond delay="0"/>
                                          </p:stCondLst>
                                        </p:cTn>
                                        <p:tgtEl>
                                          <p:spTgt spid="64"/>
                                        </p:tgtEl>
                                        <p:attrNameLst>
                                          <p:attrName>style.visibility</p:attrName>
                                        </p:attrNameLst>
                                      </p:cBhvr>
                                      <p:to>
                                        <p:strVal val="visible"/>
                                      </p:to>
                                    </p:set>
                                    <p:anim calcmode="lin" valueType="num">
                                      <p:cBhvr additive="base">
                                        <p:cTn id="55" dur="500"/>
                                        <p:tgtEl>
                                          <p:spTgt spid="64"/>
                                        </p:tgtEl>
                                        <p:attrNameLst>
                                          <p:attrName>ppt_y</p:attrName>
                                        </p:attrNameLst>
                                      </p:cBhvr>
                                      <p:tavLst>
                                        <p:tav tm="0">
                                          <p:val>
                                            <p:strVal val="#ppt_y+#ppt_h*1.125000"/>
                                          </p:val>
                                        </p:tav>
                                        <p:tav tm="100000">
                                          <p:val>
                                            <p:strVal val="#ppt_y"/>
                                          </p:val>
                                        </p:tav>
                                      </p:tavLst>
                                    </p:anim>
                                    <p:animEffect transition="in" filter="wipe(up)">
                                      <p:cBhvr>
                                        <p:cTn id="56" dur="500"/>
                                        <p:tgtEl>
                                          <p:spTgt spid="64"/>
                                        </p:tgtEl>
                                      </p:cBhvr>
                                    </p:animEffect>
                                  </p:childTnLst>
                                </p:cTn>
                              </p:par>
                              <p:par>
                                <p:cTn id="57" presetID="12" presetClass="entr" presetSubtype="4" fill="hold" grpId="0" nodeType="withEffect">
                                  <p:stCondLst>
                                    <p:cond delay="0"/>
                                  </p:stCondLst>
                                  <p:childTnLst>
                                    <p:set>
                                      <p:cBhvr>
                                        <p:cTn id="58" dur="1" fill="hold">
                                          <p:stCondLst>
                                            <p:cond delay="0"/>
                                          </p:stCondLst>
                                        </p:cTn>
                                        <p:tgtEl>
                                          <p:spTgt spid="66"/>
                                        </p:tgtEl>
                                        <p:attrNameLst>
                                          <p:attrName>style.visibility</p:attrName>
                                        </p:attrNameLst>
                                      </p:cBhvr>
                                      <p:to>
                                        <p:strVal val="visible"/>
                                      </p:to>
                                    </p:set>
                                    <p:anim calcmode="lin" valueType="num">
                                      <p:cBhvr additive="base">
                                        <p:cTn id="59" dur="500"/>
                                        <p:tgtEl>
                                          <p:spTgt spid="66"/>
                                        </p:tgtEl>
                                        <p:attrNameLst>
                                          <p:attrName>ppt_y</p:attrName>
                                        </p:attrNameLst>
                                      </p:cBhvr>
                                      <p:tavLst>
                                        <p:tav tm="0">
                                          <p:val>
                                            <p:strVal val="#ppt_y+#ppt_h*1.125000"/>
                                          </p:val>
                                        </p:tav>
                                        <p:tav tm="100000">
                                          <p:val>
                                            <p:strVal val="#ppt_y"/>
                                          </p:val>
                                        </p:tav>
                                      </p:tavLst>
                                    </p:anim>
                                    <p:animEffect transition="in" filter="wipe(up)">
                                      <p:cBhvr>
                                        <p:cTn id="60"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0" grpId="0"/>
      <p:bldP spid="21" grpId="0"/>
      <p:bldP spid="28" grpId="0"/>
      <p:bldP spid="47" grpId="0"/>
      <p:bldP spid="51" grpId="0"/>
      <p:bldP spid="54" grpId="0"/>
      <p:bldP spid="55" grpId="0"/>
      <p:bldP spid="59" grpId="0"/>
      <p:bldP spid="63" grpId="0"/>
      <p:bldP spid="64" grpId="0"/>
      <p:bldP spid="6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da-DK" sz="2400" b="1" dirty="0">
                <a:latin typeface="微软雅黑" panose="020B0503020204020204" pitchFamily="34" charset="-122"/>
                <a:ea typeface="微软雅黑" panose="020B0503020204020204" pitchFamily="34" charset="-122"/>
                <a:cs typeface="Times New Roman" panose="02020603050405020304" pitchFamily="18" charset="0"/>
                <a:sym typeface="+mn-ea"/>
              </a:rPr>
              <a:t>时钟树</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04</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610870" y="1143635"/>
            <a:ext cx="8235950" cy="645160"/>
          </a:xfrm>
          <a:prstGeom prst="rect">
            <a:avLst/>
          </a:prstGeom>
          <a:noFill/>
        </p:spPr>
        <p:txBody>
          <a:bodyPr wrap="square" rtlCol="0">
            <a:spAutoFit/>
          </a:bodyPr>
          <a:p>
            <a:r>
              <a:rPr lang="en-US" altLang="zh-CN"/>
              <a:t>1</a:t>
            </a:r>
            <a:r>
              <a:rPr lang="zh-CN" altLang="en-US"/>
              <a:t>，处理器</a:t>
            </a:r>
            <a:r>
              <a:rPr lang="en-US" altLang="zh-CN"/>
              <a:t> </a:t>
            </a:r>
            <a:r>
              <a:rPr lang="zh-CN" altLang="en-US"/>
              <a:t>内存</a:t>
            </a:r>
            <a:r>
              <a:rPr lang="en-US" altLang="zh-CN"/>
              <a:t> DMA </a:t>
            </a:r>
            <a:r>
              <a:rPr lang="zh-CN" altLang="en-US"/>
              <a:t>等等都挂载在</a:t>
            </a:r>
            <a:r>
              <a:rPr lang="en-US" altLang="zh-CN">
                <a:highlight>
                  <a:srgbClr val="FFFF00"/>
                </a:highlight>
              </a:rPr>
              <a:t>AHB</a:t>
            </a:r>
            <a:r>
              <a:rPr lang="zh-CN" altLang="en-US">
                <a:highlight>
                  <a:srgbClr val="FFFF00"/>
                </a:highlight>
              </a:rPr>
              <a:t>总线</a:t>
            </a:r>
            <a:r>
              <a:rPr lang="zh-CN" altLang="en-US"/>
              <a:t>上来传输数据，其中的</a:t>
            </a:r>
            <a:r>
              <a:rPr lang="en-US" altLang="zh-CN"/>
              <a:t>HCLK</a:t>
            </a:r>
            <a:r>
              <a:rPr lang="zh-CN" altLang="en-US"/>
              <a:t>就是</a:t>
            </a:r>
            <a:r>
              <a:rPr lang="en-US" altLang="zh-CN"/>
              <a:t>AHB</a:t>
            </a:r>
            <a:r>
              <a:rPr lang="zh-CN" altLang="en-US"/>
              <a:t>总线的时钟信号</a:t>
            </a:r>
            <a:r>
              <a:rPr lang="zh-CN" altLang="en-US"/>
              <a:t>线</a:t>
            </a:r>
            <a:endParaRPr lang="zh-CN" altLang="en-US"/>
          </a:p>
        </p:txBody>
      </p:sp>
      <p:sp>
        <p:nvSpPr>
          <p:cNvPr id="3" name="文本框 2"/>
          <p:cNvSpPr txBox="1"/>
          <p:nvPr/>
        </p:nvSpPr>
        <p:spPr>
          <a:xfrm>
            <a:off x="610870" y="2109470"/>
            <a:ext cx="3735070" cy="368300"/>
          </a:xfrm>
          <a:prstGeom prst="rect">
            <a:avLst/>
          </a:prstGeom>
          <a:noFill/>
        </p:spPr>
        <p:txBody>
          <a:bodyPr wrap="none" rtlCol="0">
            <a:spAutoFit/>
          </a:bodyPr>
          <a:p>
            <a:r>
              <a:rPr lang="en-US" altLang="zh-CN"/>
              <a:t>2</a:t>
            </a:r>
            <a:r>
              <a:rPr lang="zh-CN" altLang="en-US"/>
              <a:t>，外设挂载在</a:t>
            </a:r>
            <a:r>
              <a:rPr lang="en-US" altLang="zh-CN"/>
              <a:t>AHB</a:t>
            </a:r>
            <a:r>
              <a:rPr lang="zh-CN" altLang="en-US"/>
              <a:t>的</a:t>
            </a:r>
            <a:r>
              <a:rPr lang="en-US" altLang="zh-CN"/>
              <a:t>APB1</a:t>
            </a:r>
            <a:r>
              <a:rPr lang="zh-CN" altLang="en-US"/>
              <a:t>和</a:t>
            </a:r>
            <a:r>
              <a:rPr lang="en-US" altLang="zh-CN"/>
              <a:t>A</a:t>
            </a:r>
            <a:r>
              <a:rPr lang="en-US" altLang="zh-CN"/>
              <a:t>PB2</a:t>
            </a:r>
            <a:r>
              <a:rPr lang="zh-CN" altLang="en-US"/>
              <a:t>上</a:t>
            </a:r>
            <a:endParaRPr lang="zh-CN" altLang="en-US"/>
          </a:p>
        </p:txBody>
      </p:sp>
      <p:sp>
        <p:nvSpPr>
          <p:cNvPr id="4" name="文本框 3"/>
          <p:cNvSpPr txBox="1"/>
          <p:nvPr/>
        </p:nvSpPr>
        <p:spPr>
          <a:xfrm>
            <a:off x="748030" y="2759075"/>
            <a:ext cx="4457700" cy="368300"/>
          </a:xfrm>
          <a:prstGeom prst="rect">
            <a:avLst/>
          </a:prstGeom>
          <a:noFill/>
        </p:spPr>
        <p:txBody>
          <a:bodyPr wrap="none" rtlCol="0">
            <a:spAutoFit/>
          </a:bodyPr>
          <a:p>
            <a:pPr algn="l"/>
            <a:r>
              <a:rPr lang="en-US" altLang="zh-CN"/>
              <a:t>3</a:t>
            </a:r>
            <a:r>
              <a:rPr lang="zh-CN" altLang="en-US"/>
              <a:t>、LSI低速内部时钟：由内部RC振荡器产生</a:t>
            </a:r>
            <a:endParaRPr lang="zh-CN" altLang="en-US"/>
          </a:p>
        </p:txBody>
      </p:sp>
      <p:sp>
        <p:nvSpPr>
          <p:cNvPr id="5" name="文本框 4"/>
          <p:cNvSpPr txBox="1"/>
          <p:nvPr/>
        </p:nvSpPr>
        <p:spPr>
          <a:xfrm>
            <a:off x="1149985" y="3127375"/>
            <a:ext cx="4159885" cy="368300"/>
          </a:xfrm>
          <a:prstGeom prst="rect">
            <a:avLst/>
          </a:prstGeom>
          <a:noFill/>
        </p:spPr>
        <p:txBody>
          <a:bodyPr wrap="none" rtlCol="0">
            <a:spAutoFit/>
          </a:bodyPr>
          <a:p>
            <a:pPr algn="l"/>
            <a:r>
              <a:rPr lang="zh-CN" altLang="en-US"/>
              <a:t>HSI高速内部时钟：由内部RC振荡器产生</a:t>
            </a:r>
            <a:endParaRPr lang="zh-CN" altLang="en-US"/>
          </a:p>
        </p:txBody>
      </p:sp>
      <p:sp>
        <p:nvSpPr>
          <p:cNvPr id="6" name="文本框 5"/>
          <p:cNvSpPr txBox="1"/>
          <p:nvPr/>
        </p:nvSpPr>
        <p:spPr>
          <a:xfrm>
            <a:off x="1149985" y="3495675"/>
            <a:ext cx="4152900" cy="368300"/>
          </a:xfrm>
          <a:prstGeom prst="rect">
            <a:avLst/>
          </a:prstGeom>
          <a:noFill/>
        </p:spPr>
        <p:txBody>
          <a:bodyPr wrap="none" rtlCol="0">
            <a:spAutoFit/>
          </a:bodyPr>
          <a:p>
            <a:pPr algn="l"/>
            <a:r>
              <a:rPr lang="zh-CN" altLang="en-US"/>
              <a:t>LSE低速外部时钟：一般由外部晶振提供</a:t>
            </a:r>
            <a:endParaRPr lang="zh-CN" altLang="en-US"/>
          </a:p>
        </p:txBody>
      </p:sp>
      <p:sp>
        <p:nvSpPr>
          <p:cNvPr id="7" name="文本框 6"/>
          <p:cNvSpPr txBox="1"/>
          <p:nvPr/>
        </p:nvSpPr>
        <p:spPr>
          <a:xfrm>
            <a:off x="1220470" y="3863975"/>
            <a:ext cx="4199255" cy="368300"/>
          </a:xfrm>
          <a:prstGeom prst="rect">
            <a:avLst/>
          </a:prstGeom>
          <a:noFill/>
        </p:spPr>
        <p:txBody>
          <a:bodyPr wrap="none" rtlCol="0">
            <a:spAutoFit/>
          </a:bodyPr>
          <a:p>
            <a:pPr algn="l"/>
            <a:r>
              <a:rPr lang="zh-CN" altLang="en-US"/>
              <a:t>HSE低速外部时钟：一般由外部晶振提供</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16"/>
                                        </p:tgtEl>
                                        <p:attrNameLst>
                                          <p:attrName>style.visibility</p:attrName>
                                        </p:attrNameLst>
                                      </p:cBhvr>
                                      <p:to>
                                        <p:strVal val="visible"/>
                                      </p:to>
                                    </p:set>
                                    <p:animEffect transition="in" filter="wipe(right)">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da-DK" sz="2400" b="1" dirty="0">
                <a:latin typeface="微软雅黑" panose="020B0503020204020204" pitchFamily="34" charset="-122"/>
                <a:ea typeface="微软雅黑" panose="020B0503020204020204" pitchFamily="34" charset="-122"/>
                <a:cs typeface="Times New Roman" panose="02020603050405020304" pitchFamily="18" charset="0"/>
                <a:sym typeface="+mn-ea"/>
              </a:rPr>
              <a:t>时钟树</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628015" y="6434426"/>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04</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3" name="图片 2"/>
          <p:cNvPicPr>
            <a:picLocks noChangeAspect="1"/>
          </p:cNvPicPr>
          <p:nvPr/>
        </p:nvPicPr>
        <p:blipFill>
          <a:blip r:embed="rId1"/>
          <a:stretch>
            <a:fillRect/>
          </a:stretch>
        </p:blipFill>
        <p:spPr>
          <a:xfrm>
            <a:off x="0" y="-1270"/>
            <a:ext cx="9144000" cy="6858000"/>
          </a:xfrm>
          <a:prstGeom prst="rect">
            <a:avLst/>
          </a:prstGeom>
        </p:spPr>
      </p:pic>
      <p:sp>
        <p:nvSpPr>
          <p:cNvPr id="2" name="矩形 1"/>
          <p:cNvSpPr/>
          <p:nvPr/>
        </p:nvSpPr>
        <p:spPr>
          <a:xfrm>
            <a:off x="793750" y="1301115"/>
            <a:ext cx="655320" cy="673735"/>
          </a:xfrm>
          <a:prstGeom prst="rect">
            <a:avLst/>
          </a:prstGeom>
          <a:noFill/>
          <a:ln w="1905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p:nvSpPr>
        <p:spPr>
          <a:xfrm>
            <a:off x="115570" y="1974850"/>
            <a:ext cx="1624330" cy="306705"/>
          </a:xfrm>
          <a:prstGeom prst="rect">
            <a:avLst/>
          </a:prstGeom>
          <a:noFill/>
        </p:spPr>
        <p:txBody>
          <a:bodyPr wrap="square" rtlCol="0">
            <a:spAutoFit/>
          </a:bodyPr>
          <a:p>
            <a:r>
              <a:rPr lang="zh-CN" altLang="en-US" sz="1400">
                <a:solidFill>
                  <a:srgbClr val="FF0000"/>
                </a:solidFill>
              </a:rPr>
              <a:t>低速内部时钟</a:t>
            </a:r>
            <a:r>
              <a:rPr lang="en-US" altLang="zh-CN" sz="1400">
                <a:solidFill>
                  <a:srgbClr val="FF0000"/>
                </a:solidFill>
              </a:rPr>
              <a:t>LSI</a:t>
            </a:r>
            <a:endParaRPr lang="en-US" altLang="zh-CN" sz="1400">
              <a:solidFill>
                <a:srgbClr val="FF0000"/>
              </a:solidFill>
            </a:endParaRPr>
          </a:p>
        </p:txBody>
      </p:sp>
      <p:sp>
        <p:nvSpPr>
          <p:cNvPr id="7" name="文本框 6"/>
          <p:cNvSpPr txBox="1"/>
          <p:nvPr/>
        </p:nvSpPr>
        <p:spPr>
          <a:xfrm>
            <a:off x="0" y="3689985"/>
            <a:ext cx="1624330" cy="306705"/>
          </a:xfrm>
          <a:prstGeom prst="rect">
            <a:avLst/>
          </a:prstGeom>
          <a:noFill/>
        </p:spPr>
        <p:txBody>
          <a:bodyPr wrap="square" rtlCol="0">
            <a:spAutoFit/>
          </a:bodyPr>
          <a:p>
            <a:r>
              <a:rPr lang="zh-CN" altLang="en-US" sz="1400">
                <a:solidFill>
                  <a:srgbClr val="FF0000"/>
                </a:solidFill>
              </a:rPr>
              <a:t>高速</a:t>
            </a:r>
            <a:r>
              <a:rPr lang="zh-CN" altLang="en-US" sz="1400">
                <a:solidFill>
                  <a:srgbClr val="FF0000"/>
                </a:solidFill>
              </a:rPr>
              <a:t>内部时钟</a:t>
            </a:r>
            <a:r>
              <a:rPr lang="en-US" altLang="zh-CN" sz="1400">
                <a:solidFill>
                  <a:srgbClr val="FF0000"/>
                </a:solidFill>
              </a:rPr>
              <a:t>HSI</a:t>
            </a:r>
            <a:endParaRPr lang="en-US" altLang="zh-CN" sz="1400">
              <a:solidFill>
                <a:srgbClr val="FF0000"/>
              </a:solidFill>
            </a:endParaRPr>
          </a:p>
        </p:txBody>
      </p:sp>
      <p:sp>
        <p:nvSpPr>
          <p:cNvPr id="8" name="矩形 7"/>
          <p:cNvSpPr/>
          <p:nvPr/>
        </p:nvSpPr>
        <p:spPr>
          <a:xfrm>
            <a:off x="702310" y="3092450"/>
            <a:ext cx="655320" cy="673735"/>
          </a:xfrm>
          <a:prstGeom prst="rect">
            <a:avLst/>
          </a:prstGeom>
          <a:noFill/>
          <a:ln w="1905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矩形 9"/>
          <p:cNvSpPr/>
          <p:nvPr/>
        </p:nvSpPr>
        <p:spPr>
          <a:xfrm>
            <a:off x="3553460" y="3155950"/>
            <a:ext cx="551815" cy="534670"/>
          </a:xfrm>
          <a:prstGeom prst="rect">
            <a:avLst/>
          </a:prstGeom>
          <a:noFill/>
          <a:ln w="1905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文本框 10"/>
          <p:cNvSpPr txBox="1"/>
          <p:nvPr/>
        </p:nvSpPr>
        <p:spPr>
          <a:xfrm>
            <a:off x="2261870" y="3092450"/>
            <a:ext cx="1292225" cy="521970"/>
          </a:xfrm>
          <a:prstGeom prst="rect">
            <a:avLst/>
          </a:prstGeom>
          <a:noFill/>
        </p:spPr>
        <p:txBody>
          <a:bodyPr wrap="square" rtlCol="0">
            <a:spAutoFit/>
          </a:bodyPr>
          <a:p>
            <a:r>
              <a:rPr lang="zh-CN" altLang="en-US" sz="1400">
                <a:solidFill>
                  <a:srgbClr val="FF0000"/>
                </a:solidFill>
              </a:rPr>
              <a:t>没选他，选的是</a:t>
            </a:r>
            <a:r>
              <a:rPr lang="en-US" altLang="zh-CN" sz="1400">
                <a:solidFill>
                  <a:srgbClr val="FF0000"/>
                </a:solidFill>
              </a:rPr>
              <a:t>HSE</a:t>
            </a:r>
            <a:r>
              <a:rPr lang="zh-CN" altLang="en-US" sz="1400">
                <a:solidFill>
                  <a:srgbClr val="FF0000"/>
                </a:solidFill>
              </a:rPr>
              <a:t>那条</a:t>
            </a:r>
            <a:r>
              <a:rPr lang="zh-CN" altLang="en-US" sz="1400">
                <a:solidFill>
                  <a:srgbClr val="FF0000"/>
                </a:solidFill>
              </a:rPr>
              <a:t>路</a:t>
            </a:r>
            <a:endParaRPr lang="zh-CN" altLang="en-US" sz="1400">
              <a:solidFill>
                <a:srgbClr val="FF0000"/>
              </a:solidFill>
            </a:endParaRPr>
          </a:p>
        </p:txBody>
      </p:sp>
      <p:sp>
        <p:nvSpPr>
          <p:cNvPr id="12" name="矩形 11"/>
          <p:cNvSpPr/>
          <p:nvPr/>
        </p:nvSpPr>
        <p:spPr>
          <a:xfrm>
            <a:off x="751205" y="5711825"/>
            <a:ext cx="655320" cy="673735"/>
          </a:xfrm>
          <a:prstGeom prst="rect">
            <a:avLst/>
          </a:prstGeom>
          <a:noFill/>
          <a:ln w="1905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115570" y="5271135"/>
            <a:ext cx="1624330" cy="306705"/>
          </a:xfrm>
          <a:prstGeom prst="rect">
            <a:avLst/>
          </a:prstGeom>
          <a:noFill/>
        </p:spPr>
        <p:txBody>
          <a:bodyPr wrap="square" rtlCol="0">
            <a:spAutoFit/>
          </a:bodyPr>
          <a:p>
            <a:r>
              <a:rPr lang="zh-CN" altLang="en-US" sz="1400">
                <a:solidFill>
                  <a:srgbClr val="FF0000"/>
                </a:solidFill>
              </a:rPr>
              <a:t>高速外部时钟</a:t>
            </a:r>
            <a:r>
              <a:rPr lang="en-US" altLang="zh-CN" sz="1400">
                <a:solidFill>
                  <a:srgbClr val="FF0000"/>
                </a:solidFill>
              </a:rPr>
              <a:t>HS</a:t>
            </a:r>
            <a:r>
              <a:rPr lang="en-US" altLang="zh-CN" sz="1400">
                <a:solidFill>
                  <a:srgbClr val="FF0000"/>
                </a:solidFill>
              </a:rPr>
              <a:t>E</a:t>
            </a:r>
            <a:endParaRPr lang="en-US" altLang="zh-CN" sz="1400">
              <a:solidFill>
                <a:srgbClr val="FF0000"/>
              </a:solidFill>
            </a:endParaRPr>
          </a:p>
        </p:txBody>
      </p:sp>
      <p:pic>
        <p:nvPicPr>
          <p:cNvPr id="14" name="图片 13"/>
          <p:cNvPicPr>
            <a:picLocks noChangeAspect="1"/>
          </p:cNvPicPr>
          <p:nvPr/>
        </p:nvPicPr>
        <p:blipFill>
          <a:blip r:embed="rId2"/>
          <a:stretch>
            <a:fillRect/>
          </a:stretch>
        </p:blipFill>
        <p:spPr>
          <a:xfrm>
            <a:off x="4556125" y="-1270"/>
            <a:ext cx="4587875" cy="1524635"/>
          </a:xfrm>
          <a:prstGeom prst="rect">
            <a:avLst/>
          </a:prstGeom>
        </p:spPr>
      </p:pic>
      <p:sp>
        <p:nvSpPr>
          <p:cNvPr id="15" name="文本框 14"/>
          <p:cNvSpPr txBox="1"/>
          <p:nvPr/>
        </p:nvSpPr>
        <p:spPr>
          <a:xfrm>
            <a:off x="5132070" y="1181100"/>
            <a:ext cx="3424555" cy="368300"/>
          </a:xfrm>
          <a:prstGeom prst="rect">
            <a:avLst/>
          </a:prstGeom>
          <a:noFill/>
        </p:spPr>
        <p:txBody>
          <a:bodyPr wrap="square" rtlCol="0">
            <a:spAutoFit/>
          </a:bodyPr>
          <a:p>
            <a:r>
              <a:rPr lang="zh-CN" altLang="en-US"/>
              <a:t>配置了使用</a:t>
            </a:r>
            <a:r>
              <a:rPr lang="en-US" altLang="zh-CN"/>
              <a:t>HSE</a:t>
            </a:r>
            <a:r>
              <a:rPr lang="zh-CN" altLang="en-US"/>
              <a:t>和</a:t>
            </a:r>
            <a:r>
              <a:rPr lang="en-US" altLang="zh-CN"/>
              <a:t>LSI</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16"/>
                                        </p:tgtEl>
                                        <p:attrNameLst>
                                          <p:attrName>style.visibility</p:attrName>
                                        </p:attrNameLst>
                                      </p:cBhvr>
                                      <p:to>
                                        <p:strVal val="visible"/>
                                      </p:to>
                                    </p:set>
                                    <p:animEffect transition="in" filter="wipe(right)">
                                      <p:cBhvr>
                                        <p:cTn id="15" dur="500"/>
                                        <p:tgtEl>
                                          <p:spTgt spid="16"/>
                                        </p:tgtEl>
                                      </p:cBhvr>
                                    </p:animEffect>
                                  </p:childTnLst>
                                </p:cTn>
                              </p:par>
                              <p:par>
                                <p:cTn id="16" presetID="16" presetClass="entr" presetSubtype="37" fill="hold" nodeType="withEffect">
                                  <p:stCondLst>
                                    <p:cond delay="250"/>
                                  </p:stCondLst>
                                  <p:childTnLst>
                                    <p:set>
                                      <p:cBhvr>
                                        <p:cTn id="17" dur="1" fill="hold">
                                          <p:stCondLst>
                                            <p:cond delay="0"/>
                                          </p:stCondLst>
                                        </p:cTn>
                                        <p:tgtEl>
                                          <p:spTgt spid="5"/>
                                        </p:tgtEl>
                                        <p:attrNameLst>
                                          <p:attrName>style.visibility</p:attrName>
                                        </p:attrNameLst>
                                      </p:cBhvr>
                                      <p:to>
                                        <p:strVal val="visible"/>
                                      </p:to>
                                    </p:set>
                                    <p:animEffect transition="in" filter="barn(outVertical)">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1851645"/>
            <a:ext cx="4205521" cy="3154710"/>
          </a:xfrm>
          <a:prstGeom prst="rect">
            <a:avLst/>
          </a:prstGeom>
          <a:noFill/>
        </p:spPr>
        <p:txBody>
          <a:bodyPr wrap="square" rtlCol="0">
            <a:spAutoFit/>
          </a:bodyPr>
          <a:lstStyle/>
          <a:p>
            <a:pPr algn="ctr"/>
            <a:r>
              <a:rPr lang="en-US" altLang="zh-CN"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02</a:t>
            </a:r>
            <a:endParaRPr lang="zh-CN" altLang="en-US"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p:cNvSpPr txBox="1"/>
          <p:nvPr/>
        </p:nvSpPr>
        <p:spPr>
          <a:xfrm>
            <a:off x="3862396" y="3026053"/>
            <a:ext cx="4645651" cy="706755"/>
          </a:xfrm>
          <a:prstGeom prst="rect">
            <a:avLst/>
          </a:prstGeom>
          <a:noFill/>
        </p:spPr>
        <p:txBody>
          <a:bodyPr wrap="square" rtlCol="0">
            <a:spAutoFit/>
          </a:bodyPr>
          <a:lstStyle/>
          <a:p>
            <a:r>
              <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rPr>
              <a:t>中断</a:t>
            </a:r>
            <a:r>
              <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rPr>
              <a:t>简介</a:t>
            </a:r>
            <a:endPar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3862397" y="3796005"/>
            <a:ext cx="4663440" cy="108000"/>
            <a:chOff x="3649980" y="3375660"/>
            <a:chExt cx="4663440" cy="108000"/>
          </a:xfrm>
        </p:grpSpPr>
        <p:cxnSp>
          <p:nvCxnSpPr>
            <p:cNvPr id="10" name="直接连接符 9"/>
            <p:cNvCxnSpPr/>
            <p:nvPr/>
          </p:nvCxnSpPr>
          <p:spPr>
            <a:xfrm>
              <a:off x="3733800" y="3429660"/>
              <a:ext cx="44958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364998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820542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useBgFill="1">
        <p:nvSpPr>
          <p:cNvPr id="16" name="文本框 15"/>
          <p:cNvSpPr txBox="1"/>
          <p:nvPr/>
        </p:nvSpPr>
        <p:spPr>
          <a:xfrm>
            <a:off x="487591" y="3105835"/>
            <a:ext cx="3230339" cy="646331"/>
          </a:xfrm>
          <a:prstGeom prst="rect">
            <a:avLst/>
          </a:prstGeom>
        </p:spPr>
        <p:txBody>
          <a:bodyPr wrap="square" rtlCol="0">
            <a:spAutoFit/>
          </a:bodyPr>
          <a:lstStyle/>
          <a:p>
            <a:pPr algn="ctr"/>
            <a:r>
              <a:rPr lang="en-US" altLang="zh-CN" sz="3600" b="1" dirty="0">
                <a:solidFill>
                  <a:schemeClr val="accent1"/>
                </a:solidFill>
                <a:latin typeface="Times New Roman" panose="02020603050405020304" pitchFamily="18" charset="0"/>
                <a:cs typeface="Times New Roman" panose="02020603050405020304" pitchFamily="18" charset="0"/>
              </a:rPr>
              <a:t>PART TWO</a:t>
            </a:r>
            <a:endParaRPr lang="zh-CN" altLang="en-US" sz="3600"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12" presetClass="entr" presetSubtype="4"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p:tgtEl>
                                          <p:spTgt spid="7"/>
                                        </p:tgtEl>
                                        <p:attrNameLst>
                                          <p:attrName>ppt_y</p:attrName>
                                        </p:attrNameLst>
                                      </p:cBhvr>
                                      <p:tavLst>
                                        <p:tav tm="0">
                                          <p:val>
                                            <p:strVal val="#ppt_y+#ppt_h*1.125000"/>
                                          </p:val>
                                        </p:tav>
                                        <p:tav tm="100000">
                                          <p:val>
                                            <p:strVal val="#ppt_y"/>
                                          </p:val>
                                        </p:tav>
                                      </p:tavLst>
                                    </p:anim>
                                    <p:animEffect transition="in" filter="wipe(up)">
                                      <p:cBhvr>
                                        <p:cTn id="13" dur="500"/>
                                        <p:tgtEl>
                                          <p:spTgt spid="7"/>
                                        </p:tgtEl>
                                      </p:cBhvr>
                                    </p:animEffect>
                                  </p:childTnLst>
                                </p:cTn>
                              </p:par>
                              <p:par>
                                <p:cTn id="14" presetID="22" presetClass="entr" presetSubtype="8"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par>
                                <p:cTn id="17" presetID="16" presetClass="entr" presetSubtype="37" fill="hold" grpId="0" nodeType="withEffect">
                                  <p:stCondLst>
                                    <p:cond delay="400"/>
                                  </p:stCondLst>
                                  <p:childTnLst>
                                    <p:set>
                                      <p:cBhvr>
                                        <p:cTn id="18" dur="1" fill="hold">
                                          <p:stCondLst>
                                            <p:cond delay="0"/>
                                          </p:stCondLst>
                                        </p:cTn>
                                        <p:tgtEl>
                                          <p:spTgt spid="16"/>
                                        </p:tgtEl>
                                        <p:attrNameLst>
                                          <p:attrName>style.visibility</p:attrName>
                                        </p:attrNameLst>
                                      </p:cBhvr>
                                      <p:to>
                                        <p:strVal val="visible"/>
                                      </p:to>
                                    </p:set>
                                    <p:animEffect transition="in" filter="barn(outVertical)">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rPr>
              <a:t>中断</a:t>
            </a:r>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rPr>
              <a:t>简介</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32" name="组合 31"/>
          <p:cNvGrpSpPr/>
          <p:nvPr/>
        </p:nvGrpSpPr>
        <p:grpSpPr>
          <a:xfrm>
            <a:off x="1220659" y="6519446"/>
            <a:ext cx="8024939" cy="338554"/>
            <a:chOff x="1277256" y="6519446"/>
            <a:chExt cx="8024939" cy="338554"/>
          </a:xfrm>
        </p:grpSpPr>
        <p:sp>
          <p:nvSpPr>
            <p:cNvPr id="33" name="矩形 32"/>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08</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3" name="文本框 2"/>
          <p:cNvSpPr txBox="1"/>
          <p:nvPr>
            <p:custDataLst>
              <p:tags r:id="rId1"/>
            </p:custDataLst>
          </p:nvPr>
        </p:nvSpPr>
        <p:spPr>
          <a:xfrm>
            <a:off x="610870" y="617855"/>
            <a:ext cx="7039610" cy="4514850"/>
          </a:xfrm>
          <a:prstGeom prst="rect">
            <a:avLst/>
          </a:prstGeom>
          <a:noFill/>
        </p:spPr>
        <p:txBody>
          <a:bodyPr wrap="square" rtlCol="0">
            <a:noAutofit/>
          </a:bodyPr>
          <a:p>
            <a:pPr indent="0">
              <a:buFont typeface="Arial" panose="020B0604020202020204" pitchFamily="34" charset="0"/>
              <a:buNone/>
            </a:pPr>
            <a:endParaRPr lang="zh-CN" altLang="en-US" sz="2800">
              <a:sym typeface="+mn-ea"/>
            </a:endParaRPr>
          </a:p>
          <a:p>
            <a:pPr marL="457200" indent="-457200">
              <a:buFont typeface="Arial" panose="020B0604020202020204" pitchFamily="34" charset="0"/>
              <a:buChar char="•"/>
            </a:pPr>
            <a:r>
              <a:rPr lang="zh-CN" altLang="en-US" sz="2800">
                <a:sym typeface="+mn-ea"/>
              </a:rPr>
              <a:t>中断：在主程序运行</a:t>
            </a:r>
            <a:r>
              <a:rPr lang="zh-CN" altLang="en-US" sz="2800">
                <a:highlight>
                  <a:srgbClr val="FFFF00"/>
                </a:highlight>
                <a:sym typeface="+mn-ea"/>
              </a:rPr>
              <a:t>过程中</a:t>
            </a:r>
            <a:r>
              <a:rPr lang="zh-CN" altLang="en-US" sz="2800">
                <a:sym typeface="+mn-ea"/>
              </a:rPr>
              <a:t>，出现了特定的</a:t>
            </a:r>
            <a:r>
              <a:rPr lang="zh-CN" altLang="en-US" sz="2800">
                <a:highlight>
                  <a:srgbClr val="FFFF00"/>
                </a:highlight>
                <a:sym typeface="+mn-ea"/>
              </a:rPr>
              <a:t>中断触发条件</a:t>
            </a:r>
            <a:r>
              <a:rPr lang="zh-CN" altLang="en-US" sz="2800">
                <a:sym typeface="+mn-ea"/>
              </a:rPr>
              <a:t>（中断源），使得</a:t>
            </a:r>
            <a:r>
              <a:rPr lang="en-US" altLang="zh-CN" sz="2800">
                <a:sym typeface="+mn-ea"/>
              </a:rPr>
              <a:t>CPU</a:t>
            </a:r>
            <a:r>
              <a:rPr lang="zh-CN" altLang="en-US" sz="2800">
                <a:sym typeface="+mn-ea"/>
              </a:rPr>
              <a:t>暂停当前正在运行的程序，转而去处理中断程序，处理完成后又返回原来被暂停的位置继续运行。</a:t>
            </a:r>
            <a:endParaRPr lang="zh-CN" altLang="en-US" sz="2800">
              <a:sym typeface="+mn-ea"/>
            </a:endParaRPr>
          </a:p>
          <a:p>
            <a:pPr marL="457200" indent="-457200">
              <a:buFont typeface="Arial" panose="020B0604020202020204" pitchFamily="34" charset="0"/>
              <a:buChar char="•"/>
            </a:pPr>
            <a:endParaRPr lang="zh-CN" altLang="en-US" sz="2800">
              <a:sym typeface="+mn-ea"/>
            </a:endParaRPr>
          </a:p>
          <a:p>
            <a:pPr marL="457200" indent="-457200">
              <a:buFont typeface="Arial" panose="020B0604020202020204" pitchFamily="34" charset="0"/>
              <a:buChar char="•"/>
            </a:pPr>
            <a:r>
              <a:rPr lang="en-US" altLang="zh-CN" sz="2800"/>
              <a:t>GPIO</a:t>
            </a:r>
            <a:r>
              <a:rPr lang="zh-CN" altLang="en-US" sz="2800"/>
              <a:t>电平变化</a:t>
            </a:r>
            <a:r>
              <a:rPr lang="en-US" altLang="zh-CN" sz="2800"/>
              <a:t>    </a:t>
            </a:r>
            <a:r>
              <a:rPr lang="zh-CN" altLang="en-US" sz="2800"/>
              <a:t>定时器结束</a:t>
            </a:r>
            <a:endParaRPr lang="zh-CN" altLang="en-US" sz="2800"/>
          </a:p>
          <a:p>
            <a:pPr indent="0">
              <a:buFont typeface="Arial" panose="020B0604020202020204" pitchFamily="34" charset="0"/>
              <a:buNone/>
            </a:pPr>
            <a:r>
              <a:rPr lang="en-US" altLang="zh-CN" sz="2800"/>
              <a:t>      </a:t>
            </a:r>
            <a:r>
              <a:rPr lang="zh-CN" altLang="en-US" sz="2800"/>
              <a:t>串口接收数据</a:t>
            </a:r>
            <a:r>
              <a:rPr lang="en-US" altLang="zh-CN" sz="2800"/>
              <a:t>    </a:t>
            </a:r>
            <a:r>
              <a:rPr lang="zh-CN" altLang="en-US" sz="2800"/>
              <a:t>指令出错</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zh-CN" altLang="en-US" sz="2800" dirty="0" smtClean="0">
                <a:solidFill>
                  <a:schemeClr val="tx1"/>
                </a:solidFill>
                <a:sym typeface="+mn-ea"/>
              </a:rPr>
              <a:t>中断可以理解为单片机正常运行主程序时，由某件事发生了，单片机暂停目前正在进行的事情，去处理那件事。</a:t>
            </a:r>
            <a:endParaRPr lang="en-US" altLang="zh-CN" sz="2800" dirty="0" smtClean="0">
              <a:solidFill>
                <a:schemeClr val="bg1"/>
              </a:solidFill>
            </a:endParaRPr>
          </a:p>
          <a:p>
            <a:pPr marL="457200" indent="-457200">
              <a:buFont typeface="Arial" panose="020B0604020202020204" pitchFamily="34" charset="0"/>
              <a:buChar char="•"/>
            </a:pPr>
            <a:endParaRPr lang="en-US" altLang="zh-CN" sz="2400"/>
          </a:p>
          <a:p>
            <a:pPr marL="457200" indent="-457200">
              <a:buFont typeface="Arial" panose="020B0604020202020204" pitchFamily="34" charset="0"/>
              <a:buChar char="•"/>
            </a:pPr>
            <a:endParaRPr lang="en-US" altLang="zh-CN" sz="2400"/>
          </a:p>
          <a:p>
            <a:pPr marL="457200" indent="-457200">
              <a:buFont typeface="Arial" panose="020B0604020202020204" pitchFamily="34" charset="0"/>
              <a:buChar char="•"/>
            </a:pPr>
            <a:endParaRPr lang="zh-CN" altLang="en-US" sz="2400" dirty="0">
              <a:latin typeface="Microsoft YaHei UI" panose="020B0503020204020204" pitchFamily="34" charset="-122"/>
              <a:ea typeface="Microsoft YaHei UI"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32"/>
                                        </p:tgtEl>
                                        <p:attrNameLst>
                                          <p:attrName>style.visibility</p:attrName>
                                        </p:attrNameLst>
                                      </p:cBhvr>
                                      <p:to>
                                        <p:strVal val="visible"/>
                                      </p:to>
                                    </p:set>
                                    <p:animEffect transition="in" filter="wipe(right)">
                                      <p:cBhvr>
                                        <p:cTn id="1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rPr>
              <a:t>中断</a:t>
            </a:r>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rPr>
              <a:t>简介</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32" name="组合 31"/>
          <p:cNvGrpSpPr/>
          <p:nvPr/>
        </p:nvGrpSpPr>
        <p:grpSpPr>
          <a:xfrm>
            <a:off x="1220659" y="6519446"/>
            <a:ext cx="8024939" cy="338554"/>
            <a:chOff x="1277256" y="6519446"/>
            <a:chExt cx="8024939" cy="338554"/>
          </a:xfrm>
        </p:grpSpPr>
        <p:sp>
          <p:nvSpPr>
            <p:cNvPr id="33" name="矩形 32"/>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08</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3" name="文本框 2"/>
          <p:cNvSpPr txBox="1"/>
          <p:nvPr>
            <p:custDataLst>
              <p:tags r:id="rId1"/>
            </p:custDataLst>
          </p:nvPr>
        </p:nvSpPr>
        <p:spPr>
          <a:xfrm>
            <a:off x="610870" y="988060"/>
            <a:ext cx="7039610" cy="4514850"/>
          </a:xfrm>
          <a:prstGeom prst="rect">
            <a:avLst/>
          </a:prstGeom>
          <a:noFill/>
        </p:spPr>
        <p:txBody>
          <a:bodyPr wrap="square" rtlCol="0">
            <a:noAutofit/>
          </a:bodyPr>
          <a:p>
            <a:pPr marL="457200" indent="-457200">
              <a:buFont typeface="Arial" panose="020B0604020202020204" pitchFamily="34" charset="0"/>
              <a:buChar char="•"/>
            </a:pPr>
            <a:endParaRPr lang="zh-CN" altLang="en-US" sz="2800">
              <a:sym typeface="+mn-ea"/>
            </a:endParaRPr>
          </a:p>
          <a:p>
            <a:pPr marL="457200" indent="-457200">
              <a:buFont typeface="Arial" panose="020B0604020202020204" pitchFamily="34" charset="0"/>
              <a:buChar char="•"/>
            </a:pPr>
            <a:r>
              <a:rPr lang="zh-CN" altLang="en-US" sz="2800">
                <a:sym typeface="+mn-ea"/>
              </a:rPr>
              <a:t>中断优先级：当有</a:t>
            </a:r>
            <a:r>
              <a:rPr lang="zh-CN" altLang="en-US" sz="2800">
                <a:highlight>
                  <a:srgbClr val="FFFF00"/>
                </a:highlight>
                <a:sym typeface="+mn-ea"/>
              </a:rPr>
              <a:t>多个中断源同时申请中断时</a:t>
            </a:r>
            <a:r>
              <a:rPr lang="zh-CN" altLang="en-US" sz="2800">
                <a:sym typeface="+mn-ea"/>
              </a:rPr>
              <a:t>，</a:t>
            </a:r>
            <a:r>
              <a:rPr lang="en-US" altLang="zh-CN" sz="2800">
                <a:sym typeface="+mn-ea"/>
              </a:rPr>
              <a:t>CPU</a:t>
            </a:r>
            <a:r>
              <a:rPr lang="zh-CN" altLang="en-US" sz="2800">
                <a:sym typeface="+mn-ea"/>
              </a:rPr>
              <a:t>会根据中断源的轻重缓急进行裁决，优先响应更加紧急的中断源</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zh-CN" altLang="en-US" sz="2800" dirty="0" smtClean="0">
                <a:solidFill>
                  <a:schemeClr val="tx1"/>
                </a:solidFill>
                <a:sym typeface="+mn-ea"/>
              </a:rPr>
              <a:t>当有多个中断发生时，单片机会根据它们的优先级来处理相应的中断，</a:t>
            </a:r>
            <a:r>
              <a:rPr lang="zh-CN" altLang="en-US" sz="2800" dirty="0" smtClean="0">
                <a:solidFill>
                  <a:schemeClr val="tx1"/>
                </a:solidFill>
                <a:highlight>
                  <a:srgbClr val="FFFF00"/>
                </a:highlight>
                <a:sym typeface="+mn-ea"/>
              </a:rPr>
              <a:t>优先级的数字越小，优先级越高，越重要，越先处理</a:t>
            </a:r>
            <a:r>
              <a:rPr lang="zh-CN" altLang="en-US" sz="2800" dirty="0" smtClean="0">
                <a:solidFill>
                  <a:schemeClr val="tx1"/>
                </a:solidFill>
                <a:sym typeface="+mn-ea"/>
              </a:rPr>
              <a:t>，是反着来的。</a:t>
            </a:r>
            <a:endParaRPr lang="zh-TW" altLang="en-US" sz="2800" dirty="0">
              <a:solidFill>
                <a:schemeClr val="tx1"/>
              </a:solidFill>
            </a:endParaRPr>
          </a:p>
          <a:p>
            <a:pPr marL="457200" indent="-457200">
              <a:buFont typeface="Arial" panose="020B0604020202020204" pitchFamily="34" charset="0"/>
              <a:buChar char="•"/>
            </a:pPr>
            <a:endParaRPr lang="en-US" altLang="zh-CN" sz="2800" dirty="0" smtClean="0">
              <a:solidFill>
                <a:schemeClr val="bg1"/>
              </a:solidFill>
            </a:endParaRPr>
          </a:p>
          <a:p>
            <a:pPr marL="457200" indent="-457200">
              <a:buFont typeface="Arial" panose="020B0604020202020204" pitchFamily="34" charset="0"/>
              <a:buChar char="•"/>
            </a:pPr>
            <a:endParaRPr lang="en-US" altLang="zh-CN" sz="2400"/>
          </a:p>
          <a:p>
            <a:pPr marL="457200" indent="-457200">
              <a:buFont typeface="Arial" panose="020B0604020202020204" pitchFamily="34" charset="0"/>
              <a:buChar char="•"/>
            </a:pPr>
            <a:endParaRPr lang="en-US" altLang="zh-CN" sz="2400"/>
          </a:p>
          <a:p>
            <a:pPr marL="457200" indent="-457200">
              <a:buFont typeface="Arial" panose="020B0604020202020204" pitchFamily="34" charset="0"/>
              <a:buChar char="•"/>
            </a:pPr>
            <a:endParaRPr lang="zh-CN" altLang="en-US" sz="2400" dirty="0">
              <a:latin typeface="Microsoft YaHei UI" panose="020B0503020204020204" pitchFamily="34" charset="-122"/>
              <a:ea typeface="Microsoft YaHei UI"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32"/>
                                        </p:tgtEl>
                                        <p:attrNameLst>
                                          <p:attrName>style.visibility</p:attrName>
                                        </p:attrNameLst>
                                      </p:cBhvr>
                                      <p:to>
                                        <p:strVal val="visible"/>
                                      </p:to>
                                    </p:set>
                                    <p:animEffect transition="in" filter="wipe(right)">
                                      <p:cBhvr>
                                        <p:cTn id="1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rPr>
              <a:t>中断</a:t>
            </a:r>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rPr>
              <a:t>简介</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32" name="组合 31"/>
          <p:cNvGrpSpPr/>
          <p:nvPr/>
        </p:nvGrpSpPr>
        <p:grpSpPr>
          <a:xfrm>
            <a:off x="1220659" y="6519446"/>
            <a:ext cx="8024939" cy="338554"/>
            <a:chOff x="1277256" y="6519446"/>
            <a:chExt cx="8024939" cy="338554"/>
          </a:xfrm>
        </p:grpSpPr>
        <p:sp>
          <p:nvSpPr>
            <p:cNvPr id="33" name="矩形 32"/>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08</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3" name="文本框 2"/>
          <p:cNvSpPr txBox="1"/>
          <p:nvPr>
            <p:custDataLst>
              <p:tags r:id="rId1"/>
            </p:custDataLst>
          </p:nvPr>
        </p:nvSpPr>
        <p:spPr>
          <a:xfrm>
            <a:off x="610870" y="988060"/>
            <a:ext cx="7039610" cy="4514850"/>
          </a:xfrm>
          <a:prstGeom prst="rect">
            <a:avLst/>
          </a:prstGeom>
          <a:noFill/>
        </p:spPr>
        <p:txBody>
          <a:bodyPr wrap="square" rtlCol="0">
            <a:noAutofit/>
          </a:bodyPr>
          <a:p>
            <a:pPr marL="457200" indent="-457200">
              <a:buFont typeface="Arial" panose="020B0604020202020204" pitchFamily="34" charset="0"/>
              <a:buChar char="•"/>
            </a:pPr>
            <a:endParaRPr lang="zh-CN" altLang="en-US" sz="2800">
              <a:sym typeface="+mn-ea"/>
            </a:endParaRPr>
          </a:p>
          <a:p>
            <a:pPr marL="342900" indent="-342900">
              <a:lnSpc>
                <a:spcPct val="130000"/>
              </a:lnSpc>
              <a:buFont typeface="Arial" panose="020B0604020202020204" pitchFamily="34" charset="0"/>
              <a:buChar char="•"/>
            </a:pPr>
            <a:r>
              <a:rPr lang="zh-CN" altLang="en-US" sz="2800" dirty="0">
                <a:solidFill>
                  <a:schemeClr val="tx1"/>
                </a:solidFill>
                <a:latin typeface="Arial Unicode MS" panose="020B0604020202020204" charset="-122"/>
                <a:ea typeface="Arial Unicode MS" panose="020B0604020202020204" charset="-122"/>
                <a:sym typeface="+mn-ea"/>
              </a:rPr>
              <a:t>每个中断事件都有两类优先级</a:t>
            </a:r>
            <a:endParaRPr lang="en-US" altLang="zh-CN" sz="2800" dirty="0">
              <a:solidFill>
                <a:schemeClr val="tx1"/>
              </a:solidFill>
              <a:latin typeface="Arial Unicode MS" panose="020B0604020202020204" charset="-122"/>
              <a:ea typeface="Arial Unicode MS" panose="020B0604020202020204" charset="-122"/>
            </a:endParaRPr>
          </a:p>
          <a:p>
            <a:pPr marL="800100" lvl="1" indent="-342900">
              <a:lnSpc>
                <a:spcPct val="130000"/>
              </a:lnSpc>
              <a:buFont typeface="Arial" panose="020B0604020202020204" pitchFamily="34" charset="0"/>
              <a:buChar char="•"/>
            </a:pPr>
            <a:r>
              <a:rPr lang="zh-CN" altLang="en-US" sz="2800" dirty="0">
                <a:solidFill>
                  <a:schemeClr val="tx1"/>
                </a:solidFill>
                <a:highlight>
                  <a:srgbClr val="FFFF00"/>
                </a:highlight>
                <a:latin typeface="Arial Unicode MS" panose="020B0604020202020204" charset="-122"/>
                <a:ea typeface="Arial Unicode MS" panose="020B0604020202020204" charset="-122"/>
                <a:sym typeface="+mn-ea"/>
              </a:rPr>
              <a:t>抢占优先级</a:t>
            </a:r>
            <a:r>
              <a:rPr lang="zh-CN" altLang="en-US" sz="2800" dirty="0">
                <a:solidFill>
                  <a:schemeClr val="tx1"/>
                </a:solidFill>
                <a:latin typeface="Arial Unicode MS" panose="020B0604020202020204" charset="-122"/>
                <a:ea typeface="Arial Unicode MS" panose="020B0604020202020204" charset="-122"/>
                <a:sym typeface="+mn-ea"/>
              </a:rPr>
              <a:t>，高的可以直接中断掉低优先级的中断服务函数直接处理</a:t>
            </a:r>
            <a:endParaRPr lang="en-US" altLang="zh-CN" sz="2800" dirty="0">
              <a:solidFill>
                <a:schemeClr val="tx1"/>
              </a:solidFill>
              <a:latin typeface="Arial Unicode MS" panose="020B0604020202020204" charset="-122"/>
              <a:ea typeface="Arial Unicode MS" panose="020B0604020202020204" charset="-122"/>
            </a:endParaRPr>
          </a:p>
          <a:p>
            <a:pPr marL="800100" lvl="1" indent="-342900">
              <a:lnSpc>
                <a:spcPct val="130000"/>
              </a:lnSpc>
              <a:buFont typeface="Arial" panose="020B0604020202020204" pitchFamily="34" charset="0"/>
              <a:buChar char="•"/>
            </a:pPr>
            <a:r>
              <a:rPr lang="zh-CN" altLang="en-US" sz="2800" dirty="0">
                <a:solidFill>
                  <a:schemeClr val="tx1"/>
                </a:solidFill>
                <a:highlight>
                  <a:srgbClr val="FFFF00"/>
                </a:highlight>
                <a:latin typeface="Arial Unicode MS" panose="020B0604020202020204" charset="-122"/>
                <a:ea typeface="Arial Unicode MS" panose="020B0604020202020204" charset="-122"/>
                <a:sym typeface="+mn-ea"/>
              </a:rPr>
              <a:t>响应优先级</a:t>
            </a:r>
            <a:r>
              <a:rPr lang="zh-CN" altLang="en-US" sz="2800" dirty="0">
                <a:solidFill>
                  <a:schemeClr val="tx1"/>
                </a:solidFill>
                <a:latin typeface="Arial Unicode MS" panose="020B0604020202020204" charset="-122"/>
                <a:ea typeface="Arial Unicode MS" panose="020B0604020202020204" charset="-122"/>
                <a:sym typeface="+mn-ea"/>
              </a:rPr>
              <a:t>，多个中断发生时</a:t>
            </a:r>
            <a:r>
              <a:rPr lang="zh-CN" altLang="en-US" sz="2800" dirty="0" smtClean="0">
                <a:solidFill>
                  <a:schemeClr val="tx1"/>
                </a:solidFill>
                <a:latin typeface="Arial Unicode MS" panose="020B0604020202020204" charset="-122"/>
                <a:ea typeface="Arial Unicode MS" panose="020B0604020202020204" charset="-122"/>
                <a:sym typeface="+mn-ea"/>
              </a:rPr>
              <a:t>，它们抢占优先级相同，如果</a:t>
            </a:r>
            <a:r>
              <a:rPr lang="zh-CN" altLang="en-US" sz="2800" dirty="0">
                <a:solidFill>
                  <a:schemeClr val="tx1"/>
                </a:solidFill>
                <a:latin typeface="Arial Unicode MS" panose="020B0604020202020204" charset="-122"/>
                <a:ea typeface="Arial Unicode MS" panose="020B0604020202020204" charset="-122"/>
                <a:sym typeface="+mn-ea"/>
              </a:rPr>
              <a:t>某个</a:t>
            </a:r>
            <a:r>
              <a:rPr lang="zh-CN" altLang="en-US" sz="2800" dirty="0" smtClean="0">
                <a:solidFill>
                  <a:schemeClr val="tx1"/>
                </a:solidFill>
                <a:latin typeface="Arial Unicode MS" panose="020B0604020202020204" charset="-122"/>
                <a:ea typeface="Arial Unicode MS" panose="020B0604020202020204" charset="-122"/>
                <a:sym typeface="+mn-ea"/>
              </a:rPr>
              <a:t>事件响应优先级</a:t>
            </a:r>
            <a:r>
              <a:rPr lang="zh-CN" altLang="en-US" sz="2800" dirty="0">
                <a:solidFill>
                  <a:schemeClr val="tx1"/>
                </a:solidFill>
                <a:latin typeface="Arial Unicode MS" panose="020B0604020202020204" charset="-122"/>
                <a:ea typeface="Arial Unicode MS" panose="020B0604020202020204" charset="-122"/>
                <a:sym typeface="+mn-ea"/>
              </a:rPr>
              <a:t>更高</a:t>
            </a:r>
            <a:r>
              <a:rPr lang="zh-CN" altLang="en-US" sz="2800" dirty="0" smtClean="0">
                <a:solidFill>
                  <a:schemeClr val="tx1"/>
                </a:solidFill>
                <a:latin typeface="Arial Unicode MS" panose="020B0604020202020204" charset="-122"/>
                <a:ea typeface="Arial Unicode MS" panose="020B0604020202020204" charset="-122"/>
                <a:sym typeface="+mn-ea"/>
              </a:rPr>
              <a:t>时，它会在目前处理完的事情结束后处理</a:t>
            </a:r>
            <a:endParaRPr lang="en-US" altLang="zh-CN" sz="2800" dirty="0">
              <a:solidFill>
                <a:schemeClr val="tx1"/>
              </a:solidFill>
              <a:latin typeface="Arial Unicode MS" panose="020B0604020202020204" charset="-122"/>
              <a:ea typeface="Arial Unicode MS" panose="020B0604020202020204" charset="-122"/>
            </a:endParaRPr>
          </a:p>
          <a:p>
            <a:pPr marL="457200" indent="-457200">
              <a:buFont typeface="Arial" panose="020B0604020202020204" pitchFamily="34" charset="0"/>
              <a:buChar char="•"/>
            </a:pPr>
            <a:endParaRPr lang="en-US" altLang="zh-CN" sz="2800" dirty="0" smtClean="0">
              <a:solidFill>
                <a:schemeClr val="bg1"/>
              </a:solidFill>
            </a:endParaRPr>
          </a:p>
          <a:p>
            <a:pPr marL="457200" indent="-457200">
              <a:buFont typeface="Arial" panose="020B0604020202020204" pitchFamily="34" charset="0"/>
              <a:buChar char="•"/>
            </a:pPr>
            <a:endParaRPr lang="en-US" altLang="zh-CN" sz="2400"/>
          </a:p>
          <a:p>
            <a:pPr marL="457200" indent="-457200">
              <a:buFont typeface="Arial" panose="020B0604020202020204" pitchFamily="34" charset="0"/>
              <a:buChar char="•"/>
            </a:pPr>
            <a:endParaRPr lang="en-US" altLang="zh-CN" sz="2400"/>
          </a:p>
          <a:p>
            <a:pPr marL="457200" indent="-457200">
              <a:buFont typeface="Arial" panose="020B0604020202020204" pitchFamily="34" charset="0"/>
              <a:buChar char="•"/>
            </a:pPr>
            <a:endParaRPr lang="zh-CN" altLang="en-US" sz="2400" dirty="0">
              <a:latin typeface="Microsoft YaHei UI" panose="020B0503020204020204" pitchFamily="34" charset="-122"/>
              <a:ea typeface="Microsoft YaHei UI"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32"/>
                                        </p:tgtEl>
                                        <p:attrNameLst>
                                          <p:attrName>style.visibility</p:attrName>
                                        </p:attrNameLst>
                                      </p:cBhvr>
                                      <p:to>
                                        <p:strVal val="visible"/>
                                      </p:to>
                                    </p:set>
                                    <p:animEffect transition="in" filter="wipe(right)">
                                      <p:cBhvr>
                                        <p:cTn id="1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rPr>
              <a:t>中断</a:t>
            </a:r>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rPr>
              <a:t>简介</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32" name="组合 31"/>
          <p:cNvGrpSpPr/>
          <p:nvPr/>
        </p:nvGrpSpPr>
        <p:grpSpPr>
          <a:xfrm>
            <a:off x="1220659" y="6519446"/>
            <a:ext cx="8024939" cy="338554"/>
            <a:chOff x="1277256" y="6519446"/>
            <a:chExt cx="8024939" cy="338554"/>
          </a:xfrm>
        </p:grpSpPr>
        <p:sp>
          <p:nvSpPr>
            <p:cNvPr id="33" name="矩形 32"/>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08</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3" name="文本框 2"/>
          <p:cNvSpPr txBox="1"/>
          <p:nvPr>
            <p:custDataLst>
              <p:tags r:id="rId1"/>
            </p:custDataLst>
          </p:nvPr>
        </p:nvSpPr>
        <p:spPr>
          <a:xfrm>
            <a:off x="724535" y="798830"/>
            <a:ext cx="7039610" cy="4514850"/>
          </a:xfrm>
          <a:prstGeom prst="rect">
            <a:avLst/>
          </a:prstGeom>
          <a:noFill/>
        </p:spPr>
        <p:txBody>
          <a:bodyPr wrap="square" rtlCol="0">
            <a:noAutofit/>
          </a:bodyPr>
          <a:p>
            <a:pPr marL="457200" indent="-457200">
              <a:buFont typeface="Arial" panose="020B0604020202020204" pitchFamily="34" charset="0"/>
              <a:buChar char="•"/>
            </a:pPr>
            <a:endParaRPr lang="zh-CN" altLang="en-US" sz="2800">
              <a:sym typeface="+mn-ea"/>
            </a:endParaRPr>
          </a:p>
          <a:p>
            <a:pPr marL="457200" indent="-457200">
              <a:buFont typeface="Arial" panose="020B0604020202020204" pitchFamily="34" charset="0"/>
              <a:buChar char="•"/>
            </a:pPr>
            <a:r>
              <a:rPr lang="en-US" altLang="zh-CN" sz="2800" dirty="0" smtClean="0">
                <a:solidFill>
                  <a:schemeClr val="tx1"/>
                </a:solidFill>
              </a:rPr>
              <a:t>NVIC </a:t>
            </a:r>
            <a:r>
              <a:rPr lang="zh-CN" altLang="en-US" sz="2800" dirty="0" smtClean="0">
                <a:solidFill>
                  <a:schemeClr val="tx1"/>
                </a:solidFill>
              </a:rPr>
              <a:t>：嵌套中断向量控制器</a:t>
            </a:r>
            <a:r>
              <a:rPr lang="en-US" altLang="zh-CN" sz="2800" dirty="0" smtClean="0">
                <a:solidFill>
                  <a:schemeClr val="tx1"/>
                </a:solidFill>
              </a:rPr>
              <a:t> </a:t>
            </a:r>
            <a:endParaRPr lang="en-US" altLang="zh-CN" sz="2800" dirty="0" smtClean="0">
              <a:solidFill>
                <a:schemeClr val="tx1"/>
              </a:solidFill>
            </a:endParaRPr>
          </a:p>
          <a:p>
            <a:pPr indent="0">
              <a:buFont typeface="Arial" panose="020B0604020202020204" pitchFamily="34" charset="0"/>
              <a:buNone/>
            </a:pPr>
            <a:r>
              <a:rPr lang="zh-CN" altLang="en-US" sz="2800" dirty="0" smtClean="0">
                <a:solidFill>
                  <a:schemeClr val="tx1"/>
                </a:solidFill>
              </a:rPr>
              <a:t>作用：</a:t>
            </a:r>
            <a:endParaRPr lang="en-US" altLang="zh-CN" sz="2800" dirty="0" smtClean="0">
              <a:solidFill>
                <a:schemeClr val="tx1"/>
              </a:solidFill>
            </a:endParaRPr>
          </a:p>
          <a:p>
            <a:pPr marL="457200" indent="-457200">
              <a:buFont typeface="Arial" panose="020B0604020202020204" pitchFamily="34" charset="0"/>
              <a:buChar char="•"/>
            </a:pPr>
            <a:r>
              <a:rPr lang="zh-CN" altLang="en-US" sz="2800" dirty="0" smtClean="0">
                <a:solidFill>
                  <a:schemeClr val="tx1"/>
                </a:solidFill>
              </a:rPr>
              <a:t>统一协调控制全部的异常和中断</a:t>
            </a:r>
            <a:endParaRPr lang="zh-CN" altLang="en-US" sz="2800" dirty="0" smtClean="0">
              <a:solidFill>
                <a:schemeClr val="tx1"/>
              </a:solidFill>
            </a:endParaRPr>
          </a:p>
          <a:p>
            <a:pPr marL="457200" indent="-457200">
              <a:buFont typeface="Arial" panose="020B0604020202020204" pitchFamily="34" charset="0"/>
              <a:buChar char="•"/>
            </a:pPr>
            <a:r>
              <a:rPr lang="zh-CN" altLang="en-US" sz="2800" dirty="0" smtClean="0">
                <a:solidFill>
                  <a:schemeClr val="tx1"/>
                </a:solidFill>
              </a:rPr>
              <a:t>控制中断通道的启用和禁止</a:t>
            </a:r>
            <a:endParaRPr lang="en-US" altLang="zh-CN" sz="2800" dirty="0" smtClean="0">
              <a:solidFill>
                <a:schemeClr val="tx1"/>
              </a:solidFill>
            </a:endParaRPr>
          </a:p>
          <a:p>
            <a:pPr marL="457200" indent="-457200">
              <a:buFont typeface="Arial" panose="020B0604020202020204" pitchFamily="34" charset="0"/>
              <a:buChar char="•"/>
            </a:pPr>
            <a:r>
              <a:rPr lang="zh-CN" altLang="en-US" sz="2800" dirty="0" smtClean="0">
                <a:solidFill>
                  <a:schemeClr val="tx1"/>
                </a:solidFill>
              </a:rPr>
              <a:t>中断的优先级通过</a:t>
            </a:r>
            <a:r>
              <a:rPr lang="en-US" altLang="zh-CN" sz="2800" dirty="0" smtClean="0">
                <a:solidFill>
                  <a:schemeClr val="tx1"/>
                </a:solidFill>
              </a:rPr>
              <a:t>NVIC</a:t>
            </a:r>
            <a:r>
              <a:rPr lang="zh-CN" altLang="en-US" sz="2800" dirty="0" smtClean="0">
                <a:solidFill>
                  <a:schemeClr val="tx1"/>
                </a:solidFill>
              </a:rPr>
              <a:t>的中断优先级寄存器设置</a:t>
            </a:r>
            <a:endParaRPr lang="en-US" altLang="zh-CN" sz="2800" dirty="0" smtClean="0">
              <a:solidFill>
                <a:schemeClr val="tx1"/>
              </a:solidFill>
            </a:endParaRPr>
          </a:p>
          <a:p>
            <a:pPr marL="457200" indent="-457200">
              <a:buFont typeface="Arial" panose="020B0604020202020204" pitchFamily="34" charset="0"/>
              <a:buChar char="•"/>
            </a:pPr>
            <a:endParaRPr lang="en-US" altLang="zh-CN" sz="2800" dirty="0" smtClean="0">
              <a:solidFill>
                <a:schemeClr val="tx1"/>
              </a:solidFill>
            </a:endParaRPr>
          </a:p>
          <a:p>
            <a:pPr marL="457200" indent="-457200">
              <a:buFont typeface="Arial" panose="020B0604020202020204" pitchFamily="34" charset="0"/>
              <a:buChar char="•"/>
            </a:pPr>
            <a:endParaRPr lang="en-US" altLang="zh-CN" sz="2400">
              <a:solidFill>
                <a:schemeClr val="tx1"/>
              </a:solidFill>
            </a:endParaRPr>
          </a:p>
          <a:p>
            <a:pPr marL="457200" indent="-457200">
              <a:buFont typeface="Arial" panose="020B0604020202020204" pitchFamily="34" charset="0"/>
              <a:buChar char="•"/>
            </a:pPr>
            <a:endParaRPr lang="en-US" altLang="zh-CN" sz="2400">
              <a:solidFill>
                <a:schemeClr val="tx1"/>
              </a:solidFill>
            </a:endParaRPr>
          </a:p>
          <a:p>
            <a:pPr marL="457200" indent="-457200">
              <a:buFont typeface="Arial" panose="020B0604020202020204" pitchFamily="34" charset="0"/>
              <a:buChar char="•"/>
            </a:pPr>
            <a:endParaRPr lang="en-US" altLang="zh-CN" sz="2400" dirty="0">
              <a:solidFill>
                <a:schemeClr val="tx1"/>
              </a:solidFill>
              <a:latin typeface="Microsoft YaHei UI" panose="020B0503020204020204" pitchFamily="34" charset="-122"/>
              <a:ea typeface="Microsoft YaHei UI" panose="020B0503020204020204" pitchFamily="34" charset="-122"/>
              <a:sym typeface="+mn-ea"/>
            </a:endParaRPr>
          </a:p>
        </p:txBody>
      </p:sp>
      <p:pic>
        <p:nvPicPr>
          <p:cNvPr id="4" name="图片 3" descr="7CPH988JVLO35USVSNW7I{Q"/>
          <p:cNvPicPr>
            <a:picLocks noChangeAspect="1"/>
          </p:cNvPicPr>
          <p:nvPr>
            <p:custDataLst>
              <p:tags r:id="rId2"/>
            </p:custDataLst>
          </p:nvPr>
        </p:nvPicPr>
        <p:blipFill>
          <a:blip r:embed="rId3"/>
          <a:stretch>
            <a:fillRect/>
          </a:stretch>
        </p:blipFill>
        <p:spPr>
          <a:xfrm>
            <a:off x="308610" y="3874770"/>
            <a:ext cx="8495030" cy="29819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32"/>
                                        </p:tgtEl>
                                        <p:attrNameLst>
                                          <p:attrName>style.visibility</p:attrName>
                                        </p:attrNameLst>
                                      </p:cBhvr>
                                      <p:to>
                                        <p:strVal val="visible"/>
                                      </p:to>
                                    </p:set>
                                    <p:animEffect transition="in" filter="wipe(right)">
                                      <p:cBhvr>
                                        <p:cTn id="1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da-DK" sz="2400" b="1" dirty="0">
                <a:latin typeface="微软雅黑" panose="020B0503020204020204" pitchFamily="34" charset="-122"/>
                <a:ea typeface="微软雅黑" panose="020B0503020204020204" pitchFamily="34" charset="-122"/>
                <a:cs typeface="Times New Roman" panose="02020603050405020304" pitchFamily="18" charset="0"/>
                <a:sym typeface="+mn-ea"/>
              </a:rPr>
              <a:t>时钟树</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04</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3" name="图片 2"/>
          <p:cNvPicPr>
            <a:picLocks noChangeAspect="1"/>
          </p:cNvPicPr>
          <p:nvPr/>
        </p:nvPicPr>
        <p:blipFill>
          <a:blip r:embed="rId1"/>
          <a:stretch>
            <a:fillRect/>
          </a:stretch>
        </p:blipFill>
        <p:spPr>
          <a:xfrm>
            <a:off x="49530" y="635"/>
            <a:ext cx="9092565" cy="6856730"/>
          </a:xfrm>
          <a:prstGeom prst="rect">
            <a:avLst/>
          </a:prstGeom>
        </p:spPr>
      </p:pic>
      <p:sp>
        <p:nvSpPr>
          <p:cNvPr id="4" name="矩形 3"/>
          <p:cNvSpPr/>
          <p:nvPr/>
        </p:nvSpPr>
        <p:spPr>
          <a:xfrm>
            <a:off x="64770" y="802640"/>
            <a:ext cx="3526155" cy="627380"/>
          </a:xfrm>
          <a:prstGeom prst="rect">
            <a:avLst/>
          </a:prstGeom>
          <a:noFill/>
          <a:ln w="1905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文本框 4"/>
          <p:cNvSpPr txBox="1"/>
          <p:nvPr/>
        </p:nvSpPr>
        <p:spPr>
          <a:xfrm>
            <a:off x="100330" y="1116330"/>
            <a:ext cx="1716405" cy="368300"/>
          </a:xfrm>
          <a:prstGeom prst="rect">
            <a:avLst/>
          </a:prstGeom>
          <a:noFill/>
        </p:spPr>
        <p:txBody>
          <a:bodyPr wrap="square" rtlCol="0">
            <a:spAutoFit/>
          </a:bodyPr>
          <a:p>
            <a:r>
              <a:rPr lang="zh-CN" altLang="en-US">
                <a:solidFill>
                  <a:srgbClr val="FF0000"/>
                </a:solidFill>
              </a:rPr>
              <a:t>优先级分组</a:t>
            </a:r>
            <a:endParaRPr lang="zh-CN" altLang="en-US">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16"/>
                                        </p:tgtEl>
                                        <p:attrNameLst>
                                          <p:attrName>style.visibility</p:attrName>
                                        </p:attrNameLst>
                                      </p:cBhvr>
                                      <p:to>
                                        <p:strVal val="visible"/>
                                      </p:to>
                                    </p:set>
                                    <p:animEffect transition="in" filter="wipe(right)">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rPr>
              <a:t>中断</a:t>
            </a:r>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rPr>
              <a:t>简介</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32" name="组合 31"/>
          <p:cNvGrpSpPr/>
          <p:nvPr/>
        </p:nvGrpSpPr>
        <p:grpSpPr>
          <a:xfrm>
            <a:off x="1220659" y="6519446"/>
            <a:ext cx="8024939" cy="338554"/>
            <a:chOff x="1277256" y="6519446"/>
            <a:chExt cx="8024939" cy="338554"/>
          </a:xfrm>
        </p:grpSpPr>
        <p:sp>
          <p:nvSpPr>
            <p:cNvPr id="33" name="矩形 32"/>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08</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3" name="文本框 2"/>
          <p:cNvSpPr txBox="1"/>
          <p:nvPr>
            <p:custDataLst>
              <p:tags r:id="rId1"/>
            </p:custDataLst>
          </p:nvPr>
        </p:nvSpPr>
        <p:spPr>
          <a:xfrm>
            <a:off x="724535" y="798830"/>
            <a:ext cx="7039610" cy="4514850"/>
          </a:xfrm>
          <a:prstGeom prst="rect">
            <a:avLst/>
          </a:prstGeom>
          <a:noFill/>
        </p:spPr>
        <p:txBody>
          <a:bodyPr wrap="square" rtlCol="0">
            <a:noAutofit/>
          </a:bodyPr>
          <a:p>
            <a:pPr marL="457200" indent="-457200">
              <a:buFont typeface="Arial" panose="020B0604020202020204" pitchFamily="34" charset="0"/>
              <a:buChar char="•"/>
            </a:pPr>
            <a:endParaRPr lang="zh-CN" altLang="en-US" sz="2800">
              <a:sym typeface="+mn-ea"/>
            </a:endParaRPr>
          </a:p>
          <a:p>
            <a:pPr marL="342900" indent="-342900">
              <a:lnSpc>
                <a:spcPct val="130000"/>
              </a:lnSpc>
              <a:buFont typeface="Arial" panose="020B0604020202020204" pitchFamily="34" charset="0"/>
              <a:buChar char="•"/>
            </a:pPr>
            <a:r>
              <a:rPr lang="zh-CN" altLang="en-US" sz="2800" dirty="0" smtClean="0">
                <a:solidFill>
                  <a:schemeClr val="tx1"/>
                </a:solidFill>
                <a:sym typeface="+mn-ea"/>
              </a:rPr>
              <a:t>优先级分组</a:t>
            </a:r>
            <a:endParaRPr lang="zh-CN" altLang="en-US" sz="2800" dirty="0" smtClean="0">
              <a:solidFill>
                <a:schemeClr val="tx1"/>
              </a:solidFill>
              <a:sym typeface="+mn-ea"/>
            </a:endParaRPr>
          </a:p>
          <a:p>
            <a:pPr marL="457200" indent="-457200">
              <a:buFont typeface="Arial" panose="020B0604020202020204" pitchFamily="34" charset="0"/>
              <a:buChar char="•"/>
            </a:pPr>
            <a:r>
              <a:rPr lang="en-US" altLang="zh-CN" sz="2800" dirty="0" smtClean="0">
                <a:solidFill>
                  <a:schemeClr val="tx1"/>
                </a:solidFill>
                <a:sym typeface="+mn-ea"/>
              </a:rPr>
              <a:t>Stm32</a:t>
            </a:r>
            <a:r>
              <a:rPr lang="zh-CN" altLang="en-US" sz="2800" dirty="0" smtClean="0">
                <a:solidFill>
                  <a:schemeClr val="tx1"/>
                </a:solidFill>
                <a:sym typeface="+mn-ea"/>
              </a:rPr>
              <a:t>给了</a:t>
            </a:r>
            <a:r>
              <a:rPr lang="en-US" altLang="zh-CN" sz="2800" dirty="0">
                <a:solidFill>
                  <a:schemeClr val="tx1"/>
                </a:solidFill>
                <a:highlight>
                  <a:srgbClr val="FFFF00"/>
                </a:highlight>
                <a:sym typeface="+mn-ea"/>
              </a:rPr>
              <a:t>4</a:t>
            </a:r>
            <a:r>
              <a:rPr lang="zh-CN" altLang="en-US" sz="2800" dirty="0" smtClean="0">
                <a:solidFill>
                  <a:schemeClr val="tx1"/>
                </a:solidFill>
                <a:highlight>
                  <a:srgbClr val="FFFF00"/>
                </a:highlight>
                <a:sym typeface="+mn-ea"/>
              </a:rPr>
              <a:t>位二</a:t>
            </a:r>
            <a:r>
              <a:rPr lang="zh-CN" altLang="en-US" sz="2800" dirty="0" smtClean="0">
                <a:solidFill>
                  <a:schemeClr val="tx1"/>
                </a:solidFill>
                <a:highlight>
                  <a:srgbClr val="FFFF00"/>
                </a:highlight>
                <a:sym typeface="+mn-ea"/>
              </a:rPr>
              <a:t>进制位</a:t>
            </a:r>
            <a:r>
              <a:rPr lang="zh-CN" altLang="en-US" sz="2800" dirty="0" smtClean="0">
                <a:solidFill>
                  <a:schemeClr val="tx1"/>
                </a:solidFill>
                <a:sym typeface="+mn-ea"/>
              </a:rPr>
              <a:t>来储存中断优先级信息，可以自由选择这四位几位用来设置抢占优先级，几位用来设置相应优先级</a:t>
            </a:r>
            <a:endParaRPr lang="zh-CN" altLang="en-US" sz="2800" dirty="0" smtClean="0">
              <a:solidFill>
                <a:schemeClr val="tx1"/>
              </a:solidFill>
              <a:sym typeface="+mn-ea"/>
            </a:endParaRPr>
          </a:p>
          <a:p>
            <a:pPr marL="457200" indent="-457200">
              <a:buFont typeface="Arial" panose="020B0604020202020204" pitchFamily="34" charset="0"/>
              <a:buChar char="•"/>
            </a:pPr>
            <a:r>
              <a:rPr lang="en-US" altLang="zh-CN" sz="2800" dirty="0" smtClean="0">
                <a:solidFill>
                  <a:schemeClr val="tx1"/>
                </a:solidFill>
                <a:sym typeface="+mn-ea"/>
              </a:rPr>
              <a:t>   1 1        1 1</a:t>
            </a:r>
            <a:endParaRPr lang="zh-CN" altLang="en-US" sz="2800" dirty="0" smtClean="0">
              <a:solidFill>
                <a:schemeClr val="tx1"/>
              </a:solidFill>
              <a:sym typeface="+mn-ea"/>
            </a:endParaRPr>
          </a:p>
          <a:p>
            <a:pPr marL="457200" indent="-457200">
              <a:buFont typeface="Arial" panose="020B0604020202020204" pitchFamily="34" charset="0"/>
              <a:buChar char="•"/>
            </a:pPr>
            <a:endParaRPr lang="en-US" altLang="zh-CN" sz="2800" dirty="0" smtClean="0">
              <a:solidFill>
                <a:schemeClr val="tx1"/>
              </a:solidFill>
            </a:endParaRPr>
          </a:p>
          <a:p>
            <a:pPr marL="457200" indent="-457200">
              <a:buFont typeface="Arial" panose="020B0604020202020204" pitchFamily="34" charset="0"/>
              <a:buChar char="•"/>
            </a:pPr>
            <a:endParaRPr lang="en-US" altLang="zh-CN" sz="2400">
              <a:solidFill>
                <a:schemeClr val="tx1"/>
              </a:solidFill>
            </a:endParaRPr>
          </a:p>
          <a:p>
            <a:pPr marL="457200" indent="-457200">
              <a:buFont typeface="Arial" panose="020B0604020202020204" pitchFamily="34" charset="0"/>
              <a:buChar char="•"/>
            </a:pPr>
            <a:endParaRPr lang="en-US" altLang="zh-CN" sz="2400">
              <a:solidFill>
                <a:schemeClr val="tx1"/>
              </a:solidFill>
            </a:endParaRPr>
          </a:p>
          <a:p>
            <a:pPr marL="457200" indent="-457200">
              <a:buFont typeface="Arial" panose="020B0604020202020204" pitchFamily="34" charset="0"/>
              <a:buChar char="•"/>
            </a:pPr>
            <a:endParaRPr lang="en-US" altLang="zh-CN" sz="2400" dirty="0">
              <a:solidFill>
                <a:schemeClr val="tx1"/>
              </a:solidFill>
              <a:latin typeface="Microsoft YaHei UI" panose="020B0503020204020204" pitchFamily="34" charset="-122"/>
              <a:ea typeface="Microsoft YaHei UI" panose="020B0503020204020204" pitchFamily="34" charset="-122"/>
              <a:sym typeface="+mn-ea"/>
            </a:endParaRPr>
          </a:p>
        </p:txBody>
      </p:sp>
      <p:pic>
        <p:nvPicPr>
          <p:cNvPr id="2" name="图片 1" descr="}_0[PQ7499X(N9V7D4))WO7"/>
          <p:cNvPicPr>
            <a:picLocks noChangeAspect="1"/>
          </p:cNvPicPr>
          <p:nvPr>
            <p:custDataLst>
              <p:tags r:id="rId2"/>
            </p:custDataLst>
          </p:nvPr>
        </p:nvPicPr>
        <p:blipFill>
          <a:blip r:embed="rId3"/>
          <a:srcRect r="46611"/>
          <a:stretch>
            <a:fillRect/>
          </a:stretch>
        </p:blipFill>
        <p:spPr>
          <a:xfrm>
            <a:off x="1529080" y="4109720"/>
            <a:ext cx="6376670" cy="1778000"/>
          </a:xfrm>
          <a:prstGeom prst="rect">
            <a:avLst/>
          </a:prstGeom>
        </p:spPr>
      </p:pic>
      <p:sp>
        <p:nvSpPr>
          <p:cNvPr id="4" name="文本框 3"/>
          <p:cNvSpPr txBox="1"/>
          <p:nvPr/>
        </p:nvSpPr>
        <p:spPr>
          <a:xfrm>
            <a:off x="610870" y="6151245"/>
            <a:ext cx="3613150" cy="368300"/>
          </a:xfrm>
          <a:prstGeom prst="rect">
            <a:avLst/>
          </a:prstGeom>
          <a:noFill/>
        </p:spPr>
        <p:txBody>
          <a:bodyPr wrap="none" rtlCol="0">
            <a:spAutoFit/>
          </a:bodyPr>
          <a:p>
            <a:pPr algn="l"/>
            <a:r>
              <a:rPr lang="zh-CN" altLang="en-US"/>
              <a:t>抢占优先级（Preemption Priority）</a:t>
            </a:r>
            <a:endParaRPr lang="zh-CN" altLang="en-US"/>
          </a:p>
        </p:txBody>
      </p:sp>
      <p:sp>
        <p:nvSpPr>
          <p:cNvPr id="5" name="文本框 4"/>
          <p:cNvSpPr txBox="1"/>
          <p:nvPr/>
        </p:nvSpPr>
        <p:spPr>
          <a:xfrm>
            <a:off x="4938395" y="6229985"/>
            <a:ext cx="2393315" cy="368300"/>
          </a:xfrm>
          <a:prstGeom prst="rect">
            <a:avLst/>
          </a:prstGeom>
          <a:noFill/>
        </p:spPr>
        <p:txBody>
          <a:bodyPr wrap="none" rtlCol="0">
            <a:spAutoFit/>
          </a:bodyPr>
          <a:p>
            <a:pPr algn="l"/>
            <a:r>
              <a:rPr lang="zh-CN" altLang="en-US"/>
              <a:t>响应优先级</a:t>
            </a:r>
            <a:r>
              <a:rPr lang="en-US" altLang="zh-CN"/>
              <a:t> subpriority</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32"/>
                                        </p:tgtEl>
                                        <p:attrNameLst>
                                          <p:attrName>style.visibility</p:attrName>
                                        </p:attrNameLst>
                                      </p:cBhvr>
                                      <p:to>
                                        <p:strVal val="visible"/>
                                      </p:to>
                                    </p:set>
                                    <p:animEffect transition="in" filter="wipe(right)">
                                      <p:cBhvr>
                                        <p:cTn id="1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中断简介</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04</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222250" y="1061085"/>
            <a:ext cx="8157210" cy="1014730"/>
          </a:xfrm>
          <a:prstGeom prst="rect">
            <a:avLst/>
          </a:prstGeom>
          <a:noFill/>
        </p:spPr>
        <p:txBody>
          <a:bodyPr wrap="square" rtlCol="0">
            <a:spAutoFit/>
          </a:bodyPr>
          <a:p>
            <a:r>
              <a:rPr lang="zh-CN" altLang="en-US" sz="2000" b="1"/>
              <a:t>中断嵌套</a:t>
            </a:r>
            <a:r>
              <a:rPr lang="zh-CN" altLang="en-US" sz="2000"/>
              <a:t>：当一个</a:t>
            </a:r>
            <a:r>
              <a:rPr lang="zh-CN" altLang="en-US" sz="2000">
                <a:highlight>
                  <a:srgbClr val="FFFF00"/>
                </a:highlight>
              </a:rPr>
              <a:t>中断程序正在运行时</a:t>
            </a:r>
            <a:r>
              <a:rPr lang="zh-CN" altLang="en-US" sz="2000"/>
              <a:t>，又有新的更高优先级的中断源申请中断，CPU再次暂停当前中断程序，转而去处理新的中断程序，处理完成后依次进行返回。（由中断优先级决定）</a:t>
            </a:r>
            <a:endParaRPr lang="zh-CN" altLang="en-US" sz="2000"/>
          </a:p>
        </p:txBody>
      </p:sp>
      <p:pic>
        <p:nvPicPr>
          <p:cNvPr id="100" name="图片 99"/>
          <p:cNvPicPr/>
          <p:nvPr/>
        </p:nvPicPr>
        <p:blipFill>
          <a:blip r:embed="rId1"/>
          <a:stretch>
            <a:fillRect/>
          </a:stretch>
        </p:blipFill>
        <p:spPr>
          <a:xfrm>
            <a:off x="-1905" y="2313897"/>
            <a:ext cx="9144000" cy="3805006"/>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16"/>
                                        </p:tgtEl>
                                        <p:attrNameLst>
                                          <p:attrName>style.visibility</p:attrName>
                                        </p:attrNameLst>
                                      </p:cBhvr>
                                      <p:to>
                                        <p:strVal val="visible"/>
                                      </p:to>
                                    </p:set>
                                    <p:animEffect transition="in" filter="wipe(right)">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1851645"/>
            <a:ext cx="4205521" cy="3154710"/>
          </a:xfrm>
          <a:prstGeom prst="rect">
            <a:avLst/>
          </a:prstGeom>
          <a:noFill/>
        </p:spPr>
        <p:txBody>
          <a:bodyPr wrap="square" rtlCol="0">
            <a:spAutoFit/>
          </a:bodyPr>
          <a:lstStyle/>
          <a:p>
            <a:pPr algn="ctr"/>
            <a:r>
              <a:rPr lang="en-US" altLang="zh-CN"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03</a:t>
            </a:r>
            <a:endParaRPr lang="zh-CN" altLang="en-US"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p:cNvSpPr txBox="1"/>
          <p:nvPr/>
        </p:nvSpPr>
        <p:spPr>
          <a:xfrm>
            <a:off x="3796356" y="3100983"/>
            <a:ext cx="4645651" cy="706755"/>
          </a:xfrm>
          <a:prstGeom prst="rect">
            <a:avLst/>
          </a:prstGeom>
          <a:noFill/>
        </p:spPr>
        <p:txBody>
          <a:bodyPr wrap="square" rtlCol="0">
            <a:spAutoFit/>
          </a:bodyPr>
          <a:lstStyle/>
          <a:p>
            <a:r>
              <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rPr>
              <a:t>外部</a:t>
            </a:r>
            <a:r>
              <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rPr>
              <a:t>中断</a:t>
            </a:r>
            <a:endPar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3862397" y="3807435"/>
            <a:ext cx="4663440" cy="108000"/>
            <a:chOff x="3649980" y="3375660"/>
            <a:chExt cx="4663440" cy="108000"/>
          </a:xfrm>
        </p:grpSpPr>
        <p:cxnSp>
          <p:nvCxnSpPr>
            <p:cNvPr id="10" name="直接连接符 9"/>
            <p:cNvCxnSpPr/>
            <p:nvPr/>
          </p:nvCxnSpPr>
          <p:spPr>
            <a:xfrm>
              <a:off x="3733800" y="3429660"/>
              <a:ext cx="44958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364998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820542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useBgFill="1">
        <p:nvSpPr>
          <p:cNvPr id="16" name="文本框 15"/>
          <p:cNvSpPr txBox="1"/>
          <p:nvPr/>
        </p:nvSpPr>
        <p:spPr>
          <a:xfrm>
            <a:off x="487591" y="3105835"/>
            <a:ext cx="3230339" cy="646331"/>
          </a:xfrm>
          <a:prstGeom prst="rect">
            <a:avLst/>
          </a:prstGeom>
        </p:spPr>
        <p:txBody>
          <a:bodyPr wrap="square" rtlCol="0">
            <a:spAutoFit/>
          </a:bodyPr>
          <a:lstStyle/>
          <a:p>
            <a:pPr algn="ctr"/>
            <a:r>
              <a:rPr lang="en-US" altLang="zh-CN" sz="3600" b="1" dirty="0">
                <a:solidFill>
                  <a:schemeClr val="accent1"/>
                </a:solidFill>
                <a:latin typeface="Times New Roman" panose="02020603050405020304" pitchFamily="18" charset="0"/>
                <a:cs typeface="Times New Roman" panose="02020603050405020304" pitchFamily="18" charset="0"/>
              </a:rPr>
              <a:t>PART THREE</a:t>
            </a:r>
            <a:endParaRPr lang="zh-CN" altLang="en-US" sz="3600"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12" presetClass="entr" presetSubtype="4"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p:tgtEl>
                                          <p:spTgt spid="7"/>
                                        </p:tgtEl>
                                        <p:attrNameLst>
                                          <p:attrName>ppt_y</p:attrName>
                                        </p:attrNameLst>
                                      </p:cBhvr>
                                      <p:tavLst>
                                        <p:tav tm="0">
                                          <p:val>
                                            <p:strVal val="#ppt_y+#ppt_h*1.125000"/>
                                          </p:val>
                                        </p:tav>
                                        <p:tav tm="100000">
                                          <p:val>
                                            <p:strVal val="#ppt_y"/>
                                          </p:val>
                                        </p:tav>
                                      </p:tavLst>
                                    </p:anim>
                                    <p:animEffect transition="in" filter="wipe(up)">
                                      <p:cBhvr>
                                        <p:cTn id="13" dur="500"/>
                                        <p:tgtEl>
                                          <p:spTgt spid="7"/>
                                        </p:tgtEl>
                                      </p:cBhvr>
                                    </p:animEffect>
                                  </p:childTnLst>
                                </p:cTn>
                              </p:par>
                              <p:par>
                                <p:cTn id="14" presetID="22" presetClass="entr" presetSubtype="8"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par>
                                <p:cTn id="17" presetID="16" presetClass="entr" presetSubtype="37" fill="hold" grpId="0" nodeType="withEffect">
                                  <p:stCondLst>
                                    <p:cond delay="400"/>
                                  </p:stCondLst>
                                  <p:childTnLst>
                                    <p:set>
                                      <p:cBhvr>
                                        <p:cTn id="18" dur="1" fill="hold">
                                          <p:stCondLst>
                                            <p:cond delay="0"/>
                                          </p:stCondLst>
                                        </p:cTn>
                                        <p:tgtEl>
                                          <p:spTgt spid="16"/>
                                        </p:tgtEl>
                                        <p:attrNameLst>
                                          <p:attrName>style.visibility</p:attrName>
                                        </p:attrNameLst>
                                      </p:cBhvr>
                                      <p:to>
                                        <p:strVal val="visible"/>
                                      </p:to>
                                    </p:set>
                                    <p:animEffect transition="in" filter="barn(outVertical)">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外部中断</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150174" y="6518176"/>
            <a:ext cx="8024939" cy="338554"/>
            <a:chOff x="1277256" y="6519446"/>
            <a:chExt cx="8024939" cy="338554"/>
          </a:xfrm>
        </p:grpSpPr>
        <p:sp>
          <p:nvSpPr>
            <p:cNvPr id="29" name="矩形 28"/>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10</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213360" y="4042410"/>
            <a:ext cx="8717280" cy="521970"/>
          </a:xfrm>
          <a:prstGeom prst="rect">
            <a:avLst/>
          </a:prstGeom>
          <a:noFill/>
        </p:spPr>
        <p:txBody>
          <a:bodyPr wrap="none" rtlCol="0">
            <a:spAutoFit/>
          </a:bodyPr>
          <a:p>
            <a:r>
              <a:rPr lang="zh-CN" altLang="en-US" sz="2800"/>
              <a:t>思考：如何让上一次的作业闪烁灯和按键控制同时进行</a:t>
            </a:r>
            <a:endParaRPr lang="zh-CN" altLang="en-US" sz="2800"/>
          </a:p>
        </p:txBody>
      </p:sp>
      <p:sp>
        <p:nvSpPr>
          <p:cNvPr id="3" name="文本框 2"/>
          <p:cNvSpPr txBox="1"/>
          <p:nvPr/>
        </p:nvSpPr>
        <p:spPr>
          <a:xfrm>
            <a:off x="443230" y="1207770"/>
            <a:ext cx="8413115" cy="1568450"/>
          </a:xfrm>
          <a:prstGeom prst="rect">
            <a:avLst/>
          </a:prstGeom>
          <a:noFill/>
        </p:spPr>
        <p:txBody>
          <a:bodyPr wrap="square" rtlCol="0" anchor="t">
            <a:spAutoFit/>
          </a:bodyPr>
          <a:p>
            <a:r>
              <a:rPr lang="zh-CN" altLang="en-US" sz="2400" b="1">
                <a:sym typeface="+mn-ea"/>
              </a:rPr>
              <a:t>注意，由于</a:t>
            </a:r>
            <a:r>
              <a:rPr lang="en-US" altLang="zh-CN" sz="2400" b="1">
                <a:sym typeface="+mn-ea"/>
              </a:rPr>
              <a:t>while</a:t>
            </a:r>
            <a:r>
              <a:rPr lang="zh-CN" altLang="en-US" sz="2400" b="1">
                <a:sym typeface="+mn-ea"/>
              </a:rPr>
              <a:t>里面还有闪烁灯的代码，他的</a:t>
            </a:r>
            <a:r>
              <a:rPr lang="en-US" altLang="zh-CN" sz="2400" b="1">
                <a:sym typeface="+mn-ea"/>
              </a:rPr>
              <a:t>delay</a:t>
            </a:r>
            <a:r>
              <a:rPr lang="zh-CN" altLang="en-US" sz="2400" b="1">
                <a:sym typeface="+mn-ea"/>
              </a:rPr>
              <a:t>函数会占用</a:t>
            </a:r>
            <a:r>
              <a:rPr lang="en-US" altLang="zh-CN" sz="2400" b="1">
                <a:sym typeface="+mn-ea"/>
              </a:rPr>
              <a:t>while</a:t>
            </a:r>
            <a:r>
              <a:rPr lang="zh-CN" altLang="en-US" sz="2400" b="1">
                <a:sym typeface="+mn-ea"/>
              </a:rPr>
              <a:t>循环，导致还没办法进入读取按键电平的语句，因此，在我们学习中断之前，想实现按键控制要先把闪灯代码注释掉</a:t>
            </a:r>
            <a:endParaRPr lang="zh-CN" altLang="en-US" sz="2400" b="1">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8"/>
                                        </p:tgtEl>
                                        <p:attrNameLst>
                                          <p:attrName>style.visibility</p:attrName>
                                        </p:attrNameLst>
                                      </p:cBhvr>
                                      <p:to>
                                        <p:strVal val="visible"/>
                                      </p:to>
                                    </p:set>
                                    <p:animEffect transition="in" filter="wipe(right)">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外部中断</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4" name="矩形 13"/>
          <p:cNvSpPr/>
          <p:nvPr/>
        </p:nvSpPr>
        <p:spPr>
          <a:xfrm>
            <a:off x="156845" y="1249680"/>
            <a:ext cx="7809230" cy="1605915"/>
          </a:xfrm>
          <a:prstGeom prst="rect">
            <a:avLst/>
          </a:prstGeom>
        </p:spPr>
        <p:txBody>
          <a:bodyPr wrap="square">
            <a:noAutofit/>
          </a:bodyPr>
          <a:lstStyle/>
          <a:p>
            <a:pPr marL="457200" indent="-457200">
              <a:buFont typeface="Arial" panose="020B0604020202020204" pitchFamily="34" charset="0"/>
              <a:buChar char="•"/>
            </a:pPr>
            <a:r>
              <a:rPr lang="en-US" altLang="zh-CN" sz="2800">
                <a:latin typeface="+mn-ea"/>
                <a:cs typeface="+mn-ea"/>
                <a:sym typeface="+mn-ea"/>
              </a:rPr>
              <a:t>EXTI</a:t>
            </a:r>
            <a:r>
              <a:rPr lang="zh-CN" altLang="en-US" sz="2800">
                <a:latin typeface="+mn-ea"/>
                <a:cs typeface="+mn-ea"/>
                <a:sym typeface="+mn-ea"/>
              </a:rPr>
              <a:t>（</a:t>
            </a:r>
            <a:r>
              <a:rPr lang="en-US" altLang="zh-CN" sz="2800">
                <a:latin typeface="+mn-ea"/>
                <a:cs typeface="+mn-ea"/>
                <a:sym typeface="+mn-ea"/>
              </a:rPr>
              <a:t>Extern Interrupt</a:t>
            </a:r>
            <a:r>
              <a:rPr lang="zh-CN" altLang="en-US" sz="2800">
                <a:latin typeface="+mn-ea"/>
                <a:cs typeface="+mn-ea"/>
                <a:sym typeface="+mn-ea"/>
              </a:rPr>
              <a:t>）外部中断</a:t>
            </a:r>
            <a:endParaRPr lang="zh-CN" altLang="en-US" sz="2800">
              <a:latin typeface="+mn-ea"/>
              <a:cs typeface="+mn-ea"/>
              <a:sym typeface="+mn-ea"/>
            </a:endParaRPr>
          </a:p>
          <a:p>
            <a:pPr marL="457200" indent="-457200">
              <a:buFont typeface="Arial" panose="020B0604020202020204" pitchFamily="34" charset="0"/>
              <a:buChar char="•"/>
            </a:pPr>
            <a:r>
              <a:rPr lang="zh-CN" altLang="en-US" sz="2800">
                <a:latin typeface="+mn-ea"/>
                <a:cs typeface="+mn-ea"/>
                <a:sym typeface="+mn-ea"/>
              </a:rPr>
              <a:t>触发源来自外部的中断</a:t>
            </a:r>
            <a:endParaRPr lang="zh-CN" altLang="en-US" sz="2800">
              <a:latin typeface="+mn-ea"/>
              <a:cs typeface="+mn-ea"/>
              <a:sym typeface="+mn-ea"/>
            </a:endParaRPr>
          </a:p>
          <a:p>
            <a:pPr marL="457200" indent="-457200">
              <a:buFont typeface="Arial" panose="020B0604020202020204" pitchFamily="34" charset="0"/>
              <a:buChar char="•"/>
            </a:pPr>
            <a:r>
              <a:rPr lang="zh-CN" altLang="en-US" sz="2800" dirty="0">
                <a:highlight>
                  <a:srgbClr val="FFFF00"/>
                </a:highlight>
                <a:latin typeface="+mn-ea"/>
                <a:cs typeface="+mn-ea"/>
                <a:sym typeface="+mn-ea"/>
              </a:rPr>
              <a:t>用来检测外部</a:t>
            </a:r>
            <a:r>
              <a:rPr lang="en-US" altLang="zh-CN" sz="2800" dirty="0">
                <a:highlight>
                  <a:srgbClr val="FFFF00"/>
                </a:highlight>
                <a:latin typeface="+mn-ea"/>
                <a:cs typeface="+mn-ea"/>
                <a:sym typeface="+mn-ea"/>
              </a:rPr>
              <a:t>GPIO</a:t>
            </a:r>
            <a:r>
              <a:rPr lang="zh-CN" altLang="en-US" sz="2800" dirty="0">
                <a:highlight>
                  <a:srgbClr val="FFFF00"/>
                </a:highlight>
                <a:latin typeface="+mn-ea"/>
                <a:cs typeface="+mn-ea"/>
                <a:sym typeface="+mn-ea"/>
              </a:rPr>
              <a:t>电平变化的中断</a:t>
            </a:r>
            <a:endParaRPr lang="zh-CN" altLang="en-US" sz="2800" dirty="0">
              <a:latin typeface="+mn-ea"/>
              <a:cs typeface="+mn-ea"/>
              <a:sym typeface="+mn-ea"/>
            </a:endParaRPr>
          </a:p>
          <a:p>
            <a:pPr marL="457200" indent="-457200">
              <a:buFont typeface="Arial" panose="020B0604020202020204" pitchFamily="34" charset="0"/>
              <a:buChar char="•"/>
            </a:pPr>
            <a:r>
              <a:rPr lang="zh-CN" altLang="en-US" sz="2800">
                <a:sym typeface="+mn-ea"/>
              </a:rPr>
              <a:t>触发方式：上升沿</a:t>
            </a:r>
            <a:r>
              <a:rPr lang="en-US" altLang="zh-CN" sz="2800">
                <a:sym typeface="+mn-ea"/>
              </a:rPr>
              <a:t>/</a:t>
            </a:r>
            <a:r>
              <a:rPr lang="zh-CN" altLang="en-US" sz="2800">
                <a:sym typeface="+mn-ea"/>
              </a:rPr>
              <a:t>下降沿</a:t>
            </a:r>
            <a:r>
              <a:rPr lang="en-US" altLang="zh-CN" sz="2800">
                <a:sym typeface="+mn-ea"/>
              </a:rPr>
              <a:t>/</a:t>
            </a:r>
            <a:r>
              <a:rPr lang="zh-CN" altLang="en-US" sz="2800">
                <a:sym typeface="+mn-ea"/>
              </a:rPr>
              <a:t>双边沿</a:t>
            </a:r>
            <a:r>
              <a:rPr lang="en-US" altLang="zh-CN" sz="2800">
                <a:sym typeface="+mn-ea"/>
              </a:rPr>
              <a:t>/</a:t>
            </a:r>
            <a:r>
              <a:rPr lang="zh-CN" altLang="en-US" sz="2800">
                <a:sym typeface="+mn-ea"/>
              </a:rPr>
              <a:t>软件触发</a:t>
            </a:r>
            <a:endParaRPr lang="zh-CN" altLang="en-US" sz="2800">
              <a:sym typeface="+mn-ea"/>
            </a:endParaRPr>
          </a:p>
          <a:p>
            <a:pPr marL="457200" indent="-457200">
              <a:buFont typeface="Arial" panose="020B0604020202020204" pitchFamily="34" charset="0"/>
              <a:buChar char="•"/>
            </a:pPr>
            <a:r>
              <a:rPr lang="en-US" altLang="zh-CN" sz="2800">
                <a:sym typeface="+mn-ea"/>
              </a:rPr>
              <a:t>GPIO</a:t>
            </a:r>
            <a:r>
              <a:rPr lang="zh-CN" altLang="en-US" sz="2800">
                <a:sym typeface="+mn-ea"/>
              </a:rPr>
              <a:t>口：</a:t>
            </a:r>
            <a:r>
              <a:rPr lang="zh-CN" altLang="en-US" sz="2800">
                <a:sym typeface="+mn-ea"/>
              </a:rPr>
              <a:t>几乎所有</a:t>
            </a:r>
            <a:r>
              <a:rPr lang="en-US" altLang="zh-CN" sz="2800">
                <a:sym typeface="+mn-ea"/>
              </a:rPr>
              <a:t>GPIO</a:t>
            </a:r>
            <a:r>
              <a:rPr lang="zh-CN" altLang="en-US" sz="2800">
                <a:sym typeface="+mn-ea"/>
              </a:rPr>
              <a:t>口，但相同的</a:t>
            </a:r>
            <a:r>
              <a:rPr lang="en-US" altLang="zh-CN" sz="2800">
                <a:sym typeface="+mn-ea"/>
              </a:rPr>
              <a:t>Pin</a:t>
            </a:r>
            <a:r>
              <a:rPr lang="zh-CN" altLang="en-US" sz="2800">
                <a:sym typeface="+mn-ea"/>
              </a:rPr>
              <a:t>不能同时触发中断</a:t>
            </a:r>
            <a:endParaRPr lang="zh-CN" altLang="en-US" sz="2800">
              <a:sym typeface="+mn-ea"/>
            </a:endParaRPr>
          </a:p>
          <a:p>
            <a:pPr marL="457200" indent="-457200">
              <a:buFont typeface="Arial" panose="020B0604020202020204" pitchFamily="34" charset="0"/>
              <a:buChar char="•"/>
            </a:pPr>
            <a:r>
              <a:rPr lang="zh-CN" altLang="en-US" sz="2800">
                <a:sym typeface="+mn-ea"/>
              </a:rPr>
              <a:t>触发响应方式：中断响应</a:t>
            </a:r>
            <a:r>
              <a:rPr lang="en-US" altLang="zh-CN" sz="2800">
                <a:sym typeface="+mn-ea"/>
              </a:rPr>
              <a:t>/</a:t>
            </a:r>
            <a:r>
              <a:rPr lang="zh-CN" altLang="en-US" sz="2800">
                <a:sym typeface="+mn-ea"/>
              </a:rPr>
              <a:t>事件响应</a:t>
            </a:r>
            <a:endParaRPr lang="en-US" altLang="zh-CN" sz="2800"/>
          </a:p>
          <a:p>
            <a:pPr marL="457200" indent="-457200">
              <a:buFont typeface="Arial" panose="020B0604020202020204" pitchFamily="34" charset="0"/>
              <a:buChar char="•"/>
            </a:pPr>
            <a:endParaRPr lang="zh-CN" altLang="en-US" sz="2800" dirty="0">
              <a:latin typeface="+mn-ea"/>
              <a:cs typeface="+mn-ea"/>
              <a:sym typeface="+mn-ea"/>
            </a:endParaRPr>
          </a:p>
        </p:txBody>
      </p:sp>
      <p:grpSp>
        <p:nvGrpSpPr>
          <p:cNvPr id="28" name="组合 27"/>
          <p:cNvGrpSpPr/>
          <p:nvPr/>
        </p:nvGrpSpPr>
        <p:grpSpPr>
          <a:xfrm>
            <a:off x="1150174" y="6518176"/>
            <a:ext cx="8024939" cy="338554"/>
            <a:chOff x="1277256" y="6519446"/>
            <a:chExt cx="8024939" cy="338554"/>
          </a:xfrm>
        </p:grpSpPr>
        <p:sp>
          <p:nvSpPr>
            <p:cNvPr id="29" name="矩形 28"/>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10</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3" name="图片 2" descr="`N}Y@8{TFSY(OR)A]8}1Z1Q"/>
          <p:cNvPicPr>
            <a:picLocks noChangeAspect="1"/>
          </p:cNvPicPr>
          <p:nvPr>
            <p:custDataLst>
              <p:tags r:id="rId1"/>
            </p:custDataLst>
          </p:nvPr>
        </p:nvPicPr>
        <p:blipFill>
          <a:blip r:embed="rId2"/>
          <a:stretch>
            <a:fillRect/>
          </a:stretch>
        </p:blipFill>
        <p:spPr>
          <a:xfrm>
            <a:off x="610870" y="4470400"/>
            <a:ext cx="7752715" cy="20478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8"/>
                                        </p:tgtEl>
                                        <p:attrNameLst>
                                          <p:attrName>style.visibility</p:attrName>
                                        </p:attrNameLst>
                                      </p:cBhvr>
                                      <p:to>
                                        <p:strVal val="visible"/>
                                      </p:to>
                                    </p:set>
                                    <p:animEffect transition="in" filter="wipe(right)">
                                      <p:cBhvr>
                                        <p:cTn id="15" dur="500"/>
                                        <p:tgtEl>
                                          <p:spTgt spid="28"/>
                                        </p:tgtEl>
                                      </p:cBhvr>
                                    </p:animEffect>
                                  </p:childTnLst>
                                </p:cTn>
                              </p:par>
                              <p:par>
                                <p:cTn id="16" presetID="42" presetClass="entr" presetSubtype="0" fill="hold" grpId="0" nodeType="withEffect">
                                  <p:stCondLst>
                                    <p:cond delay="25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ppt_x</p:attrName>
                                        </p:attrNameLst>
                                      </p:cBhvr>
                                      <p:tavLst>
                                        <p:tav tm="0">
                                          <p:val>
                                            <p:strVal val="#ppt_x"/>
                                          </p:val>
                                        </p:tav>
                                        <p:tav tm="100000">
                                          <p:val>
                                            <p:strVal val="#ppt_x"/>
                                          </p:val>
                                        </p:tav>
                                      </p:tavLst>
                                    </p:anim>
                                    <p:anim calcmode="lin" valueType="num">
                                      <p:cBhvr>
                                        <p:cTn id="20"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外部中断</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150174" y="6518176"/>
            <a:ext cx="8024939" cy="338554"/>
            <a:chOff x="1277256" y="6519446"/>
            <a:chExt cx="8024939" cy="338554"/>
          </a:xfrm>
        </p:grpSpPr>
        <p:sp>
          <p:nvSpPr>
            <p:cNvPr id="29" name="矩形 28"/>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10</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4" name="图片 3"/>
          <p:cNvPicPr>
            <a:picLocks noChangeAspect="1"/>
          </p:cNvPicPr>
          <p:nvPr>
            <p:custDataLst>
              <p:tags r:id="rId1"/>
            </p:custDataLst>
          </p:nvPr>
        </p:nvPicPr>
        <p:blipFill>
          <a:blip r:embed="rId2"/>
          <a:stretch>
            <a:fillRect/>
          </a:stretch>
        </p:blipFill>
        <p:spPr>
          <a:xfrm>
            <a:off x="184785" y="1280795"/>
            <a:ext cx="3018790" cy="3673475"/>
          </a:xfrm>
          <a:prstGeom prst="rect">
            <a:avLst/>
          </a:prstGeom>
        </p:spPr>
      </p:pic>
      <p:sp>
        <p:nvSpPr>
          <p:cNvPr id="5" name="文本框 4"/>
          <p:cNvSpPr txBox="1"/>
          <p:nvPr/>
        </p:nvSpPr>
        <p:spPr>
          <a:xfrm>
            <a:off x="593090" y="987425"/>
            <a:ext cx="1780540" cy="368300"/>
          </a:xfrm>
          <a:prstGeom prst="rect">
            <a:avLst/>
          </a:prstGeom>
          <a:noFill/>
        </p:spPr>
        <p:txBody>
          <a:bodyPr wrap="none" rtlCol="0">
            <a:spAutoFit/>
          </a:bodyPr>
          <a:p>
            <a:r>
              <a:rPr lang="en-US" altLang="zh-CN"/>
              <a:t>1</a:t>
            </a:r>
            <a:r>
              <a:rPr lang="zh-CN" altLang="en-US"/>
              <a:t>，选成</a:t>
            </a:r>
            <a:r>
              <a:rPr lang="en-US" altLang="zh-CN"/>
              <a:t>exti</a:t>
            </a:r>
            <a:r>
              <a:rPr lang="zh-CN" altLang="en-US"/>
              <a:t>模式</a:t>
            </a:r>
            <a:endParaRPr lang="zh-CN" altLang="en-US"/>
          </a:p>
        </p:txBody>
      </p:sp>
      <p:sp>
        <p:nvSpPr>
          <p:cNvPr id="6" name="文本框 5"/>
          <p:cNvSpPr txBox="1"/>
          <p:nvPr/>
        </p:nvSpPr>
        <p:spPr>
          <a:xfrm>
            <a:off x="4414520" y="987425"/>
            <a:ext cx="2756535" cy="368300"/>
          </a:xfrm>
          <a:prstGeom prst="rect">
            <a:avLst/>
          </a:prstGeom>
          <a:noFill/>
        </p:spPr>
        <p:txBody>
          <a:bodyPr wrap="none" rtlCol="0">
            <a:spAutoFit/>
          </a:bodyPr>
          <a:p>
            <a:r>
              <a:rPr lang="en-US" altLang="zh-CN"/>
              <a:t>2</a:t>
            </a:r>
            <a:r>
              <a:rPr lang="zh-CN" altLang="en-US"/>
              <a:t>，进入</a:t>
            </a:r>
            <a:r>
              <a:rPr lang="en-US" altLang="zh-CN"/>
              <a:t>gpio</a:t>
            </a:r>
            <a:r>
              <a:rPr lang="zh-CN" altLang="en-US"/>
              <a:t>对他进行</a:t>
            </a:r>
            <a:r>
              <a:rPr lang="zh-CN" altLang="en-US"/>
              <a:t>配置</a:t>
            </a:r>
            <a:endParaRPr lang="zh-CN" altLang="en-US"/>
          </a:p>
        </p:txBody>
      </p:sp>
      <p:pic>
        <p:nvPicPr>
          <p:cNvPr id="7" name="图片 6"/>
          <p:cNvPicPr>
            <a:picLocks noChangeAspect="1"/>
          </p:cNvPicPr>
          <p:nvPr/>
        </p:nvPicPr>
        <p:blipFill>
          <a:blip r:embed="rId3"/>
          <a:stretch>
            <a:fillRect/>
          </a:stretch>
        </p:blipFill>
        <p:spPr>
          <a:xfrm>
            <a:off x="3284855" y="1397000"/>
            <a:ext cx="6050915" cy="2895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8"/>
                                        </p:tgtEl>
                                        <p:attrNameLst>
                                          <p:attrName>style.visibility</p:attrName>
                                        </p:attrNameLst>
                                      </p:cBhvr>
                                      <p:to>
                                        <p:strVal val="visible"/>
                                      </p:to>
                                    </p:set>
                                    <p:animEffect transition="in" filter="wipe(right)">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外部中断</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150174" y="6518176"/>
            <a:ext cx="8024939" cy="338554"/>
            <a:chOff x="1277256" y="6519446"/>
            <a:chExt cx="8024939" cy="338554"/>
          </a:xfrm>
        </p:grpSpPr>
        <p:sp>
          <p:nvSpPr>
            <p:cNvPr id="29" name="矩形 28"/>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10</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2" name="图片 1"/>
          <p:cNvPicPr>
            <a:picLocks noChangeAspect="1"/>
          </p:cNvPicPr>
          <p:nvPr/>
        </p:nvPicPr>
        <p:blipFill>
          <a:blip r:embed="rId1"/>
          <a:stretch>
            <a:fillRect/>
          </a:stretch>
        </p:blipFill>
        <p:spPr>
          <a:xfrm>
            <a:off x="168910" y="1398270"/>
            <a:ext cx="7965440" cy="2994660"/>
          </a:xfrm>
          <a:prstGeom prst="rect">
            <a:avLst/>
          </a:prstGeom>
        </p:spPr>
      </p:pic>
      <p:sp>
        <p:nvSpPr>
          <p:cNvPr id="3" name="文本框 2"/>
          <p:cNvSpPr txBox="1"/>
          <p:nvPr/>
        </p:nvSpPr>
        <p:spPr>
          <a:xfrm>
            <a:off x="307340" y="1006475"/>
            <a:ext cx="3946525" cy="368300"/>
          </a:xfrm>
          <a:prstGeom prst="rect">
            <a:avLst/>
          </a:prstGeom>
          <a:noFill/>
        </p:spPr>
        <p:txBody>
          <a:bodyPr wrap="square" rtlCol="0">
            <a:spAutoFit/>
          </a:bodyPr>
          <a:p>
            <a:r>
              <a:rPr lang="en-US" altLang="zh-CN"/>
              <a:t>3</a:t>
            </a:r>
            <a:r>
              <a:rPr lang="zh-CN" altLang="en-US"/>
              <a:t>，选择触发方式，</a:t>
            </a:r>
            <a:r>
              <a:rPr lang="zh-CN" altLang="en-US"/>
              <a:t>上拉下拉</a:t>
            </a:r>
            <a:endParaRPr lang="zh-CN" altLang="en-US"/>
          </a:p>
        </p:txBody>
      </p:sp>
      <p:sp>
        <p:nvSpPr>
          <p:cNvPr id="8" name="文本框 7"/>
          <p:cNvSpPr txBox="1"/>
          <p:nvPr/>
        </p:nvSpPr>
        <p:spPr>
          <a:xfrm>
            <a:off x="1663700" y="5149850"/>
            <a:ext cx="1896745" cy="368300"/>
          </a:xfrm>
          <a:prstGeom prst="rect">
            <a:avLst/>
          </a:prstGeom>
          <a:noFill/>
        </p:spPr>
        <p:txBody>
          <a:bodyPr wrap="none" rtlCol="0">
            <a:spAutoFit/>
          </a:bodyPr>
          <a:p>
            <a:r>
              <a:rPr lang="zh-CN" altLang="en-US">
                <a:highlight>
                  <a:srgbClr val="FFFF00"/>
                </a:highlight>
              </a:rPr>
              <a:t>上拉</a:t>
            </a:r>
            <a:r>
              <a:rPr lang="en-US" altLang="zh-CN">
                <a:highlight>
                  <a:srgbClr val="FFFF00"/>
                </a:highlight>
              </a:rPr>
              <a:t>+</a:t>
            </a:r>
            <a:r>
              <a:rPr lang="zh-CN" altLang="en-US">
                <a:highlight>
                  <a:srgbClr val="FFFF00"/>
                </a:highlight>
              </a:rPr>
              <a:t>下降沿触发</a:t>
            </a:r>
            <a:endParaRPr lang="zh-CN" altLang="en-US">
              <a:highlight>
                <a:srgbClr val="FFFF00"/>
              </a:highlight>
            </a:endParaRPr>
          </a:p>
        </p:txBody>
      </p:sp>
      <p:sp>
        <p:nvSpPr>
          <p:cNvPr id="10" name="文本框 9"/>
          <p:cNvSpPr txBox="1"/>
          <p:nvPr/>
        </p:nvSpPr>
        <p:spPr>
          <a:xfrm>
            <a:off x="5023485" y="5149850"/>
            <a:ext cx="1896745" cy="368300"/>
          </a:xfrm>
          <a:prstGeom prst="rect">
            <a:avLst/>
          </a:prstGeom>
          <a:noFill/>
        </p:spPr>
        <p:txBody>
          <a:bodyPr wrap="none" rtlCol="0">
            <a:spAutoFit/>
          </a:bodyPr>
          <a:p>
            <a:r>
              <a:rPr lang="zh-CN" altLang="en-US"/>
              <a:t>下拉</a:t>
            </a:r>
            <a:r>
              <a:rPr lang="en-US" altLang="zh-CN"/>
              <a:t>+</a:t>
            </a:r>
            <a:r>
              <a:rPr lang="zh-CN" altLang="en-US"/>
              <a:t>上升沿</a:t>
            </a:r>
            <a:r>
              <a:rPr lang="zh-CN" altLang="en-US"/>
              <a:t>触发</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8"/>
                                        </p:tgtEl>
                                        <p:attrNameLst>
                                          <p:attrName>style.visibility</p:attrName>
                                        </p:attrNameLst>
                                      </p:cBhvr>
                                      <p:to>
                                        <p:strVal val="visible"/>
                                      </p:to>
                                    </p:set>
                                    <p:animEffect transition="in" filter="wipe(right)">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外部中断</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150174" y="6518176"/>
            <a:ext cx="8024939" cy="338554"/>
            <a:chOff x="1277256" y="6519446"/>
            <a:chExt cx="8024939" cy="338554"/>
          </a:xfrm>
        </p:grpSpPr>
        <p:sp>
          <p:nvSpPr>
            <p:cNvPr id="29" name="矩形 28"/>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10</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345440" y="1061085"/>
            <a:ext cx="7765415" cy="645160"/>
          </a:xfrm>
          <a:prstGeom prst="rect">
            <a:avLst/>
          </a:prstGeom>
          <a:noFill/>
        </p:spPr>
        <p:txBody>
          <a:bodyPr wrap="square" rtlCol="0">
            <a:spAutoFit/>
          </a:bodyPr>
          <a:p>
            <a:r>
              <a:rPr lang="en-US" altLang="zh-CN"/>
              <a:t>4</a:t>
            </a:r>
            <a:r>
              <a:rPr lang="zh-CN" altLang="en-US"/>
              <a:t>，在</a:t>
            </a:r>
            <a:r>
              <a:rPr lang="en-US" altLang="zh-CN"/>
              <a:t>NVIC</a:t>
            </a:r>
            <a:r>
              <a:rPr lang="zh-CN" altLang="en-US"/>
              <a:t>里给你配置的外部中断使能（尤其注意，后面用的各种中断都需要使能之后才能正常使用）</a:t>
            </a:r>
            <a:r>
              <a:rPr lang="en-US" altLang="zh-CN"/>
              <a:t>eg</a:t>
            </a:r>
            <a:r>
              <a:rPr lang="zh-CN" altLang="en-US"/>
              <a:t>：串口接收中断</a:t>
            </a:r>
            <a:r>
              <a:rPr lang="zh-CN" altLang="en-US"/>
              <a:t>等</a:t>
            </a:r>
            <a:endParaRPr lang="zh-CN" altLang="en-US"/>
          </a:p>
        </p:txBody>
      </p:sp>
      <p:pic>
        <p:nvPicPr>
          <p:cNvPr id="3" name="图片 2"/>
          <p:cNvPicPr>
            <a:picLocks noChangeAspect="1"/>
          </p:cNvPicPr>
          <p:nvPr/>
        </p:nvPicPr>
        <p:blipFill>
          <a:blip r:embed="rId1"/>
          <a:stretch>
            <a:fillRect/>
          </a:stretch>
        </p:blipFill>
        <p:spPr>
          <a:xfrm>
            <a:off x="151765" y="1834515"/>
            <a:ext cx="8384540" cy="49403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8"/>
                                        </p:tgtEl>
                                        <p:attrNameLst>
                                          <p:attrName>style.visibility</p:attrName>
                                        </p:attrNameLst>
                                      </p:cBhvr>
                                      <p:to>
                                        <p:strVal val="visible"/>
                                      </p:to>
                                    </p:set>
                                    <p:animEffect transition="in" filter="wipe(right)">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外部中断</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150174" y="6518176"/>
            <a:ext cx="8024939" cy="338554"/>
            <a:chOff x="1277256" y="6519446"/>
            <a:chExt cx="8024939" cy="338554"/>
          </a:xfrm>
        </p:grpSpPr>
        <p:sp>
          <p:nvSpPr>
            <p:cNvPr id="29" name="矩形 28"/>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10</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5" name="图片 4"/>
          <p:cNvPicPr>
            <a:picLocks noChangeAspect="1"/>
          </p:cNvPicPr>
          <p:nvPr/>
        </p:nvPicPr>
        <p:blipFill>
          <a:blip r:embed="rId1"/>
          <a:stretch>
            <a:fillRect/>
          </a:stretch>
        </p:blipFill>
        <p:spPr>
          <a:xfrm>
            <a:off x="880745" y="2499360"/>
            <a:ext cx="6263640" cy="4358640"/>
          </a:xfrm>
          <a:prstGeom prst="rect">
            <a:avLst/>
          </a:prstGeom>
        </p:spPr>
      </p:pic>
      <p:sp>
        <p:nvSpPr>
          <p:cNvPr id="6" name="文本框 5"/>
          <p:cNvSpPr txBox="1"/>
          <p:nvPr/>
        </p:nvSpPr>
        <p:spPr>
          <a:xfrm>
            <a:off x="740410" y="946150"/>
            <a:ext cx="8168640" cy="645160"/>
          </a:xfrm>
          <a:prstGeom prst="rect">
            <a:avLst/>
          </a:prstGeom>
          <a:noFill/>
        </p:spPr>
        <p:txBody>
          <a:bodyPr wrap="square" rtlCol="0">
            <a:spAutoFit/>
          </a:bodyPr>
          <a:p>
            <a:r>
              <a:rPr lang="zh-CN" altLang="en-US"/>
              <a:t>注意：</a:t>
            </a:r>
            <a:r>
              <a:rPr lang="en-US" altLang="zh-CN"/>
              <a:t>1</a:t>
            </a:r>
            <a:r>
              <a:rPr lang="zh-CN" altLang="en-US"/>
              <a:t>，</a:t>
            </a:r>
            <a:r>
              <a:rPr lang="en-US" altLang="zh-CN"/>
              <a:t>exti</a:t>
            </a:r>
            <a:r>
              <a:rPr lang="zh-CN" altLang="en-US"/>
              <a:t>是按</a:t>
            </a:r>
            <a:r>
              <a:rPr lang="en-US" altLang="zh-CN"/>
              <a:t>GPIO_pin</a:t>
            </a:r>
            <a:r>
              <a:rPr lang="zh-CN" altLang="en-US"/>
              <a:t>区别的，也就是说</a:t>
            </a:r>
            <a:r>
              <a:rPr lang="en-US" altLang="zh-CN"/>
              <a:t>PA0</a:t>
            </a:r>
            <a:r>
              <a:rPr lang="zh-CN" altLang="en-US"/>
              <a:t>，</a:t>
            </a:r>
            <a:r>
              <a:rPr lang="en-US" altLang="zh-CN"/>
              <a:t>PB0</a:t>
            </a:r>
            <a:r>
              <a:rPr lang="zh-CN" altLang="en-US"/>
              <a:t>等共享一个中断处理函数</a:t>
            </a:r>
            <a:r>
              <a:rPr lang="en-US" altLang="zh-CN"/>
              <a:t>EXTI0....,</a:t>
            </a:r>
            <a:r>
              <a:rPr lang="zh-CN" altLang="en-US"/>
              <a:t>所以由</a:t>
            </a:r>
            <a:r>
              <a:rPr lang="en-US" altLang="zh-CN"/>
              <a:t>pin</a:t>
            </a:r>
            <a:r>
              <a:rPr lang="zh-CN" altLang="en-US"/>
              <a:t>号相同的引脚触发的中断处理函数是</a:t>
            </a:r>
            <a:r>
              <a:rPr lang="zh-CN" altLang="en-US"/>
              <a:t>同一个</a:t>
            </a:r>
            <a:endParaRPr lang="zh-CN" altLang="en-US"/>
          </a:p>
        </p:txBody>
      </p:sp>
      <p:sp>
        <p:nvSpPr>
          <p:cNvPr id="7" name="文本框 6"/>
          <p:cNvSpPr txBox="1"/>
          <p:nvPr/>
        </p:nvSpPr>
        <p:spPr>
          <a:xfrm>
            <a:off x="880745" y="1738630"/>
            <a:ext cx="7705725" cy="368300"/>
          </a:xfrm>
          <a:prstGeom prst="rect">
            <a:avLst/>
          </a:prstGeom>
          <a:noFill/>
        </p:spPr>
        <p:txBody>
          <a:bodyPr wrap="none" rtlCol="0">
            <a:spAutoFit/>
          </a:bodyPr>
          <a:p>
            <a:r>
              <a:rPr lang="en-US" altLang="zh-CN"/>
              <a:t>2</a:t>
            </a:r>
            <a:r>
              <a:rPr lang="zh-CN" altLang="en-US"/>
              <a:t>，</a:t>
            </a:r>
            <a:r>
              <a:rPr lang="en-US" altLang="zh-CN"/>
              <a:t>EXTI0</a:t>
            </a:r>
            <a:r>
              <a:rPr lang="zh-CN" altLang="en-US"/>
              <a:t>到</a:t>
            </a:r>
            <a:r>
              <a:rPr lang="en-US" altLang="zh-CN"/>
              <a:t>4</a:t>
            </a:r>
            <a:r>
              <a:rPr lang="zh-CN" altLang="en-US"/>
              <a:t>有自己的处理函数，而</a:t>
            </a:r>
            <a:r>
              <a:rPr lang="en-US" altLang="zh-CN"/>
              <a:t>5-9</a:t>
            </a:r>
            <a:r>
              <a:rPr lang="zh-CN" altLang="en-US"/>
              <a:t>，</a:t>
            </a:r>
            <a:r>
              <a:rPr lang="en-US" altLang="zh-CN"/>
              <a:t>10-15</a:t>
            </a:r>
            <a:r>
              <a:rPr lang="zh-CN" altLang="en-US"/>
              <a:t>存在共享</a:t>
            </a:r>
            <a:r>
              <a:rPr lang="zh-CN" altLang="en-US"/>
              <a:t>中断处理函数的</a:t>
            </a:r>
            <a:r>
              <a:rPr lang="zh-CN" altLang="en-US"/>
              <a:t>情况</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8"/>
                                        </p:tgtEl>
                                        <p:attrNameLst>
                                          <p:attrName>style.visibility</p:attrName>
                                        </p:attrNameLst>
                                      </p:cBhvr>
                                      <p:to>
                                        <p:strVal val="visible"/>
                                      </p:to>
                                    </p:set>
                                    <p:animEffect transition="in" filter="wipe(right)">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外部中断</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150174" y="6518176"/>
            <a:ext cx="8024939" cy="338554"/>
            <a:chOff x="1277256" y="6519446"/>
            <a:chExt cx="8024939" cy="338554"/>
          </a:xfrm>
        </p:grpSpPr>
        <p:sp>
          <p:nvSpPr>
            <p:cNvPr id="29" name="矩形 28"/>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10</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722630" y="931545"/>
            <a:ext cx="8202295" cy="645160"/>
          </a:xfrm>
          <a:prstGeom prst="rect">
            <a:avLst/>
          </a:prstGeom>
          <a:noFill/>
        </p:spPr>
        <p:txBody>
          <a:bodyPr wrap="square" rtlCol="0">
            <a:spAutoFit/>
          </a:bodyPr>
          <a:p>
            <a:r>
              <a:rPr lang="en-US" altLang="zh-CN"/>
              <a:t>5</a:t>
            </a:r>
            <a:r>
              <a:rPr lang="zh-CN" altLang="en-US"/>
              <a:t>，在</a:t>
            </a:r>
            <a:r>
              <a:rPr lang="en-US" altLang="zh-CN"/>
              <a:t>keil</a:t>
            </a:r>
            <a:r>
              <a:rPr lang="zh-CN" altLang="en-US"/>
              <a:t>里找到</a:t>
            </a:r>
            <a:r>
              <a:rPr lang="en-US" altLang="zh-CN"/>
              <a:t>stm32</a:t>
            </a:r>
            <a:r>
              <a:rPr lang="zh-CN" altLang="en-US"/>
              <a:t>发</a:t>
            </a:r>
            <a:r>
              <a:rPr lang="en-US" altLang="zh-CN"/>
              <a:t>03xx_it.c</a:t>
            </a:r>
            <a:r>
              <a:rPr lang="zh-CN" altLang="en-US"/>
              <a:t>文件，在他的最下面有你配置的对应中断的中断处理函数</a:t>
            </a:r>
            <a:r>
              <a:rPr lang="en-US" altLang="zh-CN"/>
              <a:t>IRQhandeler</a:t>
            </a:r>
            <a:r>
              <a:rPr lang="zh-CN" altLang="en-US"/>
              <a:t>，即</a:t>
            </a:r>
            <a:r>
              <a:rPr lang="zh-CN" altLang="en-US">
                <a:highlight>
                  <a:srgbClr val="FFFF00"/>
                </a:highlight>
              </a:rPr>
              <a:t>一旦触发了这个中断，就会进入这个中断处理函数</a:t>
            </a:r>
            <a:endParaRPr lang="zh-CN" altLang="en-US">
              <a:highlight>
                <a:srgbClr val="FFFF00"/>
              </a:highlight>
            </a:endParaRPr>
          </a:p>
        </p:txBody>
      </p:sp>
      <p:pic>
        <p:nvPicPr>
          <p:cNvPr id="3" name="图片 2"/>
          <p:cNvPicPr>
            <a:picLocks noChangeAspect="1"/>
          </p:cNvPicPr>
          <p:nvPr>
            <p:custDataLst>
              <p:tags r:id="rId1"/>
            </p:custDataLst>
          </p:nvPr>
        </p:nvPicPr>
        <p:blipFill>
          <a:blip r:embed="rId2"/>
          <a:stretch>
            <a:fillRect/>
          </a:stretch>
        </p:blipFill>
        <p:spPr>
          <a:xfrm>
            <a:off x="610870" y="1709420"/>
            <a:ext cx="7927340" cy="4652645"/>
          </a:xfrm>
          <a:prstGeom prst="rect">
            <a:avLst/>
          </a:prstGeom>
        </p:spPr>
      </p:pic>
      <p:sp>
        <p:nvSpPr>
          <p:cNvPr id="4" name="矩形 3"/>
          <p:cNvSpPr/>
          <p:nvPr/>
        </p:nvSpPr>
        <p:spPr>
          <a:xfrm>
            <a:off x="4284980" y="5020310"/>
            <a:ext cx="3749040" cy="611505"/>
          </a:xfrm>
          <a:prstGeom prst="rect">
            <a:avLst/>
          </a:prstGeom>
          <a:noFill/>
          <a:ln w="190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8"/>
                                        </p:tgtEl>
                                        <p:attrNameLst>
                                          <p:attrName>style.visibility</p:attrName>
                                        </p:attrNameLst>
                                      </p:cBhvr>
                                      <p:to>
                                        <p:strVal val="visible"/>
                                      </p:to>
                                    </p:set>
                                    <p:animEffect transition="in" filter="wipe(right)">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外部中断</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150174" y="6518176"/>
            <a:ext cx="8024939" cy="338554"/>
            <a:chOff x="1277256" y="6519446"/>
            <a:chExt cx="8024939" cy="338554"/>
          </a:xfrm>
        </p:grpSpPr>
        <p:sp>
          <p:nvSpPr>
            <p:cNvPr id="29" name="矩形 28"/>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10</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2" name="图片 1"/>
          <p:cNvPicPr>
            <a:picLocks noChangeAspect="1"/>
          </p:cNvPicPr>
          <p:nvPr/>
        </p:nvPicPr>
        <p:blipFill>
          <a:blip r:embed="rId1"/>
          <a:stretch>
            <a:fillRect/>
          </a:stretch>
        </p:blipFill>
        <p:spPr>
          <a:xfrm>
            <a:off x="676275" y="1595120"/>
            <a:ext cx="6761480" cy="4185920"/>
          </a:xfrm>
          <a:prstGeom prst="rect">
            <a:avLst/>
          </a:prstGeom>
        </p:spPr>
      </p:pic>
      <p:sp>
        <p:nvSpPr>
          <p:cNvPr id="5" name="文本框 4"/>
          <p:cNvSpPr txBox="1"/>
          <p:nvPr/>
        </p:nvSpPr>
        <p:spPr>
          <a:xfrm>
            <a:off x="880745" y="1151255"/>
            <a:ext cx="5212080" cy="368300"/>
          </a:xfrm>
          <a:prstGeom prst="rect">
            <a:avLst/>
          </a:prstGeom>
          <a:noFill/>
        </p:spPr>
        <p:txBody>
          <a:bodyPr wrap="none" rtlCol="0">
            <a:spAutoFit/>
          </a:bodyPr>
          <a:p>
            <a:r>
              <a:rPr lang="zh-CN" altLang="en-US"/>
              <a:t>但是直接在这里复制按键控制代码会发现程序</a:t>
            </a:r>
            <a:r>
              <a:rPr lang="zh-CN" altLang="en-US"/>
              <a:t>卡死</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8"/>
                                        </p:tgtEl>
                                        <p:attrNameLst>
                                          <p:attrName>style.visibility</p:attrName>
                                        </p:attrNameLst>
                                      </p:cBhvr>
                                      <p:to>
                                        <p:strVal val="visible"/>
                                      </p:to>
                                    </p:set>
                                    <p:animEffect transition="in" filter="wipe(right)">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外部中断</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150174" y="6518176"/>
            <a:ext cx="8024939" cy="338554"/>
            <a:chOff x="1277256" y="6519446"/>
            <a:chExt cx="8024939" cy="338554"/>
          </a:xfrm>
        </p:grpSpPr>
        <p:sp>
          <p:nvSpPr>
            <p:cNvPr id="29" name="矩形 28"/>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10</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712470" y="1172210"/>
            <a:ext cx="2926080" cy="368300"/>
          </a:xfrm>
          <a:prstGeom prst="rect">
            <a:avLst/>
          </a:prstGeom>
          <a:noFill/>
        </p:spPr>
        <p:txBody>
          <a:bodyPr wrap="none" rtlCol="0">
            <a:spAutoFit/>
          </a:bodyPr>
          <a:p>
            <a:r>
              <a:rPr lang="zh-CN" altLang="en-US"/>
              <a:t>这是因为中断优先级的</a:t>
            </a:r>
            <a:r>
              <a:rPr lang="zh-CN" altLang="en-US"/>
              <a:t>问题</a:t>
            </a:r>
            <a:endParaRPr lang="zh-CN" altLang="en-US"/>
          </a:p>
        </p:txBody>
      </p:sp>
      <p:sp>
        <p:nvSpPr>
          <p:cNvPr id="3" name="文本框 2"/>
          <p:cNvSpPr txBox="1"/>
          <p:nvPr/>
        </p:nvSpPr>
        <p:spPr>
          <a:xfrm>
            <a:off x="786765" y="1642745"/>
            <a:ext cx="8284210" cy="922020"/>
          </a:xfrm>
          <a:prstGeom prst="rect">
            <a:avLst/>
          </a:prstGeom>
          <a:noFill/>
        </p:spPr>
        <p:txBody>
          <a:bodyPr wrap="square" rtlCol="0">
            <a:spAutoFit/>
          </a:bodyPr>
          <a:p>
            <a:r>
              <a:rPr lang="en-US" altLang="zh-CN"/>
              <a:t>HAL_Delay</a:t>
            </a:r>
            <a:r>
              <a:rPr lang="zh-CN" altLang="en-US"/>
              <a:t>是</a:t>
            </a:r>
            <a:r>
              <a:rPr lang="en-US" altLang="zh-CN"/>
              <a:t>hal</a:t>
            </a:r>
            <a:r>
              <a:rPr lang="zh-CN" altLang="en-US"/>
              <a:t>库自带的延时函数，依赖于</a:t>
            </a:r>
            <a:r>
              <a:rPr lang="en-US" altLang="zh-CN"/>
              <a:t>systemTick</a:t>
            </a:r>
            <a:r>
              <a:rPr lang="zh-CN" altLang="en-US"/>
              <a:t>定时器，而他的优先级是</a:t>
            </a:r>
            <a:r>
              <a:rPr lang="en-US" altLang="zh-CN"/>
              <a:t>15</a:t>
            </a:r>
            <a:r>
              <a:rPr lang="zh-CN" altLang="en-US"/>
              <a:t>，比我们配置的外部中断的优先级低（</a:t>
            </a:r>
            <a:r>
              <a:rPr lang="zh-CN" altLang="en-US" dirty="0" smtClean="0">
                <a:highlight>
                  <a:srgbClr val="FFFF00"/>
                </a:highlight>
                <a:sym typeface="+mn-ea"/>
              </a:rPr>
              <a:t>优先级的数字越小，优先级越高，越重要，越先处理</a:t>
            </a:r>
            <a:r>
              <a:rPr lang="zh-CN" altLang="en-US" dirty="0" smtClean="0">
                <a:sym typeface="+mn-ea"/>
              </a:rPr>
              <a:t>），所以他不能在我们的外部中断处理函数中执行，所以</a:t>
            </a:r>
            <a:r>
              <a:rPr lang="zh-CN" altLang="en-US" dirty="0" smtClean="0">
                <a:sym typeface="+mn-ea"/>
              </a:rPr>
              <a:t>卡死</a:t>
            </a:r>
            <a:endParaRPr lang="zh-CN" altLang="en-US" dirty="0" smtClean="0">
              <a:sym typeface="+mn-ea"/>
            </a:endParaRPr>
          </a:p>
        </p:txBody>
      </p:sp>
      <p:pic>
        <p:nvPicPr>
          <p:cNvPr id="4" name="图片 3"/>
          <p:cNvPicPr>
            <a:picLocks noChangeAspect="1"/>
          </p:cNvPicPr>
          <p:nvPr/>
        </p:nvPicPr>
        <p:blipFill>
          <a:blip r:embed="rId1"/>
          <a:stretch>
            <a:fillRect/>
          </a:stretch>
        </p:blipFill>
        <p:spPr>
          <a:xfrm>
            <a:off x="794385" y="2667000"/>
            <a:ext cx="7386320" cy="3224530"/>
          </a:xfrm>
          <a:prstGeom prst="rect">
            <a:avLst/>
          </a:prstGeom>
        </p:spPr>
      </p:pic>
      <p:sp>
        <p:nvSpPr>
          <p:cNvPr id="5" name="文本框 4"/>
          <p:cNvSpPr txBox="1"/>
          <p:nvPr/>
        </p:nvSpPr>
        <p:spPr>
          <a:xfrm>
            <a:off x="712470" y="5993765"/>
            <a:ext cx="8358505" cy="645160"/>
          </a:xfrm>
          <a:prstGeom prst="rect">
            <a:avLst/>
          </a:prstGeom>
          <a:noFill/>
        </p:spPr>
        <p:txBody>
          <a:bodyPr wrap="square" rtlCol="0">
            <a:spAutoFit/>
          </a:bodyPr>
          <a:p>
            <a:pPr algn="l"/>
            <a:r>
              <a:rPr lang="zh-CN" altLang="en-US"/>
              <a:t>解决方法：让</a:t>
            </a:r>
            <a:r>
              <a:rPr lang="en-US" altLang="zh-CN">
                <a:sym typeface="+mn-ea"/>
              </a:rPr>
              <a:t>systemTick</a:t>
            </a:r>
            <a:r>
              <a:rPr lang="zh-CN" altLang="en-US">
                <a:sym typeface="+mn-ea"/>
              </a:rPr>
              <a:t>定时器的中断优先级高于我们的外部中断，即他的数字小，例如</a:t>
            </a:r>
            <a:r>
              <a:rPr lang="en-US" altLang="zh-CN">
                <a:sym typeface="+mn-ea"/>
              </a:rPr>
              <a:t>systick</a:t>
            </a:r>
            <a:r>
              <a:rPr lang="zh-CN" altLang="en-US">
                <a:sym typeface="+mn-ea"/>
              </a:rPr>
              <a:t>设为</a:t>
            </a:r>
            <a:r>
              <a:rPr lang="en-US" altLang="zh-CN">
                <a:sym typeface="+mn-ea"/>
              </a:rPr>
              <a:t>14</a:t>
            </a:r>
            <a:r>
              <a:rPr lang="zh-CN" altLang="en-US">
                <a:sym typeface="+mn-ea"/>
              </a:rPr>
              <a:t>，</a:t>
            </a:r>
            <a:r>
              <a:rPr lang="en-US" altLang="zh-CN">
                <a:sym typeface="+mn-ea"/>
              </a:rPr>
              <a:t>EXTI</a:t>
            </a:r>
            <a:r>
              <a:rPr lang="zh-CN" altLang="en-US">
                <a:sym typeface="+mn-ea"/>
              </a:rPr>
              <a:t>设为</a:t>
            </a:r>
            <a:r>
              <a:rPr lang="en-US" altLang="zh-CN">
                <a:sym typeface="+mn-ea"/>
              </a:rPr>
              <a:t>15</a:t>
            </a:r>
            <a:endParaRPr lang="en-US" altLang="zh-CN">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8"/>
                                        </p:tgtEl>
                                        <p:attrNameLst>
                                          <p:attrName>style.visibility</p:attrName>
                                        </p:attrNameLst>
                                      </p:cBhvr>
                                      <p:to>
                                        <p:strVal val="visible"/>
                                      </p:to>
                                    </p:set>
                                    <p:animEffect transition="in" filter="wipe(right)">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外部中断</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150174" y="6518176"/>
            <a:ext cx="8024939" cy="338554"/>
            <a:chOff x="1277256" y="6519446"/>
            <a:chExt cx="8024939" cy="338554"/>
          </a:xfrm>
        </p:grpSpPr>
        <p:sp>
          <p:nvSpPr>
            <p:cNvPr id="29" name="矩形 28"/>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10</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3" name="文本框 2"/>
          <p:cNvSpPr txBox="1"/>
          <p:nvPr/>
        </p:nvSpPr>
        <p:spPr>
          <a:xfrm>
            <a:off x="644525" y="1079500"/>
            <a:ext cx="1255395" cy="521970"/>
          </a:xfrm>
          <a:prstGeom prst="rect">
            <a:avLst/>
          </a:prstGeom>
          <a:noFill/>
        </p:spPr>
        <p:txBody>
          <a:bodyPr wrap="none" rtlCol="0">
            <a:spAutoFit/>
          </a:bodyPr>
          <a:p>
            <a:r>
              <a:rPr lang="zh-CN" altLang="en-US" sz="2800" b="1"/>
              <a:t>注意：</a:t>
            </a:r>
            <a:endParaRPr lang="zh-CN" altLang="en-US" sz="2800" b="1"/>
          </a:p>
        </p:txBody>
      </p:sp>
      <p:sp>
        <p:nvSpPr>
          <p:cNvPr id="4" name="文本框 3"/>
          <p:cNvSpPr txBox="1"/>
          <p:nvPr/>
        </p:nvSpPr>
        <p:spPr>
          <a:xfrm>
            <a:off x="777240" y="1670050"/>
            <a:ext cx="7862570" cy="706755"/>
          </a:xfrm>
          <a:prstGeom prst="rect">
            <a:avLst/>
          </a:prstGeom>
          <a:noFill/>
        </p:spPr>
        <p:txBody>
          <a:bodyPr wrap="square" rtlCol="0">
            <a:spAutoFit/>
          </a:bodyPr>
          <a:p>
            <a:r>
              <a:rPr lang="zh-CN" altLang="en-US" sz="2000"/>
              <a:t>中断里最好不要放特别消耗时间的任务，因为中断要求快速完成以免影响到主要任务</a:t>
            </a:r>
            <a:endParaRPr lang="zh-CN" altLang="en-US" sz="2000"/>
          </a:p>
        </p:txBody>
      </p:sp>
      <p:sp>
        <p:nvSpPr>
          <p:cNvPr id="6" name="文本框 5"/>
          <p:cNvSpPr txBox="1"/>
          <p:nvPr/>
        </p:nvSpPr>
        <p:spPr>
          <a:xfrm>
            <a:off x="880745" y="2676525"/>
            <a:ext cx="7342505" cy="706755"/>
          </a:xfrm>
          <a:prstGeom prst="rect">
            <a:avLst/>
          </a:prstGeom>
          <a:noFill/>
        </p:spPr>
        <p:txBody>
          <a:bodyPr wrap="square" rtlCol="0">
            <a:spAutoFit/>
          </a:bodyPr>
          <a:p>
            <a:r>
              <a:rPr lang="zh-CN" altLang="en-US" sz="2000"/>
              <a:t>例如：</a:t>
            </a:r>
            <a:r>
              <a:rPr lang="en-US" altLang="zh-CN" sz="2000"/>
              <a:t>oled</a:t>
            </a:r>
            <a:r>
              <a:rPr lang="zh-CN" altLang="en-US" sz="2000"/>
              <a:t>屏幕的显示等需要一定时间才能执行完的代码就最好不要放在中断里面执行</a:t>
            </a:r>
            <a:endParaRPr lang="zh-CN" altLang="en-US" sz="2000"/>
          </a:p>
        </p:txBody>
      </p:sp>
      <p:sp>
        <p:nvSpPr>
          <p:cNvPr id="7" name="文本框 6"/>
          <p:cNvSpPr txBox="1"/>
          <p:nvPr/>
        </p:nvSpPr>
        <p:spPr>
          <a:xfrm>
            <a:off x="880745" y="3798570"/>
            <a:ext cx="7414895" cy="1938020"/>
          </a:xfrm>
          <a:prstGeom prst="rect">
            <a:avLst/>
          </a:prstGeom>
          <a:noFill/>
        </p:spPr>
        <p:txBody>
          <a:bodyPr wrap="square" rtlCol="0">
            <a:spAutoFit/>
          </a:bodyPr>
          <a:p>
            <a:r>
              <a:rPr lang="zh-CN" altLang="en-US" sz="2400"/>
              <a:t>优化方法：</a:t>
            </a:r>
            <a:endParaRPr lang="zh-CN" altLang="en-US" sz="2400"/>
          </a:p>
          <a:p>
            <a:r>
              <a:rPr lang="en-US" altLang="zh-CN" sz="2400"/>
              <a:t>way1</a:t>
            </a:r>
            <a:r>
              <a:rPr lang="zh-CN" altLang="en-US" sz="2400"/>
              <a:t>：设置一个标志位，在中断里只改变标志位（几乎不消耗时间），在</a:t>
            </a:r>
            <a:r>
              <a:rPr lang="en-US" altLang="zh-CN" sz="2400"/>
              <a:t>while</a:t>
            </a:r>
            <a:r>
              <a:rPr lang="zh-CN" altLang="en-US" sz="2400"/>
              <a:t>里面进行对标志位的判断来执行具体代码</a:t>
            </a:r>
            <a:endParaRPr lang="zh-CN" altLang="en-US" sz="2400"/>
          </a:p>
          <a:p>
            <a:r>
              <a:rPr lang="en-US" altLang="zh-CN" sz="2400"/>
              <a:t>way2</a:t>
            </a:r>
            <a:r>
              <a:rPr lang="zh-CN" altLang="en-US" sz="2400"/>
              <a:t>：使用状态机等更高级的算法</a:t>
            </a:r>
            <a:endParaRPr lang="zh-CN" altLang="en-US" sz="24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8"/>
                                        </p:tgtEl>
                                        <p:attrNameLst>
                                          <p:attrName>style.visibility</p:attrName>
                                        </p:attrNameLst>
                                      </p:cBhvr>
                                      <p:to>
                                        <p:strVal val="visible"/>
                                      </p:to>
                                    </p:set>
                                    <p:animEffect transition="in" filter="wipe(right)">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外部中断</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150174" y="6518176"/>
            <a:ext cx="8024939" cy="338554"/>
            <a:chOff x="1277256" y="6519446"/>
            <a:chExt cx="8024939" cy="338554"/>
          </a:xfrm>
        </p:grpSpPr>
        <p:sp>
          <p:nvSpPr>
            <p:cNvPr id="29" name="矩形 28"/>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10</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3" name="图片 2"/>
          <p:cNvPicPr>
            <a:picLocks noChangeAspect="1"/>
          </p:cNvPicPr>
          <p:nvPr/>
        </p:nvPicPr>
        <p:blipFill>
          <a:blip r:embed="rId1"/>
          <a:srcRect l="510"/>
          <a:stretch>
            <a:fillRect/>
          </a:stretch>
        </p:blipFill>
        <p:spPr>
          <a:xfrm>
            <a:off x="46355" y="3025775"/>
            <a:ext cx="9044940" cy="2751455"/>
          </a:xfrm>
          <a:prstGeom prst="rect">
            <a:avLst/>
          </a:prstGeom>
        </p:spPr>
      </p:pic>
      <p:sp>
        <p:nvSpPr>
          <p:cNvPr id="4" name="文本框 3"/>
          <p:cNvSpPr txBox="1"/>
          <p:nvPr/>
        </p:nvSpPr>
        <p:spPr>
          <a:xfrm>
            <a:off x="1100455" y="1356360"/>
            <a:ext cx="3859530" cy="829945"/>
          </a:xfrm>
          <a:prstGeom prst="rect">
            <a:avLst/>
          </a:prstGeom>
          <a:noFill/>
        </p:spPr>
        <p:txBody>
          <a:bodyPr wrap="none" rtlCol="0">
            <a:spAutoFit/>
          </a:bodyPr>
          <a:p>
            <a:r>
              <a:rPr lang="zh-CN" altLang="en-US" sz="2400"/>
              <a:t>方法二，懒得在</a:t>
            </a:r>
            <a:r>
              <a:rPr lang="en-US" altLang="zh-CN" sz="2400"/>
              <a:t>_it</a:t>
            </a:r>
            <a:r>
              <a:rPr lang="zh-CN" altLang="en-US" sz="2400"/>
              <a:t>文件里找</a:t>
            </a:r>
            <a:endParaRPr lang="zh-CN" altLang="en-US" sz="2400"/>
          </a:p>
          <a:p>
            <a:r>
              <a:rPr lang="zh-CN" altLang="en-US" sz="2400"/>
              <a:t>可以使用中断回调函数</a:t>
            </a:r>
            <a:endParaRPr lang="zh-CN" altLang="en-US" sz="2400"/>
          </a:p>
        </p:txBody>
      </p:sp>
      <p:sp>
        <p:nvSpPr>
          <p:cNvPr id="6" name="文本框 5"/>
          <p:cNvSpPr txBox="1"/>
          <p:nvPr/>
        </p:nvSpPr>
        <p:spPr>
          <a:xfrm>
            <a:off x="3159125" y="3088005"/>
            <a:ext cx="4083050" cy="368300"/>
          </a:xfrm>
          <a:prstGeom prst="rect">
            <a:avLst/>
          </a:prstGeom>
          <a:noFill/>
        </p:spPr>
        <p:txBody>
          <a:bodyPr wrap="none" rtlCol="0">
            <a:spAutoFit/>
          </a:bodyPr>
          <a:p>
            <a:r>
              <a:rPr lang="zh-CN" altLang="en-US"/>
              <a:t>准确说应该叫</a:t>
            </a:r>
            <a:r>
              <a:rPr lang="en-US" altLang="zh-CN"/>
              <a:t>GPIO</a:t>
            </a:r>
            <a:r>
              <a:rPr lang="zh-CN" altLang="en-US"/>
              <a:t>外部中断的</a:t>
            </a:r>
            <a:r>
              <a:rPr lang="zh-CN" altLang="en-US"/>
              <a:t>回调函数</a:t>
            </a:r>
            <a:endParaRPr lang="zh-CN" altLang="en-US"/>
          </a:p>
        </p:txBody>
      </p:sp>
      <p:sp>
        <p:nvSpPr>
          <p:cNvPr id="7" name="文本框 6"/>
          <p:cNvSpPr txBox="1"/>
          <p:nvPr/>
        </p:nvSpPr>
        <p:spPr>
          <a:xfrm>
            <a:off x="1276985" y="2421890"/>
            <a:ext cx="2926080" cy="368300"/>
          </a:xfrm>
          <a:prstGeom prst="rect">
            <a:avLst/>
          </a:prstGeom>
          <a:noFill/>
        </p:spPr>
        <p:txBody>
          <a:bodyPr wrap="none" rtlCol="0">
            <a:spAutoFit/>
          </a:bodyPr>
          <a:p>
            <a:r>
              <a:rPr lang="zh-CN" altLang="en-US"/>
              <a:t>任选两种写法中的一种</a:t>
            </a:r>
            <a:r>
              <a:rPr lang="zh-CN" altLang="en-US"/>
              <a:t>即可</a:t>
            </a:r>
            <a:endParaRPr lang="zh-CN" altLang="en-US"/>
          </a:p>
        </p:txBody>
      </p:sp>
      <p:sp>
        <p:nvSpPr>
          <p:cNvPr id="8" name="文本框 7"/>
          <p:cNvSpPr txBox="1"/>
          <p:nvPr/>
        </p:nvSpPr>
        <p:spPr>
          <a:xfrm>
            <a:off x="1035685" y="5943600"/>
            <a:ext cx="3699510" cy="368300"/>
          </a:xfrm>
          <a:prstGeom prst="rect">
            <a:avLst/>
          </a:prstGeom>
          <a:noFill/>
        </p:spPr>
        <p:txBody>
          <a:bodyPr wrap="none" rtlCol="0">
            <a:spAutoFit/>
          </a:bodyPr>
          <a:p>
            <a:r>
              <a:rPr lang="en-US" altLang="zh-CN"/>
              <a:t>   </a:t>
            </a:r>
            <a:r>
              <a:rPr lang="zh-CN" altLang="en-US"/>
              <a:t>这个可以放在</a:t>
            </a:r>
            <a:r>
              <a:rPr lang="en-US" altLang="zh-CN"/>
              <a:t>main.c</a:t>
            </a:r>
            <a:r>
              <a:rPr lang="zh-CN" altLang="en-US"/>
              <a:t>里，比较</a:t>
            </a:r>
            <a:r>
              <a:rPr lang="zh-CN" altLang="en-US"/>
              <a:t>方便</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8"/>
                                        </p:tgtEl>
                                        <p:attrNameLst>
                                          <p:attrName>style.visibility</p:attrName>
                                        </p:attrNameLst>
                                      </p:cBhvr>
                                      <p:to>
                                        <p:strVal val="visible"/>
                                      </p:to>
                                    </p:set>
                                    <p:animEffect transition="in" filter="wipe(right)">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1851645"/>
            <a:ext cx="4205521" cy="3154710"/>
          </a:xfrm>
          <a:prstGeom prst="rect">
            <a:avLst/>
          </a:prstGeom>
          <a:noFill/>
        </p:spPr>
        <p:txBody>
          <a:bodyPr wrap="square" rtlCol="0">
            <a:spAutoFit/>
          </a:bodyPr>
          <a:lstStyle/>
          <a:p>
            <a:pPr algn="ctr"/>
            <a:r>
              <a:rPr lang="en-US" altLang="zh-CN"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04</a:t>
            </a:r>
            <a:endParaRPr lang="zh-CN" altLang="en-US"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p:cNvSpPr txBox="1"/>
          <p:nvPr/>
        </p:nvSpPr>
        <p:spPr>
          <a:xfrm>
            <a:off x="3673475" y="3102610"/>
            <a:ext cx="4958080" cy="706755"/>
          </a:xfrm>
          <a:prstGeom prst="rect">
            <a:avLst/>
          </a:prstGeom>
          <a:noFill/>
        </p:spPr>
        <p:txBody>
          <a:bodyPr wrap="square" rtlCol="0">
            <a:spAutoFit/>
          </a:bodyPr>
          <a:lstStyle/>
          <a:p>
            <a:r>
              <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rPr>
              <a:t>定时器</a:t>
            </a:r>
            <a:r>
              <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rPr>
              <a:t>与定时器</a:t>
            </a:r>
            <a:r>
              <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rPr>
              <a:t>中断</a:t>
            </a:r>
            <a:endPar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3911292" y="3755365"/>
            <a:ext cx="4663440" cy="108000"/>
            <a:chOff x="3649980" y="3375660"/>
            <a:chExt cx="4663440" cy="108000"/>
          </a:xfrm>
        </p:grpSpPr>
        <p:cxnSp>
          <p:nvCxnSpPr>
            <p:cNvPr id="10" name="直接连接符 9"/>
            <p:cNvCxnSpPr/>
            <p:nvPr/>
          </p:nvCxnSpPr>
          <p:spPr>
            <a:xfrm>
              <a:off x="3733800" y="3429660"/>
              <a:ext cx="44958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364998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820542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useBgFill="1">
        <p:nvSpPr>
          <p:cNvPr id="16" name="文本框 15"/>
          <p:cNvSpPr txBox="1"/>
          <p:nvPr/>
        </p:nvSpPr>
        <p:spPr>
          <a:xfrm>
            <a:off x="487591" y="3105835"/>
            <a:ext cx="3230339" cy="646331"/>
          </a:xfrm>
          <a:prstGeom prst="rect">
            <a:avLst/>
          </a:prstGeom>
        </p:spPr>
        <p:txBody>
          <a:bodyPr wrap="square" rtlCol="0">
            <a:spAutoFit/>
          </a:bodyPr>
          <a:lstStyle/>
          <a:p>
            <a:pPr algn="ctr"/>
            <a:r>
              <a:rPr lang="en-US" altLang="zh-CN" sz="3600" b="1" dirty="0">
                <a:solidFill>
                  <a:schemeClr val="accent1"/>
                </a:solidFill>
                <a:latin typeface="Times New Roman" panose="02020603050405020304" pitchFamily="18" charset="0"/>
                <a:cs typeface="Times New Roman" panose="02020603050405020304" pitchFamily="18" charset="0"/>
              </a:rPr>
              <a:t>PART FOUR</a:t>
            </a:r>
            <a:endParaRPr lang="zh-CN" altLang="en-US" sz="3600"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12" presetClass="entr" presetSubtype="4"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p:tgtEl>
                                          <p:spTgt spid="7"/>
                                        </p:tgtEl>
                                        <p:attrNameLst>
                                          <p:attrName>ppt_y</p:attrName>
                                        </p:attrNameLst>
                                      </p:cBhvr>
                                      <p:tavLst>
                                        <p:tav tm="0">
                                          <p:val>
                                            <p:strVal val="#ppt_y+#ppt_h*1.125000"/>
                                          </p:val>
                                        </p:tav>
                                        <p:tav tm="100000">
                                          <p:val>
                                            <p:strVal val="#ppt_y"/>
                                          </p:val>
                                        </p:tav>
                                      </p:tavLst>
                                    </p:anim>
                                    <p:animEffect transition="in" filter="wipe(up)">
                                      <p:cBhvr>
                                        <p:cTn id="13" dur="500"/>
                                        <p:tgtEl>
                                          <p:spTgt spid="7"/>
                                        </p:tgtEl>
                                      </p:cBhvr>
                                    </p:animEffect>
                                  </p:childTnLst>
                                </p:cTn>
                              </p:par>
                              <p:par>
                                <p:cTn id="14" presetID="22" presetClass="entr" presetSubtype="8"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par>
                                <p:cTn id="17" presetID="16" presetClass="entr" presetSubtype="37" fill="hold" grpId="0" nodeType="withEffect">
                                  <p:stCondLst>
                                    <p:cond delay="400"/>
                                  </p:stCondLst>
                                  <p:childTnLst>
                                    <p:set>
                                      <p:cBhvr>
                                        <p:cTn id="18" dur="1" fill="hold">
                                          <p:stCondLst>
                                            <p:cond delay="0"/>
                                          </p:stCondLst>
                                        </p:cTn>
                                        <p:tgtEl>
                                          <p:spTgt spid="16"/>
                                        </p:tgtEl>
                                        <p:attrNameLst>
                                          <p:attrName>style.visibility</p:attrName>
                                        </p:attrNameLst>
                                      </p:cBhvr>
                                      <p:to>
                                        <p:strVal val="visible"/>
                                      </p:to>
                                    </p:set>
                                    <p:animEffect transition="in" filter="barn(outVertical)">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定时器</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中断</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32089" y="652071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6" name="文本框 5"/>
          <p:cNvSpPr txBox="1"/>
          <p:nvPr>
            <p:custDataLst>
              <p:tags r:id="rId1"/>
            </p:custDataLst>
          </p:nvPr>
        </p:nvSpPr>
        <p:spPr>
          <a:xfrm>
            <a:off x="321310" y="925830"/>
            <a:ext cx="8285480" cy="2390775"/>
          </a:xfrm>
          <a:prstGeom prst="rect">
            <a:avLst/>
          </a:prstGeom>
          <a:noFill/>
        </p:spPr>
        <p:txBody>
          <a:bodyPr wrap="square" rtlCol="0">
            <a:noAutofit/>
          </a:bodyPr>
          <a:p>
            <a:pPr marL="0" indent="0">
              <a:buNone/>
            </a:pPr>
            <a:r>
              <a:rPr lang="en-US" altLang="zh-CN" sz="2400">
                <a:sym typeface="+mn-ea"/>
              </a:rPr>
              <a:t>Timer</a:t>
            </a:r>
            <a:r>
              <a:rPr lang="zh-CN" altLang="en-US" sz="2400">
                <a:sym typeface="+mn-ea"/>
              </a:rPr>
              <a:t>（</a:t>
            </a:r>
            <a:r>
              <a:rPr lang="zh-CN" altLang="en-US" sz="2400">
                <a:sym typeface="+mn-ea"/>
              </a:rPr>
              <a:t>定时器）</a:t>
            </a:r>
            <a:endParaRPr lang="zh-CN" altLang="en-US" sz="2400">
              <a:sym typeface="+mn-ea"/>
            </a:endParaRPr>
          </a:p>
          <a:p>
            <a:pPr marL="0" indent="0">
              <a:buNone/>
            </a:pPr>
            <a:r>
              <a:rPr lang="zh-CN" altLang="en-US" sz="2400">
                <a:sym typeface="+mn-ea"/>
              </a:rPr>
              <a:t>定时器可以对输入的时钟进行计数，并在计数值达到设定值时触发中断，就像一个闹钟。</a:t>
            </a:r>
            <a:endParaRPr lang="en-US" altLang="zh-CN" sz="2400"/>
          </a:p>
          <a:p>
            <a:pPr marL="0" indent="0">
              <a:buNone/>
            </a:pPr>
            <a:r>
              <a:rPr lang="zh-CN" altLang="en-US" sz="2400" dirty="0" smtClean="0">
                <a:solidFill>
                  <a:schemeClr val="tx1"/>
                </a:solidFill>
                <a:latin typeface="Times New Roman" panose="02020603050405020304" pitchFamily="18" charset="0"/>
                <a:cs typeface="Times New Roman" panose="02020603050405020304" pitchFamily="18" charset="0"/>
                <a:sym typeface="+mn-ea"/>
              </a:rPr>
              <a:t>定时器可以理解为一个</a:t>
            </a:r>
            <a:r>
              <a:rPr lang="zh-CN" altLang="en-US" sz="2400" dirty="0" smtClean="0">
                <a:solidFill>
                  <a:schemeClr val="tx1"/>
                </a:solidFill>
                <a:latin typeface="Times New Roman" panose="02020603050405020304" pitchFamily="18" charset="0"/>
                <a:cs typeface="Times New Roman" panose="02020603050405020304" pitchFamily="18" charset="0"/>
                <a:sym typeface="+mn-ea"/>
              </a:rPr>
              <a:t>计数器。</a:t>
            </a:r>
            <a:endParaRPr lang="zh-CN" altLang="en-US" sz="2400" dirty="0" smtClean="0">
              <a:solidFill>
                <a:schemeClr val="tx1"/>
              </a:solidFill>
              <a:latin typeface="Times New Roman" panose="02020603050405020304" pitchFamily="18" charset="0"/>
              <a:cs typeface="Times New Roman" panose="02020603050405020304" pitchFamily="18" charset="0"/>
              <a:sym typeface="+mn-ea"/>
            </a:endParaRPr>
          </a:p>
        </p:txBody>
      </p:sp>
      <p:pic>
        <p:nvPicPr>
          <p:cNvPr id="3" name="图片 2"/>
          <p:cNvPicPr>
            <a:picLocks noChangeAspect="1"/>
          </p:cNvPicPr>
          <p:nvPr>
            <p:custDataLst>
              <p:tags r:id="rId2"/>
            </p:custDataLst>
          </p:nvPr>
        </p:nvPicPr>
        <p:blipFill>
          <a:blip r:embed="rId3"/>
          <a:stretch>
            <a:fillRect/>
          </a:stretch>
        </p:blipFill>
        <p:spPr>
          <a:xfrm>
            <a:off x="321310" y="2493645"/>
            <a:ext cx="8068310" cy="3291205"/>
          </a:xfrm>
          <a:prstGeom prst="rect">
            <a:avLst/>
          </a:prstGeom>
        </p:spPr>
      </p:pic>
      <p:sp>
        <p:nvSpPr>
          <p:cNvPr id="2" name="文本框 1"/>
          <p:cNvSpPr txBox="1"/>
          <p:nvPr/>
        </p:nvSpPr>
        <p:spPr>
          <a:xfrm>
            <a:off x="393065" y="5841365"/>
            <a:ext cx="8571865" cy="645160"/>
          </a:xfrm>
          <a:prstGeom prst="rect">
            <a:avLst/>
          </a:prstGeom>
          <a:noFill/>
        </p:spPr>
        <p:txBody>
          <a:bodyPr wrap="square" rtlCol="0">
            <a:spAutoFit/>
          </a:bodyPr>
          <a:p>
            <a:r>
              <a:rPr lang="zh-CN" altLang="en-US"/>
              <a:t>当时钟线上的脉冲信号进入定时器时，就会让定时器记的数</a:t>
            </a:r>
            <a:r>
              <a:rPr lang="en-US" altLang="zh-CN"/>
              <a:t>+1</a:t>
            </a:r>
            <a:r>
              <a:rPr lang="zh-CN" altLang="en-US"/>
              <a:t>，例如我们以</a:t>
            </a:r>
            <a:r>
              <a:rPr lang="en-US" altLang="zh-CN"/>
              <a:t>10hz</a:t>
            </a:r>
            <a:r>
              <a:rPr lang="zh-CN" altLang="en-US"/>
              <a:t>的脉冲输入定时器，那么定时器每次记录到</a:t>
            </a:r>
            <a:r>
              <a:rPr lang="en-US" altLang="zh-CN"/>
              <a:t>10</a:t>
            </a:r>
            <a:r>
              <a:rPr lang="zh-CN" altLang="en-US"/>
              <a:t>就知道过了</a:t>
            </a:r>
            <a:r>
              <a:rPr lang="zh-CN" altLang="en-US"/>
              <a:t>一秒</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定时器</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中断</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6" name="文本框 5"/>
          <p:cNvSpPr txBox="1"/>
          <p:nvPr>
            <p:custDataLst>
              <p:tags r:id="rId1"/>
            </p:custDataLst>
          </p:nvPr>
        </p:nvSpPr>
        <p:spPr>
          <a:xfrm>
            <a:off x="424815" y="925830"/>
            <a:ext cx="8285480" cy="5273675"/>
          </a:xfrm>
          <a:prstGeom prst="rect">
            <a:avLst/>
          </a:prstGeom>
          <a:noFill/>
        </p:spPr>
        <p:txBody>
          <a:bodyPr wrap="square" rtlCol="0">
            <a:noAutofit/>
          </a:bodyPr>
          <a:p>
            <a:pPr marL="0" indent="0">
              <a:buNone/>
            </a:pPr>
            <a:r>
              <a:rPr lang="zh-CN" altLang="en-US" sz="2400" dirty="0" smtClean="0">
                <a:solidFill>
                  <a:schemeClr val="tx1"/>
                </a:solidFill>
                <a:latin typeface="Times New Roman" panose="02020603050405020304" pitchFamily="18" charset="0"/>
                <a:cs typeface="Times New Roman" panose="02020603050405020304" pitchFamily="18" charset="0"/>
                <a:sym typeface="+mn-ea"/>
              </a:rPr>
              <a:t>定时器可以理解为一个</a:t>
            </a:r>
            <a:r>
              <a:rPr lang="zh-CN" altLang="en-US" sz="2400" dirty="0" smtClean="0">
                <a:solidFill>
                  <a:schemeClr val="tx1"/>
                </a:solidFill>
                <a:latin typeface="Times New Roman" panose="02020603050405020304" pitchFamily="18" charset="0"/>
                <a:cs typeface="Times New Roman" panose="02020603050405020304" pitchFamily="18" charset="0"/>
                <a:sym typeface="+mn-ea"/>
              </a:rPr>
              <a:t>计数器。</a:t>
            </a:r>
            <a:endParaRPr lang="zh-CN" altLang="en-US" sz="2400" dirty="0" smtClean="0">
              <a:solidFill>
                <a:schemeClr val="tx1"/>
              </a:solidFill>
              <a:latin typeface="Times New Roman" panose="02020603050405020304" pitchFamily="18" charset="0"/>
              <a:cs typeface="Times New Roman" panose="02020603050405020304" pitchFamily="18" charset="0"/>
              <a:sym typeface="+mn-ea"/>
            </a:endParaRPr>
          </a:p>
          <a:p>
            <a:pPr marL="0" indent="0">
              <a:buNone/>
            </a:pPr>
            <a:r>
              <a:rPr lang="zh-CN" altLang="en-US" sz="2400" dirty="0" smtClean="0">
                <a:solidFill>
                  <a:schemeClr val="tx1"/>
                </a:solidFill>
                <a:latin typeface="Times New Roman" panose="02020603050405020304" pitchFamily="18" charset="0"/>
                <a:cs typeface="Times New Roman" panose="02020603050405020304" pitchFamily="18" charset="0"/>
                <a:sym typeface="+mn-ea"/>
              </a:rPr>
              <a:t>通过</a:t>
            </a:r>
            <a:r>
              <a:rPr lang="zh-CN" altLang="en-US" sz="2400" b="1" i="1" dirty="0" smtClean="0">
                <a:solidFill>
                  <a:schemeClr val="tx1"/>
                </a:solidFill>
                <a:latin typeface="Times New Roman" panose="02020603050405020304" pitchFamily="18" charset="0"/>
                <a:cs typeface="Times New Roman" panose="02020603050405020304" pitchFamily="18" charset="0"/>
                <a:sym typeface="+mn-ea"/>
              </a:rPr>
              <a:t>可编程预分频器（</a:t>
            </a:r>
            <a:r>
              <a:rPr lang="en-US" altLang="zh-CN" sz="2400" b="1" i="1" dirty="0" smtClean="0">
                <a:solidFill>
                  <a:schemeClr val="tx1"/>
                </a:solidFill>
                <a:latin typeface="Times New Roman" panose="02020603050405020304" pitchFamily="18" charset="0"/>
                <a:cs typeface="Times New Roman" panose="02020603050405020304" pitchFamily="18" charset="0"/>
                <a:sym typeface="+mn-ea"/>
              </a:rPr>
              <a:t>Prescaler    </a:t>
            </a:r>
            <a:r>
              <a:rPr lang="en-US" altLang="zh-CN" sz="2400" dirty="0">
                <a:latin typeface="Microsoft YaHei UI" panose="020B0503020204020204" pitchFamily="34" charset="-122"/>
                <a:ea typeface="Microsoft YaHei UI" panose="020B0503020204020204" pitchFamily="34" charset="-122"/>
                <a:sym typeface="+mn-ea"/>
              </a:rPr>
              <a:t>PSC</a:t>
            </a:r>
            <a:r>
              <a:rPr lang="en-US" altLang="zh-CN" sz="2400" b="1" i="1" dirty="0" smtClean="0">
                <a:solidFill>
                  <a:schemeClr val="tx1"/>
                </a:solidFill>
                <a:latin typeface="Times New Roman" panose="02020603050405020304" pitchFamily="18" charset="0"/>
                <a:cs typeface="Times New Roman" panose="02020603050405020304" pitchFamily="18" charset="0"/>
                <a:sym typeface="+mn-ea"/>
              </a:rPr>
              <a:t>  </a:t>
            </a:r>
            <a:r>
              <a:rPr lang="zh-CN" altLang="en-US" sz="2400" b="1" i="1" dirty="0" smtClean="0">
                <a:solidFill>
                  <a:schemeClr val="tx1"/>
                </a:solidFill>
                <a:latin typeface="Times New Roman" panose="02020603050405020304" pitchFamily="18" charset="0"/>
                <a:cs typeface="Times New Roman" panose="02020603050405020304" pitchFamily="18" charset="0"/>
                <a:sym typeface="+mn-ea"/>
              </a:rPr>
              <a:t>）</a:t>
            </a:r>
            <a:r>
              <a:rPr lang="zh-CN" altLang="en-US" sz="2400" dirty="0" smtClean="0">
                <a:solidFill>
                  <a:schemeClr val="tx1"/>
                </a:solidFill>
                <a:latin typeface="Times New Roman" panose="02020603050405020304" pitchFamily="18" charset="0"/>
                <a:cs typeface="Times New Roman" panose="02020603050405020304" pitchFamily="18" charset="0"/>
                <a:sym typeface="+mn-ea"/>
              </a:rPr>
              <a:t>与</a:t>
            </a:r>
            <a:endParaRPr lang="zh-CN" altLang="en-US" sz="2400" dirty="0" smtClean="0">
              <a:solidFill>
                <a:schemeClr val="tx1"/>
              </a:solidFill>
              <a:latin typeface="Times New Roman" panose="02020603050405020304" pitchFamily="18" charset="0"/>
              <a:cs typeface="Times New Roman" panose="02020603050405020304" pitchFamily="18" charset="0"/>
              <a:sym typeface="+mn-ea"/>
            </a:endParaRPr>
          </a:p>
          <a:p>
            <a:pPr marL="0" indent="0">
              <a:buNone/>
            </a:pPr>
            <a:r>
              <a:rPr lang="zh-CN" altLang="en-US" sz="2400" b="1" i="1" dirty="0" smtClean="0">
                <a:solidFill>
                  <a:schemeClr val="tx1"/>
                </a:solidFill>
                <a:latin typeface="Times New Roman" panose="02020603050405020304" pitchFamily="18" charset="0"/>
                <a:cs typeface="Times New Roman" panose="02020603050405020304" pitchFamily="18" charset="0"/>
                <a:sym typeface="+mn-ea"/>
              </a:rPr>
              <a:t>主计数器（</a:t>
            </a:r>
            <a:r>
              <a:rPr lang="en-US" altLang="zh-CN" sz="2400" b="1" i="1" dirty="0" smtClean="0">
                <a:solidFill>
                  <a:schemeClr val="tx1"/>
                </a:solidFill>
                <a:latin typeface="Times New Roman" panose="02020603050405020304" pitchFamily="18" charset="0"/>
                <a:cs typeface="Times New Roman" panose="02020603050405020304" pitchFamily="18" charset="0"/>
                <a:sym typeface="+mn-ea"/>
              </a:rPr>
              <a:t>Count Period   </a:t>
            </a:r>
            <a:r>
              <a:rPr lang="en-US" altLang="zh-CN" sz="2400">
                <a:latin typeface="Microsoft YaHei UI" panose="020B0503020204020204" pitchFamily="34" charset="-122"/>
                <a:ea typeface="Microsoft YaHei UI" panose="020B0503020204020204" pitchFamily="34" charset="-122"/>
                <a:sym typeface="+mn-ea"/>
              </a:rPr>
              <a:t>CNT</a:t>
            </a:r>
            <a:r>
              <a:rPr lang="en-US" altLang="zh-CN" sz="2400" b="1" i="1" dirty="0" smtClean="0">
                <a:solidFill>
                  <a:schemeClr val="tx1"/>
                </a:solidFill>
                <a:latin typeface="Times New Roman" panose="02020603050405020304" pitchFamily="18" charset="0"/>
                <a:cs typeface="Times New Roman" panose="02020603050405020304" pitchFamily="18" charset="0"/>
                <a:sym typeface="+mn-ea"/>
              </a:rPr>
              <a:t>  </a:t>
            </a:r>
            <a:r>
              <a:rPr lang="zh-CN" altLang="en-US" sz="2400" b="1" i="1" dirty="0" smtClean="0">
                <a:solidFill>
                  <a:schemeClr val="tx1"/>
                </a:solidFill>
                <a:latin typeface="Times New Roman" panose="02020603050405020304" pitchFamily="18" charset="0"/>
                <a:cs typeface="Times New Roman" panose="02020603050405020304" pitchFamily="18" charset="0"/>
                <a:sym typeface="+mn-ea"/>
              </a:rPr>
              <a:t>）</a:t>
            </a:r>
            <a:r>
              <a:rPr lang="zh-CN" altLang="en-US" sz="2400" dirty="0" smtClean="0">
                <a:solidFill>
                  <a:schemeClr val="tx1"/>
                </a:solidFill>
                <a:latin typeface="Times New Roman" panose="02020603050405020304" pitchFamily="18" charset="0"/>
                <a:cs typeface="Times New Roman" panose="02020603050405020304" pitchFamily="18" charset="0"/>
                <a:sym typeface="+mn-ea"/>
              </a:rPr>
              <a:t>构成</a:t>
            </a:r>
            <a:endParaRPr lang="zh-CN" altLang="en-US" sz="2400" dirty="0" smtClean="0">
              <a:solidFill>
                <a:schemeClr val="tx1"/>
              </a:solidFill>
              <a:latin typeface="Times New Roman" panose="02020603050405020304" pitchFamily="18" charset="0"/>
              <a:cs typeface="Times New Roman" panose="02020603050405020304" pitchFamily="18" charset="0"/>
              <a:sym typeface="+mn-ea"/>
            </a:endParaRPr>
          </a:p>
          <a:p>
            <a:pPr marL="0" indent="0">
              <a:buNone/>
            </a:pPr>
            <a:r>
              <a:rPr lang="zh-CN" altLang="en-US" sz="2400" b="1" i="1" dirty="0" smtClean="0">
                <a:latin typeface="Times New Roman" panose="02020603050405020304" pitchFamily="18" charset="0"/>
                <a:cs typeface="Times New Roman" panose="02020603050405020304" pitchFamily="18" charset="0"/>
                <a:sym typeface="+mn-ea"/>
              </a:rPr>
              <a:t>自动重装值（</a:t>
            </a:r>
            <a:r>
              <a:rPr lang="en-US" altLang="zh-CN" sz="2400" i="1" dirty="0">
                <a:latin typeface="Microsoft YaHei UI" panose="020B0503020204020204" pitchFamily="34" charset="-122"/>
                <a:ea typeface="Microsoft YaHei UI" panose="020B0503020204020204" pitchFamily="34" charset="-122"/>
                <a:sym typeface="+mn-ea"/>
              </a:rPr>
              <a:t>Auto Reload Register</a:t>
            </a:r>
            <a:r>
              <a:rPr lang="zh-CN" altLang="en-US" sz="2400" b="1" i="1" dirty="0" smtClean="0">
                <a:latin typeface="Times New Roman" panose="02020603050405020304" pitchFamily="18" charset="0"/>
                <a:cs typeface="Times New Roman" panose="02020603050405020304" pitchFamily="18" charset="0"/>
                <a:sym typeface="+mn-ea"/>
              </a:rPr>
              <a:t>）</a:t>
            </a:r>
            <a:endParaRPr lang="zh-CN" altLang="en-US" sz="2400" b="1" i="1" dirty="0" smtClean="0">
              <a:latin typeface="Times New Roman" panose="02020603050405020304" pitchFamily="18" charset="0"/>
              <a:cs typeface="Times New Roman" panose="02020603050405020304" pitchFamily="18" charset="0"/>
              <a:sym typeface="+mn-ea"/>
            </a:endParaRPr>
          </a:p>
          <a:p>
            <a:pPr marL="0" indent="0">
              <a:buNone/>
            </a:pPr>
            <a:r>
              <a:rPr lang="zh-CN" altLang="en-US" sz="2400" dirty="0">
                <a:latin typeface="+mj-ea"/>
                <a:ea typeface="+mj-ea"/>
                <a:cs typeface="+mj-ea"/>
                <a:sym typeface="+mn-ea"/>
              </a:rPr>
              <a:t>定时器的计数器</a:t>
            </a:r>
            <a:r>
              <a:rPr lang="en-US" altLang="zh-CN" sz="2400" dirty="0">
                <a:latin typeface="+mj-ea"/>
                <a:ea typeface="+mj-ea"/>
                <a:cs typeface="+mj-ea"/>
                <a:sym typeface="+mn-ea"/>
              </a:rPr>
              <a:t>CNT</a:t>
            </a:r>
            <a:r>
              <a:rPr lang="zh-CN" altLang="en-US" sz="2400" dirty="0">
                <a:latin typeface="+mj-ea"/>
                <a:ea typeface="+mj-ea"/>
                <a:cs typeface="+mj-ea"/>
                <a:sym typeface="+mn-ea"/>
              </a:rPr>
              <a:t>只能在</a:t>
            </a:r>
            <a:r>
              <a:rPr lang="en-US" altLang="zh-CN" sz="2400" dirty="0">
                <a:latin typeface="+mj-ea"/>
                <a:ea typeface="+mj-ea"/>
                <a:cs typeface="+mj-ea"/>
                <a:sym typeface="+mn-ea"/>
              </a:rPr>
              <a:t>0</a:t>
            </a:r>
            <a:r>
              <a:rPr lang="zh-CN" altLang="en-US" sz="2400" dirty="0">
                <a:latin typeface="+mj-ea"/>
                <a:ea typeface="+mj-ea"/>
                <a:cs typeface="+mj-ea"/>
                <a:sym typeface="+mn-ea"/>
              </a:rPr>
              <a:t>到</a:t>
            </a:r>
            <a:r>
              <a:rPr lang="en-US" altLang="zh-CN" sz="2400" dirty="0">
                <a:latin typeface="+mj-ea"/>
                <a:ea typeface="+mj-ea"/>
                <a:cs typeface="+mj-ea"/>
                <a:sym typeface="+mn-ea"/>
              </a:rPr>
              <a:t>ARR</a:t>
            </a:r>
            <a:r>
              <a:rPr lang="zh-CN" altLang="en-US" sz="2400" dirty="0">
                <a:latin typeface="+mj-ea"/>
                <a:ea typeface="+mj-ea"/>
                <a:cs typeface="+mj-ea"/>
                <a:sym typeface="+mn-ea"/>
              </a:rPr>
              <a:t>之间变动</a:t>
            </a:r>
            <a:endParaRPr lang="zh-CN" altLang="en-US" sz="2400" dirty="0">
              <a:latin typeface="+mj-ea"/>
              <a:ea typeface="+mj-ea"/>
              <a:cs typeface="+mj-ea"/>
              <a:sym typeface="+mn-ea"/>
            </a:endParaRPr>
          </a:p>
          <a:p>
            <a:pPr marL="0" indent="0">
              <a:buNone/>
            </a:pPr>
            <a:endParaRPr lang="zh-CN" altLang="en-US" sz="2400" dirty="0">
              <a:latin typeface="+mj-ea"/>
              <a:ea typeface="+mj-ea"/>
              <a:cs typeface="+mj-ea"/>
              <a:sym typeface="+mn-ea"/>
            </a:endParaRPr>
          </a:p>
          <a:p>
            <a:pPr marL="0" indent="0">
              <a:buNone/>
            </a:pPr>
            <a:r>
              <a:rPr lang="zh-CN" altLang="en-US" sz="2400" dirty="0">
                <a:latin typeface="+mj-ea"/>
                <a:ea typeface="+mj-ea"/>
                <a:cs typeface="+mj-ea"/>
                <a:sym typeface="+mn-ea"/>
              </a:rPr>
              <a:t>向上计数，则从</a:t>
            </a:r>
            <a:r>
              <a:rPr lang="en-US" altLang="zh-CN" sz="2400" dirty="0">
                <a:latin typeface="+mj-ea"/>
                <a:ea typeface="+mj-ea"/>
                <a:cs typeface="+mj-ea"/>
                <a:sym typeface="+mn-ea"/>
              </a:rPr>
              <a:t>0</a:t>
            </a:r>
            <a:r>
              <a:rPr lang="zh-CN" altLang="en-US" sz="2400" dirty="0">
                <a:latin typeface="+mj-ea"/>
                <a:ea typeface="+mj-ea"/>
                <a:cs typeface="+mj-ea"/>
                <a:sym typeface="+mn-ea"/>
              </a:rPr>
              <a:t>计数到</a:t>
            </a:r>
            <a:r>
              <a:rPr lang="en-US" altLang="zh-CN" sz="2400" dirty="0">
                <a:latin typeface="+mj-ea"/>
                <a:ea typeface="+mj-ea"/>
                <a:cs typeface="+mj-ea"/>
                <a:sym typeface="+mn-ea"/>
              </a:rPr>
              <a:t>ARR</a:t>
            </a:r>
            <a:r>
              <a:rPr lang="zh-CN" altLang="en-US" sz="2400" dirty="0">
                <a:latin typeface="+mj-ea"/>
                <a:ea typeface="+mj-ea"/>
                <a:cs typeface="+mj-ea"/>
                <a:sym typeface="+mn-ea"/>
              </a:rPr>
              <a:t>，然后再开启一轮循环</a:t>
            </a:r>
            <a:endParaRPr lang="zh-CN" altLang="en-US" sz="2400" dirty="0">
              <a:latin typeface="+mj-ea"/>
              <a:ea typeface="+mj-ea"/>
              <a:cs typeface="+mj-ea"/>
              <a:sym typeface="+mn-ea"/>
            </a:endParaRPr>
          </a:p>
          <a:p>
            <a:pPr marL="0" indent="0">
              <a:buNone/>
            </a:pPr>
            <a:endParaRPr lang="zh-CN" altLang="en-US" sz="2400" dirty="0">
              <a:latin typeface="+mj-ea"/>
              <a:ea typeface="+mj-ea"/>
              <a:cs typeface="+mj-ea"/>
              <a:sym typeface="+mn-ea"/>
            </a:endParaRPr>
          </a:p>
          <a:p>
            <a:pPr marL="0" indent="0">
              <a:buNone/>
            </a:pPr>
            <a:r>
              <a:rPr lang="zh-CN" altLang="en-US" sz="2400" dirty="0">
                <a:latin typeface="+mj-ea"/>
                <a:ea typeface="+mj-ea"/>
                <a:cs typeface="+mj-ea"/>
                <a:sym typeface="+mn-ea"/>
              </a:rPr>
              <a:t>向下计数，则从</a:t>
            </a:r>
            <a:r>
              <a:rPr lang="en-US" altLang="zh-CN" sz="2400" dirty="0">
                <a:latin typeface="+mj-ea"/>
                <a:ea typeface="+mj-ea"/>
                <a:cs typeface="+mj-ea"/>
                <a:sym typeface="+mn-ea"/>
              </a:rPr>
              <a:t>ARR</a:t>
            </a:r>
            <a:r>
              <a:rPr lang="zh-CN" altLang="en-US" sz="2400" dirty="0">
                <a:latin typeface="+mj-ea"/>
                <a:ea typeface="+mj-ea"/>
                <a:cs typeface="+mj-ea"/>
                <a:sym typeface="+mn-ea"/>
              </a:rPr>
              <a:t>计数到</a:t>
            </a:r>
            <a:r>
              <a:rPr lang="en-US" altLang="zh-CN" sz="2400" dirty="0">
                <a:latin typeface="+mj-ea"/>
                <a:ea typeface="+mj-ea"/>
                <a:cs typeface="+mj-ea"/>
                <a:sym typeface="+mn-ea"/>
              </a:rPr>
              <a:t>0</a:t>
            </a:r>
            <a:r>
              <a:rPr lang="zh-CN" altLang="en-US" sz="2400" dirty="0">
                <a:latin typeface="+mj-ea"/>
                <a:ea typeface="+mj-ea"/>
                <a:cs typeface="+mj-ea"/>
                <a:sym typeface="+mn-ea"/>
              </a:rPr>
              <a:t>，然后再开启一轮循环</a:t>
            </a:r>
            <a:endParaRPr lang="zh-CN" altLang="en-US" sz="2400" dirty="0">
              <a:latin typeface="+mj-ea"/>
              <a:ea typeface="+mj-ea"/>
              <a:cs typeface="+mj-ea"/>
              <a:sym typeface="+mn-ea"/>
            </a:endParaRPr>
          </a:p>
          <a:p>
            <a:pPr marL="0" indent="0">
              <a:buNone/>
            </a:pPr>
            <a:endParaRPr lang="zh-CN" altLang="en-US" sz="2400" dirty="0">
              <a:latin typeface="+mj-ea"/>
              <a:ea typeface="+mj-ea"/>
              <a:cs typeface="+mj-ea"/>
              <a:sym typeface="+mn-ea"/>
            </a:endParaRPr>
          </a:p>
          <a:p>
            <a:pPr marL="0" indent="0">
              <a:buNone/>
            </a:pPr>
            <a:r>
              <a:rPr lang="zh-CN" altLang="en-US" sz="2400" dirty="0">
                <a:latin typeface="+mj-ea"/>
                <a:ea typeface="+mj-ea"/>
                <a:cs typeface="+mj-ea"/>
                <a:sym typeface="+mn-ea"/>
              </a:rPr>
              <a:t>双向计数，则从</a:t>
            </a:r>
            <a:r>
              <a:rPr lang="en-US" altLang="zh-CN" sz="2400" dirty="0">
                <a:latin typeface="+mj-ea"/>
                <a:ea typeface="+mj-ea"/>
                <a:cs typeface="+mj-ea"/>
                <a:sym typeface="+mn-ea"/>
              </a:rPr>
              <a:t>0</a:t>
            </a:r>
            <a:r>
              <a:rPr lang="zh-CN" altLang="en-US" sz="2400" dirty="0">
                <a:latin typeface="+mj-ea"/>
                <a:ea typeface="+mj-ea"/>
                <a:cs typeface="+mj-ea"/>
                <a:sym typeface="+mn-ea"/>
              </a:rPr>
              <a:t>计数到</a:t>
            </a:r>
            <a:r>
              <a:rPr lang="en-US" altLang="zh-CN" sz="2400" dirty="0">
                <a:latin typeface="+mj-ea"/>
                <a:ea typeface="+mj-ea"/>
                <a:cs typeface="+mj-ea"/>
                <a:sym typeface="+mn-ea"/>
              </a:rPr>
              <a:t>ARR-1</a:t>
            </a:r>
            <a:r>
              <a:rPr lang="zh-CN" altLang="en-US" sz="2400" dirty="0">
                <a:latin typeface="+mj-ea"/>
                <a:ea typeface="+mj-ea"/>
                <a:cs typeface="+mj-ea"/>
                <a:sym typeface="+mn-ea"/>
              </a:rPr>
              <a:t>，然后再从</a:t>
            </a:r>
            <a:r>
              <a:rPr lang="en-US" altLang="zh-CN" sz="2400" dirty="0">
                <a:latin typeface="+mj-ea"/>
                <a:ea typeface="+mj-ea"/>
                <a:cs typeface="+mj-ea"/>
                <a:sym typeface="+mn-ea"/>
              </a:rPr>
              <a:t>ARR</a:t>
            </a:r>
            <a:r>
              <a:rPr lang="zh-CN" altLang="en-US" sz="2400" dirty="0">
                <a:latin typeface="+mj-ea"/>
                <a:ea typeface="+mj-ea"/>
                <a:cs typeface="+mj-ea"/>
                <a:sym typeface="+mn-ea"/>
              </a:rPr>
              <a:t>计数到</a:t>
            </a:r>
            <a:r>
              <a:rPr lang="en-US" altLang="zh-CN" sz="2400" dirty="0">
                <a:latin typeface="+mj-ea"/>
                <a:ea typeface="+mj-ea"/>
                <a:cs typeface="+mj-ea"/>
                <a:sym typeface="+mn-ea"/>
              </a:rPr>
              <a:t>1</a:t>
            </a:r>
            <a:r>
              <a:rPr lang="zh-CN" altLang="en-US" sz="2400" dirty="0">
                <a:latin typeface="+mj-ea"/>
                <a:ea typeface="+mj-ea"/>
                <a:cs typeface="+mj-ea"/>
                <a:sym typeface="+mn-ea"/>
              </a:rPr>
              <a:t>，然后再开启一轮循环</a:t>
            </a:r>
            <a:endParaRPr lang="zh-CN" altLang="en-US" sz="2400" dirty="0" smtClean="0">
              <a:solidFill>
                <a:schemeClr val="tx1"/>
              </a:solidFill>
              <a:latin typeface="+mj-ea"/>
              <a:ea typeface="+mj-ea"/>
              <a:cs typeface="+mj-ea"/>
              <a:sym typeface="+mn-ea"/>
            </a:endParaRPr>
          </a:p>
          <a:p>
            <a:pPr marL="0" indent="0">
              <a:buNone/>
            </a:pPr>
            <a:endParaRPr lang="zh-CN" altLang="en-US" sz="2400" dirty="0" smtClean="0">
              <a:solidFill>
                <a:schemeClr val="tx1"/>
              </a:solidFill>
              <a:latin typeface="Times New Roman" panose="02020603050405020304" pitchFamily="18" charset="0"/>
              <a:cs typeface="Times New Roman" panose="02020603050405020304" pitchFamily="18" charset="0"/>
              <a:sym typeface="+mn-ea"/>
            </a:endParaRPr>
          </a:p>
          <a:p>
            <a:pPr marL="0" indent="0">
              <a:buNone/>
            </a:pPr>
            <a:r>
              <a:rPr lang="zh-CN" altLang="en-US" sz="2400" dirty="0" smtClean="0">
                <a:solidFill>
                  <a:schemeClr val="tx1"/>
                </a:solidFill>
                <a:latin typeface="Times New Roman" panose="02020603050405020304" pitchFamily="18" charset="0"/>
                <a:cs typeface="Times New Roman" panose="02020603050405020304" pitchFamily="18" charset="0"/>
                <a:sym typeface="+mn-ea"/>
              </a:rPr>
              <a:t>定时时间</a:t>
            </a:r>
            <a:r>
              <a:rPr lang="en-US" altLang="zh-CN" sz="2400" dirty="0" smtClean="0">
                <a:solidFill>
                  <a:schemeClr val="tx1"/>
                </a:solidFill>
                <a:latin typeface="Times New Roman" panose="02020603050405020304" pitchFamily="18" charset="0"/>
                <a:cs typeface="Times New Roman" panose="02020603050405020304" pitchFamily="18" charset="0"/>
                <a:sym typeface="+mn-ea"/>
              </a:rPr>
              <a:t> =</a:t>
            </a:r>
            <a:r>
              <a:rPr lang="zh-CN" altLang="en-US" sz="2400" dirty="0" smtClean="0">
                <a:solidFill>
                  <a:schemeClr val="tx1"/>
                </a:solidFill>
                <a:latin typeface="Times New Roman" panose="02020603050405020304" pitchFamily="18" charset="0"/>
                <a:cs typeface="Times New Roman" panose="02020603050405020304" pitchFamily="18" charset="0"/>
                <a:sym typeface="+mn-ea"/>
              </a:rPr>
              <a:t>（</a:t>
            </a:r>
            <a:r>
              <a:rPr lang="en-US" altLang="zh-CN" sz="2400" b="1" i="1" dirty="0" smtClean="0">
                <a:latin typeface="Times New Roman" panose="02020603050405020304" pitchFamily="18" charset="0"/>
                <a:cs typeface="Times New Roman" panose="02020603050405020304" pitchFamily="18" charset="0"/>
                <a:sym typeface="+mn-ea"/>
              </a:rPr>
              <a:t>Prescaler+1</a:t>
            </a:r>
            <a:r>
              <a:rPr lang="zh-CN" altLang="en-US" sz="2400" b="1" dirty="0" smtClean="0">
                <a:latin typeface="Times New Roman" panose="02020603050405020304" pitchFamily="18" charset="0"/>
                <a:cs typeface="Times New Roman" panose="02020603050405020304" pitchFamily="18" charset="0"/>
                <a:sym typeface="+mn-ea"/>
              </a:rPr>
              <a:t>）</a:t>
            </a:r>
            <a:r>
              <a:rPr lang="en-US" altLang="zh-CN" sz="2400" b="1" dirty="0" smtClean="0">
                <a:latin typeface="Times New Roman" panose="02020603050405020304" pitchFamily="18" charset="0"/>
                <a:cs typeface="Times New Roman" panose="02020603050405020304" pitchFamily="18" charset="0"/>
                <a:sym typeface="+mn-ea"/>
              </a:rPr>
              <a:t>*</a:t>
            </a:r>
            <a:r>
              <a:rPr lang="zh-CN" altLang="en-US" sz="2400" b="1" dirty="0" smtClean="0">
                <a:latin typeface="Times New Roman" panose="02020603050405020304" pitchFamily="18" charset="0"/>
                <a:cs typeface="Times New Roman" panose="02020603050405020304" pitchFamily="18" charset="0"/>
                <a:sym typeface="+mn-ea"/>
              </a:rPr>
              <a:t>（</a:t>
            </a:r>
            <a:r>
              <a:rPr lang="en-US" altLang="zh-CN" sz="2400" dirty="0">
                <a:latin typeface="Microsoft YaHei UI" panose="020B0503020204020204" pitchFamily="34" charset="-122"/>
                <a:ea typeface="Microsoft YaHei UI" panose="020B0503020204020204" pitchFamily="34" charset="-122"/>
                <a:sym typeface="+mn-ea"/>
              </a:rPr>
              <a:t>Auto Reload Register</a:t>
            </a:r>
            <a:r>
              <a:rPr lang="en-US" altLang="zh-CN" sz="2400" b="1" i="1" dirty="0" smtClean="0">
                <a:latin typeface="Times New Roman" panose="02020603050405020304" pitchFamily="18" charset="0"/>
                <a:cs typeface="Times New Roman" panose="02020603050405020304" pitchFamily="18" charset="0"/>
                <a:sym typeface="+mn-ea"/>
              </a:rPr>
              <a:t>+1</a:t>
            </a:r>
            <a:r>
              <a:rPr lang="zh-CN" altLang="en-US" sz="2400" b="1" dirty="0" smtClean="0">
                <a:latin typeface="Times New Roman" panose="02020603050405020304" pitchFamily="18" charset="0"/>
                <a:cs typeface="Times New Roman" panose="02020603050405020304" pitchFamily="18" charset="0"/>
                <a:sym typeface="+mn-ea"/>
              </a:rPr>
              <a:t>）</a:t>
            </a:r>
            <a:endParaRPr lang="zh-CN" altLang="en-US" sz="2400" b="1" dirty="0" smtClean="0">
              <a:latin typeface="Times New Roman" panose="02020603050405020304" pitchFamily="18" charset="0"/>
              <a:cs typeface="Times New Roman" panose="02020603050405020304" pitchFamily="18" charset="0"/>
              <a:sym typeface="+mn-ea"/>
            </a:endParaRPr>
          </a:p>
          <a:p>
            <a:pPr marL="1371600" lvl="3" indent="457200">
              <a:buNone/>
            </a:pPr>
            <a:r>
              <a:rPr lang="en-US" altLang="zh-CN" sz="2400" b="1" dirty="0" smtClean="0">
                <a:solidFill>
                  <a:schemeClr val="tx1"/>
                </a:solidFill>
                <a:latin typeface="Times New Roman" panose="02020603050405020304" pitchFamily="18" charset="0"/>
                <a:cs typeface="Times New Roman" panose="02020603050405020304" pitchFamily="18" charset="0"/>
                <a:sym typeface="+mn-ea"/>
              </a:rPr>
              <a:t>/</a:t>
            </a:r>
            <a:r>
              <a:rPr lang="zh-CN" altLang="en-US" sz="2400" b="1" dirty="0" smtClean="0">
                <a:solidFill>
                  <a:schemeClr val="tx1"/>
                </a:solidFill>
                <a:latin typeface="Times New Roman" panose="02020603050405020304" pitchFamily="18" charset="0"/>
                <a:cs typeface="Times New Roman" panose="02020603050405020304" pitchFamily="18" charset="0"/>
                <a:sym typeface="+mn-ea"/>
              </a:rPr>
              <a:t>定时器时钟</a:t>
            </a:r>
            <a:r>
              <a:rPr lang="zh-CN" altLang="en-US" sz="2400" b="1" dirty="0" smtClean="0">
                <a:solidFill>
                  <a:schemeClr val="tx1"/>
                </a:solidFill>
                <a:latin typeface="Times New Roman" panose="02020603050405020304" pitchFamily="18" charset="0"/>
                <a:cs typeface="Times New Roman" panose="02020603050405020304" pitchFamily="18" charset="0"/>
                <a:sym typeface="+mn-ea"/>
              </a:rPr>
              <a:t>频率</a:t>
            </a:r>
            <a:endParaRPr lang="zh-CN" altLang="en-US" sz="2400" b="1" dirty="0" smtClean="0">
              <a:solidFill>
                <a:schemeClr val="tx1"/>
              </a:solidFill>
              <a:latin typeface="Times New Roman" panose="02020603050405020304" pitchFamily="18" charset="0"/>
              <a:cs typeface="Times New Roman" panose="02020603050405020304" pitchFamily="18" charset="0"/>
              <a:sym typeface="+mn-ea"/>
            </a:endParaRPr>
          </a:p>
        </p:txBody>
      </p:sp>
      <p:sp>
        <p:nvSpPr>
          <p:cNvPr id="2" name="文本框 1"/>
          <p:cNvSpPr txBox="1"/>
          <p:nvPr>
            <p:custDataLst>
              <p:tags r:id="rId2"/>
            </p:custDataLst>
          </p:nvPr>
        </p:nvSpPr>
        <p:spPr>
          <a:xfrm>
            <a:off x="6228715" y="4152900"/>
            <a:ext cx="8285480" cy="346075"/>
          </a:xfrm>
          <a:prstGeom prst="rect">
            <a:avLst/>
          </a:prstGeom>
          <a:noFill/>
        </p:spPr>
        <p:txBody>
          <a:bodyPr wrap="square" rtlCol="0">
            <a:noAutofit/>
          </a:bodyPr>
          <a:p>
            <a:pPr marL="0" indent="0">
              <a:buNone/>
            </a:pPr>
            <a:endParaRPr lang="zh-CN" altLang="en-US" sz="2400" dirty="0" smtClean="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定时器</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中断</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6" name="文本框 5"/>
          <p:cNvSpPr txBox="1"/>
          <p:nvPr>
            <p:custDataLst>
              <p:tags r:id="rId1"/>
            </p:custDataLst>
          </p:nvPr>
        </p:nvSpPr>
        <p:spPr>
          <a:xfrm>
            <a:off x="431165" y="1162685"/>
            <a:ext cx="8285480" cy="5273675"/>
          </a:xfrm>
          <a:prstGeom prst="rect">
            <a:avLst/>
          </a:prstGeom>
          <a:noFill/>
        </p:spPr>
        <p:txBody>
          <a:bodyPr wrap="square" rtlCol="0">
            <a:noAutofit/>
          </a:bodyPr>
          <a:p>
            <a:pPr marL="0" indent="0">
              <a:buNone/>
            </a:pPr>
            <a:r>
              <a:rPr lang="zh-CN" altLang="en-US" sz="2400" dirty="0" smtClean="0">
                <a:solidFill>
                  <a:schemeClr val="tx1"/>
                </a:solidFill>
                <a:latin typeface="Times New Roman" panose="02020603050405020304" pitchFamily="18" charset="0"/>
                <a:cs typeface="Times New Roman" panose="02020603050405020304" pitchFamily="18" charset="0"/>
                <a:sym typeface="+mn-ea"/>
              </a:rPr>
              <a:t>定时器可以理解为一个</a:t>
            </a:r>
            <a:r>
              <a:rPr lang="zh-CN" altLang="en-US" sz="2400" dirty="0" smtClean="0">
                <a:solidFill>
                  <a:schemeClr val="tx1"/>
                </a:solidFill>
                <a:latin typeface="Times New Roman" panose="02020603050405020304" pitchFamily="18" charset="0"/>
                <a:cs typeface="Times New Roman" panose="02020603050405020304" pitchFamily="18" charset="0"/>
                <a:sym typeface="+mn-ea"/>
              </a:rPr>
              <a:t>计数器。</a:t>
            </a:r>
            <a:endParaRPr lang="zh-CN" altLang="en-US" sz="2400" dirty="0" smtClean="0">
              <a:solidFill>
                <a:schemeClr val="tx1"/>
              </a:solidFill>
              <a:latin typeface="Times New Roman" panose="02020603050405020304" pitchFamily="18" charset="0"/>
              <a:cs typeface="Times New Roman" panose="02020603050405020304" pitchFamily="18" charset="0"/>
              <a:sym typeface="+mn-ea"/>
            </a:endParaRPr>
          </a:p>
          <a:p>
            <a:pPr marL="0" indent="0">
              <a:buNone/>
            </a:pPr>
            <a:r>
              <a:rPr lang="zh-CN" altLang="en-US" sz="2400" dirty="0" smtClean="0">
                <a:solidFill>
                  <a:schemeClr val="tx1"/>
                </a:solidFill>
                <a:latin typeface="Times New Roman" panose="02020603050405020304" pitchFamily="18" charset="0"/>
                <a:cs typeface="Times New Roman" panose="02020603050405020304" pitchFamily="18" charset="0"/>
                <a:sym typeface="+mn-ea"/>
              </a:rPr>
              <a:t>通过</a:t>
            </a:r>
            <a:r>
              <a:rPr lang="zh-CN" altLang="en-US" sz="2400" b="1" i="1" dirty="0" smtClean="0">
                <a:solidFill>
                  <a:schemeClr val="tx1"/>
                </a:solidFill>
                <a:latin typeface="Times New Roman" panose="02020603050405020304" pitchFamily="18" charset="0"/>
                <a:cs typeface="Times New Roman" panose="02020603050405020304" pitchFamily="18" charset="0"/>
                <a:sym typeface="+mn-ea"/>
              </a:rPr>
              <a:t>可编程预分频器（</a:t>
            </a:r>
            <a:r>
              <a:rPr lang="en-US" altLang="zh-CN" sz="2400" b="1" i="1" dirty="0" smtClean="0">
                <a:solidFill>
                  <a:schemeClr val="tx1"/>
                </a:solidFill>
                <a:latin typeface="Times New Roman" panose="02020603050405020304" pitchFamily="18" charset="0"/>
                <a:cs typeface="Times New Roman" panose="02020603050405020304" pitchFamily="18" charset="0"/>
                <a:sym typeface="+mn-ea"/>
              </a:rPr>
              <a:t>Prescaler    </a:t>
            </a:r>
            <a:r>
              <a:rPr lang="en-US" altLang="zh-CN" sz="2400" dirty="0">
                <a:latin typeface="Microsoft YaHei UI" panose="020B0503020204020204" pitchFamily="34" charset="-122"/>
                <a:ea typeface="Microsoft YaHei UI" panose="020B0503020204020204" pitchFamily="34" charset="-122"/>
                <a:sym typeface="+mn-ea"/>
              </a:rPr>
              <a:t>PSC</a:t>
            </a:r>
            <a:r>
              <a:rPr lang="en-US" altLang="zh-CN" sz="2400" b="1" i="1" dirty="0" smtClean="0">
                <a:solidFill>
                  <a:schemeClr val="tx1"/>
                </a:solidFill>
                <a:latin typeface="Times New Roman" panose="02020603050405020304" pitchFamily="18" charset="0"/>
                <a:cs typeface="Times New Roman" panose="02020603050405020304" pitchFamily="18" charset="0"/>
                <a:sym typeface="+mn-ea"/>
              </a:rPr>
              <a:t>  </a:t>
            </a:r>
            <a:r>
              <a:rPr lang="zh-CN" altLang="en-US" sz="2400" b="1" i="1" dirty="0" smtClean="0">
                <a:solidFill>
                  <a:schemeClr val="tx1"/>
                </a:solidFill>
                <a:latin typeface="Times New Roman" panose="02020603050405020304" pitchFamily="18" charset="0"/>
                <a:cs typeface="Times New Roman" panose="02020603050405020304" pitchFamily="18" charset="0"/>
                <a:sym typeface="+mn-ea"/>
              </a:rPr>
              <a:t>）</a:t>
            </a:r>
            <a:r>
              <a:rPr lang="zh-CN" altLang="en-US" sz="2400" dirty="0" smtClean="0">
                <a:solidFill>
                  <a:schemeClr val="tx1"/>
                </a:solidFill>
                <a:latin typeface="Times New Roman" panose="02020603050405020304" pitchFamily="18" charset="0"/>
                <a:cs typeface="Times New Roman" panose="02020603050405020304" pitchFamily="18" charset="0"/>
                <a:sym typeface="+mn-ea"/>
              </a:rPr>
              <a:t>与</a:t>
            </a:r>
            <a:endParaRPr lang="zh-CN" altLang="en-US" sz="2400" dirty="0" smtClean="0">
              <a:solidFill>
                <a:schemeClr val="tx1"/>
              </a:solidFill>
              <a:latin typeface="Times New Roman" panose="02020603050405020304" pitchFamily="18" charset="0"/>
              <a:cs typeface="Times New Roman" panose="02020603050405020304" pitchFamily="18" charset="0"/>
              <a:sym typeface="+mn-ea"/>
            </a:endParaRPr>
          </a:p>
          <a:p>
            <a:pPr marL="0" indent="0">
              <a:buNone/>
            </a:pPr>
            <a:r>
              <a:rPr lang="zh-CN" altLang="en-US" sz="2400" b="1" i="1" dirty="0" smtClean="0">
                <a:solidFill>
                  <a:schemeClr val="tx1"/>
                </a:solidFill>
                <a:latin typeface="Times New Roman" panose="02020603050405020304" pitchFamily="18" charset="0"/>
                <a:cs typeface="Times New Roman" panose="02020603050405020304" pitchFamily="18" charset="0"/>
                <a:sym typeface="+mn-ea"/>
              </a:rPr>
              <a:t>主计数器（</a:t>
            </a:r>
            <a:r>
              <a:rPr lang="en-US" altLang="zh-CN" sz="2400" b="1" i="1" dirty="0" smtClean="0">
                <a:solidFill>
                  <a:schemeClr val="tx1"/>
                </a:solidFill>
                <a:latin typeface="Times New Roman" panose="02020603050405020304" pitchFamily="18" charset="0"/>
                <a:cs typeface="Times New Roman" panose="02020603050405020304" pitchFamily="18" charset="0"/>
                <a:sym typeface="+mn-ea"/>
              </a:rPr>
              <a:t>Count Period   </a:t>
            </a:r>
            <a:r>
              <a:rPr lang="en-US" altLang="zh-CN" sz="2400">
                <a:latin typeface="Microsoft YaHei UI" panose="020B0503020204020204" pitchFamily="34" charset="-122"/>
                <a:ea typeface="Microsoft YaHei UI" panose="020B0503020204020204" pitchFamily="34" charset="-122"/>
                <a:sym typeface="+mn-ea"/>
              </a:rPr>
              <a:t>CNT</a:t>
            </a:r>
            <a:r>
              <a:rPr lang="en-US" altLang="zh-CN" sz="2400" b="1" i="1" dirty="0" smtClean="0">
                <a:solidFill>
                  <a:schemeClr val="tx1"/>
                </a:solidFill>
                <a:latin typeface="Times New Roman" panose="02020603050405020304" pitchFamily="18" charset="0"/>
                <a:cs typeface="Times New Roman" panose="02020603050405020304" pitchFamily="18" charset="0"/>
                <a:sym typeface="+mn-ea"/>
              </a:rPr>
              <a:t>  </a:t>
            </a:r>
            <a:r>
              <a:rPr lang="zh-CN" altLang="en-US" sz="2400" b="1" i="1" dirty="0" smtClean="0">
                <a:solidFill>
                  <a:schemeClr val="tx1"/>
                </a:solidFill>
                <a:latin typeface="Times New Roman" panose="02020603050405020304" pitchFamily="18" charset="0"/>
                <a:cs typeface="Times New Roman" panose="02020603050405020304" pitchFamily="18" charset="0"/>
                <a:sym typeface="+mn-ea"/>
              </a:rPr>
              <a:t>）</a:t>
            </a:r>
            <a:r>
              <a:rPr lang="zh-CN" altLang="en-US" sz="2400" dirty="0" smtClean="0">
                <a:solidFill>
                  <a:schemeClr val="tx1"/>
                </a:solidFill>
                <a:latin typeface="Times New Roman" panose="02020603050405020304" pitchFamily="18" charset="0"/>
                <a:cs typeface="Times New Roman" panose="02020603050405020304" pitchFamily="18" charset="0"/>
                <a:sym typeface="+mn-ea"/>
              </a:rPr>
              <a:t>构成</a:t>
            </a:r>
            <a:endParaRPr lang="zh-CN" altLang="en-US" sz="2400" dirty="0" smtClean="0">
              <a:solidFill>
                <a:schemeClr val="tx1"/>
              </a:solidFill>
              <a:latin typeface="Times New Roman" panose="02020603050405020304" pitchFamily="18" charset="0"/>
              <a:cs typeface="Times New Roman" panose="02020603050405020304" pitchFamily="18" charset="0"/>
              <a:sym typeface="+mn-ea"/>
            </a:endParaRPr>
          </a:p>
          <a:p>
            <a:pPr marL="0" indent="0">
              <a:buNone/>
            </a:pPr>
            <a:r>
              <a:rPr lang="zh-CN" altLang="en-US" sz="2400" b="1" i="1" dirty="0" smtClean="0">
                <a:latin typeface="Times New Roman" panose="02020603050405020304" pitchFamily="18" charset="0"/>
                <a:cs typeface="Times New Roman" panose="02020603050405020304" pitchFamily="18" charset="0"/>
                <a:sym typeface="+mn-ea"/>
              </a:rPr>
              <a:t>自动重装值（</a:t>
            </a:r>
            <a:r>
              <a:rPr lang="en-US" altLang="zh-CN" sz="2400" i="1" dirty="0">
                <a:latin typeface="Microsoft YaHei UI" panose="020B0503020204020204" pitchFamily="34" charset="-122"/>
                <a:ea typeface="Microsoft YaHei UI" panose="020B0503020204020204" pitchFamily="34" charset="-122"/>
                <a:sym typeface="+mn-ea"/>
              </a:rPr>
              <a:t>Auto Reload Register</a:t>
            </a:r>
            <a:r>
              <a:rPr lang="zh-CN" altLang="en-US" sz="2400" b="1" i="1" dirty="0" smtClean="0">
                <a:latin typeface="Times New Roman" panose="02020603050405020304" pitchFamily="18" charset="0"/>
                <a:cs typeface="Times New Roman" panose="02020603050405020304" pitchFamily="18" charset="0"/>
                <a:sym typeface="+mn-ea"/>
              </a:rPr>
              <a:t>）</a:t>
            </a:r>
            <a:endParaRPr lang="zh-CN" altLang="en-US" sz="2400" dirty="0" smtClean="0">
              <a:solidFill>
                <a:schemeClr val="tx1"/>
              </a:solidFill>
              <a:latin typeface="Times New Roman" panose="02020603050405020304" pitchFamily="18" charset="0"/>
              <a:cs typeface="Times New Roman" panose="02020603050405020304" pitchFamily="18" charset="0"/>
              <a:sym typeface="+mn-ea"/>
            </a:endParaRPr>
          </a:p>
          <a:p>
            <a:pPr marL="0" indent="0">
              <a:buNone/>
            </a:pPr>
            <a:endParaRPr lang="zh-CN" altLang="en-US" sz="2400" dirty="0" smtClean="0">
              <a:solidFill>
                <a:schemeClr val="tx1"/>
              </a:solidFill>
              <a:latin typeface="Times New Roman" panose="02020603050405020304" pitchFamily="18" charset="0"/>
              <a:cs typeface="Times New Roman" panose="02020603050405020304" pitchFamily="18" charset="0"/>
              <a:sym typeface="+mn-ea"/>
            </a:endParaRPr>
          </a:p>
          <a:p>
            <a:pPr marL="0" indent="0">
              <a:buNone/>
            </a:pPr>
            <a:endParaRPr lang="zh-CN" altLang="en-US" sz="2400" dirty="0" smtClean="0">
              <a:solidFill>
                <a:schemeClr val="tx1"/>
              </a:solidFill>
              <a:latin typeface="Times New Roman" panose="02020603050405020304" pitchFamily="18" charset="0"/>
              <a:cs typeface="Times New Roman" panose="02020603050405020304" pitchFamily="18" charset="0"/>
              <a:sym typeface="+mn-ea"/>
            </a:endParaRPr>
          </a:p>
          <a:p>
            <a:pPr marL="0" indent="0">
              <a:buNone/>
            </a:pPr>
            <a:endParaRPr lang="zh-CN" altLang="en-US" sz="2400" dirty="0" smtClean="0">
              <a:solidFill>
                <a:schemeClr val="tx1"/>
              </a:solidFill>
              <a:latin typeface="Times New Roman" panose="02020603050405020304" pitchFamily="18" charset="0"/>
              <a:cs typeface="Times New Roman" panose="02020603050405020304" pitchFamily="18" charset="0"/>
              <a:sym typeface="+mn-ea"/>
            </a:endParaRPr>
          </a:p>
          <a:p>
            <a:pPr marL="0" indent="0">
              <a:buNone/>
            </a:pPr>
            <a:endParaRPr lang="zh-CN" altLang="en-US" sz="2400" dirty="0" smtClean="0">
              <a:solidFill>
                <a:schemeClr val="tx1"/>
              </a:solidFill>
              <a:latin typeface="Times New Roman" panose="02020603050405020304" pitchFamily="18" charset="0"/>
              <a:cs typeface="Times New Roman" panose="02020603050405020304" pitchFamily="18" charset="0"/>
              <a:sym typeface="+mn-ea"/>
            </a:endParaRPr>
          </a:p>
          <a:p>
            <a:pPr marL="0" indent="0">
              <a:buNone/>
            </a:pPr>
            <a:endParaRPr lang="zh-CN" altLang="en-US" sz="2400" dirty="0" smtClean="0">
              <a:solidFill>
                <a:schemeClr val="tx1"/>
              </a:solidFill>
              <a:latin typeface="Times New Roman" panose="02020603050405020304" pitchFamily="18" charset="0"/>
              <a:cs typeface="Times New Roman" panose="02020603050405020304" pitchFamily="18" charset="0"/>
              <a:sym typeface="+mn-ea"/>
            </a:endParaRPr>
          </a:p>
          <a:p>
            <a:pPr marL="0" indent="0">
              <a:buNone/>
            </a:pPr>
            <a:endParaRPr lang="zh-CN" altLang="en-US" sz="2400" dirty="0" smtClean="0">
              <a:solidFill>
                <a:schemeClr val="tx1"/>
              </a:solidFill>
              <a:latin typeface="Times New Roman" panose="02020603050405020304" pitchFamily="18" charset="0"/>
              <a:cs typeface="Times New Roman" panose="02020603050405020304" pitchFamily="18" charset="0"/>
              <a:sym typeface="+mn-ea"/>
            </a:endParaRPr>
          </a:p>
          <a:p>
            <a:pPr marL="0" indent="0">
              <a:buNone/>
            </a:pPr>
            <a:r>
              <a:rPr lang="zh-CN" altLang="en-US" sz="2400" dirty="0" smtClean="0">
                <a:solidFill>
                  <a:schemeClr val="tx1"/>
                </a:solidFill>
                <a:latin typeface="Times New Roman" panose="02020603050405020304" pitchFamily="18" charset="0"/>
                <a:cs typeface="Times New Roman" panose="02020603050405020304" pitchFamily="18" charset="0"/>
                <a:sym typeface="+mn-ea"/>
              </a:rPr>
              <a:t>定时时间</a:t>
            </a:r>
            <a:r>
              <a:rPr lang="en-US" altLang="zh-CN" sz="2400" dirty="0" smtClean="0">
                <a:solidFill>
                  <a:schemeClr val="tx1"/>
                </a:solidFill>
                <a:latin typeface="Times New Roman" panose="02020603050405020304" pitchFamily="18" charset="0"/>
                <a:cs typeface="Times New Roman" panose="02020603050405020304" pitchFamily="18" charset="0"/>
                <a:sym typeface="+mn-ea"/>
              </a:rPr>
              <a:t> =</a:t>
            </a:r>
            <a:r>
              <a:rPr lang="zh-CN" altLang="en-US" sz="2400" dirty="0" smtClean="0">
                <a:solidFill>
                  <a:schemeClr val="tx1"/>
                </a:solidFill>
                <a:latin typeface="Times New Roman" panose="02020603050405020304" pitchFamily="18" charset="0"/>
                <a:cs typeface="Times New Roman" panose="02020603050405020304" pitchFamily="18" charset="0"/>
                <a:sym typeface="+mn-ea"/>
              </a:rPr>
              <a:t>（</a:t>
            </a:r>
            <a:r>
              <a:rPr lang="en-US" altLang="zh-CN" sz="2400" b="1" i="1" dirty="0" smtClean="0">
                <a:latin typeface="Times New Roman" panose="02020603050405020304" pitchFamily="18" charset="0"/>
                <a:cs typeface="Times New Roman" panose="02020603050405020304" pitchFamily="18" charset="0"/>
                <a:sym typeface="+mn-ea"/>
              </a:rPr>
              <a:t>Prescaler+1</a:t>
            </a:r>
            <a:r>
              <a:rPr lang="zh-CN" altLang="en-US" sz="2400" b="1" dirty="0" smtClean="0">
                <a:latin typeface="Times New Roman" panose="02020603050405020304" pitchFamily="18" charset="0"/>
                <a:cs typeface="Times New Roman" panose="02020603050405020304" pitchFamily="18" charset="0"/>
                <a:sym typeface="+mn-ea"/>
              </a:rPr>
              <a:t>）</a:t>
            </a:r>
            <a:r>
              <a:rPr lang="en-US" altLang="zh-CN" sz="2400" b="1" dirty="0" smtClean="0">
                <a:latin typeface="Times New Roman" panose="02020603050405020304" pitchFamily="18" charset="0"/>
                <a:cs typeface="Times New Roman" panose="02020603050405020304" pitchFamily="18" charset="0"/>
                <a:sym typeface="+mn-ea"/>
              </a:rPr>
              <a:t>*</a:t>
            </a:r>
            <a:r>
              <a:rPr lang="zh-CN" altLang="en-US" sz="2400" b="1" dirty="0" smtClean="0">
                <a:latin typeface="Times New Roman" panose="02020603050405020304" pitchFamily="18" charset="0"/>
                <a:cs typeface="Times New Roman" panose="02020603050405020304" pitchFamily="18" charset="0"/>
                <a:sym typeface="+mn-ea"/>
              </a:rPr>
              <a:t>（</a:t>
            </a:r>
            <a:r>
              <a:rPr lang="en-US" altLang="zh-CN" sz="2400" dirty="0">
                <a:latin typeface="Microsoft YaHei UI" panose="020B0503020204020204" pitchFamily="34" charset="-122"/>
                <a:ea typeface="Microsoft YaHei UI" panose="020B0503020204020204" pitchFamily="34" charset="-122"/>
                <a:sym typeface="+mn-ea"/>
              </a:rPr>
              <a:t>Auto Reload Register</a:t>
            </a:r>
            <a:r>
              <a:rPr lang="en-US" altLang="zh-CN" sz="2400" b="1" i="1" dirty="0" smtClean="0">
                <a:latin typeface="Times New Roman" panose="02020603050405020304" pitchFamily="18" charset="0"/>
                <a:cs typeface="Times New Roman" panose="02020603050405020304" pitchFamily="18" charset="0"/>
                <a:sym typeface="+mn-ea"/>
              </a:rPr>
              <a:t>+1</a:t>
            </a:r>
            <a:r>
              <a:rPr lang="zh-CN" altLang="en-US" sz="2400" b="1" dirty="0" smtClean="0">
                <a:latin typeface="Times New Roman" panose="02020603050405020304" pitchFamily="18" charset="0"/>
                <a:cs typeface="Times New Roman" panose="02020603050405020304" pitchFamily="18" charset="0"/>
                <a:sym typeface="+mn-ea"/>
              </a:rPr>
              <a:t>）</a:t>
            </a:r>
            <a:endParaRPr lang="zh-CN" altLang="en-US" sz="2400" b="1" dirty="0" smtClean="0">
              <a:latin typeface="Times New Roman" panose="02020603050405020304" pitchFamily="18" charset="0"/>
              <a:cs typeface="Times New Roman" panose="02020603050405020304" pitchFamily="18" charset="0"/>
              <a:sym typeface="+mn-ea"/>
            </a:endParaRPr>
          </a:p>
          <a:p>
            <a:pPr marL="1371600" lvl="3" indent="457200">
              <a:buNone/>
            </a:pPr>
            <a:r>
              <a:rPr lang="en-US" altLang="zh-CN" sz="2400" b="1" dirty="0" smtClean="0">
                <a:solidFill>
                  <a:schemeClr val="tx1"/>
                </a:solidFill>
                <a:latin typeface="Times New Roman" panose="02020603050405020304" pitchFamily="18" charset="0"/>
                <a:cs typeface="Times New Roman" panose="02020603050405020304" pitchFamily="18" charset="0"/>
                <a:sym typeface="+mn-ea"/>
              </a:rPr>
              <a:t>/</a:t>
            </a:r>
            <a:r>
              <a:rPr lang="zh-CN" altLang="en-US" sz="2400" b="1" dirty="0" smtClean="0">
                <a:solidFill>
                  <a:schemeClr val="tx1"/>
                </a:solidFill>
                <a:latin typeface="Times New Roman" panose="02020603050405020304" pitchFamily="18" charset="0"/>
                <a:cs typeface="Times New Roman" panose="02020603050405020304" pitchFamily="18" charset="0"/>
                <a:sym typeface="+mn-ea"/>
              </a:rPr>
              <a:t>定时器时钟</a:t>
            </a:r>
            <a:r>
              <a:rPr lang="zh-CN" altLang="en-US" sz="2400" b="1" dirty="0" smtClean="0">
                <a:solidFill>
                  <a:schemeClr val="tx1"/>
                </a:solidFill>
                <a:latin typeface="Times New Roman" panose="02020603050405020304" pitchFamily="18" charset="0"/>
                <a:cs typeface="Times New Roman" panose="02020603050405020304" pitchFamily="18" charset="0"/>
                <a:sym typeface="+mn-ea"/>
              </a:rPr>
              <a:t>频率</a:t>
            </a:r>
            <a:endParaRPr lang="zh-CN" altLang="en-US" sz="2400" b="1" dirty="0" smtClean="0">
              <a:solidFill>
                <a:schemeClr val="tx1"/>
              </a:solidFill>
              <a:latin typeface="Times New Roman" panose="02020603050405020304" pitchFamily="18" charset="0"/>
              <a:cs typeface="Times New Roman" panose="02020603050405020304" pitchFamily="18" charset="0"/>
              <a:sym typeface="+mn-ea"/>
            </a:endParaRPr>
          </a:p>
        </p:txBody>
      </p:sp>
      <p:pic>
        <p:nvPicPr>
          <p:cNvPr id="1026" name="Picture 2"/>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20650" y="3001645"/>
            <a:ext cx="3312795" cy="1237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图片 4"/>
          <p:cNvPicPr>
            <a:picLocks noChangeAspect="1"/>
          </p:cNvPicPr>
          <p:nvPr>
            <p:custDataLst>
              <p:tags r:id="rId4"/>
            </p:custDataLst>
          </p:nvPr>
        </p:nvPicPr>
        <p:blipFill>
          <a:blip r:embed="rId5"/>
          <a:stretch>
            <a:fillRect/>
          </a:stretch>
        </p:blipFill>
        <p:spPr>
          <a:xfrm rot="5400000">
            <a:off x="6819900" y="3057525"/>
            <a:ext cx="962660" cy="1400175"/>
          </a:xfrm>
          <a:prstGeom prst="rect">
            <a:avLst/>
          </a:prstGeom>
        </p:spPr>
      </p:pic>
      <p:sp>
        <p:nvSpPr>
          <p:cNvPr id="2" name="文本框 1"/>
          <p:cNvSpPr txBox="1"/>
          <p:nvPr>
            <p:custDataLst>
              <p:tags r:id="rId6"/>
            </p:custDataLst>
          </p:nvPr>
        </p:nvSpPr>
        <p:spPr>
          <a:xfrm>
            <a:off x="6228715" y="4152900"/>
            <a:ext cx="8285480" cy="346075"/>
          </a:xfrm>
          <a:prstGeom prst="rect">
            <a:avLst/>
          </a:prstGeom>
          <a:noFill/>
        </p:spPr>
        <p:txBody>
          <a:bodyPr wrap="square" rtlCol="0">
            <a:noAutofit/>
          </a:bodyPr>
          <a:p>
            <a:pPr marL="0" indent="0">
              <a:buNone/>
            </a:pPr>
            <a:r>
              <a:rPr lang="zh-CN" altLang="en-US" sz="2400" dirty="0" smtClean="0">
                <a:solidFill>
                  <a:schemeClr val="tx1"/>
                </a:solidFill>
                <a:latin typeface="Times New Roman" panose="02020603050405020304" pitchFamily="18" charset="0"/>
                <a:cs typeface="Times New Roman" panose="02020603050405020304" pitchFamily="18" charset="0"/>
                <a:sym typeface="+mn-ea"/>
              </a:rPr>
              <a:t>计数器</a:t>
            </a:r>
            <a:r>
              <a:rPr lang="zh-CN" altLang="en-US" sz="2400" dirty="0" smtClean="0">
                <a:solidFill>
                  <a:schemeClr val="tx1"/>
                </a:solidFill>
                <a:latin typeface="Times New Roman" panose="02020603050405020304" pitchFamily="18" charset="0"/>
                <a:cs typeface="Times New Roman" panose="02020603050405020304" pitchFamily="18" charset="0"/>
                <a:sym typeface="+mn-ea"/>
              </a:rPr>
              <a:t>寄存器</a:t>
            </a:r>
            <a:endParaRPr lang="zh-CN" altLang="en-US" sz="2400" dirty="0" smtClean="0">
              <a:solidFill>
                <a:schemeClr val="tx1"/>
              </a:solidFill>
              <a:latin typeface="Times New Roman" panose="02020603050405020304" pitchFamily="18" charset="0"/>
              <a:cs typeface="Times New Roman" panose="02020603050405020304" pitchFamily="18" charset="0"/>
              <a:sym typeface="+mn-ea"/>
            </a:endParaRPr>
          </a:p>
        </p:txBody>
      </p:sp>
      <p:pic>
        <p:nvPicPr>
          <p:cNvPr id="3" name="图片 2" descr="~BGDTO61I77VYY7I5ENC~WR"/>
          <p:cNvPicPr>
            <a:picLocks noChangeAspect="1"/>
          </p:cNvPicPr>
          <p:nvPr>
            <p:custDataLst>
              <p:tags r:id="rId7"/>
            </p:custDataLst>
          </p:nvPr>
        </p:nvPicPr>
        <p:blipFill>
          <a:blip r:embed="rId8"/>
          <a:stretch>
            <a:fillRect/>
          </a:stretch>
        </p:blipFill>
        <p:spPr>
          <a:xfrm>
            <a:off x="3846195" y="3225800"/>
            <a:ext cx="2343150" cy="891540"/>
          </a:xfrm>
          <a:prstGeom prst="rect">
            <a:avLst/>
          </a:prstGeom>
        </p:spPr>
      </p:pic>
      <mc:AlternateContent xmlns:mc="http://schemas.openxmlformats.org/markup-compatibility/2006" xmlns:p14="http://schemas.microsoft.com/office/powerpoint/2010/main">
        <mc:Choice Requires="p14">
          <p:contentPart r:id="rId9" p14:bwMode="auto">
            <p14:nvContentPartPr>
              <p14:cNvPr id="4" name="墨迹 3"/>
              <p14:cNvContentPartPr/>
              <p14:nvPr/>
            </p14:nvContentPartPr>
            <p14:xfrm>
              <a:off x="3437890" y="3613150"/>
              <a:ext cx="282575" cy="4445"/>
            </p14:xfrm>
          </p:contentPart>
        </mc:Choice>
        <mc:Fallback xmlns="">
          <p:pic>
            <p:nvPicPr>
              <p:cNvPr id="4" name="墨迹 3"/>
            </p:nvPicPr>
            <p:blipFill>
              <a:blip r:embed="rId10"/>
            </p:blipFill>
            <p:spPr>
              <a:xfrm>
                <a:off x="3437890" y="3613150"/>
                <a:ext cx="282575" cy="444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3707765" y="3522980"/>
              <a:ext cx="120015" cy="146050"/>
            </p14:xfrm>
          </p:contentPart>
        </mc:Choice>
        <mc:Fallback xmlns="">
          <p:pic>
            <p:nvPicPr>
              <p:cNvPr id="7" name="墨迹 6"/>
            </p:nvPicPr>
            <p:blipFill>
              <a:blip r:embed="rId12"/>
            </p:blipFill>
            <p:spPr>
              <a:xfrm>
                <a:off x="3707765" y="3522980"/>
                <a:ext cx="120015" cy="14605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6194425" y="3574415"/>
              <a:ext cx="342900" cy="46990"/>
            </p14:xfrm>
          </p:contentPart>
        </mc:Choice>
        <mc:Fallback xmlns="">
          <p:pic>
            <p:nvPicPr>
              <p:cNvPr id="8" name="墨迹 7"/>
            </p:nvPicPr>
            <p:blipFill>
              <a:blip r:embed="rId14"/>
            </p:blipFill>
            <p:spPr>
              <a:xfrm>
                <a:off x="6194425" y="3574415"/>
                <a:ext cx="342900" cy="4699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 name="墨迹 9"/>
              <p14:cNvContentPartPr/>
              <p14:nvPr/>
            </p14:nvContentPartPr>
            <p14:xfrm>
              <a:off x="6408420" y="3480435"/>
              <a:ext cx="219075" cy="179705"/>
            </p14:xfrm>
          </p:contentPart>
        </mc:Choice>
        <mc:Fallback xmlns="">
          <p:pic>
            <p:nvPicPr>
              <p:cNvPr id="10" name="墨迹 9"/>
            </p:nvPicPr>
            <p:blipFill>
              <a:blip r:embed="rId16"/>
            </p:blipFill>
            <p:spPr>
              <a:xfrm>
                <a:off x="6408420" y="3480435"/>
                <a:ext cx="219075" cy="179705"/>
              </a:xfrm>
              <a:prstGeom prst="rect"/>
            </p:spPr>
          </p:pic>
        </mc:Fallback>
      </mc:AlternateContent>
      <p:pic>
        <p:nvPicPr>
          <p:cNvPr id="11" name="图片 10"/>
          <p:cNvPicPr>
            <a:picLocks noChangeAspect="1"/>
          </p:cNvPicPr>
          <p:nvPr>
            <p:custDataLst>
              <p:tags r:id="rId17"/>
            </p:custDataLst>
          </p:nvPr>
        </p:nvPicPr>
        <p:blipFill>
          <a:blip r:embed="rId5"/>
          <a:stretch>
            <a:fillRect/>
          </a:stretch>
        </p:blipFill>
        <p:spPr>
          <a:xfrm rot="5400000">
            <a:off x="6904990" y="1476375"/>
            <a:ext cx="962660" cy="1400175"/>
          </a:xfrm>
          <a:prstGeom prst="rect">
            <a:avLst/>
          </a:prstGeom>
        </p:spPr>
      </p:pic>
      <p:sp>
        <p:nvSpPr>
          <p:cNvPr id="12" name="文本框 11"/>
          <p:cNvSpPr txBox="1"/>
          <p:nvPr>
            <p:custDataLst>
              <p:tags r:id="rId18"/>
            </p:custDataLst>
          </p:nvPr>
        </p:nvSpPr>
        <p:spPr>
          <a:xfrm>
            <a:off x="6351905" y="2768600"/>
            <a:ext cx="8285480" cy="346075"/>
          </a:xfrm>
          <a:prstGeom prst="rect">
            <a:avLst/>
          </a:prstGeom>
          <a:noFill/>
        </p:spPr>
        <p:txBody>
          <a:bodyPr wrap="square" rtlCol="0">
            <a:noAutofit/>
          </a:bodyPr>
          <a:p>
            <a:pPr marL="0" indent="0">
              <a:buNone/>
            </a:pPr>
            <a:r>
              <a:rPr lang="zh-CN" altLang="en-US" sz="2400" dirty="0" smtClean="0">
                <a:latin typeface="Times New Roman" panose="02020603050405020304" pitchFamily="18" charset="0"/>
                <a:cs typeface="Times New Roman" panose="02020603050405020304" pitchFamily="18" charset="0"/>
                <a:sym typeface="+mn-ea"/>
              </a:rPr>
              <a:t>自动重装载</a:t>
            </a:r>
            <a:r>
              <a:rPr lang="zh-CN" altLang="en-US" sz="2400" dirty="0" smtClean="0">
                <a:latin typeface="Times New Roman" panose="02020603050405020304" pitchFamily="18" charset="0"/>
                <a:cs typeface="Times New Roman" panose="02020603050405020304" pitchFamily="18" charset="0"/>
                <a:sym typeface="+mn-ea"/>
              </a:rPr>
              <a:t>寄存器</a:t>
            </a:r>
            <a:endParaRPr lang="zh-CN" altLang="en-US" sz="2400" dirty="0" smtClean="0">
              <a:latin typeface="Times New Roman" panose="02020603050405020304" pitchFamily="18" charset="0"/>
              <a:cs typeface="Times New Roman" panose="02020603050405020304" pitchFamily="18" charset="0"/>
              <a:sym typeface="+mn-ea"/>
            </a:endParaRPr>
          </a:p>
        </p:txBody>
      </p:sp>
      <p:sp>
        <p:nvSpPr>
          <p:cNvPr id="13" name="文本框 12"/>
          <p:cNvSpPr txBox="1"/>
          <p:nvPr/>
        </p:nvSpPr>
        <p:spPr>
          <a:xfrm>
            <a:off x="763905" y="3947795"/>
            <a:ext cx="1275715" cy="368300"/>
          </a:xfrm>
          <a:prstGeom prst="rect">
            <a:avLst/>
          </a:prstGeom>
          <a:noFill/>
        </p:spPr>
        <p:txBody>
          <a:bodyPr wrap="square" rtlCol="0">
            <a:spAutoFit/>
          </a:bodyPr>
          <a:p>
            <a:r>
              <a:rPr lang="zh-CN" altLang="en-US"/>
              <a:t>时钟</a:t>
            </a:r>
            <a:r>
              <a:rPr lang="zh-CN" altLang="en-US"/>
              <a:t>脉冲</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定时器</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中断</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426085" y="925830"/>
            <a:ext cx="4526915" cy="368300"/>
          </a:xfrm>
          <a:prstGeom prst="rect">
            <a:avLst/>
          </a:prstGeom>
          <a:noFill/>
        </p:spPr>
        <p:txBody>
          <a:bodyPr wrap="none" rtlCol="0">
            <a:spAutoFit/>
          </a:bodyPr>
          <a:p>
            <a:r>
              <a:rPr lang="zh-CN" altLang="en-US"/>
              <a:t>预分频器，自动重装在</a:t>
            </a:r>
            <a:r>
              <a:rPr lang="zh-CN" altLang="en-US"/>
              <a:t>定时器为什么有</a:t>
            </a:r>
            <a:r>
              <a:rPr lang="en-US" altLang="zh-CN"/>
              <a:t>+1</a:t>
            </a:r>
            <a:r>
              <a:rPr lang="zh-CN" altLang="en-US"/>
              <a:t>？</a:t>
            </a:r>
            <a:endParaRPr lang="zh-CN" altLang="en-US"/>
          </a:p>
        </p:txBody>
      </p:sp>
      <p:sp>
        <p:nvSpPr>
          <p:cNvPr id="3" name="文本框 2"/>
          <p:cNvSpPr txBox="1"/>
          <p:nvPr/>
        </p:nvSpPr>
        <p:spPr>
          <a:xfrm>
            <a:off x="426085" y="1298575"/>
            <a:ext cx="7650480" cy="645160"/>
          </a:xfrm>
          <a:prstGeom prst="rect">
            <a:avLst/>
          </a:prstGeom>
          <a:noFill/>
        </p:spPr>
        <p:txBody>
          <a:bodyPr wrap="square" rtlCol="0">
            <a:spAutoFit/>
          </a:bodyPr>
          <a:p>
            <a:r>
              <a:rPr lang="zh-CN" altLang="en-US"/>
              <a:t>因为预分频器相当于从</a:t>
            </a:r>
            <a:r>
              <a:rPr lang="en-US" altLang="zh-CN"/>
              <a:t>0</a:t>
            </a:r>
            <a:r>
              <a:rPr lang="zh-CN" altLang="en-US"/>
              <a:t>开始先数一下，数到你设置的</a:t>
            </a:r>
            <a:r>
              <a:rPr lang="en-US" altLang="zh-CN"/>
              <a:t>n</a:t>
            </a:r>
            <a:r>
              <a:rPr lang="zh-CN" altLang="en-US"/>
              <a:t>个脉冲之后才输出一个脉冲，所以</a:t>
            </a:r>
            <a:r>
              <a:rPr lang="en-US" altLang="zh-CN"/>
              <a:t>n</a:t>
            </a:r>
            <a:r>
              <a:rPr lang="zh-CN" altLang="en-US"/>
              <a:t>分频要设置预分频器为</a:t>
            </a:r>
            <a:r>
              <a:rPr lang="en-US" altLang="zh-CN"/>
              <a:t>n-1</a:t>
            </a:r>
            <a:endParaRPr lang="en-US" altLang="zh-CN"/>
          </a:p>
        </p:txBody>
      </p:sp>
      <p:pic>
        <p:nvPicPr>
          <p:cNvPr id="4" name="图片 3"/>
          <p:cNvPicPr>
            <a:picLocks noChangeAspect="1"/>
          </p:cNvPicPr>
          <p:nvPr/>
        </p:nvPicPr>
        <p:blipFill>
          <a:blip r:embed="rId1"/>
          <a:stretch>
            <a:fillRect/>
          </a:stretch>
        </p:blipFill>
        <p:spPr>
          <a:xfrm>
            <a:off x="426085" y="1948180"/>
            <a:ext cx="7261225" cy="4076700"/>
          </a:xfrm>
          <a:prstGeom prst="rect">
            <a:avLst/>
          </a:prstGeom>
        </p:spPr>
      </p:pic>
      <p:sp>
        <p:nvSpPr>
          <p:cNvPr id="5" name="文本框 4"/>
          <p:cNvSpPr txBox="1"/>
          <p:nvPr/>
        </p:nvSpPr>
        <p:spPr>
          <a:xfrm>
            <a:off x="609600" y="6174740"/>
            <a:ext cx="4107815" cy="368300"/>
          </a:xfrm>
          <a:prstGeom prst="rect">
            <a:avLst/>
          </a:prstGeom>
          <a:noFill/>
        </p:spPr>
        <p:txBody>
          <a:bodyPr wrap="none" rtlCol="0">
            <a:spAutoFit/>
          </a:bodyPr>
          <a:p>
            <a:r>
              <a:rPr lang="en-US" altLang="zh-CN"/>
              <a:t>ARR</a:t>
            </a:r>
            <a:r>
              <a:rPr lang="zh-CN" altLang="en-US"/>
              <a:t>也是同理，从</a:t>
            </a:r>
            <a:r>
              <a:rPr lang="en-US" altLang="zh-CN"/>
              <a:t>0</a:t>
            </a:r>
            <a:r>
              <a:rPr lang="zh-CN" altLang="en-US"/>
              <a:t>开始数的，所以要</a:t>
            </a:r>
            <a:r>
              <a:rPr lang="en-US" altLang="zh-CN"/>
              <a:t>+1</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定时器中断</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100" name="图片 99"/>
          <p:cNvPicPr/>
          <p:nvPr/>
        </p:nvPicPr>
        <p:blipFill>
          <a:blip r:embed="rId1"/>
          <a:srcRect l="1000" t="22153" r="-770" b="19637"/>
          <a:stretch>
            <a:fillRect/>
          </a:stretch>
        </p:blipFill>
        <p:spPr>
          <a:xfrm>
            <a:off x="341630" y="3396615"/>
            <a:ext cx="6981825" cy="3221355"/>
          </a:xfrm>
          <a:prstGeom prst="rect">
            <a:avLst/>
          </a:prstGeom>
          <a:noFill/>
          <a:ln w="9525">
            <a:noFill/>
          </a:ln>
        </p:spPr>
      </p:pic>
      <p:sp>
        <p:nvSpPr>
          <p:cNvPr id="3" name="文本框 2"/>
          <p:cNvSpPr txBox="1"/>
          <p:nvPr/>
        </p:nvSpPr>
        <p:spPr>
          <a:xfrm>
            <a:off x="341630" y="1418590"/>
            <a:ext cx="5991225" cy="922020"/>
          </a:xfrm>
          <a:prstGeom prst="rect">
            <a:avLst/>
          </a:prstGeom>
          <a:noFill/>
        </p:spPr>
        <p:txBody>
          <a:bodyPr wrap="none" rtlCol="0">
            <a:spAutoFit/>
          </a:bodyPr>
          <a:p>
            <a:pPr marL="0" indent="0" algn="l">
              <a:buNone/>
            </a:pPr>
            <a:r>
              <a:rPr lang="zh-CN" altLang="en-US" dirty="0" smtClean="0">
                <a:latin typeface="Times New Roman" panose="02020603050405020304" pitchFamily="18" charset="0"/>
                <a:cs typeface="Times New Roman" panose="02020603050405020304" pitchFamily="18" charset="0"/>
                <a:sym typeface="+mn-ea"/>
              </a:rPr>
              <a:t>定时时间</a:t>
            </a:r>
            <a:r>
              <a:rPr lang="en-US" altLang="zh-CN" dirty="0" smtClean="0">
                <a:latin typeface="Times New Roman" panose="02020603050405020304" pitchFamily="18" charset="0"/>
                <a:cs typeface="Times New Roman" panose="02020603050405020304" pitchFamily="18" charset="0"/>
                <a:sym typeface="+mn-ea"/>
              </a:rPr>
              <a:t> =</a:t>
            </a:r>
            <a:r>
              <a:rPr lang="zh-CN" altLang="en-US" dirty="0" smtClean="0">
                <a:latin typeface="Times New Roman" panose="02020603050405020304" pitchFamily="18" charset="0"/>
                <a:cs typeface="Times New Roman" panose="02020603050405020304" pitchFamily="18" charset="0"/>
                <a:sym typeface="+mn-ea"/>
              </a:rPr>
              <a:t>（</a:t>
            </a:r>
            <a:r>
              <a:rPr lang="en-US" altLang="zh-CN" b="1" i="1" dirty="0" smtClean="0">
                <a:latin typeface="Times New Roman" panose="02020603050405020304" pitchFamily="18" charset="0"/>
                <a:cs typeface="Times New Roman" panose="02020603050405020304" pitchFamily="18" charset="0"/>
                <a:sym typeface="+mn-ea"/>
              </a:rPr>
              <a:t>Prescaler+1</a:t>
            </a:r>
            <a:r>
              <a:rPr lang="zh-CN" altLang="en-US" b="1" dirty="0" smtClean="0">
                <a:latin typeface="Times New Roman" panose="02020603050405020304" pitchFamily="18" charset="0"/>
                <a:cs typeface="Times New Roman" panose="02020603050405020304" pitchFamily="18" charset="0"/>
                <a:sym typeface="+mn-ea"/>
              </a:rPr>
              <a:t>）</a:t>
            </a:r>
            <a:r>
              <a:rPr lang="en-US" altLang="zh-CN" b="1" dirty="0" smtClean="0">
                <a:latin typeface="Times New Roman" panose="02020603050405020304" pitchFamily="18" charset="0"/>
                <a:cs typeface="Times New Roman" panose="02020603050405020304" pitchFamily="18" charset="0"/>
                <a:sym typeface="+mn-ea"/>
              </a:rPr>
              <a:t>*</a:t>
            </a:r>
            <a:r>
              <a:rPr lang="zh-CN" altLang="en-US" b="1" dirty="0" smtClean="0">
                <a:latin typeface="Times New Roman" panose="02020603050405020304" pitchFamily="18" charset="0"/>
                <a:cs typeface="Times New Roman" panose="02020603050405020304" pitchFamily="18" charset="0"/>
                <a:sym typeface="+mn-ea"/>
              </a:rPr>
              <a:t>（</a:t>
            </a:r>
            <a:r>
              <a:rPr lang="en-US" altLang="zh-CN" dirty="0">
                <a:latin typeface="Microsoft YaHei UI" panose="020B0503020204020204" pitchFamily="34" charset="-122"/>
                <a:ea typeface="Microsoft YaHei UI" panose="020B0503020204020204" pitchFamily="34" charset="-122"/>
                <a:sym typeface="+mn-ea"/>
              </a:rPr>
              <a:t>Auto Reload Register</a:t>
            </a:r>
            <a:r>
              <a:rPr lang="en-US" altLang="zh-CN" b="1" i="1" dirty="0" smtClean="0">
                <a:latin typeface="Times New Roman" panose="02020603050405020304" pitchFamily="18" charset="0"/>
                <a:cs typeface="Times New Roman" panose="02020603050405020304" pitchFamily="18" charset="0"/>
                <a:sym typeface="+mn-ea"/>
              </a:rPr>
              <a:t>+1</a:t>
            </a:r>
            <a:r>
              <a:rPr lang="zh-CN" altLang="en-US" b="1" dirty="0" smtClean="0">
                <a:latin typeface="Times New Roman" panose="02020603050405020304" pitchFamily="18" charset="0"/>
                <a:cs typeface="Times New Roman" panose="02020603050405020304" pitchFamily="18" charset="0"/>
                <a:sym typeface="+mn-ea"/>
              </a:rPr>
              <a:t>）</a:t>
            </a:r>
            <a:endParaRPr lang="zh-CN" altLang="en-US" b="1" dirty="0" smtClean="0">
              <a:latin typeface="Times New Roman" panose="02020603050405020304" pitchFamily="18" charset="0"/>
              <a:cs typeface="Times New Roman" panose="02020603050405020304" pitchFamily="18" charset="0"/>
              <a:sym typeface="+mn-ea"/>
            </a:endParaRPr>
          </a:p>
          <a:p>
            <a:pPr marL="1371600" lvl="3" indent="457200" algn="l">
              <a:buNone/>
            </a:pPr>
            <a:r>
              <a:rPr lang="en-US" altLang="zh-CN" b="1" dirty="0" smtClean="0">
                <a:latin typeface="Times New Roman" panose="02020603050405020304" pitchFamily="18" charset="0"/>
                <a:cs typeface="Times New Roman" panose="02020603050405020304" pitchFamily="18" charset="0"/>
                <a:sym typeface="+mn-ea"/>
              </a:rPr>
              <a:t>/</a:t>
            </a:r>
            <a:r>
              <a:rPr lang="zh-CN" altLang="en-US" b="1" dirty="0" smtClean="0">
                <a:latin typeface="Times New Roman" panose="02020603050405020304" pitchFamily="18" charset="0"/>
                <a:cs typeface="Times New Roman" panose="02020603050405020304" pitchFamily="18" charset="0"/>
                <a:sym typeface="+mn-ea"/>
              </a:rPr>
              <a:t>定时器时钟频率</a:t>
            </a:r>
            <a:endParaRPr lang="zh-CN" altLang="en-US" b="1" dirty="0" smtClean="0">
              <a:solidFill>
                <a:schemeClr val="tx1"/>
              </a:solidFill>
              <a:latin typeface="Times New Roman" panose="02020603050405020304" pitchFamily="18" charset="0"/>
              <a:cs typeface="Times New Roman" panose="02020603050405020304" pitchFamily="18" charset="0"/>
              <a:sym typeface="+mn-ea"/>
            </a:endParaRPr>
          </a:p>
          <a:p>
            <a:endParaRPr lang="zh-CN" altLang="en-US"/>
          </a:p>
        </p:txBody>
      </p:sp>
      <p:sp>
        <p:nvSpPr>
          <p:cNvPr id="5" name="文本框 4"/>
          <p:cNvSpPr txBox="1"/>
          <p:nvPr/>
        </p:nvSpPr>
        <p:spPr>
          <a:xfrm>
            <a:off x="249555" y="988060"/>
            <a:ext cx="8106410" cy="368300"/>
          </a:xfrm>
          <a:prstGeom prst="rect">
            <a:avLst/>
          </a:prstGeom>
          <a:noFill/>
        </p:spPr>
        <p:txBody>
          <a:bodyPr wrap="none" rtlCol="0">
            <a:spAutoFit/>
          </a:bodyPr>
          <a:p>
            <a:r>
              <a:rPr lang="zh-CN" altLang="en-US"/>
              <a:t>以向上计数为例，</a:t>
            </a:r>
            <a:r>
              <a:rPr lang="zh-CN" altLang="en-US">
                <a:highlight>
                  <a:srgbClr val="FFFF00"/>
                </a:highlight>
              </a:rPr>
              <a:t>每次从计数开始到</a:t>
            </a:r>
            <a:r>
              <a:rPr lang="en-US" altLang="zh-CN">
                <a:highlight>
                  <a:srgbClr val="FFFF00"/>
                </a:highlight>
              </a:rPr>
              <a:t>ARR</a:t>
            </a:r>
            <a:r>
              <a:rPr lang="zh-CN" altLang="en-US">
                <a:highlight>
                  <a:srgbClr val="FFFF00"/>
                </a:highlight>
              </a:rPr>
              <a:t>达到上限触发中断的时间就是定时</a:t>
            </a:r>
            <a:r>
              <a:rPr lang="zh-CN" altLang="en-US">
                <a:highlight>
                  <a:srgbClr val="FFFF00"/>
                </a:highlight>
              </a:rPr>
              <a:t>时间</a:t>
            </a:r>
            <a:endParaRPr lang="zh-CN" altLang="en-US">
              <a:highlight>
                <a:srgbClr val="FFFF00"/>
              </a:highlight>
            </a:endParaRPr>
          </a:p>
        </p:txBody>
      </p:sp>
      <p:sp>
        <p:nvSpPr>
          <p:cNvPr id="6" name="文本框 5"/>
          <p:cNvSpPr txBox="1"/>
          <p:nvPr/>
        </p:nvSpPr>
        <p:spPr>
          <a:xfrm>
            <a:off x="341630" y="2150745"/>
            <a:ext cx="8371205" cy="922020"/>
          </a:xfrm>
          <a:prstGeom prst="rect">
            <a:avLst/>
          </a:prstGeom>
          <a:noFill/>
        </p:spPr>
        <p:txBody>
          <a:bodyPr wrap="square" rtlCol="0">
            <a:spAutoFit/>
          </a:bodyPr>
          <a:p>
            <a:r>
              <a:rPr lang="zh-CN" altLang="en-US"/>
              <a:t>例如</a:t>
            </a:r>
            <a:r>
              <a:rPr lang="en-US" altLang="zh-CN"/>
              <a:t>100hz</a:t>
            </a:r>
            <a:r>
              <a:rPr lang="zh-CN" altLang="en-US"/>
              <a:t>的时钟脉冲，经过</a:t>
            </a:r>
            <a:r>
              <a:rPr lang="en-US" altLang="zh-CN"/>
              <a:t>2</a:t>
            </a:r>
            <a:r>
              <a:rPr lang="zh-CN" altLang="en-US"/>
              <a:t>分频，变成</a:t>
            </a:r>
            <a:r>
              <a:rPr lang="en-US" altLang="zh-CN"/>
              <a:t>50hz</a:t>
            </a:r>
            <a:r>
              <a:rPr lang="zh-CN" altLang="en-US"/>
              <a:t>的脉冲进入</a:t>
            </a:r>
            <a:r>
              <a:rPr lang="en-US" altLang="zh-CN"/>
              <a:t>CNT</a:t>
            </a:r>
            <a:r>
              <a:rPr lang="zh-CN" altLang="en-US"/>
              <a:t>，那么就是说如果没有</a:t>
            </a:r>
            <a:r>
              <a:rPr lang="en-US" altLang="zh-CN"/>
              <a:t>ARR</a:t>
            </a:r>
            <a:r>
              <a:rPr lang="zh-CN" altLang="en-US"/>
              <a:t>清零，</a:t>
            </a:r>
            <a:r>
              <a:rPr lang="en-US" altLang="zh-CN"/>
              <a:t>CNT</a:t>
            </a:r>
            <a:r>
              <a:rPr lang="zh-CN" altLang="en-US"/>
              <a:t>每秒一共会计数到</a:t>
            </a:r>
            <a:r>
              <a:rPr lang="en-US" altLang="zh-CN"/>
              <a:t>50</a:t>
            </a:r>
            <a:r>
              <a:rPr lang="zh-CN" altLang="en-US"/>
              <a:t>，那么如果将</a:t>
            </a:r>
            <a:r>
              <a:rPr lang="en-US" altLang="zh-CN"/>
              <a:t>ARR</a:t>
            </a:r>
            <a:r>
              <a:rPr lang="zh-CN" altLang="en-US"/>
              <a:t>设置为</a:t>
            </a:r>
            <a:r>
              <a:rPr lang="en-US" altLang="zh-CN"/>
              <a:t>10</a:t>
            </a:r>
            <a:r>
              <a:rPr lang="zh-CN" altLang="en-US"/>
              <a:t>，那么每秒就会触发</a:t>
            </a:r>
            <a:r>
              <a:rPr lang="en-US" altLang="zh-CN"/>
              <a:t>50/10=5</a:t>
            </a:r>
            <a:r>
              <a:rPr lang="zh-CN" altLang="en-US"/>
              <a:t>次中断，也就是说我们的定时时间是</a:t>
            </a:r>
            <a:r>
              <a:rPr lang="en-US" altLang="zh-CN"/>
              <a:t>1s/5=200ms</a:t>
            </a:r>
            <a:endParaRPr lang="zh-CN" altLang="en-US"/>
          </a:p>
        </p:txBody>
      </p:sp>
      <p:sp>
        <p:nvSpPr>
          <p:cNvPr id="2" name="矩形 1"/>
          <p:cNvSpPr/>
          <p:nvPr/>
        </p:nvSpPr>
        <p:spPr>
          <a:xfrm>
            <a:off x="4338320" y="4429760"/>
            <a:ext cx="2270760" cy="5264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每秒一次</a:t>
            </a:r>
            <a:r>
              <a:rPr lang="zh-CN" altLang="en-US"/>
              <a:t>中断</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定时器</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中断</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2" name="图片 1"/>
          <p:cNvPicPr>
            <a:picLocks noChangeAspect="1"/>
          </p:cNvPicPr>
          <p:nvPr/>
        </p:nvPicPr>
        <p:blipFill>
          <a:blip r:embed="rId1"/>
          <a:stretch>
            <a:fillRect/>
          </a:stretch>
        </p:blipFill>
        <p:spPr>
          <a:xfrm>
            <a:off x="0" y="1784350"/>
            <a:ext cx="9144000" cy="4191000"/>
          </a:xfrm>
          <a:prstGeom prst="rect">
            <a:avLst/>
          </a:prstGeom>
        </p:spPr>
      </p:pic>
      <p:sp>
        <p:nvSpPr>
          <p:cNvPr id="4" name="文本框 3"/>
          <p:cNvSpPr txBox="1"/>
          <p:nvPr/>
        </p:nvSpPr>
        <p:spPr>
          <a:xfrm>
            <a:off x="387350" y="1078865"/>
            <a:ext cx="1554480" cy="368300"/>
          </a:xfrm>
          <a:prstGeom prst="rect">
            <a:avLst/>
          </a:prstGeom>
          <a:noFill/>
        </p:spPr>
        <p:txBody>
          <a:bodyPr wrap="none" rtlCol="0">
            <a:spAutoFit/>
          </a:bodyPr>
          <a:p>
            <a:r>
              <a:rPr lang="zh-CN" altLang="en-US"/>
              <a:t>定时器的</a:t>
            </a:r>
            <a:r>
              <a:rPr lang="zh-CN" altLang="en-US"/>
              <a:t>分类</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如何配置一个</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定时器</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中断</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3" name="图片 2"/>
          <p:cNvPicPr>
            <a:picLocks noChangeAspect="1"/>
          </p:cNvPicPr>
          <p:nvPr/>
        </p:nvPicPr>
        <p:blipFill>
          <a:blip r:embed="rId1"/>
          <a:stretch>
            <a:fillRect/>
          </a:stretch>
        </p:blipFill>
        <p:spPr>
          <a:xfrm>
            <a:off x="328930" y="1500505"/>
            <a:ext cx="3261360" cy="1882140"/>
          </a:xfrm>
          <a:prstGeom prst="rect">
            <a:avLst/>
          </a:prstGeom>
        </p:spPr>
      </p:pic>
      <p:sp>
        <p:nvSpPr>
          <p:cNvPr id="5" name="文本框 4"/>
          <p:cNvSpPr txBox="1"/>
          <p:nvPr/>
        </p:nvSpPr>
        <p:spPr>
          <a:xfrm>
            <a:off x="267335" y="1028700"/>
            <a:ext cx="3175635" cy="368300"/>
          </a:xfrm>
          <a:prstGeom prst="rect">
            <a:avLst/>
          </a:prstGeom>
          <a:noFill/>
        </p:spPr>
        <p:txBody>
          <a:bodyPr wrap="none" rtlCol="0">
            <a:spAutoFit/>
          </a:bodyPr>
          <a:p>
            <a:r>
              <a:rPr lang="en-US" altLang="zh-CN"/>
              <a:t>1</a:t>
            </a:r>
            <a:r>
              <a:rPr lang="zh-CN" altLang="en-US"/>
              <a:t>，进入</a:t>
            </a:r>
            <a:r>
              <a:rPr lang="en-US" altLang="zh-CN"/>
              <a:t>timers</a:t>
            </a:r>
            <a:r>
              <a:rPr lang="zh-CN" altLang="en-US"/>
              <a:t>选择一个</a:t>
            </a:r>
            <a:r>
              <a:rPr lang="zh-CN" altLang="en-US"/>
              <a:t>定时器</a:t>
            </a:r>
            <a:endParaRPr lang="zh-CN" altLang="en-US"/>
          </a:p>
        </p:txBody>
      </p:sp>
      <p:pic>
        <p:nvPicPr>
          <p:cNvPr id="6" name="图片 5"/>
          <p:cNvPicPr>
            <a:picLocks noChangeAspect="1"/>
          </p:cNvPicPr>
          <p:nvPr/>
        </p:nvPicPr>
        <p:blipFill>
          <a:blip r:embed="rId2"/>
          <a:stretch>
            <a:fillRect/>
          </a:stretch>
        </p:blipFill>
        <p:spPr>
          <a:xfrm>
            <a:off x="3964305" y="1397000"/>
            <a:ext cx="4815840" cy="2819400"/>
          </a:xfrm>
          <a:prstGeom prst="rect">
            <a:avLst/>
          </a:prstGeom>
        </p:spPr>
      </p:pic>
      <p:sp>
        <p:nvSpPr>
          <p:cNvPr id="7" name="文本框 6"/>
          <p:cNvSpPr txBox="1"/>
          <p:nvPr/>
        </p:nvSpPr>
        <p:spPr>
          <a:xfrm>
            <a:off x="4052570" y="1028700"/>
            <a:ext cx="2256790" cy="368300"/>
          </a:xfrm>
          <a:prstGeom prst="rect">
            <a:avLst/>
          </a:prstGeom>
          <a:noFill/>
        </p:spPr>
        <p:txBody>
          <a:bodyPr wrap="none" rtlCol="0">
            <a:spAutoFit/>
          </a:bodyPr>
          <a:p>
            <a:r>
              <a:rPr lang="en-US" altLang="zh-CN"/>
              <a:t>2</a:t>
            </a:r>
            <a:r>
              <a:rPr lang="zh-CN" altLang="en-US"/>
              <a:t>，打开</a:t>
            </a:r>
            <a:r>
              <a:rPr lang="en-US" altLang="zh-CN"/>
              <a:t>Internal </a:t>
            </a:r>
            <a:r>
              <a:rPr lang="en-US" altLang="zh-CN"/>
              <a:t>Clock</a:t>
            </a:r>
            <a:endParaRPr lang="en-US" altLang="zh-CN"/>
          </a:p>
        </p:txBody>
      </p:sp>
      <p:pic>
        <p:nvPicPr>
          <p:cNvPr id="8" name="图片 7"/>
          <p:cNvPicPr>
            <a:picLocks noChangeAspect="1"/>
          </p:cNvPicPr>
          <p:nvPr/>
        </p:nvPicPr>
        <p:blipFill>
          <a:blip r:embed="rId3"/>
          <a:stretch>
            <a:fillRect/>
          </a:stretch>
        </p:blipFill>
        <p:spPr>
          <a:xfrm>
            <a:off x="3964305" y="4738370"/>
            <a:ext cx="4663440" cy="2118360"/>
          </a:xfrm>
          <a:prstGeom prst="rect">
            <a:avLst/>
          </a:prstGeom>
        </p:spPr>
      </p:pic>
      <p:sp>
        <p:nvSpPr>
          <p:cNvPr id="10" name="文本框 9"/>
          <p:cNvSpPr txBox="1"/>
          <p:nvPr/>
        </p:nvSpPr>
        <p:spPr>
          <a:xfrm>
            <a:off x="3964305" y="4370070"/>
            <a:ext cx="2926080" cy="368300"/>
          </a:xfrm>
          <a:prstGeom prst="rect">
            <a:avLst/>
          </a:prstGeom>
          <a:noFill/>
        </p:spPr>
        <p:txBody>
          <a:bodyPr wrap="none" rtlCol="0">
            <a:spAutoFit/>
          </a:bodyPr>
          <a:p>
            <a:r>
              <a:rPr lang="zh-CN" altLang="en-US"/>
              <a:t>也有这样打开的，</a:t>
            </a:r>
            <a:r>
              <a:rPr lang="zh-CN" altLang="en-US"/>
              <a:t>一个意思</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定时器</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中断</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3" name="图片 2"/>
          <p:cNvPicPr>
            <a:picLocks noChangeAspect="1"/>
          </p:cNvPicPr>
          <p:nvPr/>
        </p:nvPicPr>
        <p:blipFill>
          <a:blip r:embed="rId1"/>
          <a:stretch>
            <a:fillRect/>
          </a:stretch>
        </p:blipFill>
        <p:spPr>
          <a:xfrm>
            <a:off x="777240" y="2112010"/>
            <a:ext cx="7272020" cy="3611245"/>
          </a:xfrm>
          <a:prstGeom prst="rect">
            <a:avLst/>
          </a:prstGeom>
        </p:spPr>
      </p:pic>
      <p:sp>
        <p:nvSpPr>
          <p:cNvPr id="5" name="文本框 4"/>
          <p:cNvSpPr txBox="1"/>
          <p:nvPr/>
        </p:nvSpPr>
        <p:spPr>
          <a:xfrm>
            <a:off x="923290" y="1088390"/>
            <a:ext cx="7988935" cy="645160"/>
          </a:xfrm>
          <a:prstGeom prst="rect">
            <a:avLst/>
          </a:prstGeom>
          <a:noFill/>
        </p:spPr>
        <p:txBody>
          <a:bodyPr wrap="square" rtlCol="0">
            <a:spAutoFit/>
          </a:bodyPr>
          <a:p>
            <a:r>
              <a:rPr lang="en-US" altLang="zh-CN"/>
              <a:t>3</a:t>
            </a:r>
            <a:r>
              <a:rPr lang="zh-CN" altLang="en-US"/>
              <a:t>，配置</a:t>
            </a:r>
            <a:r>
              <a:rPr lang="en-US" altLang="zh-CN"/>
              <a:t>PSC</a:t>
            </a:r>
            <a:r>
              <a:rPr lang="zh-CN" altLang="en-US"/>
              <a:t>，</a:t>
            </a:r>
            <a:r>
              <a:rPr lang="en-US" altLang="zh-CN"/>
              <a:t>ARR</a:t>
            </a:r>
            <a:r>
              <a:rPr lang="zh-CN" altLang="en-US"/>
              <a:t>，计数模式等等，配置前肯定要自己先计算一下，图上配置的是</a:t>
            </a:r>
            <a:r>
              <a:rPr lang="en-US" altLang="zh-CN"/>
              <a:t>1s</a:t>
            </a:r>
            <a:r>
              <a:rPr lang="zh-CN" altLang="en-US"/>
              <a:t>的定时器</a:t>
            </a:r>
            <a:r>
              <a:rPr lang="zh-CN" altLang="en-US"/>
              <a:t>中断</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定时器</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中断</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4" name="文本框 3"/>
          <p:cNvSpPr txBox="1"/>
          <p:nvPr/>
        </p:nvSpPr>
        <p:spPr>
          <a:xfrm>
            <a:off x="238125" y="1338580"/>
            <a:ext cx="2355850" cy="368300"/>
          </a:xfrm>
          <a:prstGeom prst="rect">
            <a:avLst/>
          </a:prstGeom>
          <a:noFill/>
        </p:spPr>
        <p:txBody>
          <a:bodyPr wrap="none" rtlCol="0">
            <a:spAutoFit/>
          </a:bodyPr>
          <a:p>
            <a:r>
              <a:rPr lang="en-US" altLang="zh-CN"/>
              <a:t>4</a:t>
            </a:r>
            <a:r>
              <a:rPr lang="zh-CN" altLang="en-US"/>
              <a:t>，使能定时器的</a:t>
            </a:r>
            <a:r>
              <a:rPr lang="zh-CN" altLang="en-US"/>
              <a:t>中断</a:t>
            </a:r>
            <a:endParaRPr lang="zh-CN" altLang="en-US"/>
          </a:p>
        </p:txBody>
      </p:sp>
      <p:sp>
        <p:nvSpPr>
          <p:cNvPr id="7" name="文本框 6"/>
          <p:cNvSpPr txBox="1"/>
          <p:nvPr/>
        </p:nvSpPr>
        <p:spPr>
          <a:xfrm>
            <a:off x="238125" y="3538220"/>
            <a:ext cx="7261225" cy="368300"/>
          </a:xfrm>
          <a:prstGeom prst="rect">
            <a:avLst/>
          </a:prstGeom>
          <a:noFill/>
        </p:spPr>
        <p:txBody>
          <a:bodyPr wrap="none" rtlCol="0">
            <a:spAutoFit/>
          </a:bodyPr>
          <a:p>
            <a:r>
              <a:rPr lang="en-US" altLang="zh-CN"/>
              <a:t>TIM1</a:t>
            </a:r>
            <a:r>
              <a:rPr lang="zh-CN" altLang="en-US"/>
              <a:t>这类高级定时器的勾上</a:t>
            </a:r>
            <a:r>
              <a:rPr lang="en-US" altLang="zh-CN"/>
              <a:t>update</a:t>
            </a:r>
            <a:r>
              <a:rPr lang="zh-CN" altLang="en-US"/>
              <a:t>的那一个，全称叫做定时器更新</a:t>
            </a:r>
            <a:r>
              <a:rPr lang="zh-CN" altLang="en-US"/>
              <a:t>中断</a:t>
            </a:r>
            <a:endParaRPr lang="zh-CN" altLang="en-US"/>
          </a:p>
        </p:txBody>
      </p:sp>
      <p:pic>
        <p:nvPicPr>
          <p:cNvPr id="8" name="图片 7"/>
          <p:cNvPicPr>
            <a:picLocks noChangeAspect="1"/>
          </p:cNvPicPr>
          <p:nvPr/>
        </p:nvPicPr>
        <p:blipFill>
          <a:blip r:embed="rId1"/>
          <a:stretch>
            <a:fillRect/>
          </a:stretch>
        </p:blipFill>
        <p:spPr>
          <a:xfrm>
            <a:off x="238125" y="4173855"/>
            <a:ext cx="8127365" cy="1054735"/>
          </a:xfrm>
          <a:prstGeom prst="rect">
            <a:avLst/>
          </a:prstGeom>
        </p:spPr>
      </p:pic>
      <p:sp>
        <p:nvSpPr>
          <p:cNvPr id="10" name="文本框 9"/>
          <p:cNvSpPr txBox="1"/>
          <p:nvPr/>
        </p:nvSpPr>
        <p:spPr>
          <a:xfrm>
            <a:off x="238125" y="5325110"/>
            <a:ext cx="4654550" cy="368300"/>
          </a:xfrm>
          <a:prstGeom prst="rect">
            <a:avLst/>
          </a:prstGeom>
          <a:noFill/>
        </p:spPr>
        <p:txBody>
          <a:bodyPr wrap="none" rtlCol="0">
            <a:spAutoFit/>
          </a:bodyPr>
          <a:p>
            <a:r>
              <a:rPr lang="en-US" altLang="zh-CN"/>
              <a:t>TIM2</a:t>
            </a:r>
            <a:r>
              <a:rPr lang="zh-CN" altLang="en-US"/>
              <a:t>这类的只有一个</a:t>
            </a:r>
            <a:r>
              <a:rPr lang="en-US" altLang="zh-CN"/>
              <a:t>global</a:t>
            </a:r>
            <a:r>
              <a:rPr lang="zh-CN" altLang="en-US"/>
              <a:t>的，</a:t>
            </a:r>
            <a:r>
              <a:rPr lang="zh-CN" altLang="en-US"/>
              <a:t>也是勾上</a:t>
            </a:r>
            <a:r>
              <a:rPr lang="zh-CN" altLang="en-US"/>
              <a:t>即可</a:t>
            </a:r>
            <a:endParaRPr lang="zh-CN" altLang="en-US"/>
          </a:p>
        </p:txBody>
      </p:sp>
      <p:pic>
        <p:nvPicPr>
          <p:cNvPr id="2" name="图片 1"/>
          <p:cNvPicPr>
            <a:picLocks noChangeAspect="1"/>
          </p:cNvPicPr>
          <p:nvPr>
            <p:custDataLst>
              <p:tags r:id="rId2"/>
            </p:custDataLst>
          </p:nvPr>
        </p:nvPicPr>
        <p:blipFill>
          <a:blip r:embed="rId3"/>
          <a:stretch>
            <a:fillRect/>
          </a:stretch>
        </p:blipFill>
        <p:spPr>
          <a:xfrm>
            <a:off x="55880" y="1878330"/>
            <a:ext cx="8834120" cy="14884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定时器</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中断</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941705" y="1448435"/>
            <a:ext cx="3041650" cy="368300"/>
          </a:xfrm>
          <a:prstGeom prst="rect">
            <a:avLst/>
          </a:prstGeom>
          <a:noFill/>
        </p:spPr>
        <p:txBody>
          <a:bodyPr wrap="none" rtlCol="0">
            <a:spAutoFit/>
          </a:bodyPr>
          <a:p>
            <a:r>
              <a:rPr lang="en-US" altLang="zh-CN"/>
              <a:t>5</a:t>
            </a:r>
            <a:r>
              <a:rPr lang="zh-CN" altLang="en-US"/>
              <a:t>，在代码中开启</a:t>
            </a:r>
            <a:r>
              <a:rPr lang="zh-CN" altLang="en-US"/>
              <a:t>定时器中断</a:t>
            </a:r>
            <a:endParaRPr lang="zh-CN" altLang="en-US"/>
          </a:p>
        </p:txBody>
      </p:sp>
      <p:pic>
        <p:nvPicPr>
          <p:cNvPr id="3" name="图片 2"/>
          <p:cNvPicPr>
            <a:picLocks noChangeAspect="1"/>
          </p:cNvPicPr>
          <p:nvPr/>
        </p:nvPicPr>
        <p:blipFill>
          <a:blip r:embed="rId1"/>
          <a:stretch>
            <a:fillRect/>
          </a:stretch>
        </p:blipFill>
        <p:spPr>
          <a:xfrm>
            <a:off x="450850" y="1934210"/>
            <a:ext cx="7129780" cy="1078865"/>
          </a:xfrm>
          <a:prstGeom prst="rect">
            <a:avLst/>
          </a:prstGeom>
        </p:spPr>
      </p:pic>
      <p:sp>
        <p:nvSpPr>
          <p:cNvPr id="4" name="文本框 3"/>
          <p:cNvSpPr txBox="1"/>
          <p:nvPr/>
        </p:nvSpPr>
        <p:spPr>
          <a:xfrm>
            <a:off x="766445" y="3230245"/>
            <a:ext cx="8375650" cy="2030095"/>
          </a:xfrm>
          <a:prstGeom prst="rect">
            <a:avLst/>
          </a:prstGeom>
          <a:noFill/>
        </p:spPr>
        <p:txBody>
          <a:bodyPr wrap="square" rtlCol="0">
            <a:spAutoFit/>
          </a:bodyPr>
          <a:p>
            <a:pPr algn="l"/>
            <a:r>
              <a:rPr lang="en-US" altLang="zh-CN"/>
              <a:t>MX_.....Init</a:t>
            </a:r>
            <a:r>
              <a:rPr lang="zh-CN" altLang="en-US"/>
              <a:t>是</a:t>
            </a:r>
            <a:r>
              <a:rPr lang="en-US" altLang="zh-CN"/>
              <a:t>cubemx</a:t>
            </a:r>
            <a:r>
              <a:rPr lang="zh-CN" altLang="en-US"/>
              <a:t>自动生成的，</a:t>
            </a:r>
            <a:r>
              <a:rPr lang="zh-CN" altLang="en-US"/>
              <a:t>不用管</a:t>
            </a:r>
            <a:endParaRPr lang="zh-CN" altLang="en-US"/>
          </a:p>
          <a:p>
            <a:pPr algn="l"/>
            <a:endParaRPr lang="zh-CN" altLang="en-US"/>
          </a:p>
          <a:p>
            <a:pPr algn="l"/>
            <a:r>
              <a:rPr lang="zh-CN" altLang="en-US"/>
              <a:t>HAL_TIM_Base_Start_IT (&amp;htim1);	</a:t>
            </a:r>
            <a:r>
              <a:rPr lang="en-US" altLang="zh-CN"/>
              <a:t>//</a:t>
            </a:r>
            <a:r>
              <a:rPr lang="zh-CN" altLang="en-US"/>
              <a:t>用的几就写几，这行代码的意思是开启他的基本中断功能，不加</a:t>
            </a:r>
            <a:r>
              <a:rPr lang="en-US" altLang="zh-CN"/>
              <a:t>_IT</a:t>
            </a:r>
            <a:r>
              <a:rPr lang="zh-CN" altLang="en-US"/>
              <a:t>就是只开启他的基本功能，可以</a:t>
            </a:r>
            <a:r>
              <a:rPr lang="zh-CN" altLang="en-US"/>
              <a:t>计时，但是不会触发</a:t>
            </a:r>
            <a:r>
              <a:rPr lang="zh-CN" altLang="en-US"/>
              <a:t>中断</a:t>
            </a:r>
            <a:endParaRPr lang="zh-CN" altLang="en-US"/>
          </a:p>
          <a:p>
            <a:pPr algn="l"/>
            <a:endParaRPr lang="zh-CN" altLang="en-US"/>
          </a:p>
          <a:p>
            <a:pPr algn="l"/>
            <a:r>
              <a:rPr lang="zh-CN" altLang="en-US">
                <a:sym typeface="+mn-ea"/>
              </a:rPr>
              <a:t>&amp;htim1是传入的句柄指针</a:t>
            </a:r>
            <a:endParaRPr lang="zh-CN" altLang="en-US"/>
          </a:p>
          <a:p>
            <a:pPr algn="l"/>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定时器</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中断</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2" name="图片 1"/>
          <p:cNvPicPr>
            <a:picLocks noChangeAspect="1"/>
          </p:cNvPicPr>
          <p:nvPr/>
        </p:nvPicPr>
        <p:blipFill>
          <a:blip r:embed="rId1"/>
          <a:stretch>
            <a:fillRect/>
          </a:stretch>
        </p:blipFill>
        <p:spPr>
          <a:xfrm>
            <a:off x="0" y="1239520"/>
            <a:ext cx="8300720" cy="2865120"/>
          </a:xfrm>
          <a:prstGeom prst="rect">
            <a:avLst/>
          </a:prstGeom>
        </p:spPr>
      </p:pic>
      <p:sp>
        <p:nvSpPr>
          <p:cNvPr id="4" name="文本框 3"/>
          <p:cNvSpPr txBox="1"/>
          <p:nvPr/>
        </p:nvSpPr>
        <p:spPr>
          <a:xfrm>
            <a:off x="291465" y="925830"/>
            <a:ext cx="2127250" cy="368300"/>
          </a:xfrm>
          <a:prstGeom prst="rect">
            <a:avLst/>
          </a:prstGeom>
          <a:noFill/>
        </p:spPr>
        <p:txBody>
          <a:bodyPr wrap="none" rtlCol="0">
            <a:spAutoFit/>
          </a:bodyPr>
          <a:p>
            <a:r>
              <a:rPr lang="en-US" altLang="zh-CN"/>
              <a:t>6</a:t>
            </a:r>
            <a:r>
              <a:rPr lang="zh-CN" altLang="en-US"/>
              <a:t>，写中断回调</a:t>
            </a:r>
            <a:r>
              <a:rPr lang="zh-CN" altLang="en-US"/>
              <a:t>函数</a:t>
            </a:r>
            <a:endParaRPr lang="zh-CN" altLang="en-US"/>
          </a:p>
        </p:txBody>
      </p:sp>
      <p:sp>
        <p:nvSpPr>
          <p:cNvPr id="5" name="文本框 4"/>
          <p:cNvSpPr txBox="1"/>
          <p:nvPr/>
        </p:nvSpPr>
        <p:spPr>
          <a:xfrm>
            <a:off x="610870" y="6373495"/>
            <a:ext cx="6355080" cy="368300"/>
          </a:xfrm>
          <a:prstGeom prst="rect">
            <a:avLst/>
          </a:prstGeom>
          <a:noFill/>
        </p:spPr>
        <p:txBody>
          <a:bodyPr wrap="none" rtlCol="0">
            <a:spAutoFit/>
          </a:bodyPr>
          <a:p>
            <a:r>
              <a:rPr lang="zh-CN" altLang="en-US"/>
              <a:t>中断回调函数</a:t>
            </a:r>
            <a:r>
              <a:rPr lang="zh-CN" altLang="en-US"/>
              <a:t>定义是个虚函数，这代表我们可以对他进行重</a:t>
            </a:r>
            <a:r>
              <a:rPr lang="zh-CN" altLang="en-US"/>
              <a:t>写</a:t>
            </a:r>
            <a:endParaRPr lang="zh-CN" altLang="en-US"/>
          </a:p>
        </p:txBody>
      </p:sp>
      <p:pic>
        <p:nvPicPr>
          <p:cNvPr id="6" name="图片 5"/>
          <p:cNvPicPr>
            <a:picLocks noChangeAspect="1"/>
          </p:cNvPicPr>
          <p:nvPr/>
        </p:nvPicPr>
        <p:blipFill>
          <a:blip r:embed="rId2"/>
          <a:stretch>
            <a:fillRect/>
          </a:stretch>
        </p:blipFill>
        <p:spPr>
          <a:xfrm>
            <a:off x="0" y="4225925"/>
            <a:ext cx="6935470" cy="20262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定时器</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中断</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2" name="图片 1"/>
          <p:cNvPicPr>
            <a:picLocks noChangeAspect="1"/>
          </p:cNvPicPr>
          <p:nvPr/>
        </p:nvPicPr>
        <p:blipFill>
          <a:blip r:embed="rId1"/>
          <a:stretch>
            <a:fillRect/>
          </a:stretch>
        </p:blipFill>
        <p:spPr>
          <a:xfrm>
            <a:off x="91440" y="2137410"/>
            <a:ext cx="9052560" cy="4244340"/>
          </a:xfrm>
          <a:prstGeom prst="rect">
            <a:avLst/>
          </a:prstGeom>
        </p:spPr>
      </p:pic>
      <p:sp>
        <p:nvSpPr>
          <p:cNvPr id="3" name="文本框 2"/>
          <p:cNvSpPr txBox="1"/>
          <p:nvPr/>
        </p:nvSpPr>
        <p:spPr>
          <a:xfrm>
            <a:off x="332105" y="1631315"/>
            <a:ext cx="1097280" cy="368300"/>
          </a:xfrm>
          <a:prstGeom prst="rect">
            <a:avLst/>
          </a:prstGeom>
          <a:noFill/>
        </p:spPr>
        <p:txBody>
          <a:bodyPr wrap="none" rtlCol="0">
            <a:spAutoFit/>
          </a:bodyPr>
          <a:p>
            <a:r>
              <a:rPr lang="zh-CN" altLang="en-US"/>
              <a:t>了解一下</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定时器</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中断</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600075" y="1217930"/>
            <a:ext cx="948690" cy="398780"/>
          </a:xfrm>
          <a:prstGeom prst="rect">
            <a:avLst/>
          </a:prstGeom>
          <a:noFill/>
        </p:spPr>
        <p:txBody>
          <a:bodyPr wrap="none" rtlCol="0">
            <a:spAutoFit/>
          </a:bodyPr>
          <a:p>
            <a:r>
              <a:rPr lang="zh-CN" altLang="en-US" sz="2000" b="1"/>
              <a:t>注意：</a:t>
            </a:r>
            <a:endParaRPr lang="zh-CN" altLang="en-US" sz="2000" b="1"/>
          </a:p>
        </p:txBody>
      </p:sp>
      <p:sp>
        <p:nvSpPr>
          <p:cNvPr id="3" name="文本框 2"/>
          <p:cNvSpPr txBox="1"/>
          <p:nvPr/>
        </p:nvSpPr>
        <p:spPr>
          <a:xfrm>
            <a:off x="610870" y="1616710"/>
            <a:ext cx="8312785" cy="645160"/>
          </a:xfrm>
          <a:prstGeom prst="rect">
            <a:avLst/>
          </a:prstGeom>
          <a:noFill/>
        </p:spPr>
        <p:txBody>
          <a:bodyPr wrap="square" rtlCol="0">
            <a:spAutoFit/>
          </a:bodyPr>
          <a:p>
            <a:pPr algn="l"/>
            <a:r>
              <a:rPr lang="zh-CN" altLang="en-US"/>
              <a:t>user code begin 和user code end中间，不然</a:t>
            </a:r>
            <a:r>
              <a:rPr lang="zh-CN" altLang="en-US"/>
              <a:t>在cube里面重新配置然后生成的时候代码会被清掉</a:t>
            </a:r>
            <a:endParaRPr lang="zh-CN" altLang="en-US"/>
          </a:p>
        </p:txBody>
      </p:sp>
      <p:pic>
        <p:nvPicPr>
          <p:cNvPr id="4" name="图片 3"/>
          <p:cNvPicPr>
            <a:picLocks noChangeAspect="1"/>
          </p:cNvPicPr>
          <p:nvPr/>
        </p:nvPicPr>
        <p:blipFill>
          <a:blip r:embed="rId1"/>
          <a:stretch>
            <a:fillRect/>
          </a:stretch>
        </p:blipFill>
        <p:spPr>
          <a:xfrm>
            <a:off x="676275" y="2238375"/>
            <a:ext cx="6899275" cy="2381250"/>
          </a:xfrm>
          <a:prstGeom prst="rect">
            <a:avLst/>
          </a:prstGeom>
        </p:spPr>
      </p:pic>
      <p:sp>
        <p:nvSpPr>
          <p:cNvPr id="5" name="文本框 4"/>
          <p:cNvSpPr txBox="1"/>
          <p:nvPr/>
        </p:nvSpPr>
        <p:spPr>
          <a:xfrm>
            <a:off x="840105" y="4836160"/>
            <a:ext cx="2679700" cy="368300"/>
          </a:xfrm>
          <a:prstGeom prst="rect">
            <a:avLst/>
          </a:prstGeom>
          <a:noFill/>
        </p:spPr>
        <p:txBody>
          <a:bodyPr wrap="none" rtlCol="0">
            <a:spAutoFit/>
          </a:bodyPr>
          <a:p>
            <a:r>
              <a:rPr lang="zh-CN" altLang="en-US"/>
              <a:t>如何使用</a:t>
            </a:r>
            <a:r>
              <a:rPr lang="en-US" altLang="zh-CN"/>
              <a:t>keil</a:t>
            </a:r>
            <a:r>
              <a:rPr lang="zh-CN" altLang="en-US"/>
              <a:t>的</a:t>
            </a:r>
            <a:r>
              <a:rPr lang="en-US" altLang="zh-CN"/>
              <a:t>debug</a:t>
            </a:r>
            <a:r>
              <a:rPr lang="zh-CN" altLang="en-US"/>
              <a:t>调试</a:t>
            </a:r>
            <a:endParaRPr lang="zh-CN" altLang="en-US"/>
          </a:p>
        </p:txBody>
      </p:sp>
      <p:sp>
        <p:nvSpPr>
          <p:cNvPr id="6" name="文本框 5"/>
          <p:cNvSpPr txBox="1"/>
          <p:nvPr/>
        </p:nvSpPr>
        <p:spPr>
          <a:xfrm>
            <a:off x="840105" y="5241290"/>
            <a:ext cx="5176520" cy="368300"/>
          </a:xfrm>
          <a:prstGeom prst="rect">
            <a:avLst/>
          </a:prstGeom>
          <a:noFill/>
        </p:spPr>
        <p:txBody>
          <a:bodyPr wrap="none" rtlCol="0">
            <a:spAutoFit/>
          </a:bodyPr>
          <a:p>
            <a:pPr algn="l"/>
            <a:r>
              <a:rPr lang="zh-CN" altLang="en-US"/>
              <a:t>https://blog.csdn.net/k1ang/article/details/89646880</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定时器</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中断</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5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53" name="矩形 52"/>
          <p:cNvSpPr/>
          <p:nvPr/>
        </p:nvSpPr>
        <p:spPr>
          <a:xfrm>
            <a:off x="-17145" y="2402852"/>
            <a:ext cx="9161315" cy="2105686"/>
          </a:xfrm>
          <a:prstGeom prst="rect">
            <a:avLst/>
          </a:prstGeom>
          <a:solidFill>
            <a:srgbClr val="5B5E7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4" name="矩形 23"/>
          <p:cNvSpPr/>
          <p:nvPr/>
        </p:nvSpPr>
        <p:spPr>
          <a:xfrm>
            <a:off x="3600145" y="2526185"/>
            <a:ext cx="5561170" cy="1931695"/>
          </a:xfrm>
          <a:custGeom>
            <a:avLst/>
            <a:gdLst>
              <a:gd name="connsiteX0" fmla="*/ 0 w 6480720"/>
              <a:gd name="connsiteY0" fmla="*/ 0 h 3104728"/>
              <a:gd name="connsiteX1" fmla="*/ 6480720 w 6480720"/>
              <a:gd name="connsiteY1" fmla="*/ 0 h 3104728"/>
              <a:gd name="connsiteX2" fmla="*/ 6480720 w 6480720"/>
              <a:gd name="connsiteY2" fmla="*/ 3104728 h 3104728"/>
              <a:gd name="connsiteX3" fmla="*/ 0 w 6480720"/>
              <a:gd name="connsiteY3" fmla="*/ 3104728 h 3104728"/>
              <a:gd name="connsiteX4" fmla="*/ 0 w 6480720"/>
              <a:gd name="connsiteY4" fmla="*/ 0 h 3104728"/>
              <a:gd name="connsiteX0-1" fmla="*/ 1190065 w 6480720"/>
              <a:gd name="connsiteY0-2" fmla="*/ 0 h 3104728"/>
              <a:gd name="connsiteX1-3" fmla="*/ 6480720 w 6480720"/>
              <a:gd name="connsiteY1-4" fmla="*/ 0 h 3104728"/>
              <a:gd name="connsiteX2-5" fmla="*/ 6480720 w 6480720"/>
              <a:gd name="connsiteY2-6" fmla="*/ 3104728 h 3104728"/>
              <a:gd name="connsiteX3-7" fmla="*/ 0 w 6480720"/>
              <a:gd name="connsiteY3-8" fmla="*/ 3104728 h 3104728"/>
              <a:gd name="connsiteX4-9" fmla="*/ 1190065 w 6480720"/>
              <a:gd name="connsiteY4-10" fmla="*/ 0 h 310472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80720" h="3104728">
                <a:moveTo>
                  <a:pt x="1190065" y="0"/>
                </a:moveTo>
                <a:lnTo>
                  <a:pt x="6480720" y="0"/>
                </a:lnTo>
                <a:lnTo>
                  <a:pt x="6480720" y="3104728"/>
                </a:lnTo>
                <a:lnTo>
                  <a:pt x="0" y="3104728"/>
                </a:lnTo>
                <a:lnTo>
                  <a:pt x="1190065" y="0"/>
                </a:lnTo>
                <a:close/>
              </a:path>
            </a:pathLst>
          </a:custGeom>
          <a:solidFill>
            <a:srgbClr val="414455">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6" name="TextBox 7"/>
          <p:cNvSpPr>
            <a:spLocks noChangeArrowheads="1"/>
          </p:cNvSpPr>
          <p:nvPr/>
        </p:nvSpPr>
        <p:spPr bwMode="auto">
          <a:xfrm>
            <a:off x="4356032" y="2856452"/>
            <a:ext cx="4697299"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en-US" altLang="zh-CN" sz="45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THANKS</a:t>
            </a:r>
            <a:r>
              <a:rPr lang="zh-CN" altLang="en-US" sz="45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sz="45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7" name="直接连接符 56"/>
          <p:cNvCxnSpPr/>
          <p:nvPr/>
        </p:nvCxnSpPr>
        <p:spPr>
          <a:xfrm>
            <a:off x="4949943" y="3622761"/>
            <a:ext cx="3671452" cy="0"/>
          </a:xfrm>
          <a:prstGeom prst="line">
            <a:avLst/>
          </a:prstGeom>
          <a:ln w="1905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58" name="TextBox 7"/>
          <p:cNvSpPr>
            <a:spLocks noChangeArrowheads="1"/>
          </p:cNvSpPr>
          <p:nvPr/>
        </p:nvSpPr>
        <p:spPr bwMode="auto">
          <a:xfrm>
            <a:off x="6329861" y="3689185"/>
            <a:ext cx="3293508"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en-US" altLang="zh-CN" sz="1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FIVE PINES</a:t>
            </a:r>
            <a:r>
              <a:rPr lang="zh-CN" altLang="en-US" sz="1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战队</a:t>
            </a:r>
            <a:endParaRPr lang="zh-CN" altLang="en-US" sz="1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9" name="组合 58"/>
          <p:cNvGrpSpPr/>
          <p:nvPr/>
        </p:nvGrpSpPr>
        <p:grpSpPr>
          <a:xfrm>
            <a:off x="5435871" y="1821826"/>
            <a:ext cx="502789" cy="453322"/>
            <a:chOff x="5424755" y="1340768"/>
            <a:chExt cx="670560" cy="604586"/>
          </a:xfrm>
        </p:grpSpPr>
        <p:grpSp>
          <p:nvGrpSpPr>
            <p:cNvPr id="60" name="组合 59"/>
            <p:cNvGrpSpPr/>
            <p:nvPr/>
          </p:nvGrpSpPr>
          <p:grpSpPr>
            <a:xfrm>
              <a:off x="5424755" y="1340768"/>
              <a:ext cx="670560" cy="604586"/>
              <a:chOff x="3720691" y="2824413"/>
              <a:chExt cx="1341120" cy="1209172"/>
            </a:xfrm>
          </p:grpSpPr>
          <p:sp>
            <p:nvSpPr>
              <p:cNvPr id="62"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6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61"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64" name="Freeform 126"/>
          <p:cNvSpPr>
            <a:spLocks noChangeAspect="1" noEditPoints="1"/>
          </p:cNvSpPr>
          <p:nvPr/>
        </p:nvSpPr>
        <p:spPr bwMode="auto">
          <a:xfrm>
            <a:off x="5585723" y="1927812"/>
            <a:ext cx="200874" cy="251355"/>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grpSp>
        <p:nvGrpSpPr>
          <p:cNvPr id="65" name="组合 64"/>
          <p:cNvGrpSpPr/>
          <p:nvPr/>
        </p:nvGrpSpPr>
        <p:grpSpPr>
          <a:xfrm>
            <a:off x="6093566" y="1809242"/>
            <a:ext cx="502789" cy="453322"/>
            <a:chOff x="5424755" y="1340768"/>
            <a:chExt cx="670560" cy="604586"/>
          </a:xfrm>
        </p:grpSpPr>
        <p:grpSp>
          <p:nvGrpSpPr>
            <p:cNvPr id="66" name="组合 65"/>
            <p:cNvGrpSpPr/>
            <p:nvPr/>
          </p:nvGrpSpPr>
          <p:grpSpPr>
            <a:xfrm>
              <a:off x="5424755" y="1340768"/>
              <a:ext cx="670560" cy="604586"/>
              <a:chOff x="3720691" y="2824413"/>
              <a:chExt cx="1341120" cy="1209172"/>
            </a:xfrm>
          </p:grpSpPr>
          <p:sp>
            <p:nvSpPr>
              <p:cNvPr id="68"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69"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67"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70" name="Freeform 261"/>
          <p:cNvSpPr/>
          <p:nvPr/>
        </p:nvSpPr>
        <p:spPr bwMode="auto">
          <a:xfrm>
            <a:off x="6221684" y="1937926"/>
            <a:ext cx="244343" cy="244343"/>
          </a:xfrm>
          <a:custGeom>
            <a:avLst/>
            <a:gdLst>
              <a:gd name="T0" fmla="*/ 84 w 86"/>
              <a:gd name="T1" fmla="*/ 13 h 86"/>
              <a:gd name="T2" fmla="*/ 74 w 86"/>
              <a:gd name="T3" fmla="*/ 1 h 86"/>
              <a:gd name="T4" fmla="*/ 72 w 86"/>
              <a:gd name="T5" fmla="*/ 1 h 86"/>
              <a:gd name="T6" fmla="*/ 71 w 86"/>
              <a:gd name="T7" fmla="*/ 1 h 86"/>
              <a:gd name="T8" fmla="*/ 69 w 86"/>
              <a:gd name="T9" fmla="*/ 4 h 86"/>
              <a:gd name="T10" fmla="*/ 69 w 86"/>
              <a:gd name="T11" fmla="*/ 10 h 86"/>
              <a:gd name="T12" fmla="*/ 59 w 86"/>
              <a:gd name="T13" fmla="*/ 10 h 86"/>
              <a:gd name="T14" fmla="*/ 59 w 86"/>
              <a:gd name="T15" fmla="*/ 1 h 86"/>
              <a:gd name="T16" fmla="*/ 58 w 86"/>
              <a:gd name="T17" fmla="*/ 0 h 86"/>
              <a:gd name="T18" fmla="*/ 46 w 86"/>
              <a:gd name="T19" fmla="*/ 0 h 86"/>
              <a:gd name="T20" fmla="*/ 45 w 86"/>
              <a:gd name="T21" fmla="*/ 1 h 86"/>
              <a:gd name="T22" fmla="*/ 45 w 86"/>
              <a:gd name="T23" fmla="*/ 10 h 86"/>
              <a:gd name="T24" fmla="*/ 44 w 86"/>
              <a:gd name="T25" fmla="*/ 13 h 86"/>
              <a:gd name="T26" fmla="*/ 44 w 86"/>
              <a:gd name="T27" fmla="*/ 21 h 86"/>
              <a:gd name="T28" fmla="*/ 45 w 86"/>
              <a:gd name="T29" fmla="*/ 24 h 86"/>
              <a:gd name="T30" fmla="*/ 45 w 86"/>
              <a:gd name="T31" fmla="*/ 27 h 86"/>
              <a:gd name="T32" fmla="*/ 37 w 86"/>
              <a:gd name="T33" fmla="*/ 27 h 86"/>
              <a:gd name="T34" fmla="*/ 37 w 86"/>
              <a:gd name="T35" fmla="*/ 21 h 86"/>
              <a:gd name="T36" fmla="*/ 34 w 86"/>
              <a:gd name="T37" fmla="*/ 18 h 86"/>
              <a:gd name="T38" fmla="*/ 32 w 86"/>
              <a:gd name="T39" fmla="*/ 18 h 86"/>
              <a:gd name="T40" fmla="*/ 29 w 86"/>
              <a:gd name="T41" fmla="*/ 18 h 86"/>
              <a:gd name="T42" fmla="*/ 3 w 86"/>
              <a:gd name="T43" fmla="*/ 30 h 86"/>
              <a:gd name="T44" fmla="*/ 0 w 86"/>
              <a:gd name="T45" fmla="*/ 34 h 86"/>
              <a:gd name="T46" fmla="*/ 3 w 86"/>
              <a:gd name="T47" fmla="*/ 38 h 86"/>
              <a:gd name="T48" fmla="*/ 29 w 86"/>
              <a:gd name="T49" fmla="*/ 50 h 86"/>
              <a:gd name="T50" fmla="*/ 31 w 86"/>
              <a:gd name="T51" fmla="*/ 51 h 86"/>
              <a:gd name="T52" fmla="*/ 34 w 86"/>
              <a:gd name="T53" fmla="*/ 50 h 86"/>
              <a:gd name="T54" fmla="*/ 37 w 86"/>
              <a:gd name="T55" fmla="*/ 47 h 86"/>
              <a:gd name="T56" fmla="*/ 37 w 86"/>
              <a:gd name="T57" fmla="*/ 42 h 86"/>
              <a:gd name="T58" fmla="*/ 45 w 86"/>
              <a:gd name="T59" fmla="*/ 42 h 86"/>
              <a:gd name="T60" fmla="*/ 45 w 86"/>
              <a:gd name="T61" fmla="*/ 85 h 86"/>
              <a:gd name="T62" fmla="*/ 46 w 86"/>
              <a:gd name="T63" fmla="*/ 86 h 86"/>
              <a:gd name="T64" fmla="*/ 58 w 86"/>
              <a:gd name="T65" fmla="*/ 86 h 86"/>
              <a:gd name="T66" fmla="*/ 59 w 86"/>
              <a:gd name="T67" fmla="*/ 85 h 86"/>
              <a:gd name="T68" fmla="*/ 59 w 86"/>
              <a:gd name="T69" fmla="*/ 41 h 86"/>
              <a:gd name="T70" fmla="*/ 62 w 86"/>
              <a:gd name="T71" fmla="*/ 38 h 86"/>
              <a:gd name="T72" fmla="*/ 62 w 86"/>
              <a:gd name="T73" fmla="*/ 30 h 86"/>
              <a:gd name="T74" fmla="*/ 59 w 86"/>
              <a:gd name="T75" fmla="*/ 27 h 86"/>
              <a:gd name="T76" fmla="*/ 59 w 86"/>
              <a:gd name="T77" fmla="*/ 25 h 86"/>
              <a:gd name="T78" fmla="*/ 69 w 86"/>
              <a:gd name="T79" fmla="*/ 25 h 86"/>
              <a:gd name="T80" fmla="*/ 69 w 86"/>
              <a:gd name="T81" fmla="*/ 30 h 86"/>
              <a:gd name="T82" fmla="*/ 71 w 86"/>
              <a:gd name="T83" fmla="*/ 33 h 86"/>
              <a:gd name="T84" fmla="*/ 73 w 86"/>
              <a:gd name="T85" fmla="*/ 34 h 86"/>
              <a:gd name="T86" fmla="*/ 74 w 86"/>
              <a:gd name="T87" fmla="*/ 33 h 86"/>
              <a:gd name="T88" fmla="*/ 84 w 86"/>
              <a:gd name="T89" fmla="*/ 21 h 86"/>
              <a:gd name="T90" fmla="*/ 86 w 86"/>
              <a:gd name="T91" fmla="*/ 17 h 86"/>
              <a:gd name="T92" fmla="*/ 84 w 86"/>
              <a:gd name="T93" fmla="*/ 1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 h="86">
                <a:moveTo>
                  <a:pt x="84" y="13"/>
                </a:moveTo>
                <a:cubicBezTo>
                  <a:pt x="74" y="1"/>
                  <a:pt x="74" y="1"/>
                  <a:pt x="74" y="1"/>
                </a:cubicBezTo>
                <a:cubicBezTo>
                  <a:pt x="73" y="1"/>
                  <a:pt x="73" y="1"/>
                  <a:pt x="72" y="1"/>
                </a:cubicBezTo>
                <a:cubicBezTo>
                  <a:pt x="72" y="1"/>
                  <a:pt x="71" y="1"/>
                  <a:pt x="71" y="1"/>
                </a:cubicBezTo>
                <a:cubicBezTo>
                  <a:pt x="70" y="2"/>
                  <a:pt x="69" y="3"/>
                  <a:pt x="69" y="4"/>
                </a:cubicBezTo>
                <a:cubicBezTo>
                  <a:pt x="69" y="10"/>
                  <a:pt x="69" y="10"/>
                  <a:pt x="69" y="10"/>
                </a:cubicBezTo>
                <a:cubicBezTo>
                  <a:pt x="59" y="10"/>
                  <a:pt x="59" y="10"/>
                  <a:pt x="59" y="10"/>
                </a:cubicBezTo>
                <a:cubicBezTo>
                  <a:pt x="59" y="1"/>
                  <a:pt x="59" y="1"/>
                  <a:pt x="59" y="1"/>
                </a:cubicBezTo>
                <a:cubicBezTo>
                  <a:pt x="59" y="1"/>
                  <a:pt x="59" y="0"/>
                  <a:pt x="58" y="0"/>
                </a:cubicBezTo>
                <a:cubicBezTo>
                  <a:pt x="46" y="0"/>
                  <a:pt x="46" y="0"/>
                  <a:pt x="46" y="0"/>
                </a:cubicBezTo>
                <a:cubicBezTo>
                  <a:pt x="45" y="0"/>
                  <a:pt x="45" y="1"/>
                  <a:pt x="45" y="1"/>
                </a:cubicBezTo>
                <a:cubicBezTo>
                  <a:pt x="45" y="10"/>
                  <a:pt x="45" y="10"/>
                  <a:pt x="45" y="10"/>
                </a:cubicBezTo>
                <a:cubicBezTo>
                  <a:pt x="44" y="11"/>
                  <a:pt x="44" y="12"/>
                  <a:pt x="44" y="13"/>
                </a:cubicBezTo>
                <a:cubicBezTo>
                  <a:pt x="44" y="21"/>
                  <a:pt x="44" y="21"/>
                  <a:pt x="44" y="21"/>
                </a:cubicBezTo>
                <a:cubicBezTo>
                  <a:pt x="44" y="22"/>
                  <a:pt x="44" y="23"/>
                  <a:pt x="45" y="24"/>
                </a:cubicBezTo>
                <a:cubicBezTo>
                  <a:pt x="45" y="27"/>
                  <a:pt x="45" y="27"/>
                  <a:pt x="45" y="27"/>
                </a:cubicBezTo>
                <a:cubicBezTo>
                  <a:pt x="37" y="27"/>
                  <a:pt x="37" y="27"/>
                  <a:pt x="37" y="27"/>
                </a:cubicBezTo>
                <a:cubicBezTo>
                  <a:pt x="37" y="21"/>
                  <a:pt x="37" y="21"/>
                  <a:pt x="37" y="21"/>
                </a:cubicBezTo>
                <a:cubicBezTo>
                  <a:pt x="37" y="20"/>
                  <a:pt x="36" y="19"/>
                  <a:pt x="34" y="18"/>
                </a:cubicBezTo>
                <a:cubicBezTo>
                  <a:pt x="34" y="18"/>
                  <a:pt x="33" y="18"/>
                  <a:pt x="32" y="18"/>
                </a:cubicBezTo>
                <a:cubicBezTo>
                  <a:pt x="31" y="18"/>
                  <a:pt x="30" y="18"/>
                  <a:pt x="29" y="18"/>
                </a:cubicBezTo>
                <a:cubicBezTo>
                  <a:pt x="3" y="30"/>
                  <a:pt x="3" y="30"/>
                  <a:pt x="3" y="30"/>
                </a:cubicBezTo>
                <a:cubicBezTo>
                  <a:pt x="1" y="31"/>
                  <a:pt x="0" y="33"/>
                  <a:pt x="0" y="34"/>
                </a:cubicBezTo>
                <a:cubicBezTo>
                  <a:pt x="0" y="36"/>
                  <a:pt x="1" y="38"/>
                  <a:pt x="3" y="38"/>
                </a:cubicBezTo>
                <a:cubicBezTo>
                  <a:pt x="29" y="50"/>
                  <a:pt x="29" y="50"/>
                  <a:pt x="29" y="50"/>
                </a:cubicBezTo>
                <a:cubicBezTo>
                  <a:pt x="29" y="51"/>
                  <a:pt x="30" y="51"/>
                  <a:pt x="31" y="51"/>
                </a:cubicBezTo>
                <a:cubicBezTo>
                  <a:pt x="32" y="51"/>
                  <a:pt x="33" y="51"/>
                  <a:pt x="34" y="50"/>
                </a:cubicBezTo>
                <a:cubicBezTo>
                  <a:pt x="36" y="50"/>
                  <a:pt x="37" y="48"/>
                  <a:pt x="37" y="47"/>
                </a:cubicBezTo>
                <a:cubicBezTo>
                  <a:pt x="37" y="42"/>
                  <a:pt x="37" y="42"/>
                  <a:pt x="37" y="42"/>
                </a:cubicBezTo>
                <a:cubicBezTo>
                  <a:pt x="45" y="42"/>
                  <a:pt x="45" y="42"/>
                  <a:pt x="45" y="42"/>
                </a:cubicBezTo>
                <a:cubicBezTo>
                  <a:pt x="45" y="85"/>
                  <a:pt x="45" y="85"/>
                  <a:pt x="45" y="85"/>
                </a:cubicBezTo>
                <a:cubicBezTo>
                  <a:pt x="45" y="86"/>
                  <a:pt x="45" y="86"/>
                  <a:pt x="46" y="86"/>
                </a:cubicBezTo>
                <a:cubicBezTo>
                  <a:pt x="58" y="86"/>
                  <a:pt x="58" y="86"/>
                  <a:pt x="58" y="86"/>
                </a:cubicBezTo>
                <a:cubicBezTo>
                  <a:pt x="59" y="86"/>
                  <a:pt x="59" y="86"/>
                  <a:pt x="59" y="85"/>
                </a:cubicBezTo>
                <a:cubicBezTo>
                  <a:pt x="59" y="41"/>
                  <a:pt x="59" y="41"/>
                  <a:pt x="59" y="41"/>
                </a:cubicBezTo>
                <a:cubicBezTo>
                  <a:pt x="61" y="41"/>
                  <a:pt x="62" y="40"/>
                  <a:pt x="62" y="38"/>
                </a:cubicBezTo>
                <a:cubicBezTo>
                  <a:pt x="62" y="30"/>
                  <a:pt x="62" y="30"/>
                  <a:pt x="62" y="30"/>
                </a:cubicBezTo>
                <a:cubicBezTo>
                  <a:pt x="62" y="29"/>
                  <a:pt x="61" y="28"/>
                  <a:pt x="59" y="27"/>
                </a:cubicBezTo>
                <a:cubicBezTo>
                  <a:pt x="59" y="25"/>
                  <a:pt x="59" y="25"/>
                  <a:pt x="59" y="25"/>
                </a:cubicBezTo>
                <a:cubicBezTo>
                  <a:pt x="69" y="25"/>
                  <a:pt x="69" y="25"/>
                  <a:pt x="69" y="25"/>
                </a:cubicBezTo>
                <a:cubicBezTo>
                  <a:pt x="69" y="30"/>
                  <a:pt x="69" y="30"/>
                  <a:pt x="69" y="30"/>
                </a:cubicBezTo>
                <a:cubicBezTo>
                  <a:pt x="69" y="31"/>
                  <a:pt x="70" y="33"/>
                  <a:pt x="71" y="33"/>
                </a:cubicBezTo>
                <a:cubicBezTo>
                  <a:pt x="71" y="34"/>
                  <a:pt x="72" y="34"/>
                  <a:pt x="73" y="34"/>
                </a:cubicBezTo>
                <a:cubicBezTo>
                  <a:pt x="73" y="34"/>
                  <a:pt x="74" y="34"/>
                  <a:pt x="74" y="33"/>
                </a:cubicBezTo>
                <a:cubicBezTo>
                  <a:pt x="84" y="21"/>
                  <a:pt x="84" y="21"/>
                  <a:pt x="84" y="21"/>
                </a:cubicBezTo>
                <a:cubicBezTo>
                  <a:pt x="85" y="21"/>
                  <a:pt x="86" y="19"/>
                  <a:pt x="86" y="17"/>
                </a:cubicBezTo>
                <a:cubicBezTo>
                  <a:pt x="86" y="16"/>
                  <a:pt x="85" y="14"/>
                  <a:pt x="84" y="13"/>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grpSp>
        <p:nvGrpSpPr>
          <p:cNvPr id="71" name="组合 70"/>
          <p:cNvGrpSpPr/>
          <p:nvPr/>
        </p:nvGrpSpPr>
        <p:grpSpPr>
          <a:xfrm>
            <a:off x="6775877" y="1809242"/>
            <a:ext cx="502789" cy="453322"/>
            <a:chOff x="5424755" y="1340768"/>
            <a:chExt cx="670560" cy="604586"/>
          </a:xfrm>
        </p:grpSpPr>
        <p:grpSp>
          <p:nvGrpSpPr>
            <p:cNvPr id="72" name="组合 71"/>
            <p:cNvGrpSpPr/>
            <p:nvPr/>
          </p:nvGrpSpPr>
          <p:grpSpPr>
            <a:xfrm>
              <a:off x="5424755" y="1340768"/>
              <a:ext cx="670560" cy="604586"/>
              <a:chOff x="3720691" y="2824413"/>
              <a:chExt cx="1341120" cy="1209172"/>
            </a:xfrm>
          </p:grpSpPr>
          <p:sp>
            <p:nvSpPr>
              <p:cNvPr id="74"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75"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73"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76" name="组合 75"/>
          <p:cNvGrpSpPr/>
          <p:nvPr/>
        </p:nvGrpSpPr>
        <p:grpSpPr>
          <a:xfrm>
            <a:off x="7440641" y="1830628"/>
            <a:ext cx="502789" cy="453322"/>
            <a:chOff x="5424755" y="1340768"/>
            <a:chExt cx="670560" cy="604586"/>
          </a:xfrm>
        </p:grpSpPr>
        <p:grpSp>
          <p:nvGrpSpPr>
            <p:cNvPr id="77" name="组合 76"/>
            <p:cNvGrpSpPr/>
            <p:nvPr/>
          </p:nvGrpSpPr>
          <p:grpSpPr>
            <a:xfrm>
              <a:off x="5424755" y="1340768"/>
              <a:ext cx="670560" cy="604586"/>
              <a:chOff x="3720691" y="2824413"/>
              <a:chExt cx="1341120" cy="1209172"/>
            </a:xfrm>
          </p:grpSpPr>
          <p:sp>
            <p:nvSpPr>
              <p:cNvPr id="79"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81"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78"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82" name="组合 81"/>
          <p:cNvGrpSpPr/>
          <p:nvPr/>
        </p:nvGrpSpPr>
        <p:grpSpPr>
          <a:xfrm>
            <a:off x="8125676" y="1809242"/>
            <a:ext cx="502789" cy="453322"/>
            <a:chOff x="5424755" y="1340768"/>
            <a:chExt cx="670560" cy="604586"/>
          </a:xfrm>
        </p:grpSpPr>
        <p:grpSp>
          <p:nvGrpSpPr>
            <p:cNvPr id="83" name="组合 82"/>
            <p:cNvGrpSpPr/>
            <p:nvPr/>
          </p:nvGrpSpPr>
          <p:grpSpPr>
            <a:xfrm>
              <a:off x="5424755" y="1340768"/>
              <a:ext cx="670560" cy="604586"/>
              <a:chOff x="3720691" y="2824413"/>
              <a:chExt cx="1341120" cy="1209172"/>
            </a:xfrm>
          </p:grpSpPr>
          <p:sp>
            <p:nvSpPr>
              <p:cNvPr id="94"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95"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8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96" name="组合 95"/>
          <p:cNvGrpSpPr>
            <a:grpSpLocks noChangeAspect="1"/>
          </p:cNvGrpSpPr>
          <p:nvPr/>
        </p:nvGrpSpPr>
        <p:grpSpPr>
          <a:xfrm>
            <a:off x="6896562" y="1929051"/>
            <a:ext cx="265649" cy="227877"/>
            <a:chOff x="5084763" y="971548"/>
            <a:chExt cx="323865" cy="277813"/>
          </a:xfrm>
          <a:solidFill>
            <a:srgbClr val="414455"/>
          </a:solidFill>
        </p:grpSpPr>
        <p:sp>
          <p:nvSpPr>
            <p:cNvPr id="97" name="Freeform 301"/>
            <p:cNvSpPr>
              <a:spLocks noEditPoints="1"/>
            </p:cNvSpPr>
            <p:nvPr/>
          </p:nvSpPr>
          <p:spPr bwMode="auto">
            <a:xfrm>
              <a:off x="5191140" y="1031873"/>
              <a:ext cx="217488" cy="217488"/>
            </a:xfrm>
            <a:custGeom>
              <a:avLst/>
              <a:gdLst>
                <a:gd name="T0" fmla="*/ 6 w 58"/>
                <a:gd name="T1" fmla="*/ 14 h 58"/>
                <a:gd name="T2" fmla="*/ 7 w 58"/>
                <a:gd name="T3" fmla="*/ 19 h 58"/>
                <a:gd name="T4" fmla="*/ 4 w 58"/>
                <a:gd name="T5" fmla="*/ 20 h 58"/>
                <a:gd name="T6" fmla="*/ 0 w 58"/>
                <a:gd name="T7" fmla="*/ 23 h 58"/>
                <a:gd name="T8" fmla="*/ 2 w 58"/>
                <a:gd name="T9" fmla="*/ 27 h 58"/>
                <a:gd name="T10" fmla="*/ 5 w 58"/>
                <a:gd name="T11" fmla="*/ 31 h 58"/>
                <a:gd name="T12" fmla="*/ 2 w 58"/>
                <a:gd name="T13" fmla="*/ 34 h 58"/>
                <a:gd name="T14" fmla="*/ 1 w 58"/>
                <a:gd name="T15" fmla="*/ 38 h 58"/>
                <a:gd name="T16" fmla="*/ 5 w 58"/>
                <a:gd name="T17" fmla="*/ 41 h 58"/>
                <a:gd name="T18" fmla="*/ 8 w 58"/>
                <a:gd name="T19" fmla="*/ 42 h 58"/>
                <a:gd name="T20" fmla="*/ 8 w 58"/>
                <a:gd name="T21" fmla="*/ 46 h 58"/>
                <a:gd name="T22" fmla="*/ 9 w 58"/>
                <a:gd name="T23" fmla="*/ 51 h 58"/>
                <a:gd name="T24" fmla="*/ 14 w 58"/>
                <a:gd name="T25" fmla="*/ 51 h 58"/>
                <a:gd name="T26" fmla="*/ 18 w 58"/>
                <a:gd name="T27" fmla="*/ 51 h 58"/>
                <a:gd name="T28" fmla="*/ 19 w 58"/>
                <a:gd name="T29" fmla="*/ 54 h 58"/>
                <a:gd name="T30" fmla="*/ 22 w 58"/>
                <a:gd name="T31" fmla="*/ 58 h 58"/>
                <a:gd name="T32" fmla="*/ 27 w 58"/>
                <a:gd name="T33" fmla="*/ 56 h 58"/>
                <a:gd name="T34" fmla="*/ 31 w 58"/>
                <a:gd name="T35" fmla="*/ 53 h 58"/>
                <a:gd name="T36" fmla="*/ 33 w 58"/>
                <a:gd name="T37" fmla="*/ 56 h 58"/>
                <a:gd name="T38" fmla="*/ 38 w 58"/>
                <a:gd name="T39" fmla="*/ 57 h 58"/>
                <a:gd name="T40" fmla="*/ 40 w 58"/>
                <a:gd name="T41" fmla="*/ 53 h 58"/>
                <a:gd name="T42" fmla="*/ 42 w 58"/>
                <a:gd name="T43" fmla="*/ 49 h 58"/>
                <a:gd name="T44" fmla="*/ 46 w 58"/>
                <a:gd name="T45" fmla="*/ 50 h 58"/>
                <a:gd name="T46" fmla="*/ 50 w 58"/>
                <a:gd name="T47" fmla="*/ 49 h 58"/>
                <a:gd name="T48" fmla="*/ 51 w 58"/>
                <a:gd name="T49" fmla="*/ 44 h 58"/>
                <a:gd name="T50" fmla="*/ 50 w 58"/>
                <a:gd name="T51" fmla="*/ 40 h 58"/>
                <a:gd name="T52" fmla="*/ 54 w 58"/>
                <a:gd name="T53" fmla="*/ 39 h 58"/>
                <a:gd name="T54" fmla="*/ 57 w 58"/>
                <a:gd name="T55" fmla="*/ 35 h 58"/>
                <a:gd name="T56" fmla="*/ 55 w 58"/>
                <a:gd name="T57" fmla="*/ 31 h 58"/>
                <a:gd name="T58" fmla="*/ 52 w 58"/>
                <a:gd name="T59" fmla="*/ 27 h 58"/>
                <a:gd name="T60" fmla="*/ 55 w 58"/>
                <a:gd name="T61" fmla="*/ 25 h 58"/>
                <a:gd name="T62" fmla="*/ 56 w 58"/>
                <a:gd name="T63" fmla="*/ 20 h 58"/>
                <a:gd name="T64" fmla="*/ 53 w 58"/>
                <a:gd name="T65" fmla="*/ 18 h 58"/>
                <a:gd name="T66" fmla="*/ 48 w 58"/>
                <a:gd name="T67" fmla="*/ 16 h 58"/>
                <a:gd name="T68" fmla="*/ 49 w 58"/>
                <a:gd name="T69" fmla="*/ 12 h 58"/>
                <a:gd name="T70" fmla="*/ 48 w 58"/>
                <a:gd name="T71" fmla="*/ 8 h 58"/>
                <a:gd name="T72" fmla="*/ 44 w 58"/>
                <a:gd name="T73" fmla="*/ 7 h 58"/>
                <a:gd name="T74" fmla="*/ 39 w 58"/>
                <a:gd name="T75" fmla="*/ 8 h 58"/>
                <a:gd name="T76" fmla="*/ 38 w 58"/>
                <a:gd name="T77" fmla="*/ 4 h 58"/>
                <a:gd name="T78" fmla="*/ 35 w 58"/>
                <a:gd name="T79" fmla="*/ 1 h 58"/>
                <a:gd name="T80" fmla="*/ 30 w 58"/>
                <a:gd name="T81" fmla="*/ 3 h 58"/>
                <a:gd name="T82" fmla="*/ 27 w 58"/>
                <a:gd name="T83" fmla="*/ 5 h 58"/>
                <a:gd name="T84" fmla="*/ 24 w 58"/>
                <a:gd name="T85" fmla="*/ 3 h 58"/>
                <a:gd name="T86" fmla="*/ 20 w 58"/>
                <a:gd name="T87" fmla="*/ 1 h 58"/>
                <a:gd name="T88" fmla="*/ 17 w 58"/>
                <a:gd name="T89" fmla="*/ 5 h 58"/>
                <a:gd name="T90" fmla="*/ 15 w 58"/>
                <a:gd name="T91" fmla="*/ 10 h 58"/>
                <a:gd name="T92" fmla="*/ 12 w 58"/>
                <a:gd name="T93" fmla="*/ 9 h 58"/>
                <a:gd name="T94" fmla="*/ 7 w 58"/>
                <a:gd name="T95" fmla="*/ 10 h 58"/>
                <a:gd name="T96" fmla="*/ 6 w 58"/>
                <a:gd name="T97" fmla="*/ 14 h 58"/>
                <a:gd name="T98" fmla="*/ 23 w 58"/>
                <a:gd name="T99" fmla="*/ 13 h 58"/>
                <a:gd name="T100" fmla="*/ 45 w 58"/>
                <a:gd name="T101" fmla="*/ 24 h 58"/>
                <a:gd name="T102" fmla="*/ 34 w 58"/>
                <a:gd name="T103" fmla="*/ 45 h 58"/>
                <a:gd name="T104" fmla="*/ 13 w 58"/>
                <a:gd name="T105" fmla="*/ 34 h 58"/>
                <a:gd name="T106" fmla="*/ 23 w 58"/>
                <a:gd name="T10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 h="58">
                  <a:moveTo>
                    <a:pt x="6" y="14"/>
                  </a:moveTo>
                  <a:cubicBezTo>
                    <a:pt x="8" y="15"/>
                    <a:pt x="7" y="18"/>
                    <a:pt x="7" y="19"/>
                  </a:cubicBezTo>
                  <a:cubicBezTo>
                    <a:pt x="7" y="20"/>
                    <a:pt x="5" y="20"/>
                    <a:pt x="4" y="20"/>
                  </a:cubicBezTo>
                  <a:cubicBezTo>
                    <a:pt x="2" y="20"/>
                    <a:pt x="0" y="21"/>
                    <a:pt x="0" y="23"/>
                  </a:cubicBezTo>
                  <a:cubicBezTo>
                    <a:pt x="0" y="25"/>
                    <a:pt x="0" y="27"/>
                    <a:pt x="2" y="27"/>
                  </a:cubicBezTo>
                  <a:cubicBezTo>
                    <a:pt x="3" y="28"/>
                    <a:pt x="5" y="30"/>
                    <a:pt x="5" y="31"/>
                  </a:cubicBezTo>
                  <a:cubicBezTo>
                    <a:pt x="5" y="32"/>
                    <a:pt x="4" y="33"/>
                    <a:pt x="2" y="34"/>
                  </a:cubicBezTo>
                  <a:cubicBezTo>
                    <a:pt x="1" y="34"/>
                    <a:pt x="0" y="36"/>
                    <a:pt x="1" y="38"/>
                  </a:cubicBezTo>
                  <a:cubicBezTo>
                    <a:pt x="1" y="40"/>
                    <a:pt x="3" y="42"/>
                    <a:pt x="5" y="41"/>
                  </a:cubicBezTo>
                  <a:cubicBezTo>
                    <a:pt x="6" y="41"/>
                    <a:pt x="8" y="41"/>
                    <a:pt x="8" y="42"/>
                  </a:cubicBezTo>
                  <a:cubicBezTo>
                    <a:pt x="9" y="42"/>
                    <a:pt x="9" y="45"/>
                    <a:pt x="8" y="46"/>
                  </a:cubicBezTo>
                  <a:cubicBezTo>
                    <a:pt x="7" y="47"/>
                    <a:pt x="7" y="50"/>
                    <a:pt x="9" y="51"/>
                  </a:cubicBezTo>
                  <a:cubicBezTo>
                    <a:pt x="11" y="52"/>
                    <a:pt x="13" y="53"/>
                    <a:pt x="14" y="51"/>
                  </a:cubicBezTo>
                  <a:cubicBezTo>
                    <a:pt x="15" y="50"/>
                    <a:pt x="18" y="51"/>
                    <a:pt x="18" y="51"/>
                  </a:cubicBezTo>
                  <a:cubicBezTo>
                    <a:pt x="19" y="51"/>
                    <a:pt x="20" y="53"/>
                    <a:pt x="19" y="54"/>
                  </a:cubicBezTo>
                  <a:cubicBezTo>
                    <a:pt x="19" y="56"/>
                    <a:pt x="20" y="57"/>
                    <a:pt x="22" y="58"/>
                  </a:cubicBezTo>
                  <a:cubicBezTo>
                    <a:pt x="25" y="58"/>
                    <a:pt x="26" y="57"/>
                    <a:pt x="27" y="56"/>
                  </a:cubicBezTo>
                  <a:cubicBezTo>
                    <a:pt x="27" y="54"/>
                    <a:pt x="30" y="53"/>
                    <a:pt x="31" y="53"/>
                  </a:cubicBezTo>
                  <a:cubicBezTo>
                    <a:pt x="31" y="53"/>
                    <a:pt x="33" y="54"/>
                    <a:pt x="33" y="56"/>
                  </a:cubicBezTo>
                  <a:cubicBezTo>
                    <a:pt x="34" y="57"/>
                    <a:pt x="36" y="58"/>
                    <a:pt x="38" y="57"/>
                  </a:cubicBezTo>
                  <a:cubicBezTo>
                    <a:pt x="40" y="57"/>
                    <a:pt x="41" y="55"/>
                    <a:pt x="40" y="53"/>
                  </a:cubicBezTo>
                  <a:cubicBezTo>
                    <a:pt x="40" y="52"/>
                    <a:pt x="42" y="49"/>
                    <a:pt x="42" y="49"/>
                  </a:cubicBezTo>
                  <a:cubicBezTo>
                    <a:pt x="43" y="48"/>
                    <a:pt x="44" y="49"/>
                    <a:pt x="46" y="50"/>
                  </a:cubicBezTo>
                  <a:cubicBezTo>
                    <a:pt x="47" y="51"/>
                    <a:pt x="49" y="51"/>
                    <a:pt x="50" y="49"/>
                  </a:cubicBezTo>
                  <a:cubicBezTo>
                    <a:pt x="52" y="47"/>
                    <a:pt x="52" y="45"/>
                    <a:pt x="51" y="44"/>
                  </a:cubicBezTo>
                  <a:cubicBezTo>
                    <a:pt x="50" y="43"/>
                    <a:pt x="50" y="40"/>
                    <a:pt x="50" y="40"/>
                  </a:cubicBezTo>
                  <a:cubicBezTo>
                    <a:pt x="51" y="39"/>
                    <a:pt x="52" y="38"/>
                    <a:pt x="54" y="39"/>
                  </a:cubicBezTo>
                  <a:cubicBezTo>
                    <a:pt x="55" y="39"/>
                    <a:pt x="57" y="38"/>
                    <a:pt x="57" y="35"/>
                  </a:cubicBezTo>
                  <a:cubicBezTo>
                    <a:pt x="58" y="33"/>
                    <a:pt x="57" y="31"/>
                    <a:pt x="55" y="31"/>
                  </a:cubicBezTo>
                  <a:cubicBezTo>
                    <a:pt x="54" y="31"/>
                    <a:pt x="53" y="28"/>
                    <a:pt x="52" y="27"/>
                  </a:cubicBezTo>
                  <a:cubicBezTo>
                    <a:pt x="52" y="26"/>
                    <a:pt x="54" y="25"/>
                    <a:pt x="55" y="25"/>
                  </a:cubicBezTo>
                  <a:cubicBezTo>
                    <a:pt x="56" y="24"/>
                    <a:pt x="57" y="22"/>
                    <a:pt x="56" y="20"/>
                  </a:cubicBezTo>
                  <a:cubicBezTo>
                    <a:pt x="56" y="18"/>
                    <a:pt x="54" y="17"/>
                    <a:pt x="53" y="18"/>
                  </a:cubicBezTo>
                  <a:cubicBezTo>
                    <a:pt x="51" y="18"/>
                    <a:pt x="49" y="16"/>
                    <a:pt x="48" y="16"/>
                  </a:cubicBezTo>
                  <a:cubicBezTo>
                    <a:pt x="48" y="15"/>
                    <a:pt x="48" y="13"/>
                    <a:pt x="49" y="12"/>
                  </a:cubicBezTo>
                  <a:cubicBezTo>
                    <a:pt x="50" y="11"/>
                    <a:pt x="50" y="9"/>
                    <a:pt x="48" y="8"/>
                  </a:cubicBezTo>
                  <a:cubicBezTo>
                    <a:pt x="47" y="6"/>
                    <a:pt x="45" y="6"/>
                    <a:pt x="44" y="7"/>
                  </a:cubicBezTo>
                  <a:cubicBezTo>
                    <a:pt x="42" y="8"/>
                    <a:pt x="40" y="8"/>
                    <a:pt x="39" y="8"/>
                  </a:cubicBezTo>
                  <a:cubicBezTo>
                    <a:pt x="38" y="7"/>
                    <a:pt x="38" y="6"/>
                    <a:pt x="38" y="4"/>
                  </a:cubicBezTo>
                  <a:cubicBezTo>
                    <a:pt x="38" y="3"/>
                    <a:pt x="37" y="1"/>
                    <a:pt x="35" y="1"/>
                  </a:cubicBezTo>
                  <a:cubicBezTo>
                    <a:pt x="33" y="0"/>
                    <a:pt x="31" y="1"/>
                    <a:pt x="30" y="3"/>
                  </a:cubicBezTo>
                  <a:cubicBezTo>
                    <a:pt x="30" y="4"/>
                    <a:pt x="28" y="5"/>
                    <a:pt x="27" y="5"/>
                  </a:cubicBezTo>
                  <a:cubicBezTo>
                    <a:pt x="26" y="6"/>
                    <a:pt x="25" y="4"/>
                    <a:pt x="24" y="3"/>
                  </a:cubicBezTo>
                  <a:cubicBezTo>
                    <a:pt x="24" y="1"/>
                    <a:pt x="22" y="1"/>
                    <a:pt x="20" y="1"/>
                  </a:cubicBezTo>
                  <a:cubicBezTo>
                    <a:pt x="18" y="2"/>
                    <a:pt x="16" y="4"/>
                    <a:pt x="17" y="5"/>
                  </a:cubicBezTo>
                  <a:cubicBezTo>
                    <a:pt x="17" y="7"/>
                    <a:pt x="16" y="9"/>
                    <a:pt x="15" y="10"/>
                  </a:cubicBezTo>
                  <a:cubicBezTo>
                    <a:pt x="14" y="10"/>
                    <a:pt x="13" y="10"/>
                    <a:pt x="12" y="9"/>
                  </a:cubicBezTo>
                  <a:cubicBezTo>
                    <a:pt x="10" y="8"/>
                    <a:pt x="8" y="8"/>
                    <a:pt x="7" y="10"/>
                  </a:cubicBezTo>
                  <a:cubicBezTo>
                    <a:pt x="6" y="11"/>
                    <a:pt x="5" y="13"/>
                    <a:pt x="6" y="14"/>
                  </a:cubicBezTo>
                  <a:close/>
                  <a:moveTo>
                    <a:pt x="23" y="13"/>
                  </a:moveTo>
                  <a:cubicBezTo>
                    <a:pt x="32" y="10"/>
                    <a:pt x="42" y="15"/>
                    <a:pt x="45" y="24"/>
                  </a:cubicBezTo>
                  <a:cubicBezTo>
                    <a:pt x="47" y="33"/>
                    <a:pt x="43" y="42"/>
                    <a:pt x="34" y="45"/>
                  </a:cubicBezTo>
                  <a:cubicBezTo>
                    <a:pt x="25" y="48"/>
                    <a:pt x="15" y="43"/>
                    <a:pt x="13" y="34"/>
                  </a:cubicBezTo>
                  <a:cubicBezTo>
                    <a:pt x="10" y="26"/>
                    <a:pt x="15" y="16"/>
                    <a:pt x="23" y="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98" name="Freeform 302"/>
            <p:cNvSpPr>
              <a:spLocks noEditPoints="1"/>
            </p:cNvSpPr>
            <p:nvPr/>
          </p:nvSpPr>
          <p:spPr bwMode="auto">
            <a:xfrm>
              <a:off x="5084781" y="971548"/>
              <a:ext cx="139701" cy="139700"/>
            </a:xfrm>
            <a:custGeom>
              <a:avLst/>
              <a:gdLst>
                <a:gd name="T0" fmla="*/ 4 w 37"/>
                <a:gd name="T1" fmla="*/ 9 h 37"/>
                <a:gd name="T2" fmla="*/ 5 w 37"/>
                <a:gd name="T3" fmla="*/ 12 h 37"/>
                <a:gd name="T4" fmla="*/ 2 w 37"/>
                <a:gd name="T5" fmla="*/ 12 h 37"/>
                <a:gd name="T6" fmla="*/ 0 w 37"/>
                <a:gd name="T7" fmla="*/ 14 h 37"/>
                <a:gd name="T8" fmla="*/ 1 w 37"/>
                <a:gd name="T9" fmla="*/ 17 h 37"/>
                <a:gd name="T10" fmla="*/ 3 w 37"/>
                <a:gd name="T11" fmla="*/ 20 h 37"/>
                <a:gd name="T12" fmla="*/ 2 w 37"/>
                <a:gd name="T13" fmla="*/ 21 h 37"/>
                <a:gd name="T14" fmla="*/ 1 w 37"/>
                <a:gd name="T15" fmla="*/ 24 h 37"/>
                <a:gd name="T16" fmla="*/ 3 w 37"/>
                <a:gd name="T17" fmla="*/ 26 h 37"/>
                <a:gd name="T18" fmla="*/ 5 w 37"/>
                <a:gd name="T19" fmla="*/ 26 h 37"/>
                <a:gd name="T20" fmla="*/ 5 w 37"/>
                <a:gd name="T21" fmla="*/ 29 h 37"/>
                <a:gd name="T22" fmla="*/ 6 w 37"/>
                <a:gd name="T23" fmla="*/ 32 h 37"/>
                <a:gd name="T24" fmla="*/ 9 w 37"/>
                <a:gd name="T25" fmla="*/ 33 h 37"/>
                <a:gd name="T26" fmla="*/ 12 w 37"/>
                <a:gd name="T27" fmla="*/ 32 h 37"/>
                <a:gd name="T28" fmla="*/ 12 w 37"/>
                <a:gd name="T29" fmla="*/ 34 h 37"/>
                <a:gd name="T30" fmla="*/ 15 w 37"/>
                <a:gd name="T31" fmla="*/ 37 h 37"/>
                <a:gd name="T32" fmla="*/ 17 w 37"/>
                <a:gd name="T33" fmla="*/ 35 h 37"/>
                <a:gd name="T34" fmla="*/ 20 w 37"/>
                <a:gd name="T35" fmla="*/ 34 h 37"/>
                <a:gd name="T36" fmla="*/ 21 w 37"/>
                <a:gd name="T37" fmla="*/ 35 h 37"/>
                <a:gd name="T38" fmla="*/ 24 w 37"/>
                <a:gd name="T39" fmla="*/ 36 h 37"/>
                <a:gd name="T40" fmla="*/ 26 w 37"/>
                <a:gd name="T41" fmla="*/ 34 h 37"/>
                <a:gd name="T42" fmla="*/ 27 w 37"/>
                <a:gd name="T43" fmla="*/ 31 h 37"/>
                <a:gd name="T44" fmla="*/ 29 w 37"/>
                <a:gd name="T45" fmla="*/ 32 h 37"/>
                <a:gd name="T46" fmla="*/ 32 w 37"/>
                <a:gd name="T47" fmla="*/ 31 h 37"/>
                <a:gd name="T48" fmla="*/ 33 w 37"/>
                <a:gd name="T49" fmla="*/ 28 h 37"/>
                <a:gd name="T50" fmla="*/ 32 w 37"/>
                <a:gd name="T51" fmla="*/ 25 h 37"/>
                <a:gd name="T52" fmla="*/ 35 w 37"/>
                <a:gd name="T53" fmla="*/ 24 h 37"/>
                <a:gd name="T54" fmla="*/ 37 w 37"/>
                <a:gd name="T55" fmla="*/ 22 h 37"/>
                <a:gd name="T56" fmla="*/ 36 w 37"/>
                <a:gd name="T57" fmla="*/ 19 h 37"/>
                <a:gd name="T58" fmla="*/ 34 w 37"/>
                <a:gd name="T59" fmla="*/ 17 h 37"/>
                <a:gd name="T60" fmla="*/ 35 w 37"/>
                <a:gd name="T61" fmla="*/ 15 h 37"/>
                <a:gd name="T62" fmla="*/ 36 w 37"/>
                <a:gd name="T63" fmla="*/ 12 h 37"/>
                <a:gd name="T64" fmla="*/ 34 w 37"/>
                <a:gd name="T65" fmla="*/ 11 h 37"/>
                <a:gd name="T66" fmla="*/ 31 w 37"/>
                <a:gd name="T67" fmla="*/ 9 h 37"/>
                <a:gd name="T68" fmla="*/ 32 w 37"/>
                <a:gd name="T69" fmla="*/ 7 h 37"/>
                <a:gd name="T70" fmla="*/ 31 w 37"/>
                <a:gd name="T71" fmla="*/ 4 h 37"/>
                <a:gd name="T72" fmla="*/ 28 w 37"/>
                <a:gd name="T73" fmla="*/ 4 h 37"/>
                <a:gd name="T74" fmla="*/ 25 w 37"/>
                <a:gd name="T75" fmla="*/ 4 h 37"/>
                <a:gd name="T76" fmla="*/ 25 w 37"/>
                <a:gd name="T77" fmla="*/ 2 h 37"/>
                <a:gd name="T78" fmla="*/ 22 w 37"/>
                <a:gd name="T79" fmla="*/ 0 h 37"/>
                <a:gd name="T80" fmla="*/ 20 w 37"/>
                <a:gd name="T81" fmla="*/ 1 h 37"/>
                <a:gd name="T82" fmla="*/ 17 w 37"/>
                <a:gd name="T83" fmla="*/ 3 h 37"/>
                <a:gd name="T84" fmla="*/ 16 w 37"/>
                <a:gd name="T85" fmla="*/ 1 h 37"/>
                <a:gd name="T86" fmla="*/ 13 w 37"/>
                <a:gd name="T87" fmla="*/ 0 h 37"/>
                <a:gd name="T88" fmla="*/ 11 w 37"/>
                <a:gd name="T89" fmla="*/ 3 h 37"/>
                <a:gd name="T90" fmla="*/ 10 w 37"/>
                <a:gd name="T91" fmla="*/ 6 h 37"/>
                <a:gd name="T92" fmla="*/ 8 w 37"/>
                <a:gd name="T93" fmla="*/ 5 h 37"/>
                <a:gd name="T94" fmla="*/ 5 w 37"/>
                <a:gd name="T95" fmla="*/ 6 h 37"/>
                <a:gd name="T96" fmla="*/ 4 w 37"/>
                <a:gd name="T97" fmla="*/ 9 h 37"/>
                <a:gd name="T98" fmla="*/ 15 w 37"/>
                <a:gd name="T99" fmla="*/ 8 h 37"/>
                <a:gd name="T100" fmla="*/ 29 w 37"/>
                <a:gd name="T101" fmla="*/ 15 h 37"/>
                <a:gd name="T102" fmla="*/ 22 w 37"/>
                <a:gd name="T103" fmla="*/ 29 h 37"/>
                <a:gd name="T104" fmla="*/ 8 w 37"/>
                <a:gd name="T105" fmla="*/ 22 h 37"/>
                <a:gd name="T106" fmla="*/ 15 w 37"/>
                <a:gd name="T107"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 h="37">
                  <a:moveTo>
                    <a:pt x="4" y="9"/>
                  </a:moveTo>
                  <a:cubicBezTo>
                    <a:pt x="5" y="9"/>
                    <a:pt x="5" y="11"/>
                    <a:pt x="5" y="12"/>
                  </a:cubicBezTo>
                  <a:cubicBezTo>
                    <a:pt x="4" y="12"/>
                    <a:pt x="3" y="12"/>
                    <a:pt x="2" y="12"/>
                  </a:cubicBezTo>
                  <a:cubicBezTo>
                    <a:pt x="1" y="12"/>
                    <a:pt x="0" y="13"/>
                    <a:pt x="0" y="14"/>
                  </a:cubicBezTo>
                  <a:cubicBezTo>
                    <a:pt x="0" y="16"/>
                    <a:pt x="0" y="17"/>
                    <a:pt x="1" y="17"/>
                  </a:cubicBezTo>
                  <a:cubicBezTo>
                    <a:pt x="2" y="17"/>
                    <a:pt x="3" y="19"/>
                    <a:pt x="3" y="20"/>
                  </a:cubicBezTo>
                  <a:cubicBezTo>
                    <a:pt x="3" y="20"/>
                    <a:pt x="2" y="21"/>
                    <a:pt x="2" y="21"/>
                  </a:cubicBezTo>
                  <a:cubicBezTo>
                    <a:pt x="1" y="21"/>
                    <a:pt x="0" y="23"/>
                    <a:pt x="1" y="24"/>
                  </a:cubicBezTo>
                  <a:cubicBezTo>
                    <a:pt x="1" y="25"/>
                    <a:pt x="2" y="26"/>
                    <a:pt x="3" y="26"/>
                  </a:cubicBezTo>
                  <a:cubicBezTo>
                    <a:pt x="4" y="26"/>
                    <a:pt x="5" y="26"/>
                    <a:pt x="5" y="26"/>
                  </a:cubicBezTo>
                  <a:cubicBezTo>
                    <a:pt x="6" y="27"/>
                    <a:pt x="6" y="28"/>
                    <a:pt x="5" y="29"/>
                  </a:cubicBezTo>
                  <a:cubicBezTo>
                    <a:pt x="5" y="30"/>
                    <a:pt x="5" y="31"/>
                    <a:pt x="6" y="32"/>
                  </a:cubicBezTo>
                  <a:cubicBezTo>
                    <a:pt x="7" y="33"/>
                    <a:pt x="8" y="33"/>
                    <a:pt x="9" y="33"/>
                  </a:cubicBezTo>
                  <a:cubicBezTo>
                    <a:pt x="10" y="32"/>
                    <a:pt x="11" y="32"/>
                    <a:pt x="12" y="32"/>
                  </a:cubicBezTo>
                  <a:cubicBezTo>
                    <a:pt x="12" y="32"/>
                    <a:pt x="13" y="33"/>
                    <a:pt x="12" y="34"/>
                  </a:cubicBezTo>
                  <a:cubicBezTo>
                    <a:pt x="12" y="35"/>
                    <a:pt x="13" y="36"/>
                    <a:pt x="15" y="37"/>
                  </a:cubicBezTo>
                  <a:cubicBezTo>
                    <a:pt x="16" y="37"/>
                    <a:pt x="17" y="36"/>
                    <a:pt x="17" y="35"/>
                  </a:cubicBezTo>
                  <a:cubicBezTo>
                    <a:pt x="18" y="34"/>
                    <a:pt x="19" y="34"/>
                    <a:pt x="20" y="34"/>
                  </a:cubicBezTo>
                  <a:cubicBezTo>
                    <a:pt x="20" y="34"/>
                    <a:pt x="21" y="34"/>
                    <a:pt x="21" y="35"/>
                  </a:cubicBezTo>
                  <a:cubicBezTo>
                    <a:pt x="22" y="36"/>
                    <a:pt x="23" y="37"/>
                    <a:pt x="24" y="36"/>
                  </a:cubicBezTo>
                  <a:cubicBezTo>
                    <a:pt x="26" y="36"/>
                    <a:pt x="26" y="35"/>
                    <a:pt x="26" y="34"/>
                  </a:cubicBezTo>
                  <a:cubicBezTo>
                    <a:pt x="26" y="33"/>
                    <a:pt x="27" y="31"/>
                    <a:pt x="27" y="31"/>
                  </a:cubicBezTo>
                  <a:cubicBezTo>
                    <a:pt x="28" y="31"/>
                    <a:pt x="29" y="31"/>
                    <a:pt x="29" y="32"/>
                  </a:cubicBezTo>
                  <a:cubicBezTo>
                    <a:pt x="30" y="32"/>
                    <a:pt x="32" y="32"/>
                    <a:pt x="32" y="31"/>
                  </a:cubicBezTo>
                  <a:cubicBezTo>
                    <a:pt x="33" y="30"/>
                    <a:pt x="34" y="28"/>
                    <a:pt x="33" y="28"/>
                  </a:cubicBezTo>
                  <a:cubicBezTo>
                    <a:pt x="32" y="27"/>
                    <a:pt x="32" y="25"/>
                    <a:pt x="32" y="25"/>
                  </a:cubicBezTo>
                  <a:cubicBezTo>
                    <a:pt x="33" y="24"/>
                    <a:pt x="34" y="24"/>
                    <a:pt x="35" y="24"/>
                  </a:cubicBezTo>
                  <a:cubicBezTo>
                    <a:pt x="36" y="24"/>
                    <a:pt x="37" y="24"/>
                    <a:pt x="37" y="22"/>
                  </a:cubicBezTo>
                  <a:cubicBezTo>
                    <a:pt x="37" y="21"/>
                    <a:pt x="37" y="20"/>
                    <a:pt x="36" y="19"/>
                  </a:cubicBezTo>
                  <a:cubicBezTo>
                    <a:pt x="35" y="19"/>
                    <a:pt x="34" y="18"/>
                    <a:pt x="34" y="17"/>
                  </a:cubicBezTo>
                  <a:cubicBezTo>
                    <a:pt x="34" y="16"/>
                    <a:pt x="35" y="16"/>
                    <a:pt x="35" y="15"/>
                  </a:cubicBezTo>
                  <a:cubicBezTo>
                    <a:pt x="36" y="15"/>
                    <a:pt x="37" y="14"/>
                    <a:pt x="36" y="12"/>
                  </a:cubicBezTo>
                  <a:cubicBezTo>
                    <a:pt x="36" y="11"/>
                    <a:pt x="35" y="10"/>
                    <a:pt x="34" y="11"/>
                  </a:cubicBezTo>
                  <a:cubicBezTo>
                    <a:pt x="33" y="11"/>
                    <a:pt x="31" y="10"/>
                    <a:pt x="31" y="9"/>
                  </a:cubicBezTo>
                  <a:cubicBezTo>
                    <a:pt x="31" y="9"/>
                    <a:pt x="31" y="8"/>
                    <a:pt x="32" y="7"/>
                  </a:cubicBezTo>
                  <a:cubicBezTo>
                    <a:pt x="32" y="7"/>
                    <a:pt x="32" y="5"/>
                    <a:pt x="31" y="4"/>
                  </a:cubicBezTo>
                  <a:cubicBezTo>
                    <a:pt x="30" y="3"/>
                    <a:pt x="29" y="3"/>
                    <a:pt x="28" y="4"/>
                  </a:cubicBezTo>
                  <a:cubicBezTo>
                    <a:pt x="27" y="5"/>
                    <a:pt x="26" y="5"/>
                    <a:pt x="25" y="4"/>
                  </a:cubicBezTo>
                  <a:cubicBezTo>
                    <a:pt x="25" y="4"/>
                    <a:pt x="24" y="3"/>
                    <a:pt x="25" y="2"/>
                  </a:cubicBezTo>
                  <a:cubicBezTo>
                    <a:pt x="25" y="1"/>
                    <a:pt x="24" y="0"/>
                    <a:pt x="22" y="0"/>
                  </a:cubicBezTo>
                  <a:cubicBezTo>
                    <a:pt x="21" y="0"/>
                    <a:pt x="20" y="0"/>
                    <a:pt x="20" y="1"/>
                  </a:cubicBezTo>
                  <a:cubicBezTo>
                    <a:pt x="19" y="2"/>
                    <a:pt x="18" y="3"/>
                    <a:pt x="17" y="3"/>
                  </a:cubicBezTo>
                  <a:cubicBezTo>
                    <a:pt x="17" y="3"/>
                    <a:pt x="16" y="2"/>
                    <a:pt x="16" y="1"/>
                  </a:cubicBezTo>
                  <a:cubicBezTo>
                    <a:pt x="15" y="0"/>
                    <a:pt x="14" y="0"/>
                    <a:pt x="13" y="0"/>
                  </a:cubicBezTo>
                  <a:cubicBezTo>
                    <a:pt x="11" y="1"/>
                    <a:pt x="11" y="2"/>
                    <a:pt x="11" y="3"/>
                  </a:cubicBezTo>
                  <a:cubicBezTo>
                    <a:pt x="11" y="4"/>
                    <a:pt x="10" y="5"/>
                    <a:pt x="10" y="6"/>
                  </a:cubicBezTo>
                  <a:cubicBezTo>
                    <a:pt x="9" y="6"/>
                    <a:pt x="8" y="6"/>
                    <a:pt x="8" y="5"/>
                  </a:cubicBezTo>
                  <a:cubicBezTo>
                    <a:pt x="7" y="4"/>
                    <a:pt x="5" y="5"/>
                    <a:pt x="5" y="6"/>
                  </a:cubicBezTo>
                  <a:cubicBezTo>
                    <a:pt x="4" y="7"/>
                    <a:pt x="3" y="8"/>
                    <a:pt x="4" y="9"/>
                  </a:cubicBezTo>
                  <a:close/>
                  <a:moveTo>
                    <a:pt x="15" y="8"/>
                  </a:moveTo>
                  <a:cubicBezTo>
                    <a:pt x="21" y="6"/>
                    <a:pt x="27" y="9"/>
                    <a:pt x="29" y="15"/>
                  </a:cubicBezTo>
                  <a:cubicBezTo>
                    <a:pt x="31" y="21"/>
                    <a:pt x="27" y="27"/>
                    <a:pt x="22" y="29"/>
                  </a:cubicBezTo>
                  <a:cubicBezTo>
                    <a:pt x="16" y="30"/>
                    <a:pt x="10" y="27"/>
                    <a:pt x="8" y="22"/>
                  </a:cubicBezTo>
                  <a:cubicBezTo>
                    <a:pt x="6" y="16"/>
                    <a:pt x="10" y="10"/>
                    <a:pt x="15"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99" name="Freeform 303"/>
            <p:cNvSpPr>
              <a:spLocks noEditPoints="1"/>
            </p:cNvSpPr>
            <p:nvPr/>
          </p:nvSpPr>
          <p:spPr bwMode="auto">
            <a:xfrm>
              <a:off x="5084763" y="1111250"/>
              <a:ext cx="109538" cy="104775"/>
            </a:xfrm>
            <a:custGeom>
              <a:avLst/>
              <a:gdLst>
                <a:gd name="T0" fmla="*/ 3 w 29"/>
                <a:gd name="T1" fmla="*/ 7 h 28"/>
                <a:gd name="T2" fmla="*/ 4 w 29"/>
                <a:gd name="T3" fmla="*/ 9 h 28"/>
                <a:gd name="T4" fmla="*/ 2 w 29"/>
                <a:gd name="T5" fmla="*/ 9 h 28"/>
                <a:gd name="T6" fmla="*/ 0 w 29"/>
                <a:gd name="T7" fmla="*/ 11 h 28"/>
                <a:gd name="T8" fmla="*/ 1 w 29"/>
                <a:gd name="T9" fmla="*/ 13 h 28"/>
                <a:gd name="T10" fmla="*/ 3 w 29"/>
                <a:gd name="T11" fmla="*/ 15 h 28"/>
                <a:gd name="T12" fmla="*/ 1 w 29"/>
                <a:gd name="T13" fmla="*/ 16 h 28"/>
                <a:gd name="T14" fmla="*/ 1 w 29"/>
                <a:gd name="T15" fmla="*/ 19 h 28"/>
                <a:gd name="T16" fmla="*/ 3 w 29"/>
                <a:gd name="T17" fmla="*/ 20 h 28"/>
                <a:gd name="T18" fmla="*/ 4 w 29"/>
                <a:gd name="T19" fmla="*/ 20 h 28"/>
                <a:gd name="T20" fmla="*/ 4 w 29"/>
                <a:gd name="T21" fmla="*/ 23 h 28"/>
                <a:gd name="T22" fmla="*/ 5 w 29"/>
                <a:gd name="T23" fmla="*/ 25 h 28"/>
                <a:gd name="T24" fmla="*/ 7 w 29"/>
                <a:gd name="T25" fmla="*/ 25 h 28"/>
                <a:gd name="T26" fmla="*/ 9 w 29"/>
                <a:gd name="T27" fmla="*/ 25 h 28"/>
                <a:gd name="T28" fmla="*/ 10 w 29"/>
                <a:gd name="T29" fmla="*/ 27 h 28"/>
                <a:gd name="T30" fmla="*/ 11 w 29"/>
                <a:gd name="T31" fmla="*/ 28 h 28"/>
                <a:gd name="T32" fmla="*/ 13 w 29"/>
                <a:gd name="T33" fmla="*/ 27 h 28"/>
                <a:gd name="T34" fmla="*/ 15 w 29"/>
                <a:gd name="T35" fmla="*/ 26 h 28"/>
                <a:gd name="T36" fmla="*/ 17 w 29"/>
                <a:gd name="T37" fmla="*/ 27 h 28"/>
                <a:gd name="T38" fmla="*/ 19 w 29"/>
                <a:gd name="T39" fmla="*/ 28 h 28"/>
                <a:gd name="T40" fmla="*/ 20 w 29"/>
                <a:gd name="T41" fmla="*/ 26 h 28"/>
                <a:gd name="T42" fmla="*/ 21 w 29"/>
                <a:gd name="T43" fmla="*/ 24 h 28"/>
                <a:gd name="T44" fmla="*/ 23 w 29"/>
                <a:gd name="T45" fmla="*/ 24 h 28"/>
                <a:gd name="T46" fmla="*/ 25 w 29"/>
                <a:gd name="T47" fmla="*/ 24 h 28"/>
                <a:gd name="T48" fmla="*/ 25 w 29"/>
                <a:gd name="T49" fmla="*/ 21 h 28"/>
                <a:gd name="T50" fmla="*/ 25 w 29"/>
                <a:gd name="T51" fmla="*/ 19 h 28"/>
                <a:gd name="T52" fmla="*/ 27 w 29"/>
                <a:gd name="T53" fmla="*/ 19 h 28"/>
                <a:gd name="T54" fmla="*/ 29 w 29"/>
                <a:gd name="T55" fmla="*/ 17 h 28"/>
                <a:gd name="T56" fmla="*/ 28 w 29"/>
                <a:gd name="T57" fmla="*/ 15 h 28"/>
                <a:gd name="T58" fmla="*/ 26 w 29"/>
                <a:gd name="T59" fmla="*/ 13 h 28"/>
                <a:gd name="T60" fmla="*/ 27 w 29"/>
                <a:gd name="T61" fmla="*/ 12 h 28"/>
                <a:gd name="T62" fmla="*/ 28 w 29"/>
                <a:gd name="T63" fmla="*/ 10 h 28"/>
                <a:gd name="T64" fmla="*/ 26 w 29"/>
                <a:gd name="T65" fmla="*/ 8 h 28"/>
                <a:gd name="T66" fmla="*/ 24 w 29"/>
                <a:gd name="T67" fmla="*/ 7 h 28"/>
                <a:gd name="T68" fmla="*/ 25 w 29"/>
                <a:gd name="T69" fmla="*/ 6 h 28"/>
                <a:gd name="T70" fmla="*/ 24 w 29"/>
                <a:gd name="T71" fmla="*/ 3 h 28"/>
                <a:gd name="T72" fmla="*/ 22 w 29"/>
                <a:gd name="T73" fmla="*/ 3 h 28"/>
                <a:gd name="T74" fmla="*/ 19 w 29"/>
                <a:gd name="T75" fmla="*/ 3 h 28"/>
                <a:gd name="T76" fmla="*/ 19 w 29"/>
                <a:gd name="T77" fmla="*/ 2 h 28"/>
                <a:gd name="T78" fmla="*/ 17 w 29"/>
                <a:gd name="T79" fmla="*/ 0 h 28"/>
                <a:gd name="T80" fmla="*/ 15 w 29"/>
                <a:gd name="T81" fmla="*/ 1 h 28"/>
                <a:gd name="T82" fmla="*/ 13 w 29"/>
                <a:gd name="T83" fmla="*/ 2 h 28"/>
                <a:gd name="T84" fmla="*/ 12 w 29"/>
                <a:gd name="T85" fmla="*/ 1 h 28"/>
                <a:gd name="T86" fmla="*/ 10 w 29"/>
                <a:gd name="T87" fmla="*/ 0 h 28"/>
                <a:gd name="T88" fmla="*/ 9 w 29"/>
                <a:gd name="T89" fmla="*/ 2 h 28"/>
                <a:gd name="T90" fmla="*/ 8 w 29"/>
                <a:gd name="T91" fmla="*/ 4 h 28"/>
                <a:gd name="T92" fmla="*/ 6 w 29"/>
                <a:gd name="T93" fmla="*/ 4 h 28"/>
                <a:gd name="T94" fmla="*/ 4 w 29"/>
                <a:gd name="T95" fmla="*/ 4 h 28"/>
                <a:gd name="T96" fmla="*/ 3 w 29"/>
                <a:gd name="T97" fmla="*/ 7 h 28"/>
                <a:gd name="T98" fmla="*/ 12 w 29"/>
                <a:gd name="T99" fmla="*/ 6 h 28"/>
                <a:gd name="T100" fmla="*/ 22 w 29"/>
                <a:gd name="T101" fmla="*/ 12 h 28"/>
                <a:gd name="T102" fmla="*/ 17 w 29"/>
                <a:gd name="T103" fmla="*/ 22 h 28"/>
                <a:gd name="T104" fmla="*/ 6 w 29"/>
                <a:gd name="T105" fmla="*/ 17 h 28"/>
                <a:gd name="T106" fmla="*/ 12 w 29"/>
                <a:gd name="T10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 h="28">
                  <a:moveTo>
                    <a:pt x="3" y="7"/>
                  </a:moveTo>
                  <a:cubicBezTo>
                    <a:pt x="4" y="7"/>
                    <a:pt x="4" y="9"/>
                    <a:pt x="4" y="9"/>
                  </a:cubicBezTo>
                  <a:cubicBezTo>
                    <a:pt x="4" y="9"/>
                    <a:pt x="3" y="10"/>
                    <a:pt x="2" y="9"/>
                  </a:cubicBezTo>
                  <a:cubicBezTo>
                    <a:pt x="1" y="9"/>
                    <a:pt x="0" y="10"/>
                    <a:pt x="0" y="11"/>
                  </a:cubicBezTo>
                  <a:cubicBezTo>
                    <a:pt x="0" y="12"/>
                    <a:pt x="0" y="13"/>
                    <a:pt x="1" y="13"/>
                  </a:cubicBezTo>
                  <a:cubicBezTo>
                    <a:pt x="2" y="13"/>
                    <a:pt x="3" y="15"/>
                    <a:pt x="3" y="15"/>
                  </a:cubicBezTo>
                  <a:cubicBezTo>
                    <a:pt x="3" y="16"/>
                    <a:pt x="2" y="16"/>
                    <a:pt x="1" y="16"/>
                  </a:cubicBezTo>
                  <a:cubicBezTo>
                    <a:pt x="1" y="17"/>
                    <a:pt x="0" y="18"/>
                    <a:pt x="1" y="19"/>
                  </a:cubicBezTo>
                  <a:cubicBezTo>
                    <a:pt x="1" y="20"/>
                    <a:pt x="2" y="20"/>
                    <a:pt x="3" y="20"/>
                  </a:cubicBezTo>
                  <a:cubicBezTo>
                    <a:pt x="3" y="20"/>
                    <a:pt x="4" y="20"/>
                    <a:pt x="4" y="20"/>
                  </a:cubicBezTo>
                  <a:cubicBezTo>
                    <a:pt x="4" y="21"/>
                    <a:pt x="5" y="22"/>
                    <a:pt x="4" y="23"/>
                  </a:cubicBezTo>
                  <a:cubicBezTo>
                    <a:pt x="4" y="23"/>
                    <a:pt x="4" y="24"/>
                    <a:pt x="5" y="25"/>
                  </a:cubicBezTo>
                  <a:cubicBezTo>
                    <a:pt x="5" y="26"/>
                    <a:pt x="7" y="26"/>
                    <a:pt x="7" y="25"/>
                  </a:cubicBezTo>
                  <a:cubicBezTo>
                    <a:pt x="8" y="25"/>
                    <a:pt x="9" y="25"/>
                    <a:pt x="9" y="25"/>
                  </a:cubicBezTo>
                  <a:cubicBezTo>
                    <a:pt x="10" y="25"/>
                    <a:pt x="10" y="26"/>
                    <a:pt x="10" y="27"/>
                  </a:cubicBezTo>
                  <a:cubicBezTo>
                    <a:pt x="10" y="27"/>
                    <a:pt x="10" y="28"/>
                    <a:pt x="11" y="28"/>
                  </a:cubicBezTo>
                  <a:cubicBezTo>
                    <a:pt x="12" y="28"/>
                    <a:pt x="13" y="28"/>
                    <a:pt x="13" y="27"/>
                  </a:cubicBezTo>
                  <a:cubicBezTo>
                    <a:pt x="14" y="27"/>
                    <a:pt x="15" y="26"/>
                    <a:pt x="15" y="26"/>
                  </a:cubicBezTo>
                  <a:cubicBezTo>
                    <a:pt x="16" y="26"/>
                    <a:pt x="16" y="26"/>
                    <a:pt x="17" y="27"/>
                  </a:cubicBezTo>
                  <a:cubicBezTo>
                    <a:pt x="17" y="28"/>
                    <a:pt x="18" y="28"/>
                    <a:pt x="19" y="28"/>
                  </a:cubicBezTo>
                  <a:cubicBezTo>
                    <a:pt x="20" y="28"/>
                    <a:pt x="20" y="27"/>
                    <a:pt x="20" y="26"/>
                  </a:cubicBezTo>
                  <a:cubicBezTo>
                    <a:pt x="20" y="25"/>
                    <a:pt x="21" y="24"/>
                    <a:pt x="21" y="24"/>
                  </a:cubicBezTo>
                  <a:cubicBezTo>
                    <a:pt x="21" y="24"/>
                    <a:pt x="22" y="24"/>
                    <a:pt x="23" y="24"/>
                  </a:cubicBezTo>
                  <a:cubicBezTo>
                    <a:pt x="23" y="25"/>
                    <a:pt x="24" y="25"/>
                    <a:pt x="25" y="24"/>
                  </a:cubicBezTo>
                  <a:cubicBezTo>
                    <a:pt x="26" y="23"/>
                    <a:pt x="26" y="22"/>
                    <a:pt x="25" y="21"/>
                  </a:cubicBezTo>
                  <a:cubicBezTo>
                    <a:pt x="25" y="21"/>
                    <a:pt x="25" y="20"/>
                    <a:pt x="25" y="19"/>
                  </a:cubicBezTo>
                  <a:cubicBezTo>
                    <a:pt x="25" y="19"/>
                    <a:pt x="26" y="19"/>
                    <a:pt x="27" y="19"/>
                  </a:cubicBezTo>
                  <a:cubicBezTo>
                    <a:pt x="28" y="19"/>
                    <a:pt x="28" y="18"/>
                    <a:pt x="29" y="17"/>
                  </a:cubicBezTo>
                  <a:cubicBezTo>
                    <a:pt x="29" y="16"/>
                    <a:pt x="28" y="15"/>
                    <a:pt x="28" y="15"/>
                  </a:cubicBezTo>
                  <a:cubicBezTo>
                    <a:pt x="27" y="15"/>
                    <a:pt x="26" y="14"/>
                    <a:pt x="26" y="13"/>
                  </a:cubicBezTo>
                  <a:cubicBezTo>
                    <a:pt x="26" y="13"/>
                    <a:pt x="27" y="12"/>
                    <a:pt x="27" y="12"/>
                  </a:cubicBezTo>
                  <a:cubicBezTo>
                    <a:pt x="28" y="12"/>
                    <a:pt x="28" y="11"/>
                    <a:pt x="28" y="10"/>
                  </a:cubicBezTo>
                  <a:cubicBezTo>
                    <a:pt x="28" y="9"/>
                    <a:pt x="27" y="8"/>
                    <a:pt x="26" y="8"/>
                  </a:cubicBezTo>
                  <a:cubicBezTo>
                    <a:pt x="26" y="9"/>
                    <a:pt x="24" y="8"/>
                    <a:pt x="24" y="7"/>
                  </a:cubicBezTo>
                  <a:cubicBezTo>
                    <a:pt x="24" y="7"/>
                    <a:pt x="24" y="6"/>
                    <a:pt x="25" y="6"/>
                  </a:cubicBezTo>
                  <a:cubicBezTo>
                    <a:pt x="25" y="5"/>
                    <a:pt x="25" y="4"/>
                    <a:pt x="24" y="3"/>
                  </a:cubicBezTo>
                  <a:cubicBezTo>
                    <a:pt x="23" y="3"/>
                    <a:pt x="22" y="3"/>
                    <a:pt x="22" y="3"/>
                  </a:cubicBezTo>
                  <a:cubicBezTo>
                    <a:pt x="21" y="4"/>
                    <a:pt x="20" y="4"/>
                    <a:pt x="19" y="3"/>
                  </a:cubicBezTo>
                  <a:cubicBezTo>
                    <a:pt x="19" y="3"/>
                    <a:pt x="19" y="2"/>
                    <a:pt x="19" y="2"/>
                  </a:cubicBezTo>
                  <a:cubicBezTo>
                    <a:pt x="19" y="1"/>
                    <a:pt x="18" y="0"/>
                    <a:pt x="17" y="0"/>
                  </a:cubicBezTo>
                  <a:cubicBezTo>
                    <a:pt x="16" y="0"/>
                    <a:pt x="15" y="0"/>
                    <a:pt x="15" y="1"/>
                  </a:cubicBezTo>
                  <a:cubicBezTo>
                    <a:pt x="15" y="2"/>
                    <a:pt x="14" y="2"/>
                    <a:pt x="13" y="2"/>
                  </a:cubicBezTo>
                  <a:cubicBezTo>
                    <a:pt x="13" y="2"/>
                    <a:pt x="12" y="2"/>
                    <a:pt x="12" y="1"/>
                  </a:cubicBezTo>
                  <a:cubicBezTo>
                    <a:pt x="12" y="0"/>
                    <a:pt x="11" y="0"/>
                    <a:pt x="10" y="0"/>
                  </a:cubicBezTo>
                  <a:cubicBezTo>
                    <a:pt x="9" y="1"/>
                    <a:pt x="8" y="2"/>
                    <a:pt x="9" y="2"/>
                  </a:cubicBezTo>
                  <a:cubicBezTo>
                    <a:pt x="9" y="3"/>
                    <a:pt x="8" y="4"/>
                    <a:pt x="8" y="4"/>
                  </a:cubicBezTo>
                  <a:cubicBezTo>
                    <a:pt x="7" y="5"/>
                    <a:pt x="7" y="4"/>
                    <a:pt x="6" y="4"/>
                  </a:cubicBezTo>
                  <a:cubicBezTo>
                    <a:pt x="5" y="3"/>
                    <a:pt x="4" y="4"/>
                    <a:pt x="4" y="4"/>
                  </a:cubicBezTo>
                  <a:cubicBezTo>
                    <a:pt x="3" y="5"/>
                    <a:pt x="3" y="6"/>
                    <a:pt x="3" y="7"/>
                  </a:cubicBezTo>
                  <a:close/>
                  <a:moveTo>
                    <a:pt x="12" y="6"/>
                  </a:moveTo>
                  <a:cubicBezTo>
                    <a:pt x="16" y="5"/>
                    <a:pt x="21" y="7"/>
                    <a:pt x="22" y="12"/>
                  </a:cubicBezTo>
                  <a:cubicBezTo>
                    <a:pt x="24" y="16"/>
                    <a:pt x="21" y="21"/>
                    <a:pt x="17" y="22"/>
                  </a:cubicBezTo>
                  <a:cubicBezTo>
                    <a:pt x="13" y="23"/>
                    <a:pt x="8" y="21"/>
                    <a:pt x="6" y="17"/>
                  </a:cubicBezTo>
                  <a:cubicBezTo>
                    <a:pt x="5" y="12"/>
                    <a:pt x="7" y="8"/>
                    <a:pt x="12" y="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grpSp>
      <p:sp>
        <p:nvSpPr>
          <p:cNvPr id="100" name="Freeform 9"/>
          <p:cNvSpPr>
            <a:spLocks noEditPoints="1"/>
          </p:cNvSpPr>
          <p:nvPr/>
        </p:nvSpPr>
        <p:spPr bwMode="auto">
          <a:xfrm rot="19469485">
            <a:off x="7546084" y="1906136"/>
            <a:ext cx="283701" cy="302301"/>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sp>
        <p:nvSpPr>
          <p:cNvPr id="101" name="Freeform 206"/>
          <p:cNvSpPr>
            <a:spLocks noChangeAspect="1" noEditPoints="1"/>
          </p:cNvSpPr>
          <p:nvPr/>
        </p:nvSpPr>
        <p:spPr bwMode="auto">
          <a:xfrm>
            <a:off x="8264982" y="1900379"/>
            <a:ext cx="228407" cy="276096"/>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sp>
        <p:nvSpPr>
          <p:cNvPr id="103" name="矩形 3"/>
          <p:cNvSpPr>
            <a:spLocks noChangeArrowheads="1"/>
          </p:cNvSpPr>
          <p:nvPr/>
        </p:nvSpPr>
        <p:spPr bwMode="auto">
          <a:xfrm>
            <a:off x="4862204" y="2550874"/>
            <a:ext cx="2210811"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1416" tIns="25708" rIns="51416" bIns="25708">
            <a:spAutoFit/>
          </a:bodyPr>
          <a:lstStyle/>
          <a:p>
            <a:pPr>
              <a:spcBef>
                <a:spcPct val="0"/>
              </a:spcBef>
              <a:buFont typeface="Arial" panose="020B0604020202020204" pitchFamily="34" charset="0"/>
              <a:buNone/>
            </a:pPr>
            <a:r>
              <a:rPr lang="en-US" altLang="zh-CN" sz="1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ROBOMASTER 2022</a:t>
            </a:r>
            <a:endParaRPr lang="zh-CN" altLang="en-US" sz="1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1"/>
          <p:cNvSpPr txBox="1"/>
          <p:nvPr/>
        </p:nvSpPr>
        <p:spPr>
          <a:xfrm>
            <a:off x="6057265" y="5248275"/>
            <a:ext cx="2901950" cy="553085"/>
          </a:xfrm>
          <a:prstGeom prst="rect">
            <a:avLst/>
          </a:prstGeom>
          <a:noFill/>
        </p:spPr>
        <p:txBody>
          <a:bodyPr wrap="square" rtlCol="0">
            <a:spAutoFit/>
          </a:bodyPr>
          <a:lstStyle/>
          <a:p>
            <a:r>
              <a:rPr lang="en-US" altLang="zh-CN" sz="3000" b="1" dirty="0">
                <a:solidFill>
                  <a:schemeClr val="bg1"/>
                </a:solidFill>
              </a:rPr>
              <a:t>2023</a:t>
            </a:r>
            <a:r>
              <a:rPr lang="zh-CN" altLang="en-US" sz="3000" b="1" dirty="0">
                <a:solidFill>
                  <a:schemeClr val="bg1"/>
                </a:solidFill>
              </a:rPr>
              <a:t>年</a:t>
            </a:r>
            <a:r>
              <a:rPr lang="en-US" altLang="zh-CN" sz="3000" b="1" dirty="0">
                <a:solidFill>
                  <a:schemeClr val="bg1"/>
                </a:solidFill>
              </a:rPr>
              <a:t>11</a:t>
            </a:r>
            <a:r>
              <a:rPr lang="zh-CN" altLang="en-US" sz="3000" b="1" dirty="0">
                <a:solidFill>
                  <a:schemeClr val="bg1"/>
                </a:solidFill>
              </a:rPr>
              <a:t>月</a:t>
            </a:r>
            <a:r>
              <a:rPr lang="en-US" altLang="zh-CN" sz="3000" b="1" dirty="0">
                <a:solidFill>
                  <a:schemeClr val="bg1"/>
                </a:solidFill>
              </a:rPr>
              <a:t>25</a:t>
            </a:r>
            <a:r>
              <a:rPr lang="zh-CN" altLang="en-US" sz="3000" b="1" dirty="0">
                <a:solidFill>
                  <a:schemeClr val="bg1"/>
                </a:solidFill>
              </a:rPr>
              <a:t>日</a:t>
            </a:r>
            <a:endParaRPr lang="zh-CN" altLang="en-US" sz="3000" b="1" dirty="0">
              <a:solidFill>
                <a:schemeClr val="bg1"/>
              </a:solidFill>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07" y="783026"/>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0-#ppt_w/2"/>
                                          </p:val>
                                        </p:tav>
                                        <p:tav tm="100000">
                                          <p:val>
                                            <p:strVal val="#ppt_x"/>
                                          </p:val>
                                        </p:tav>
                                      </p:tavLst>
                                    </p:anim>
                                    <p:anim calcmode="lin" valueType="num">
                                      <p:cBhvr additive="base">
                                        <p:cTn id="8" dur="500" fill="hold"/>
                                        <p:tgtEl>
                                          <p:spTgt spid="5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3"/>
                                        </p:tgtEl>
                                        <p:attrNameLst>
                                          <p:attrName>style.visibility</p:attrName>
                                        </p:attrNameLst>
                                      </p:cBhvr>
                                      <p:to>
                                        <p:strVal val="visible"/>
                                      </p:to>
                                    </p:set>
                                    <p:anim calcmode="lin" valueType="num">
                                      <p:cBhvr additive="base">
                                        <p:cTn id="12" dur="500" fill="hold"/>
                                        <p:tgtEl>
                                          <p:spTgt spid="53"/>
                                        </p:tgtEl>
                                        <p:attrNameLst>
                                          <p:attrName>ppt_x</p:attrName>
                                        </p:attrNameLst>
                                      </p:cBhvr>
                                      <p:tavLst>
                                        <p:tav tm="0">
                                          <p:val>
                                            <p:strVal val="0-#ppt_w/2"/>
                                          </p:val>
                                        </p:tav>
                                        <p:tav tm="100000">
                                          <p:val>
                                            <p:strVal val="#ppt_x"/>
                                          </p:val>
                                        </p:tav>
                                      </p:tavLst>
                                    </p:anim>
                                    <p:anim calcmode="lin" valueType="num">
                                      <p:cBhvr additive="base">
                                        <p:cTn id="13" dur="500" fill="hold"/>
                                        <p:tgtEl>
                                          <p:spTgt spid="53"/>
                                        </p:tgtEl>
                                        <p:attrNameLst>
                                          <p:attrName>ppt_y</p:attrName>
                                        </p:attrNameLst>
                                      </p:cBhvr>
                                      <p:tavLst>
                                        <p:tav tm="0">
                                          <p:val>
                                            <p:strVal val="#ppt_y"/>
                                          </p:val>
                                        </p:tav>
                                        <p:tav tm="100000">
                                          <p:val>
                                            <p:strVal val="#ppt_y"/>
                                          </p:val>
                                        </p:tav>
                                      </p:tavLst>
                                    </p:anim>
                                  </p:childTnLst>
                                </p:cTn>
                              </p:par>
                              <p:par>
                                <p:cTn id="14" presetID="52" presetClass="entr" presetSubtype="0" fill="hold" grpId="0" nodeType="withEffect">
                                  <p:stCondLst>
                                    <p:cond delay="500"/>
                                  </p:stCondLst>
                                  <p:iterate type="lt">
                                    <p:tmPct val="10000"/>
                                  </p:iterate>
                                  <p:childTnLst>
                                    <p:set>
                                      <p:cBhvr>
                                        <p:cTn id="15" dur="1" fill="hold">
                                          <p:stCondLst>
                                            <p:cond delay="0"/>
                                          </p:stCondLst>
                                        </p:cTn>
                                        <p:tgtEl>
                                          <p:spTgt spid="56"/>
                                        </p:tgtEl>
                                        <p:attrNameLst>
                                          <p:attrName>style.visibility</p:attrName>
                                        </p:attrNameLst>
                                      </p:cBhvr>
                                      <p:to>
                                        <p:strVal val="visible"/>
                                      </p:to>
                                    </p:set>
                                    <p:animScale>
                                      <p:cBhvr>
                                        <p:cTn id="16" dur="1000" decel="50000" fill="hold">
                                          <p:stCondLst>
                                            <p:cond delay="0"/>
                                          </p:stCondLst>
                                        </p:cTn>
                                        <p:tgtEl>
                                          <p:spTgt spid="5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7" dur="1000" decel="50000" fill="hold">
                                          <p:stCondLst>
                                            <p:cond delay="0"/>
                                          </p:stCondLst>
                                        </p:cTn>
                                        <p:tgtEl>
                                          <p:spTgt spid="56"/>
                                        </p:tgtEl>
                                        <p:attrNameLst>
                                          <p:attrName>ppt_x</p:attrName>
                                          <p:attrName>ppt_y</p:attrName>
                                        </p:attrNameLst>
                                      </p:cBhvr>
                                    </p:animMotion>
                                    <p:animEffect transition="in" filter="fade">
                                      <p:cBhvr>
                                        <p:cTn id="18" dur="1000"/>
                                        <p:tgtEl>
                                          <p:spTgt spid="56"/>
                                        </p:tgtEl>
                                      </p:cBhvr>
                                    </p:animEffect>
                                  </p:childTnLst>
                                </p:cTn>
                              </p:par>
                              <p:par>
                                <p:cTn id="19" presetID="22" presetClass="entr" presetSubtype="8" fill="hold" nodeType="withEffect">
                                  <p:stCondLst>
                                    <p:cond delay="1000"/>
                                  </p:stCondLst>
                                  <p:childTnLst>
                                    <p:set>
                                      <p:cBhvr>
                                        <p:cTn id="20" dur="1" fill="hold">
                                          <p:stCondLst>
                                            <p:cond delay="0"/>
                                          </p:stCondLst>
                                        </p:cTn>
                                        <p:tgtEl>
                                          <p:spTgt spid="57"/>
                                        </p:tgtEl>
                                        <p:attrNameLst>
                                          <p:attrName>style.visibility</p:attrName>
                                        </p:attrNameLst>
                                      </p:cBhvr>
                                      <p:to>
                                        <p:strVal val="visible"/>
                                      </p:to>
                                    </p:set>
                                    <p:animEffect transition="in" filter="wipe(left)">
                                      <p:cBhvr>
                                        <p:cTn id="21" dur="500"/>
                                        <p:tgtEl>
                                          <p:spTgt spid="57"/>
                                        </p:tgtEl>
                                      </p:cBhvr>
                                    </p:animEffect>
                                  </p:childTnLst>
                                </p:cTn>
                              </p:par>
                              <p:par>
                                <p:cTn id="22" presetID="22" presetClass="entr" presetSubtype="8" fill="hold" grpId="0" nodeType="withEffect">
                                  <p:stCondLst>
                                    <p:cond delay="1500"/>
                                  </p:stCondLst>
                                  <p:childTnLst>
                                    <p:set>
                                      <p:cBhvr>
                                        <p:cTn id="23" dur="1" fill="hold">
                                          <p:stCondLst>
                                            <p:cond delay="0"/>
                                          </p:stCondLst>
                                        </p:cTn>
                                        <p:tgtEl>
                                          <p:spTgt spid="58"/>
                                        </p:tgtEl>
                                        <p:attrNameLst>
                                          <p:attrName>style.visibility</p:attrName>
                                        </p:attrNameLst>
                                      </p:cBhvr>
                                      <p:to>
                                        <p:strVal val="visible"/>
                                      </p:to>
                                    </p:set>
                                    <p:animEffect transition="in" filter="wipe(left)">
                                      <p:cBhvr>
                                        <p:cTn id="24" dur="800"/>
                                        <p:tgtEl>
                                          <p:spTgt spid="58"/>
                                        </p:tgtEl>
                                      </p:cBhvr>
                                    </p:animEffect>
                                  </p:childTnLst>
                                </p:cTn>
                              </p:par>
                              <p:par>
                                <p:cTn id="25" presetID="2" presetClass="entr" presetSubtype="12" fill="hold" nodeType="withEffect">
                                  <p:stCondLst>
                                    <p:cond delay="500"/>
                                  </p:stCondLst>
                                  <p:childTnLst>
                                    <p:set>
                                      <p:cBhvr>
                                        <p:cTn id="26" dur="1" fill="hold">
                                          <p:stCondLst>
                                            <p:cond delay="0"/>
                                          </p:stCondLst>
                                        </p:cTn>
                                        <p:tgtEl>
                                          <p:spTgt spid="59"/>
                                        </p:tgtEl>
                                        <p:attrNameLst>
                                          <p:attrName>style.visibility</p:attrName>
                                        </p:attrNameLst>
                                      </p:cBhvr>
                                      <p:to>
                                        <p:strVal val="visible"/>
                                      </p:to>
                                    </p:set>
                                    <p:anim calcmode="lin" valueType="num">
                                      <p:cBhvr additive="base">
                                        <p:cTn id="27" dur="500" fill="hold"/>
                                        <p:tgtEl>
                                          <p:spTgt spid="59"/>
                                        </p:tgtEl>
                                        <p:attrNameLst>
                                          <p:attrName>ppt_x</p:attrName>
                                        </p:attrNameLst>
                                      </p:cBhvr>
                                      <p:tavLst>
                                        <p:tav tm="0">
                                          <p:val>
                                            <p:strVal val="0-#ppt_w/2"/>
                                          </p:val>
                                        </p:tav>
                                        <p:tav tm="100000">
                                          <p:val>
                                            <p:strVal val="#ppt_x"/>
                                          </p:val>
                                        </p:tav>
                                      </p:tavLst>
                                    </p:anim>
                                    <p:anim calcmode="lin" valueType="num">
                                      <p:cBhvr additive="base">
                                        <p:cTn id="28" dur="500" fill="hold"/>
                                        <p:tgtEl>
                                          <p:spTgt spid="59"/>
                                        </p:tgtEl>
                                        <p:attrNameLst>
                                          <p:attrName>ppt_y</p:attrName>
                                        </p:attrNameLst>
                                      </p:cBhvr>
                                      <p:tavLst>
                                        <p:tav tm="0">
                                          <p:val>
                                            <p:strVal val="1+#ppt_h/2"/>
                                          </p:val>
                                        </p:tav>
                                        <p:tav tm="100000">
                                          <p:val>
                                            <p:strVal val="#ppt_y"/>
                                          </p:val>
                                        </p:tav>
                                      </p:tavLst>
                                    </p:anim>
                                  </p:childTnLst>
                                </p:cTn>
                              </p:par>
                              <p:par>
                                <p:cTn id="29" presetID="45" presetClass="entr" presetSubtype="0" fill="hold" grpId="0" nodeType="withEffect">
                                  <p:stCondLst>
                                    <p:cond delay="1000"/>
                                  </p:stCondLst>
                                  <p:childTnLst>
                                    <p:set>
                                      <p:cBhvr>
                                        <p:cTn id="30" dur="1" fill="hold">
                                          <p:stCondLst>
                                            <p:cond delay="0"/>
                                          </p:stCondLst>
                                        </p:cTn>
                                        <p:tgtEl>
                                          <p:spTgt spid="64"/>
                                        </p:tgtEl>
                                        <p:attrNameLst>
                                          <p:attrName>style.visibility</p:attrName>
                                        </p:attrNameLst>
                                      </p:cBhvr>
                                      <p:to>
                                        <p:strVal val="visible"/>
                                      </p:to>
                                    </p:set>
                                    <p:animEffect transition="in" filter="fade">
                                      <p:cBhvr>
                                        <p:cTn id="31" dur="2000"/>
                                        <p:tgtEl>
                                          <p:spTgt spid="64"/>
                                        </p:tgtEl>
                                      </p:cBhvr>
                                    </p:animEffect>
                                    <p:anim calcmode="lin" valueType="num">
                                      <p:cBhvr>
                                        <p:cTn id="32" dur="2000" fill="hold"/>
                                        <p:tgtEl>
                                          <p:spTgt spid="64"/>
                                        </p:tgtEl>
                                        <p:attrNameLst>
                                          <p:attrName>ppt_w</p:attrName>
                                        </p:attrNameLst>
                                      </p:cBhvr>
                                      <p:tavLst>
                                        <p:tav tm="0" fmla="#ppt_w*sin(2.5*pi*$)">
                                          <p:val>
                                            <p:fltVal val="0"/>
                                          </p:val>
                                        </p:tav>
                                        <p:tav tm="100000">
                                          <p:val>
                                            <p:fltVal val="1"/>
                                          </p:val>
                                        </p:tav>
                                      </p:tavLst>
                                    </p:anim>
                                    <p:anim calcmode="lin" valueType="num">
                                      <p:cBhvr>
                                        <p:cTn id="33" dur="2000" fill="hold"/>
                                        <p:tgtEl>
                                          <p:spTgt spid="64"/>
                                        </p:tgtEl>
                                        <p:attrNameLst>
                                          <p:attrName>ppt_h</p:attrName>
                                        </p:attrNameLst>
                                      </p:cBhvr>
                                      <p:tavLst>
                                        <p:tav tm="0">
                                          <p:val>
                                            <p:strVal val="#ppt_h"/>
                                          </p:val>
                                        </p:tav>
                                        <p:tav tm="100000">
                                          <p:val>
                                            <p:strVal val="#ppt_h"/>
                                          </p:val>
                                        </p:tav>
                                      </p:tavLst>
                                    </p:anim>
                                  </p:childTnLst>
                                </p:cTn>
                              </p:par>
                              <p:par>
                                <p:cTn id="34" presetID="2" presetClass="entr" presetSubtype="12" fill="hold" nodeType="withEffect">
                                  <p:stCondLst>
                                    <p:cond delay="500"/>
                                  </p:stCondLst>
                                  <p:childTnLst>
                                    <p:set>
                                      <p:cBhvr>
                                        <p:cTn id="35" dur="1" fill="hold">
                                          <p:stCondLst>
                                            <p:cond delay="0"/>
                                          </p:stCondLst>
                                        </p:cTn>
                                        <p:tgtEl>
                                          <p:spTgt spid="65"/>
                                        </p:tgtEl>
                                        <p:attrNameLst>
                                          <p:attrName>style.visibility</p:attrName>
                                        </p:attrNameLst>
                                      </p:cBhvr>
                                      <p:to>
                                        <p:strVal val="visible"/>
                                      </p:to>
                                    </p:set>
                                    <p:anim calcmode="lin" valueType="num">
                                      <p:cBhvr additive="base">
                                        <p:cTn id="36" dur="500" fill="hold"/>
                                        <p:tgtEl>
                                          <p:spTgt spid="65"/>
                                        </p:tgtEl>
                                        <p:attrNameLst>
                                          <p:attrName>ppt_x</p:attrName>
                                        </p:attrNameLst>
                                      </p:cBhvr>
                                      <p:tavLst>
                                        <p:tav tm="0">
                                          <p:val>
                                            <p:strVal val="0-#ppt_w/2"/>
                                          </p:val>
                                        </p:tav>
                                        <p:tav tm="100000">
                                          <p:val>
                                            <p:strVal val="#ppt_x"/>
                                          </p:val>
                                        </p:tav>
                                      </p:tavLst>
                                    </p:anim>
                                    <p:anim calcmode="lin" valueType="num">
                                      <p:cBhvr additive="base">
                                        <p:cTn id="37" dur="500" fill="hold"/>
                                        <p:tgtEl>
                                          <p:spTgt spid="65"/>
                                        </p:tgtEl>
                                        <p:attrNameLst>
                                          <p:attrName>ppt_y</p:attrName>
                                        </p:attrNameLst>
                                      </p:cBhvr>
                                      <p:tavLst>
                                        <p:tav tm="0">
                                          <p:val>
                                            <p:strVal val="1+#ppt_h/2"/>
                                          </p:val>
                                        </p:tav>
                                        <p:tav tm="100000">
                                          <p:val>
                                            <p:strVal val="#ppt_y"/>
                                          </p:val>
                                        </p:tav>
                                      </p:tavLst>
                                    </p:anim>
                                  </p:childTnLst>
                                </p:cTn>
                              </p:par>
                              <p:par>
                                <p:cTn id="38" presetID="45" presetClass="entr" presetSubtype="0" fill="hold" grpId="0" nodeType="withEffect">
                                  <p:stCondLst>
                                    <p:cond delay="1000"/>
                                  </p:stCondLst>
                                  <p:childTnLst>
                                    <p:set>
                                      <p:cBhvr>
                                        <p:cTn id="39" dur="1" fill="hold">
                                          <p:stCondLst>
                                            <p:cond delay="0"/>
                                          </p:stCondLst>
                                        </p:cTn>
                                        <p:tgtEl>
                                          <p:spTgt spid="70"/>
                                        </p:tgtEl>
                                        <p:attrNameLst>
                                          <p:attrName>style.visibility</p:attrName>
                                        </p:attrNameLst>
                                      </p:cBhvr>
                                      <p:to>
                                        <p:strVal val="visible"/>
                                      </p:to>
                                    </p:set>
                                    <p:animEffect transition="in" filter="fade">
                                      <p:cBhvr>
                                        <p:cTn id="40" dur="2000"/>
                                        <p:tgtEl>
                                          <p:spTgt spid="70"/>
                                        </p:tgtEl>
                                      </p:cBhvr>
                                    </p:animEffect>
                                    <p:anim calcmode="lin" valueType="num">
                                      <p:cBhvr>
                                        <p:cTn id="41" dur="2000" fill="hold"/>
                                        <p:tgtEl>
                                          <p:spTgt spid="70"/>
                                        </p:tgtEl>
                                        <p:attrNameLst>
                                          <p:attrName>ppt_w</p:attrName>
                                        </p:attrNameLst>
                                      </p:cBhvr>
                                      <p:tavLst>
                                        <p:tav tm="0" fmla="#ppt_w*sin(2.5*pi*$)">
                                          <p:val>
                                            <p:fltVal val="0"/>
                                          </p:val>
                                        </p:tav>
                                        <p:tav tm="100000">
                                          <p:val>
                                            <p:fltVal val="1"/>
                                          </p:val>
                                        </p:tav>
                                      </p:tavLst>
                                    </p:anim>
                                    <p:anim calcmode="lin" valueType="num">
                                      <p:cBhvr>
                                        <p:cTn id="42" dur="2000" fill="hold"/>
                                        <p:tgtEl>
                                          <p:spTgt spid="70"/>
                                        </p:tgtEl>
                                        <p:attrNameLst>
                                          <p:attrName>ppt_h</p:attrName>
                                        </p:attrNameLst>
                                      </p:cBhvr>
                                      <p:tavLst>
                                        <p:tav tm="0">
                                          <p:val>
                                            <p:strVal val="#ppt_h"/>
                                          </p:val>
                                        </p:tav>
                                        <p:tav tm="100000">
                                          <p:val>
                                            <p:strVal val="#ppt_h"/>
                                          </p:val>
                                        </p:tav>
                                      </p:tavLst>
                                    </p:anim>
                                  </p:childTnLst>
                                </p:cTn>
                              </p:par>
                              <p:par>
                                <p:cTn id="43" presetID="2" presetClass="entr" presetSubtype="12" fill="hold" nodeType="withEffect">
                                  <p:stCondLst>
                                    <p:cond delay="500"/>
                                  </p:stCondLst>
                                  <p:childTnLst>
                                    <p:set>
                                      <p:cBhvr>
                                        <p:cTn id="44" dur="1" fill="hold">
                                          <p:stCondLst>
                                            <p:cond delay="0"/>
                                          </p:stCondLst>
                                        </p:cTn>
                                        <p:tgtEl>
                                          <p:spTgt spid="71"/>
                                        </p:tgtEl>
                                        <p:attrNameLst>
                                          <p:attrName>style.visibility</p:attrName>
                                        </p:attrNameLst>
                                      </p:cBhvr>
                                      <p:to>
                                        <p:strVal val="visible"/>
                                      </p:to>
                                    </p:set>
                                    <p:anim calcmode="lin" valueType="num">
                                      <p:cBhvr additive="base">
                                        <p:cTn id="45" dur="500" fill="hold"/>
                                        <p:tgtEl>
                                          <p:spTgt spid="71"/>
                                        </p:tgtEl>
                                        <p:attrNameLst>
                                          <p:attrName>ppt_x</p:attrName>
                                        </p:attrNameLst>
                                      </p:cBhvr>
                                      <p:tavLst>
                                        <p:tav tm="0">
                                          <p:val>
                                            <p:strVal val="0-#ppt_w/2"/>
                                          </p:val>
                                        </p:tav>
                                        <p:tav tm="100000">
                                          <p:val>
                                            <p:strVal val="#ppt_x"/>
                                          </p:val>
                                        </p:tav>
                                      </p:tavLst>
                                    </p:anim>
                                    <p:anim calcmode="lin" valueType="num">
                                      <p:cBhvr additive="base">
                                        <p:cTn id="46" dur="500" fill="hold"/>
                                        <p:tgtEl>
                                          <p:spTgt spid="71"/>
                                        </p:tgtEl>
                                        <p:attrNameLst>
                                          <p:attrName>ppt_y</p:attrName>
                                        </p:attrNameLst>
                                      </p:cBhvr>
                                      <p:tavLst>
                                        <p:tav tm="0">
                                          <p:val>
                                            <p:strVal val="1+#ppt_h/2"/>
                                          </p:val>
                                        </p:tav>
                                        <p:tav tm="100000">
                                          <p:val>
                                            <p:strVal val="#ppt_y"/>
                                          </p:val>
                                        </p:tav>
                                      </p:tavLst>
                                    </p:anim>
                                  </p:childTnLst>
                                </p:cTn>
                              </p:par>
                              <p:par>
                                <p:cTn id="47" presetID="2" presetClass="entr" presetSubtype="12" fill="hold" nodeType="withEffect">
                                  <p:stCondLst>
                                    <p:cond delay="500"/>
                                  </p:stCondLst>
                                  <p:childTnLst>
                                    <p:set>
                                      <p:cBhvr>
                                        <p:cTn id="48" dur="1" fill="hold">
                                          <p:stCondLst>
                                            <p:cond delay="0"/>
                                          </p:stCondLst>
                                        </p:cTn>
                                        <p:tgtEl>
                                          <p:spTgt spid="76"/>
                                        </p:tgtEl>
                                        <p:attrNameLst>
                                          <p:attrName>style.visibility</p:attrName>
                                        </p:attrNameLst>
                                      </p:cBhvr>
                                      <p:to>
                                        <p:strVal val="visible"/>
                                      </p:to>
                                    </p:set>
                                    <p:anim calcmode="lin" valueType="num">
                                      <p:cBhvr additive="base">
                                        <p:cTn id="49" dur="500" fill="hold"/>
                                        <p:tgtEl>
                                          <p:spTgt spid="76"/>
                                        </p:tgtEl>
                                        <p:attrNameLst>
                                          <p:attrName>ppt_x</p:attrName>
                                        </p:attrNameLst>
                                      </p:cBhvr>
                                      <p:tavLst>
                                        <p:tav tm="0">
                                          <p:val>
                                            <p:strVal val="0-#ppt_w/2"/>
                                          </p:val>
                                        </p:tav>
                                        <p:tav tm="100000">
                                          <p:val>
                                            <p:strVal val="#ppt_x"/>
                                          </p:val>
                                        </p:tav>
                                      </p:tavLst>
                                    </p:anim>
                                    <p:anim calcmode="lin" valueType="num">
                                      <p:cBhvr additive="base">
                                        <p:cTn id="50" dur="500" fill="hold"/>
                                        <p:tgtEl>
                                          <p:spTgt spid="76"/>
                                        </p:tgtEl>
                                        <p:attrNameLst>
                                          <p:attrName>ppt_y</p:attrName>
                                        </p:attrNameLst>
                                      </p:cBhvr>
                                      <p:tavLst>
                                        <p:tav tm="0">
                                          <p:val>
                                            <p:strVal val="1+#ppt_h/2"/>
                                          </p:val>
                                        </p:tav>
                                        <p:tav tm="100000">
                                          <p:val>
                                            <p:strVal val="#ppt_y"/>
                                          </p:val>
                                        </p:tav>
                                      </p:tavLst>
                                    </p:anim>
                                  </p:childTnLst>
                                </p:cTn>
                              </p:par>
                              <p:par>
                                <p:cTn id="51" presetID="2" presetClass="entr" presetSubtype="12" fill="hold" nodeType="withEffect">
                                  <p:stCondLst>
                                    <p:cond delay="500"/>
                                  </p:stCondLst>
                                  <p:childTnLst>
                                    <p:set>
                                      <p:cBhvr>
                                        <p:cTn id="52" dur="1" fill="hold">
                                          <p:stCondLst>
                                            <p:cond delay="0"/>
                                          </p:stCondLst>
                                        </p:cTn>
                                        <p:tgtEl>
                                          <p:spTgt spid="82"/>
                                        </p:tgtEl>
                                        <p:attrNameLst>
                                          <p:attrName>style.visibility</p:attrName>
                                        </p:attrNameLst>
                                      </p:cBhvr>
                                      <p:to>
                                        <p:strVal val="visible"/>
                                      </p:to>
                                    </p:set>
                                    <p:anim calcmode="lin" valueType="num">
                                      <p:cBhvr additive="base">
                                        <p:cTn id="53" dur="500" fill="hold"/>
                                        <p:tgtEl>
                                          <p:spTgt spid="82"/>
                                        </p:tgtEl>
                                        <p:attrNameLst>
                                          <p:attrName>ppt_x</p:attrName>
                                        </p:attrNameLst>
                                      </p:cBhvr>
                                      <p:tavLst>
                                        <p:tav tm="0">
                                          <p:val>
                                            <p:strVal val="0-#ppt_w/2"/>
                                          </p:val>
                                        </p:tav>
                                        <p:tav tm="100000">
                                          <p:val>
                                            <p:strVal val="#ppt_x"/>
                                          </p:val>
                                        </p:tav>
                                      </p:tavLst>
                                    </p:anim>
                                    <p:anim calcmode="lin" valueType="num">
                                      <p:cBhvr additive="base">
                                        <p:cTn id="54" dur="500" fill="hold"/>
                                        <p:tgtEl>
                                          <p:spTgt spid="82"/>
                                        </p:tgtEl>
                                        <p:attrNameLst>
                                          <p:attrName>ppt_y</p:attrName>
                                        </p:attrNameLst>
                                      </p:cBhvr>
                                      <p:tavLst>
                                        <p:tav tm="0">
                                          <p:val>
                                            <p:strVal val="1+#ppt_h/2"/>
                                          </p:val>
                                        </p:tav>
                                        <p:tav tm="100000">
                                          <p:val>
                                            <p:strVal val="#ppt_y"/>
                                          </p:val>
                                        </p:tav>
                                      </p:tavLst>
                                    </p:anim>
                                  </p:childTnLst>
                                </p:cTn>
                              </p:par>
                              <p:par>
                                <p:cTn id="55" presetID="45" presetClass="entr" presetSubtype="0" fill="hold" nodeType="withEffect">
                                  <p:stCondLst>
                                    <p:cond delay="1000"/>
                                  </p:stCondLst>
                                  <p:childTnLst>
                                    <p:set>
                                      <p:cBhvr>
                                        <p:cTn id="56" dur="1" fill="hold">
                                          <p:stCondLst>
                                            <p:cond delay="0"/>
                                          </p:stCondLst>
                                        </p:cTn>
                                        <p:tgtEl>
                                          <p:spTgt spid="96"/>
                                        </p:tgtEl>
                                        <p:attrNameLst>
                                          <p:attrName>style.visibility</p:attrName>
                                        </p:attrNameLst>
                                      </p:cBhvr>
                                      <p:to>
                                        <p:strVal val="visible"/>
                                      </p:to>
                                    </p:set>
                                    <p:animEffect transition="in" filter="fade">
                                      <p:cBhvr>
                                        <p:cTn id="57" dur="2000"/>
                                        <p:tgtEl>
                                          <p:spTgt spid="96"/>
                                        </p:tgtEl>
                                      </p:cBhvr>
                                    </p:animEffect>
                                    <p:anim calcmode="lin" valueType="num">
                                      <p:cBhvr>
                                        <p:cTn id="58" dur="2000" fill="hold"/>
                                        <p:tgtEl>
                                          <p:spTgt spid="96"/>
                                        </p:tgtEl>
                                        <p:attrNameLst>
                                          <p:attrName>ppt_w</p:attrName>
                                        </p:attrNameLst>
                                      </p:cBhvr>
                                      <p:tavLst>
                                        <p:tav tm="0" fmla="#ppt_w*sin(2.5*pi*$)">
                                          <p:val>
                                            <p:fltVal val="0"/>
                                          </p:val>
                                        </p:tav>
                                        <p:tav tm="100000">
                                          <p:val>
                                            <p:fltVal val="1"/>
                                          </p:val>
                                        </p:tav>
                                      </p:tavLst>
                                    </p:anim>
                                    <p:anim calcmode="lin" valueType="num">
                                      <p:cBhvr>
                                        <p:cTn id="59" dur="2000" fill="hold"/>
                                        <p:tgtEl>
                                          <p:spTgt spid="96"/>
                                        </p:tgtEl>
                                        <p:attrNameLst>
                                          <p:attrName>ppt_h</p:attrName>
                                        </p:attrNameLst>
                                      </p:cBhvr>
                                      <p:tavLst>
                                        <p:tav tm="0">
                                          <p:val>
                                            <p:strVal val="#ppt_h"/>
                                          </p:val>
                                        </p:tav>
                                        <p:tav tm="100000">
                                          <p:val>
                                            <p:strVal val="#ppt_h"/>
                                          </p:val>
                                        </p:tav>
                                      </p:tavLst>
                                    </p:anim>
                                  </p:childTnLst>
                                </p:cTn>
                              </p:par>
                              <p:par>
                                <p:cTn id="60" presetID="45" presetClass="entr" presetSubtype="0" fill="hold" grpId="0" nodeType="withEffect">
                                  <p:stCondLst>
                                    <p:cond delay="1000"/>
                                  </p:stCondLst>
                                  <p:childTnLst>
                                    <p:set>
                                      <p:cBhvr>
                                        <p:cTn id="61" dur="1" fill="hold">
                                          <p:stCondLst>
                                            <p:cond delay="0"/>
                                          </p:stCondLst>
                                        </p:cTn>
                                        <p:tgtEl>
                                          <p:spTgt spid="100"/>
                                        </p:tgtEl>
                                        <p:attrNameLst>
                                          <p:attrName>style.visibility</p:attrName>
                                        </p:attrNameLst>
                                      </p:cBhvr>
                                      <p:to>
                                        <p:strVal val="visible"/>
                                      </p:to>
                                    </p:set>
                                    <p:animEffect transition="in" filter="fade">
                                      <p:cBhvr>
                                        <p:cTn id="62" dur="2000"/>
                                        <p:tgtEl>
                                          <p:spTgt spid="100"/>
                                        </p:tgtEl>
                                      </p:cBhvr>
                                    </p:animEffect>
                                    <p:anim calcmode="lin" valueType="num">
                                      <p:cBhvr>
                                        <p:cTn id="63" dur="2000" fill="hold"/>
                                        <p:tgtEl>
                                          <p:spTgt spid="100"/>
                                        </p:tgtEl>
                                        <p:attrNameLst>
                                          <p:attrName>ppt_w</p:attrName>
                                        </p:attrNameLst>
                                      </p:cBhvr>
                                      <p:tavLst>
                                        <p:tav tm="0" fmla="#ppt_w*sin(2.5*pi*$)">
                                          <p:val>
                                            <p:fltVal val="0"/>
                                          </p:val>
                                        </p:tav>
                                        <p:tav tm="100000">
                                          <p:val>
                                            <p:fltVal val="1"/>
                                          </p:val>
                                        </p:tav>
                                      </p:tavLst>
                                    </p:anim>
                                    <p:anim calcmode="lin" valueType="num">
                                      <p:cBhvr>
                                        <p:cTn id="64" dur="2000" fill="hold"/>
                                        <p:tgtEl>
                                          <p:spTgt spid="100"/>
                                        </p:tgtEl>
                                        <p:attrNameLst>
                                          <p:attrName>ppt_h</p:attrName>
                                        </p:attrNameLst>
                                      </p:cBhvr>
                                      <p:tavLst>
                                        <p:tav tm="0">
                                          <p:val>
                                            <p:strVal val="#ppt_h"/>
                                          </p:val>
                                        </p:tav>
                                        <p:tav tm="100000">
                                          <p:val>
                                            <p:strVal val="#ppt_h"/>
                                          </p:val>
                                        </p:tav>
                                      </p:tavLst>
                                    </p:anim>
                                  </p:childTnLst>
                                </p:cTn>
                              </p:par>
                              <p:par>
                                <p:cTn id="65" presetID="45" presetClass="entr" presetSubtype="0" fill="hold" grpId="0" nodeType="withEffect">
                                  <p:stCondLst>
                                    <p:cond delay="1000"/>
                                  </p:stCondLst>
                                  <p:childTnLst>
                                    <p:set>
                                      <p:cBhvr>
                                        <p:cTn id="66" dur="1" fill="hold">
                                          <p:stCondLst>
                                            <p:cond delay="0"/>
                                          </p:stCondLst>
                                        </p:cTn>
                                        <p:tgtEl>
                                          <p:spTgt spid="101"/>
                                        </p:tgtEl>
                                        <p:attrNameLst>
                                          <p:attrName>style.visibility</p:attrName>
                                        </p:attrNameLst>
                                      </p:cBhvr>
                                      <p:to>
                                        <p:strVal val="visible"/>
                                      </p:to>
                                    </p:set>
                                    <p:animEffect transition="in" filter="fade">
                                      <p:cBhvr>
                                        <p:cTn id="67" dur="2000"/>
                                        <p:tgtEl>
                                          <p:spTgt spid="101"/>
                                        </p:tgtEl>
                                      </p:cBhvr>
                                    </p:animEffect>
                                    <p:anim calcmode="lin" valueType="num">
                                      <p:cBhvr>
                                        <p:cTn id="68" dur="2000" fill="hold"/>
                                        <p:tgtEl>
                                          <p:spTgt spid="101"/>
                                        </p:tgtEl>
                                        <p:attrNameLst>
                                          <p:attrName>ppt_w</p:attrName>
                                        </p:attrNameLst>
                                      </p:cBhvr>
                                      <p:tavLst>
                                        <p:tav tm="0" fmla="#ppt_w*sin(2.5*pi*$)">
                                          <p:val>
                                            <p:fltVal val="0"/>
                                          </p:val>
                                        </p:tav>
                                        <p:tav tm="100000">
                                          <p:val>
                                            <p:fltVal val="1"/>
                                          </p:val>
                                        </p:tav>
                                      </p:tavLst>
                                    </p:anim>
                                    <p:anim calcmode="lin" valueType="num">
                                      <p:cBhvr>
                                        <p:cTn id="69" dur="2000" fill="hold"/>
                                        <p:tgtEl>
                                          <p:spTgt spid="101"/>
                                        </p:tgtEl>
                                        <p:attrNameLst>
                                          <p:attrName>ppt_h</p:attrName>
                                        </p:attrNameLst>
                                      </p:cBhvr>
                                      <p:tavLst>
                                        <p:tav tm="0">
                                          <p:val>
                                            <p:strVal val="#ppt_h"/>
                                          </p:val>
                                        </p:tav>
                                        <p:tav tm="100000">
                                          <p:val>
                                            <p:strVal val="#ppt_h"/>
                                          </p:val>
                                        </p:tav>
                                      </p:tavLst>
                                    </p:anim>
                                  </p:childTnLst>
                                </p:cTn>
                              </p:par>
                            </p:childTnLst>
                          </p:cTn>
                        </p:par>
                        <p:par>
                          <p:cTn id="70" fill="hold">
                            <p:stCondLst>
                              <p:cond delay="3500"/>
                            </p:stCondLst>
                            <p:childTnLst>
                              <p:par>
                                <p:cTn id="71" presetID="22" presetClass="entr" presetSubtype="8" fill="hold" grpId="0" nodeType="afterEffect">
                                  <p:stCondLst>
                                    <p:cond delay="0"/>
                                  </p:stCondLst>
                                  <p:childTnLst>
                                    <p:set>
                                      <p:cBhvr>
                                        <p:cTn id="72" dur="1" fill="hold">
                                          <p:stCondLst>
                                            <p:cond delay="0"/>
                                          </p:stCondLst>
                                        </p:cTn>
                                        <p:tgtEl>
                                          <p:spTgt spid="103"/>
                                        </p:tgtEl>
                                        <p:attrNameLst>
                                          <p:attrName>style.visibility</p:attrName>
                                        </p:attrNameLst>
                                      </p:cBhvr>
                                      <p:to>
                                        <p:strVal val="visible"/>
                                      </p:to>
                                    </p:set>
                                    <p:animEffect transition="in" filter="wipe(left)">
                                      <p:cBhvr>
                                        <p:cTn id="73"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ldLvl="0" animBg="1"/>
      <p:bldP spid="54" grpId="0" bldLvl="0" animBg="1"/>
      <p:bldP spid="56" grpId="0"/>
      <p:bldP spid="58" grpId="0"/>
      <p:bldP spid="64" grpId="0" bldLvl="0" animBg="1"/>
      <p:bldP spid="70" grpId="0" bldLvl="0" animBg="1"/>
      <p:bldP spid="100" grpId="0" bldLvl="0" animBg="1"/>
      <p:bldP spid="101" grpId="0" bldLvl="0" animBg="1"/>
      <p:bldP spid="103" grpId="0"/>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UNIT_PLACING_PICTURE_USER_VIEWPORT" val="{&quot;height&quot;:2325,&quot;width&quot;:12465}"/>
</p:tagLst>
</file>

<file path=ppt/tags/tag12.xml><?xml version="1.0" encoding="utf-8"?>
<p:tagLst xmlns:p="http://schemas.openxmlformats.org/presentationml/2006/main">
  <p:tag name="KSO_WM_UNIT_PLACING_PICTURE_USER_VIEWPORT" val="{&quot;height&quot;:8773,&quot;width&quot;:12958}"/>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 name="KSO_WM_UNIT_PLACING_PICTURE_USER_VIEWPORT" val="{&quot;height&quot;:2800,&quot;width&quot;:10042}"/>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UNIT_PLACING_PICTURE_USER_VIEWPORT" val="{&quot;height&quot;:6961,&quot;width&quot;:5722}"/>
</p:tagLst>
</file>

<file path=ppt/tags/tag71.xml><?xml version="1.0" encoding="utf-8"?>
<p:tagLst xmlns:p="http://schemas.openxmlformats.org/presentationml/2006/main">
  <p:tag name="KSO_WM_UNIT_PLACING_PICTURE_USER_VIEWPORT" val="{&quot;height&quot;:6240,&quot;width&quot;:10632}"/>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UNIT_PLACING_PICTURE_USER_VIEWPORT" val="{&quot;height&quot;:1704,&quot;width&quot;:10620}"/>
</p:tagLst>
</file>

<file path=ppt/tags/tag84.xml><?xml version="1.0" encoding="utf-8"?>
<p:tagLst xmlns:p="http://schemas.openxmlformats.org/presentationml/2006/main">
  <p:tag name="ISPRING_PRESENTATION_TITLE" val="7357.pptx"/>
  <p:tag name="commondata" val="eyJoZGlkIjoiNzE3ZDg2NGE0YmQ3Zjc0ZTIzYmM0ZmQ1MzgxZjRjZGIifQ=="/>
  <p:tag name="KSO_WPP_MARK_KEY" val="2fc5494e-9eed-467a-8824-5d89d05e856a"/>
  <p:tag name="COMMONDATA" val="eyJoZGlkIjoiMWUyZmJlYjMwZjQxYjViOTNiYWM0NWNmNjNlMzRiOTgifQ=="/>
</p:tagLst>
</file>

<file path=ppt/theme/theme1.xml><?xml version="1.0" encoding="utf-8"?>
<a:theme xmlns:a="http://schemas.openxmlformats.org/drawingml/2006/main" name="Office 主题">
  <a:themeElements>
    <a:clrScheme name="学术蓝">
      <a:dk1>
        <a:sysClr val="windowText" lastClr="000000"/>
      </a:dk1>
      <a:lt1>
        <a:sysClr val="window" lastClr="FFFFFF"/>
      </a:lt1>
      <a:dk2>
        <a:srgbClr val="44546A"/>
      </a:dk2>
      <a:lt2>
        <a:srgbClr val="E7E6E6"/>
      </a:lt2>
      <a:accent1>
        <a:srgbClr val="0070C0"/>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4704</Words>
  <Application>WPS 演示</Application>
  <PresentationFormat>全屏显示(4:3)</PresentationFormat>
  <Paragraphs>670</Paragraphs>
  <Slides>50</Slides>
  <Notes>23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50</vt:i4>
      </vt:variant>
    </vt:vector>
  </HeadingPairs>
  <TitlesOfParts>
    <vt:vector size="63" baseType="lpstr">
      <vt:lpstr>Arial</vt:lpstr>
      <vt:lpstr>宋体</vt:lpstr>
      <vt:lpstr>Wingdings</vt:lpstr>
      <vt:lpstr>微软雅黑</vt:lpstr>
      <vt:lpstr>Times New Roman</vt:lpstr>
      <vt:lpstr>Calibri</vt:lpstr>
      <vt:lpstr>Arial Unicode MS</vt:lpstr>
      <vt:lpstr>Calibri Light</vt:lpstr>
      <vt:lpstr>Microsoft YaHei UI</vt:lpstr>
      <vt:lpstr>Arial Unicode MS</vt:lpstr>
      <vt:lpstr>PMingLiU</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7357.pptx</dc:title>
  <dc:creator/>
  <cp:lastModifiedBy>周树人德鲁伊</cp:lastModifiedBy>
  <cp:revision>95</cp:revision>
  <dcterms:created xsi:type="dcterms:W3CDTF">2017-07-09T13:36:00Z</dcterms:created>
  <dcterms:modified xsi:type="dcterms:W3CDTF">2024-11-16T04:00:03Z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5B6FD1F749224292B2CCBE3B59086FC7_13</vt:lpwstr>
  </property>
  <property fmtid="{D5CDD505-2E9C-101B-9397-08002B2CF9AE}" pid="3" name="KSOProductBuildVer">
    <vt:lpwstr>2052-11.1.0.12165</vt:lpwstr>
  </property>
</Properties>
</file>