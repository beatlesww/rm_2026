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29"/>
  </p:handoutMasterIdLst>
  <p:sldIdLst>
    <p:sldId id="349" r:id="rId3"/>
    <p:sldId id="257" r:id="rId5"/>
    <p:sldId id="258" r:id="rId6"/>
    <p:sldId id="267" r:id="rId7"/>
    <p:sldId id="437" r:id="rId8"/>
    <p:sldId id="259" r:id="rId9"/>
    <p:sldId id="393" r:id="rId10"/>
    <p:sldId id="446" r:id="rId11"/>
    <p:sldId id="456" r:id="rId12"/>
    <p:sldId id="438" r:id="rId13"/>
    <p:sldId id="439" r:id="rId14"/>
    <p:sldId id="449" r:id="rId15"/>
    <p:sldId id="260" r:id="rId16"/>
    <p:sldId id="457" r:id="rId17"/>
    <p:sldId id="458" r:id="rId18"/>
    <p:sldId id="261" r:id="rId19"/>
    <p:sldId id="459" r:id="rId20"/>
    <p:sldId id="460" r:id="rId21"/>
    <p:sldId id="434" r:id="rId22"/>
    <p:sldId id="394" r:id="rId23"/>
    <p:sldId id="461" r:id="rId24"/>
    <p:sldId id="462" r:id="rId25"/>
    <p:sldId id="464" r:id="rId26"/>
    <p:sldId id="465" r:id="rId27"/>
    <p:sldId id="370" r:id="rId28"/>
  </p:sldIdLst>
  <p:sldSz cx="9144000" cy="6858000" type="screen4x3"/>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3" userDrawn="1">
          <p15:clr>
            <a:srgbClr val="A4A3A4"/>
          </p15:clr>
        </p15:guide>
        <p15:guide id="2" pos="5421" userDrawn="1">
          <p15:clr>
            <a:srgbClr val="A4A3A4"/>
          </p15:clr>
        </p15:guide>
        <p15:guide id="3" pos="385" userDrawn="1">
          <p15:clr>
            <a:srgbClr val="A4A3A4"/>
          </p15:clr>
        </p15:guide>
        <p15:guide id="4" orient="horz" pos="40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070C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3" autoAdjust="0"/>
    <p:restoredTop sz="92697" autoAdjust="0"/>
  </p:normalViewPr>
  <p:slideViewPr>
    <p:cSldViewPr snapToGrid="0" showGuides="1">
      <p:cViewPr varScale="1">
        <p:scale>
          <a:sx n="59" d="100"/>
          <a:sy n="59" d="100"/>
        </p:scale>
        <p:origin x="1674" y="60"/>
      </p:cViewPr>
      <p:guideLst>
        <p:guide orient="horz" pos="373"/>
        <p:guide pos="5421"/>
        <p:guide pos="385"/>
        <p:guide orient="horz" pos="4030"/>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gs" Target="tags/tag21.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CA248-7BE1-4335-B3FB-1E6869F2E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45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电控组</a:t>
            </a:r>
            <a:r>
              <a:rPr lang="en-US" altLang="zh-CN" sz="45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45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培训</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6329861" y="3689185"/>
            <a:ext cx="329350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2025</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5911850" y="5248275"/>
            <a:ext cx="3047365" cy="553085"/>
          </a:xfrm>
          <a:prstGeom prst="rect">
            <a:avLst/>
          </a:prstGeom>
          <a:noFill/>
        </p:spPr>
        <p:txBody>
          <a:bodyPr wrap="square" rtlCol="0">
            <a:spAutoFit/>
          </a:bodyPr>
          <a:lstStyle/>
          <a:p>
            <a:r>
              <a:rPr lang="en-US" altLang="zh-CN" sz="3000" b="1" dirty="0">
                <a:solidFill>
                  <a:schemeClr val="bg1"/>
                </a:solidFill>
              </a:rPr>
              <a:t>2024</a:t>
            </a:r>
            <a:r>
              <a:rPr lang="zh-CN" altLang="en-US" sz="3000" b="1" dirty="0">
                <a:solidFill>
                  <a:schemeClr val="bg1"/>
                </a:solidFill>
              </a:rPr>
              <a:t>年</a:t>
            </a:r>
            <a:r>
              <a:rPr lang="en-US" altLang="zh-CN" sz="3000" b="1" dirty="0">
                <a:solidFill>
                  <a:schemeClr val="bg1"/>
                </a:solidFill>
              </a:rPr>
              <a:t>12 </a:t>
            </a:r>
            <a:r>
              <a:rPr lang="zh-CN" altLang="en-US" sz="3000" b="1" dirty="0">
                <a:solidFill>
                  <a:schemeClr val="bg1"/>
                </a:solidFill>
              </a:rPr>
              <a:t>月</a:t>
            </a:r>
            <a:r>
              <a:rPr lang="en-US" altLang="zh-CN" sz="3000" b="1" dirty="0">
                <a:solidFill>
                  <a:schemeClr val="bg1"/>
                </a:solidFill>
              </a:rPr>
              <a:t> 1</a:t>
            </a:r>
            <a:r>
              <a:rPr lang="zh-CN" altLang="en-US" sz="3000" b="1" dirty="0">
                <a:solidFill>
                  <a:schemeClr val="bg1"/>
                </a:solidFill>
              </a:rPr>
              <a:t>日</a:t>
            </a:r>
            <a:endParaRPr lang="zh-CN" altLang="en-US" sz="3000" b="1" dirty="0">
              <a:solidFill>
                <a:schemeClr val="bg1"/>
              </a:solidFill>
            </a:endParaRPr>
          </a:p>
        </p:txBody>
      </p:sp>
      <p:pic>
        <p:nvPicPr>
          <p:cNvPr id="3" name="图片 2" descr="63f666859cf7453eb2d2e7f4689439ff"/>
          <p:cNvPicPr>
            <a:picLocks noChangeAspect="1"/>
          </p:cNvPicPr>
          <p:nvPr/>
        </p:nvPicPr>
        <p:blipFill>
          <a:blip r:embed="rId2">
            <a:clrChange>
              <a:clrFrom>
                <a:srgbClr val="FEFEFE">
                  <a:alpha val="100000"/>
                </a:srgbClr>
              </a:clrFrom>
              <a:clrTo>
                <a:srgbClr val="FEFEFE">
                  <a:alpha val="100000"/>
                  <a:alpha val="0"/>
                </a:srgbClr>
              </a:clrTo>
            </a:clrChange>
          </a:blip>
          <a:stretch>
            <a:fillRect/>
          </a:stretch>
        </p:blipFill>
        <p:spPr>
          <a:xfrm>
            <a:off x="584200" y="582295"/>
            <a:ext cx="1279525" cy="1355725"/>
          </a:xfrm>
          <a:prstGeom prst="rect">
            <a:avLst/>
          </a:prstGeom>
        </p:spPr>
      </p:pic>
      <p:sp>
        <p:nvSpPr>
          <p:cNvPr id="4" name="文本框 3"/>
          <p:cNvSpPr txBox="1"/>
          <p:nvPr/>
        </p:nvSpPr>
        <p:spPr>
          <a:xfrm>
            <a:off x="7220585" y="3940175"/>
            <a:ext cx="2679065" cy="368300"/>
          </a:xfrm>
          <a:prstGeom prst="rect">
            <a:avLst/>
          </a:prstGeom>
          <a:noFill/>
        </p:spPr>
        <p:txBody>
          <a:bodyPr wrap="square" rtlCol="0">
            <a:spAutoFit/>
          </a:bodyPr>
          <a:p>
            <a:r>
              <a:rPr lang="zh-CN" altLang="en-US" b="1">
                <a:solidFill>
                  <a:schemeClr val="bg1"/>
                </a:solidFill>
                <a:latin typeface="幼圆" panose="02010509060101010101" charset="-122"/>
                <a:ea typeface="幼圆" panose="02010509060101010101" charset="-122"/>
                <a:cs typeface="幼圆" panose="02010509060101010101" charset="-122"/>
              </a:rPr>
              <a:t>平步</a:t>
            </a:r>
            <a:r>
              <a:rPr lang="en-US" altLang="zh-CN" b="1">
                <a:solidFill>
                  <a:schemeClr val="bg1"/>
                </a:solidFill>
                <a:latin typeface="幼圆" panose="02010509060101010101" charset="-122"/>
                <a:ea typeface="幼圆" panose="02010509060101010101" charset="-122"/>
                <a:cs typeface="幼圆" panose="02010509060101010101" charset="-122"/>
              </a:rPr>
              <a:t> </a:t>
            </a:r>
            <a:r>
              <a:rPr lang="zh-CN" altLang="en-US" b="1">
                <a:solidFill>
                  <a:schemeClr val="bg1"/>
                </a:solidFill>
                <a:latin typeface="幼圆" panose="02010509060101010101" charset="-122"/>
                <a:ea typeface="幼圆" panose="02010509060101010101" charset="-122"/>
                <a:cs typeface="幼圆" panose="02010509060101010101" charset="-122"/>
              </a:rPr>
              <a:t>陈振雄</a:t>
            </a:r>
            <a:endParaRPr lang="zh-CN" altLang="en-US" b="1">
              <a:solidFill>
                <a:schemeClr val="bg1"/>
              </a:solidFill>
              <a:latin typeface="幼圆" panose="02010509060101010101" charset="-122"/>
              <a:ea typeface="幼圆" panose="02010509060101010101" charset="-122"/>
              <a:cs typeface="幼圆" panose="020105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p:nvPr/>
        </p:nvSpPr>
        <p:spPr>
          <a:xfrm flipH="1">
            <a:off x="-294" y="99"/>
            <a:ext cx="4635476" cy="6904592"/>
          </a:xfrm>
          <a:custGeom>
            <a:avLst/>
            <a:gdLst>
              <a:gd name="connsiteX0" fmla="*/ 0 w 4608514"/>
              <a:gd name="connsiteY0" fmla="*/ 6043981 h 6043981"/>
              <a:gd name="connsiteX1" fmla="*/ 2819212 w 4608514"/>
              <a:gd name="connsiteY1" fmla="*/ 0 h 6043981"/>
              <a:gd name="connsiteX2" fmla="*/ 4608514 w 4608514"/>
              <a:gd name="connsiteY2" fmla="*/ 0 h 6043981"/>
              <a:gd name="connsiteX3" fmla="*/ 1789302 w 4608514"/>
              <a:gd name="connsiteY3" fmla="*/ 6043981 h 6043981"/>
              <a:gd name="connsiteX4" fmla="*/ 0 w 4608514"/>
              <a:gd name="connsiteY4" fmla="*/ 6043981 h 6043981"/>
              <a:gd name="connsiteX0-1" fmla="*/ 0 w 4613184"/>
              <a:gd name="connsiteY0-2" fmla="*/ 6043981 h 6084322"/>
              <a:gd name="connsiteX1-3" fmla="*/ 2819212 w 4613184"/>
              <a:gd name="connsiteY1-4" fmla="*/ 0 h 6084322"/>
              <a:gd name="connsiteX2-5" fmla="*/ 4608514 w 4613184"/>
              <a:gd name="connsiteY2-6" fmla="*/ 0 h 6084322"/>
              <a:gd name="connsiteX3-7" fmla="*/ 4613184 w 4613184"/>
              <a:gd name="connsiteY3-8" fmla="*/ 6084322 h 6084322"/>
              <a:gd name="connsiteX4-9" fmla="*/ 0 w 4613184"/>
              <a:gd name="connsiteY4-10" fmla="*/ 6043981 h 6084322"/>
              <a:gd name="connsiteX0-11" fmla="*/ 0 w 4613184"/>
              <a:gd name="connsiteY0-12" fmla="*/ 6864251 h 6904592"/>
              <a:gd name="connsiteX1-13" fmla="*/ 3209177 w 4613184"/>
              <a:gd name="connsiteY1-14" fmla="*/ 0 h 6904592"/>
              <a:gd name="connsiteX2-15" fmla="*/ 4608514 w 4613184"/>
              <a:gd name="connsiteY2-16" fmla="*/ 820270 h 6904592"/>
              <a:gd name="connsiteX3-17" fmla="*/ 4613184 w 4613184"/>
              <a:gd name="connsiteY3-18" fmla="*/ 6904592 h 6904592"/>
              <a:gd name="connsiteX4-19" fmla="*/ 0 w 4613184"/>
              <a:gd name="connsiteY4-20" fmla="*/ 6864251 h 6904592"/>
              <a:gd name="connsiteX0-21" fmla="*/ 0 w 4635476"/>
              <a:gd name="connsiteY0-22" fmla="*/ 6864251 h 6904592"/>
              <a:gd name="connsiteX1-23" fmla="*/ 3209177 w 4635476"/>
              <a:gd name="connsiteY1-24" fmla="*/ 0 h 6904592"/>
              <a:gd name="connsiteX2-25" fmla="*/ 4635408 w 4635476"/>
              <a:gd name="connsiteY2-26" fmla="*/ 0 h 6904592"/>
              <a:gd name="connsiteX3-27" fmla="*/ 4613184 w 4635476"/>
              <a:gd name="connsiteY3-28" fmla="*/ 6904592 h 6904592"/>
              <a:gd name="connsiteX4-29" fmla="*/ 0 w 4635476"/>
              <a:gd name="connsiteY4-30" fmla="*/ 6864251 h 69045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635476" h="6904592">
                <a:moveTo>
                  <a:pt x="0" y="6864251"/>
                </a:moveTo>
                <a:lnTo>
                  <a:pt x="3209177" y="0"/>
                </a:lnTo>
                <a:lnTo>
                  <a:pt x="4635408" y="0"/>
                </a:lnTo>
                <a:cubicBezTo>
                  <a:pt x="4636965" y="2028107"/>
                  <a:pt x="4611627" y="4876485"/>
                  <a:pt x="4613184" y="6904592"/>
                </a:cubicBezTo>
                <a:lnTo>
                  <a:pt x="0" y="686425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custDataLst>
              <p:tags r:id="rId1"/>
            </p:custDataLst>
          </p:nvPr>
        </p:nvGrpSpPr>
        <p:grpSpPr>
          <a:xfrm>
            <a:off x="1625854" y="1099539"/>
            <a:ext cx="828000" cy="828000"/>
            <a:chOff x="1827149" y="1625954"/>
            <a:chExt cx="828000" cy="828000"/>
          </a:xfrm>
        </p:grpSpPr>
        <p:sp>
          <p:nvSpPr>
            <p:cNvPr id="9" name="椭圆 8"/>
            <p:cNvSpPr>
              <a:spLocks noChangeAspect="1"/>
            </p:cNvSpPr>
            <p:nvPr>
              <p:custDataLst>
                <p:tags r:id="rId2"/>
              </p:custDataLst>
            </p:nvPr>
          </p:nvSpPr>
          <p:spPr>
            <a:xfrm>
              <a:off x="1827149" y="1625954"/>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3"/>
              </p:custDataLst>
            </p:nvPr>
          </p:nvSpPr>
          <p:spPr>
            <a:xfrm>
              <a:off x="1904142" y="1782985"/>
              <a:ext cx="674014" cy="52197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01</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4" name="组合 3"/>
          <p:cNvGrpSpPr/>
          <p:nvPr>
            <p:custDataLst>
              <p:tags r:id="rId4"/>
            </p:custDataLst>
          </p:nvPr>
        </p:nvGrpSpPr>
        <p:grpSpPr>
          <a:xfrm>
            <a:off x="2065611" y="2132507"/>
            <a:ext cx="828000" cy="828000"/>
            <a:chOff x="2405971" y="2838627"/>
            <a:chExt cx="828000" cy="828000"/>
          </a:xfrm>
        </p:grpSpPr>
        <p:sp>
          <p:nvSpPr>
            <p:cNvPr id="10" name="椭圆 9"/>
            <p:cNvSpPr>
              <a:spLocks noChangeAspect="1"/>
            </p:cNvSpPr>
            <p:nvPr>
              <p:custDataLst>
                <p:tags r:id="rId5"/>
              </p:custDataLst>
            </p:nvPr>
          </p:nvSpPr>
          <p:spPr>
            <a:xfrm>
              <a:off x="2405971" y="2838627"/>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custDataLst>
                <p:tags r:id="rId6"/>
              </p:custDataLst>
            </p:nvPr>
          </p:nvSpPr>
          <p:spPr>
            <a:xfrm>
              <a:off x="2482964" y="2991017"/>
              <a:ext cx="674014" cy="52197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02</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7" name="组合 6"/>
          <p:cNvGrpSpPr/>
          <p:nvPr>
            <p:custDataLst>
              <p:tags r:id="rId7"/>
            </p:custDataLst>
          </p:nvPr>
        </p:nvGrpSpPr>
        <p:grpSpPr>
          <a:xfrm>
            <a:off x="2551088" y="3124639"/>
            <a:ext cx="828000" cy="828000"/>
            <a:chOff x="2915578" y="3953314"/>
            <a:chExt cx="828000" cy="828000"/>
          </a:xfrm>
        </p:grpSpPr>
        <p:sp>
          <p:nvSpPr>
            <p:cNvPr id="11" name="椭圆 10"/>
            <p:cNvSpPr>
              <a:spLocks noChangeAspect="1"/>
            </p:cNvSpPr>
            <p:nvPr>
              <p:custDataLst>
                <p:tags r:id="rId8"/>
              </p:custDataLst>
            </p:nvPr>
          </p:nvSpPr>
          <p:spPr>
            <a:xfrm>
              <a:off x="2915578" y="3953314"/>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9"/>
              </p:custDataLst>
            </p:nvPr>
          </p:nvSpPr>
          <p:spPr>
            <a:xfrm>
              <a:off x="2977966" y="4106339"/>
              <a:ext cx="674014" cy="521970"/>
            </a:xfrm>
            <a:prstGeom prst="rect">
              <a:avLst/>
            </a:prstGeom>
            <a:noFill/>
          </p:spPr>
          <p:txBody>
            <a:bodyPr wrap="square" rtlCol="0">
              <a:spAutoFit/>
            </a:bodyPr>
            <a:lstStyle/>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03</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17" name="文本框 16"/>
          <p:cNvSpPr txBox="1"/>
          <p:nvPr>
            <p:custDataLst>
              <p:tags r:id="rId10"/>
            </p:custDataLst>
          </p:nvPr>
        </p:nvSpPr>
        <p:spPr>
          <a:xfrm>
            <a:off x="2673350" y="1195705"/>
            <a:ext cx="5691505" cy="645160"/>
          </a:xfrm>
          <a:prstGeom prst="rect">
            <a:avLst/>
          </a:prstGeom>
          <a:noFill/>
        </p:spPr>
        <p:txBody>
          <a:bodyPr wrap="square" rtlCol="0">
            <a:spAutoFit/>
          </a:bodyPr>
          <a:lstStyle/>
          <a:p>
            <a:r>
              <a:rPr lang="en-US" altLang="zh-CN" sz="3600" b="1" dirty="0">
                <a:latin typeface="微软雅黑" panose="020B0503020204020204" pitchFamily="34" charset="-122"/>
                <a:ea typeface="微软雅黑" panose="020B0503020204020204" pitchFamily="34" charset="-122"/>
                <a:cs typeface="Times New Roman" panose="02020603050405020304" pitchFamily="18" charset="0"/>
              </a:rPr>
              <a:t>OLED</a:t>
            </a:r>
            <a:r>
              <a:rPr lang="zh-CN" altLang="en-US" sz="3600" b="1" dirty="0">
                <a:latin typeface="微软雅黑" panose="020B0503020204020204" pitchFamily="34" charset="-122"/>
                <a:ea typeface="微软雅黑" panose="020B0503020204020204" pitchFamily="34" charset="-122"/>
                <a:cs typeface="Times New Roman" panose="02020603050405020304" pitchFamily="18" charset="0"/>
              </a:rPr>
              <a:t>屏幕</a:t>
            </a:r>
            <a:r>
              <a:rPr lang="zh-CN" altLang="en-US" sz="3600" b="1" dirty="0">
                <a:latin typeface="微软雅黑" panose="020B0503020204020204" pitchFamily="34" charset="-122"/>
                <a:ea typeface="微软雅黑" panose="020B0503020204020204" pitchFamily="34" charset="-122"/>
                <a:cs typeface="Times New Roman" panose="02020603050405020304" pitchFamily="18" charset="0"/>
              </a:rPr>
              <a:t>简介</a:t>
            </a:r>
            <a:endParaRPr lang="zh-CN" altLang="en-US" sz="3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p:cNvSpPr txBox="1"/>
          <p:nvPr>
            <p:custDataLst>
              <p:tags r:id="rId11"/>
            </p:custDataLst>
          </p:nvPr>
        </p:nvSpPr>
        <p:spPr>
          <a:xfrm>
            <a:off x="3185308" y="2257683"/>
            <a:ext cx="5001431" cy="645160"/>
          </a:xfrm>
          <a:prstGeom prst="rect">
            <a:avLst/>
          </a:prstGeom>
          <a:noFill/>
        </p:spPr>
        <p:txBody>
          <a:bodyPr wrap="square" rtlCol="0">
            <a:spAutoFit/>
          </a:bodyPr>
          <a:lstStyle/>
          <a:p>
            <a:r>
              <a:rPr lang="en-US" altLang="zh-CN" sz="3600" b="1" dirty="0">
                <a:latin typeface="微软雅黑" panose="020B0503020204020204" pitchFamily="34" charset="-122"/>
                <a:ea typeface="微软雅黑" panose="020B0503020204020204" pitchFamily="34" charset="-122"/>
                <a:cs typeface="Times New Roman" panose="02020603050405020304" pitchFamily="18" charset="0"/>
                <a:sym typeface="+mn-ea"/>
              </a:rPr>
              <a:t>IIC</a:t>
            </a:r>
            <a:r>
              <a:rPr lang="zh-CN" altLang="en-US" sz="3600" b="1" dirty="0">
                <a:latin typeface="微软雅黑" panose="020B0503020204020204" pitchFamily="34" charset="-122"/>
                <a:ea typeface="微软雅黑" panose="020B0503020204020204" pitchFamily="34" charset="-122"/>
                <a:cs typeface="Times New Roman" panose="02020603050405020304" pitchFamily="18" charset="0"/>
                <a:sym typeface="+mn-ea"/>
              </a:rPr>
              <a:t>通信原理</a:t>
            </a:r>
            <a:endPar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文本框 21"/>
          <p:cNvSpPr txBox="1"/>
          <p:nvPr>
            <p:custDataLst>
              <p:tags r:id="rId12"/>
            </p:custDataLst>
          </p:nvPr>
        </p:nvSpPr>
        <p:spPr>
          <a:xfrm>
            <a:off x="3571877" y="3217072"/>
            <a:ext cx="4996177" cy="645160"/>
          </a:xfrm>
          <a:prstGeom prst="rect">
            <a:avLst/>
          </a:prstGeom>
          <a:noFill/>
        </p:spPr>
        <p:txBody>
          <a:bodyPr wrap="square" rtlCol="0">
            <a:spAutoFit/>
          </a:bodyPr>
          <a:lstStyle/>
          <a:p>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四角屏幕点亮实操</a:t>
            </a:r>
            <a:r>
              <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IIC </a:t>
            </a:r>
            <a:endPar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5" name="文本框 24"/>
          <p:cNvSpPr txBox="1"/>
          <p:nvPr/>
        </p:nvSpPr>
        <p:spPr>
          <a:xfrm>
            <a:off x="4362218" y="259392"/>
            <a:ext cx="4205521" cy="923330"/>
          </a:xfrm>
          <a:prstGeom prst="rect">
            <a:avLst/>
          </a:prstGeom>
          <a:noFill/>
        </p:spPr>
        <p:txBody>
          <a:bodyPr wrap="square" rtlCol="0">
            <a:spAutoFit/>
          </a:bodyPr>
          <a:lstStyle/>
          <a:p>
            <a:pPr algn="ctr"/>
            <a:r>
              <a:rPr lang="en-US" altLang="zh-CN" sz="5400" b="1" dirty="0">
                <a:latin typeface="Times New Roman" panose="02020603050405020304" pitchFamily="18" charset="0"/>
                <a:cs typeface="Times New Roman" panose="02020603050405020304" pitchFamily="18" charset="0"/>
              </a:rPr>
              <a:t>CONTENT</a:t>
            </a:r>
            <a:endParaRPr lang="zh-CN" altLang="en-US" sz="5400" b="1" dirty="0">
              <a:latin typeface="Times New Roman" panose="02020603050405020304" pitchFamily="18" charset="0"/>
              <a:cs typeface="Times New Roman" panose="02020603050405020304" pitchFamily="18" charset="0"/>
            </a:endParaRPr>
          </a:p>
        </p:txBody>
      </p:sp>
      <p:grpSp>
        <p:nvGrpSpPr>
          <p:cNvPr id="24" name="组合 23"/>
          <p:cNvGrpSpPr/>
          <p:nvPr/>
        </p:nvGrpSpPr>
        <p:grpSpPr>
          <a:xfrm>
            <a:off x="8606970" y="6519446"/>
            <a:ext cx="638628" cy="338554"/>
            <a:chOff x="8663567" y="6519446"/>
            <a:chExt cx="638628" cy="338554"/>
          </a:xfrm>
        </p:grpSpPr>
        <p:sp>
          <p:nvSpPr>
            <p:cNvPr id="26" name="矩形 25"/>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8663567" y="6519446"/>
              <a:ext cx="638628" cy="338554"/>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02</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grpSp>
        <p:nvGrpSpPr>
          <p:cNvPr id="2" name="组合 1"/>
          <p:cNvGrpSpPr/>
          <p:nvPr>
            <p:custDataLst>
              <p:tags r:id="rId13"/>
            </p:custDataLst>
          </p:nvPr>
        </p:nvGrpSpPr>
        <p:grpSpPr>
          <a:xfrm>
            <a:off x="3184818" y="4296849"/>
            <a:ext cx="828000" cy="828000"/>
            <a:chOff x="2984793" y="4046659"/>
            <a:chExt cx="828000" cy="828000"/>
          </a:xfrm>
        </p:grpSpPr>
        <p:sp>
          <p:nvSpPr>
            <p:cNvPr id="6" name="椭圆 5"/>
            <p:cNvSpPr>
              <a:spLocks noChangeAspect="1"/>
            </p:cNvSpPr>
            <p:nvPr>
              <p:custDataLst>
                <p:tags r:id="rId14"/>
              </p:custDataLst>
            </p:nvPr>
          </p:nvSpPr>
          <p:spPr>
            <a:xfrm>
              <a:off x="2984793" y="4046659"/>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custDataLst>
                <p:tags r:id="rId15"/>
              </p:custDataLst>
            </p:nvPr>
          </p:nvSpPr>
          <p:spPr>
            <a:xfrm>
              <a:off x="3061786" y="4199049"/>
              <a:ext cx="674014" cy="521970"/>
            </a:xfrm>
            <a:prstGeom prst="rect">
              <a:avLst/>
            </a:prstGeom>
            <a:noFill/>
          </p:spPr>
          <p:txBody>
            <a:bodyPr wrap="square" rtlCol="0">
              <a:spAutoFit/>
            </a:bodyPr>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04</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3" name="文本框 22"/>
          <p:cNvSpPr txBox="1"/>
          <p:nvPr>
            <p:custDataLst>
              <p:tags r:id="rId16"/>
            </p:custDataLst>
          </p:nvPr>
        </p:nvSpPr>
        <p:spPr>
          <a:xfrm>
            <a:off x="4165600" y="4388485"/>
            <a:ext cx="4813935" cy="645160"/>
          </a:xfrm>
          <a:prstGeom prst="rect">
            <a:avLst/>
          </a:prstGeom>
          <a:noFill/>
        </p:spPr>
        <p:txBody>
          <a:bodyPr wrap="square" rtlCol="0" anchor="t">
            <a:spAutoFit/>
          </a:bodyPr>
          <a:p>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七角屏幕点亮实操</a:t>
            </a:r>
            <a:r>
              <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SPI</a:t>
            </a:r>
            <a:endParaRPr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12" name="组合 11"/>
          <p:cNvGrpSpPr/>
          <p:nvPr>
            <p:custDataLst>
              <p:tags r:id="rId17"/>
            </p:custDataLst>
          </p:nvPr>
        </p:nvGrpSpPr>
        <p:grpSpPr>
          <a:xfrm>
            <a:off x="3730283" y="5469059"/>
            <a:ext cx="828000" cy="828000"/>
            <a:chOff x="2984793" y="4046659"/>
            <a:chExt cx="828000" cy="828000"/>
          </a:xfrm>
        </p:grpSpPr>
        <p:sp>
          <p:nvSpPr>
            <p:cNvPr id="16" name="椭圆 15"/>
            <p:cNvSpPr>
              <a:spLocks noChangeAspect="1"/>
            </p:cNvSpPr>
            <p:nvPr>
              <p:custDataLst>
                <p:tags r:id="rId18"/>
              </p:custDataLst>
            </p:nvPr>
          </p:nvSpPr>
          <p:spPr>
            <a:xfrm>
              <a:off x="2984793" y="4046659"/>
              <a:ext cx="828000" cy="82800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custDataLst>
                <p:tags r:id="rId19"/>
              </p:custDataLst>
            </p:nvPr>
          </p:nvSpPr>
          <p:spPr>
            <a:xfrm>
              <a:off x="3061786" y="4199049"/>
              <a:ext cx="674014" cy="521970"/>
            </a:xfrm>
            <a:prstGeom prst="rect">
              <a:avLst/>
            </a:prstGeom>
            <a:noFill/>
          </p:spPr>
          <p:txBody>
            <a:bodyPr wrap="square" rtlCol="0">
              <a:spAutoFit/>
            </a:bodyPr>
            <a:p>
              <a:pPr algn="ct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rPr>
                <a:t>05</a:t>
              </a:r>
              <a:endPar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19" name="文本框 18"/>
          <p:cNvSpPr txBox="1"/>
          <p:nvPr>
            <p:custDataLst>
              <p:tags r:id="rId20"/>
            </p:custDataLst>
          </p:nvPr>
        </p:nvSpPr>
        <p:spPr>
          <a:xfrm>
            <a:off x="4727575" y="5560060"/>
            <a:ext cx="4572000" cy="645160"/>
          </a:xfrm>
          <a:prstGeom prst="rect">
            <a:avLst/>
          </a:prstGeom>
          <a:noFill/>
        </p:spPr>
        <p:txBody>
          <a:bodyPr wrap="square" rtlCol="0" anchor="t">
            <a:spAutoFit/>
          </a:bodyPr>
          <a:p>
            <a:r>
              <a:rPr 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PWM</a:t>
            </a:r>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呼吸</a:t>
            </a:r>
            <a:r>
              <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灯</a:t>
            </a:r>
            <a:endParaRPr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bldLvl="0" animBg="1"/>
      <p:bldP spid="17" grpId="0"/>
      <p:bldP spid="21" grpId="0"/>
      <p:bldP spid="22"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01</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887470" y="2844800"/>
            <a:ext cx="4663440" cy="756285"/>
          </a:xfrm>
          <a:prstGeom prst="rect">
            <a:avLst/>
          </a:prstGeom>
          <a:noFill/>
        </p:spPr>
        <p:txBody>
          <a:bodyPr wrap="square" rtlCol="0">
            <a:noAutofit/>
          </a:bodyPr>
          <a:lstStyle/>
          <a:p>
            <a:r>
              <a:rPr lang="en-US" altLang="zh-CN" sz="4800" b="1" dirty="0">
                <a:latin typeface="微软雅黑" panose="020B0503020204020204" pitchFamily="34" charset="-122"/>
                <a:ea typeface="微软雅黑" panose="020B0503020204020204" pitchFamily="34" charset="-122"/>
                <a:cs typeface="Times New Roman" panose="02020603050405020304" pitchFamily="18" charset="0"/>
                <a:sym typeface="+mn-ea"/>
              </a:rPr>
              <a:t>OLED</a:t>
            </a:r>
            <a:r>
              <a:rPr lang="zh-CN" altLang="en-US" sz="4800" b="1" dirty="0">
                <a:latin typeface="微软雅黑" panose="020B0503020204020204" pitchFamily="34" charset="-122"/>
                <a:ea typeface="微软雅黑" panose="020B0503020204020204" pitchFamily="34" charset="-122"/>
                <a:cs typeface="Times New Roman" panose="02020603050405020304" pitchFamily="18" charset="0"/>
                <a:sym typeface="+mn-ea"/>
              </a:rPr>
              <a:t>屏幕简介</a:t>
            </a:r>
            <a:endParaRPr lang="zh-CN" altLang="da-DK" sz="4800" b="1"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15" name="组合 14"/>
          <p:cNvGrpSpPr/>
          <p:nvPr/>
        </p:nvGrpSpPr>
        <p:grpSpPr>
          <a:xfrm>
            <a:off x="3887162" y="369821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ONE</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p:bldP spid="7"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8940"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OLED</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屏幕简介</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880745" y="1445895"/>
            <a:ext cx="7781925" cy="3976370"/>
          </a:xfrm>
          <a:prstGeom prst="rect">
            <a:avLst/>
          </a:prstGeom>
          <a:noFill/>
        </p:spPr>
        <p:txBody>
          <a:bodyPr wrap="square" rtlCol="0">
            <a:noAutofit/>
          </a:bodyPr>
          <a:p>
            <a:r>
              <a:rPr lang="en-US" altLang="zh-CN"/>
              <a:t>   </a:t>
            </a:r>
            <a:r>
              <a:rPr lang="en-US" altLang="zh-CN" sz="2000"/>
              <a:t>     </a:t>
            </a:r>
            <a:r>
              <a:rPr sz="2000"/>
              <a:t>OLED（Organic Light Emitting Diode）</a:t>
            </a:r>
            <a:endParaRPr sz="2000"/>
          </a:p>
          <a:p>
            <a:r>
              <a:rPr lang="en-US" sz="2000"/>
              <a:t>       </a:t>
            </a:r>
            <a:r>
              <a:rPr sz="2000"/>
              <a:t>OLED显示屏：性能优异的新型显示屏，具有功耗低、相应速度快、宽视角、轻薄柔韧等特点</a:t>
            </a:r>
            <a:endParaRPr sz="2000"/>
          </a:p>
          <a:p>
            <a:r>
              <a:rPr lang="en-US" sz="2000"/>
              <a:t>       </a:t>
            </a:r>
            <a:r>
              <a:rPr sz="2000"/>
              <a:t>0.96寸OLED模块：小巧玲珑、占用接口少、简单易用，是电子设计中非常常见的显示屏模块</a:t>
            </a:r>
            <a:endParaRPr sz="2000"/>
          </a:p>
          <a:p>
            <a:r>
              <a:rPr lang="en-US" sz="2000"/>
              <a:t>    </a:t>
            </a:r>
            <a:endParaRPr sz="2000"/>
          </a:p>
        </p:txBody>
      </p:sp>
      <p:pic>
        <p:nvPicPr>
          <p:cNvPr id="4" name="图片 3" descr="ae951610f748e08cc0d230c8da8cb9f4"/>
          <p:cNvPicPr>
            <a:picLocks noChangeAspect="1"/>
          </p:cNvPicPr>
          <p:nvPr/>
        </p:nvPicPr>
        <p:blipFill>
          <a:blip r:embed="rId1"/>
          <a:srcRect r="49292"/>
          <a:stretch>
            <a:fillRect/>
          </a:stretch>
        </p:blipFill>
        <p:spPr>
          <a:xfrm>
            <a:off x="2070100" y="3139440"/>
            <a:ext cx="4636770" cy="2134870"/>
          </a:xfrm>
          <a:prstGeom prst="rect">
            <a:avLst/>
          </a:prstGeom>
        </p:spPr>
      </p:pic>
      <p:sp>
        <p:nvSpPr>
          <p:cNvPr id="6" name="文本框 5"/>
          <p:cNvSpPr txBox="1"/>
          <p:nvPr/>
        </p:nvSpPr>
        <p:spPr>
          <a:xfrm>
            <a:off x="1899285" y="5422265"/>
            <a:ext cx="4807585" cy="398780"/>
          </a:xfrm>
          <a:prstGeom prst="rect">
            <a:avLst/>
          </a:prstGeom>
          <a:noFill/>
        </p:spPr>
        <p:txBody>
          <a:bodyPr wrap="square" rtlCol="0" anchor="t">
            <a:spAutoFit/>
          </a:bodyPr>
          <a:p>
            <a:r>
              <a:rPr lang="en-US" sz="2000">
                <a:sym typeface="+mn-ea"/>
              </a:rPr>
              <a:t>                                   </a:t>
            </a:r>
            <a:endParaRPr lang="en-US" sz="200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8940"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OLED</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屏幕简介</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880745" y="1322705"/>
            <a:ext cx="7541260" cy="3700780"/>
          </a:xfrm>
          <a:prstGeom prst="rect">
            <a:avLst/>
          </a:prstGeom>
          <a:noFill/>
        </p:spPr>
        <p:txBody>
          <a:bodyPr wrap="square" rtlCol="0">
            <a:noAutofit/>
          </a:bodyPr>
          <a:p>
            <a:r>
              <a:rPr lang="en-US" altLang="zh-CN"/>
              <a:t>   </a:t>
            </a:r>
            <a:r>
              <a:rPr lang="en-US" altLang="zh-CN" sz="2000"/>
              <a:t>       </a:t>
            </a:r>
            <a:r>
              <a:rPr sz="2000"/>
              <a:t>OLED（Organic Light Emitting Diode）：有机发光二极管</a:t>
            </a:r>
            <a:r>
              <a:rPr lang="zh-CN" sz="2000"/>
              <a:t>（</a:t>
            </a:r>
            <a:r>
              <a:rPr lang="zh-CN" altLang="en-US" sz="2000">
                <a:sym typeface="+mn-ea"/>
              </a:rPr>
              <a:t>每一个像素都是一个单独的发光二极管，每一个像素都可以自发光</a:t>
            </a:r>
            <a:r>
              <a:rPr lang="en-US" altLang="zh-CN" sz="2000">
                <a:sym typeface="+mn-ea"/>
              </a:rPr>
              <a:t> </a:t>
            </a:r>
            <a:r>
              <a:rPr lang="zh-CN" sz="2000"/>
              <a:t>）</a:t>
            </a:r>
            <a:endParaRPr sz="2000"/>
          </a:p>
          <a:p>
            <a:r>
              <a:rPr sz="2000"/>
              <a:t>分辨率：128*64</a:t>
            </a:r>
            <a:r>
              <a:rPr lang="zh-CN" sz="2000"/>
              <a:t>。</a:t>
            </a:r>
            <a:endParaRPr lang="zh-CN" altLang="en-US" sz="2000"/>
          </a:p>
        </p:txBody>
      </p:sp>
      <p:pic>
        <p:nvPicPr>
          <p:cNvPr id="3" name="图片 2" descr="0dbb8f4b575c4a4ab7c14e466971701b"/>
          <p:cNvPicPr>
            <a:picLocks noChangeAspect="1"/>
          </p:cNvPicPr>
          <p:nvPr/>
        </p:nvPicPr>
        <p:blipFill>
          <a:blip r:embed="rId1"/>
          <a:stretch>
            <a:fillRect/>
          </a:stretch>
        </p:blipFill>
        <p:spPr>
          <a:xfrm>
            <a:off x="880745" y="2564765"/>
            <a:ext cx="7400290" cy="24244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0592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02</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862396" y="3026053"/>
            <a:ext cx="4645651" cy="1322070"/>
          </a:xfrm>
          <a:prstGeom prst="rect">
            <a:avLst/>
          </a:prstGeom>
          <a:noFill/>
        </p:spPr>
        <p:txBody>
          <a:bodyPr wrap="square" rtlCol="0">
            <a:spAutoFit/>
          </a:bodyPr>
          <a:lstStyle/>
          <a:p>
            <a:r>
              <a:rPr lang="en-US" altLang="zh-CN" sz="4000" b="1" dirty="0">
                <a:latin typeface="微软雅黑" panose="020B0503020204020204" pitchFamily="34" charset="-122"/>
                <a:ea typeface="微软雅黑" panose="020B0503020204020204" pitchFamily="34" charset="-122"/>
                <a:cs typeface="Times New Roman" panose="02020603050405020304" pitchFamily="18" charset="0"/>
                <a:sym typeface="+mn-ea"/>
              </a:rPr>
              <a:t>   IIC</a:t>
            </a:r>
            <a:r>
              <a:rPr lang="zh-CN" altLang="en-US" sz="4000" b="1" dirty="0">
                <a:latin typeface="微软雅黑" panose="020B0503020204020204" pitchFamily="34" charset="-122"/>
                <a:ea typeface="微软雅黑" panose="020B0503020204020204" pitchFamily="34" charset="-122"/>
                <a:cs typeface="Times New Roman" panose="02020603050405020304" pitchFamily="18" charset="0"/>
                <a:sym typeface="+mn-ea"/>
              </a:rPr>
              <a:t>通信原理</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862397" y="379600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TWO</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p:bldP spid="7"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IIC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的物理层</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60655" y="1045210"/>
            <a:ext cx="8857615" cy="3700780"/>
          </a:xfrm>
          <a:prstGeom prst="rect">
            <a:avLst/>
          </a:prstGeom>
          <a:noFill/>
        </p:spPr>
        <p:txBody>
          <a:bodyPr wrap="square" rtlCol="0">
            <a:noAutofit/>
          </a:bodyPr>
          <a:p>
            <a:r>
              <a:rPr lang="en-US" altLang="zh-CN"/>
              <a:t>   </a:t>
            </a:r>
            <a:r>
              <a:rPr lang="en-US" altLang="zh-CN" sz="2000"/>
              <a:t>     </a:t>
            </a:r>
            <a:r>
              <a:rPr lang="zh-CN" altLang="en-US" sz="2000"/>
              <a:t>IIC一共有只有两个总线： 一条是双向的串行数据线ＳＤＡ，一条是串行时钟线ＳＣＬ</a:t>
            </a:r>
            <a:endParaRPr lang="zh-CN" altLang="en-US" sz="2000"/>
          </a:p>
          <a:p>
            <a:r>
              <a:rPr lang="en-US" altLang="zh-CN" sz="2000"/>
              <a:t>       </a:t>
            </a:r>
            <a:r>
              <a:rPr lang="zh-CN" altLang="en-US" sz="2000"/>
              <a:t>SDA(Serial data)是数据线，D代表Data也就是数据，Send Data 也就是用来传输数据的</a:t>
            </a:r>
            <a:endParaRPr lang="zh-CN" altLang="en-US" sz="2000"/>
          </a:p>
          <a:p>
            <a:r>
              <a:rPr lang="en-US" altLang="zh-CN" sz="2000"/>
              <a:t>      </a:t>
            </a:r>
            <a:r>
              <a:rPr lang="zh-CN" altLang="en-US" sz="2000"/>
              <a:t>SCL(Serial clock line)是时钟线，C代表Clock 也就是时钟 也就是控制数据发送的时序的</a:t>
            </a:r>
            <a:endParaRPr lang="zh-CN" altLang="en-US" sz="2000"/>
          </a:p>
          <a:p>
            <a:r>
              <a:rPr lang="en-US" altLang="zh-CN" sz="2000"/>
              <a:t>      所有接到I2C总线设备上的串行数据SDA都接到总线的SDA上，各设备的时钟线SCL接到总线的SCL上。I2C总线上的每个设备都自己一个唯一的地址，来确保不同设备之间访问的准确性。</a:t>
            </a:r>
            <a:endParaRPr lang="en-US" altLang="zh-CN" sz="2000"/>
          </a:p>
        </p:txBody>
      </p:sp>
      <p:pic>
        <p:nvPicPr>
          <p:cNvPr id="3" name="图片 2" descr="fe191640f3d748f982888852d6cdd49f"/>
          <p:cNvPicPr>
            <a:picLocks noChangeAspect="1"/>
          </p:cNvPicPr>
          <p:nvPr/>
        </p:nvPicPr>
        <p:blipFill>
          <a:blip r:embed="rId1"/>
          <a:srcRect b="4648"/>
          <a:stretch>
            <a:fillRect/>
          </a:stretch>
        </p:blipFill>
        <p:spPr>
          <a:xfrm>
            <a:off x="1057910" y="3903345"/>
            <a:ext cx="6623050" cy="24098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IIC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的物理层</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60655" y="1045210"/>
            <a:ext cx="8857615" cy="3700780"/>
          </a:xfrm>
          <a:prstGeom prst="rect">
            <a:avLst/>
          </a:prstGeom>
          <a:noFill/>
        </p:spPr>
        <p:txBody>
          <a:bodyPr wrap="square" rtlCol="0">
            <a:noAutofit/>
          </a:bodyPr>
          <a:p>
            <a:r>
              <a:rPr lang="en-US" altLang="zh-CN"/>
              <a:t>   </a:t>
            </a:r>
            <a:r>
              <a:rPr lang="en-US" altLang="zh-CN" sz="2000"/>
              <a:t>    </a:t>
            </a:r>
            <a:endParaRPr lang="en-US" altLang="zh-CN" sz="2000"/>
          </a:p>
        </p:txBody>
      </p:sp>
      <p:pic>
        <p:nvPicPr>
          <p:cNvPr id="4" name="图片 3" descr="738faf1ffb11ce75d914a3320a50620c"/>
          <p:cNvPicPr>
            <a:picLocks noChangeAspect="1"/>
          </p:cNvPicPr>
          <p:nvPr/>
        </p:nvPicPr>
        <p:blipFill>
          <a:blip r:embed="rId1"/>
          <a:stretch>
            <a:fillRect/>
          </a:stretch>
        </p:blipFill>
        <p:spPr>
          <a:xfrm>
            <a:off x="610870" y="1413510"/>
            <a:ext cx="7627620" cy="38296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47800" y="362585"/>
            <a:ext cx="7085330"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IIC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主要特点：</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60655" y="925830"/>
            <a:ext cx="8857615" cy="3700780"/>
          </a:xfrm>
          <a:prstGeom prst="rect">
            <a:avLst/>
          </a:prstGeom>
          <a:noFill/>
        </p:spPr>
        <p:txBody>
          <a:bodyPr wrap="square" rtlCol="0">
            <a:noAutofit/>
          </a:bodyPr>
          <a:p>
            <a:r>
              <a:rPr lang="en-US" altLang="zh-CN"/>
              <a:t>   </a:t>
            </a:r>
            <a:r>
              <a:rPr lang="en-US" altLang="zh-CN" sz="2000"/>
              <a:t>     </a:t>
            </a:r>
            <a:r>
              <a:rPr lang="zh-CN" altLang="en-US" sz="2000"/>
              <a:t>通常我们为了方便把</a:t>
            </a:r>
            <a:r>
              <a:rPr lang="en-US" altLang="zh-CN" sz="2000"/>
              <a:t>IIC</a:t>
            </a:r>
            <a:r>
              <a:rPr lang="zh-CN" altLang="en-US" sz="2000"/>
              <a:t>设备分为主设备和从设备，基本上谁控制时钟线（即控制</a:t>
            </a:r>
            <a:r>
              <a:rPr lang="en-US" altLang="zh-CN" sz="2000"/>
              <a:t>SCL</a:t>
            </a:r>
            <a:r>
              <a:rPr lang="zh-CN" altLang="en-US" sz="2000"/>
              <a:t>的电平高低变换）谁就是主设备。</a:t>
            </a:r>
            <a:endParaRPr lang="en-US" altLang="zh-CN" sz="2000"/>
          </a:p>
          <a:p>
            <a:r>
              <a:rPr lang="en-US" altLang="zh-CN" sz="2000"/>
              <a:t>IIC</a:t>
            </a:r>
            <a:r>
              <a:rPr lang="zh-CN" altLang="en-US" sz="2000"/>
              <a:t>主设备功能：主要产生时钟，产生起始信号和停止信号</a:t>
            </a:r>
            <a:endParaRPr lang="en-US" altLang="zh-CN" sz="2000"/>
          </a:p>
          <a:p>
            <a:r>
              <a:rPr lang="en-US" altLang="zh-CN" sz="2000"/>
              <a:t>IIC</a:t>
            </a:r>
            <a:r>
              <a:rPr lang="zh-CN" altLang="en-US" sz="2000"/>
              <a:t>从设备功能：可编程的</a:t>
            </a:r>
            <a:r>
              <a:rPr lang="en-US" altLang="zh-CN" sz="2000"/>
              <a:t>IIC</a:t>
            </a:r>
            <a:r>
              <a:rPr lang="zh-CN" altLang="en-US" sz="2000"/>
              <a:t>地址检测，停止位检测</a:t>
            </a:r>
            <a:endParaRPr lang="zh-CN" altLang="en-US" sz="2000"/>
          </a:p>
          <a:p>
            <a:r>
              <a:rPr lang="en-US" altLang="zh-CN" sz="2000"/>
              <a:t>IIC</a:t>
            </a:r>
            <a:r>
              <a:rPr lang="zh-CN" altLang="en-US" sz="2000"/>
              <a:t>的一个优点是它支持多主控</a:t>
            </a:r>
            <a:r>
              <a:rPr lang="en-US" altLang="zh-CN" sz="2000"/>
              <a:t>(multimastering)</a:t>
            </a:r>
            <a:r>
              <a:rPr lang="zh-CN" altLang="en-US" sz="2000"/>
              <a:t>，</a:t>
            </a:r>
            <a:r>
              <a:rPr lang="en-US" altLang="zh-CN" sz="2000"/>
              <a:t> </a:t>
            </a:r>
            <a:r>
              <a:rPr lang="zh-CN" altLang="en-US" sz="2000"/>
              <a:t>其中任何一个能够进行发送和接收的设备都可以成为主总线。一个主控能够控制信号的传输和时钟频率。当然，在任何时间点上只能有一个主控。</a:t>
            </a:r>
            <a:endParaRPr lang="zh-CN" altLang="en-US" sz="2000"/>
          </a:p>
          <a:p>
            <a:r>
              <a:rPr lang="zh-CN" altLang="en-US" sz="2000"/>
              <a:t>支持不同速率的通讯速度，标准速度</a:t>
            </a:r>
            <a:r>
              <a:rPr lang="en-US" altLang="zh-CN" sz="2000"/>
              <a:t>(</a:t>
            </a:r>
            <a:r>
              <a:rPr lang="zh-CN" altLang="en-US" sz="2000"/>
              <a:t>最高速度</a:t>
            </a:r>
            <a:r>
              <a:rPr lang="en-US" altLang="zh-CN" sz="2000"/>
              <a:t>100kHZ),</a:t>
            </a:r>
            <a:r>
              <a:rPr lang="zh-CN" altLang="en-US" sz="2000"/>
              <a:t>快速（最高</a:t>
            </a:r>
            <a:r>
              <a:rPr lang="en-US" altLang="zh-CN" sz="2000"/>
              <a:t>400kHZ</a:t>
            </a:r>
            <a:r>
              <a:rPr lang="zh-CN" altLang="en-US" sz="2000"/>
              <a:t>）</a:t>
            </a:r>
            <a:endParaRPr lang="zh-CN" altLang="en-US" sz="2000"/>
          </a:p>
          <a:p>
            <a:endParaRPr lang="en-US" altLang="zh-CN" sz="2000"/>
          </a:p>
          <a:p>
            <a:r>
              <a:rPr lang="en-US" altLang="zh-CN" sz="2000"/>
              <a:t>SCL</a:t>
            </a:r>
            <a:r>
              <a:rPr lang="zh-CN" altLang="en-US" sz="2000"/>
              <a:t>和</a:t>
            </a:r>
            <a:r>
              <a:rPr lang="en-US" altLang="zh-CN" sz="2000"/>
              <a:t>SDA</a:t>
            </a:r>
            <a:r>
              <a:rPr lang="zh-CN" altLang="en-US" sz="2000"/>
              <a:t>都需要</a:t>
            </a:r>
            <a:r>
              <a:rPr lang="zh-CN" altLang="en-US" sz="2000">
                <a:solidFill>
                  <a:srgbClr val="FF0000"/>
                </a:solidFill>
              </a:rPr>
              <a:t>接上拉电阻</a:t>
            </a:r>
            <a:r>
              <a:rPr lang="en-US" altLang="zh-CN" sz="2000"/>
              <a:t> (</a:t>
            </a:r>
            <a:r>
              <a:rPr lang="zh-CN" altLang="en-US" sz="2000"/>
              <a:t>大小由速度和容性负载决定一般在</a:t>
            </a:r>
            <a:r>
              <a:rPr lang="en-US" altLang="zh-CN" sz="2000"/>
              <a:t>3.3K-10K</a:t>
            </a:r>
            <a:r>
              <a:rPr lang="zh-CN" altLang="en-US" sz="2000"/>
              <a:t>之间</a:t>
            </a:r>
            <a:r>
              <a:rPr lang="en-US" altLang="zh-CN" sz="2000"/>
              <a:t>) </a:t>
            </a:r>
            <a:r>
              <a:rPr lang="zh-CN" altLang="en-US" sz="2000"/>
              <a:t>保证数据的稳定性，减少干扰。</a:t>
            </a:r>
            <a:endParaRPr lang="zh-CN" altLang="en-US" sz="2000"/>
          </a:p>
          <a:p>
            <a:endParaRPr lang="en-US" altLang="zh-CN" sz="2000"/>
          </a:p>
          <a:p>
            <a:r>
              <a:rPr lang="en-US" altLang="zh-CN" sz="2000"/>
              <a:t>IIC</a:t>
            </a:r>
            <a:r>
              <a:rPr lang="zh-CN" altLang="en-US" sz="2000"/>
              <a:t>是半双工，而不是全双工</a:t>
            </a:r>
            <a:r>
              <a:rPr lang="en-US" altLang="zh-CN" sz="2000"/>
              <a:t> </a:t>
            </a:r>
            <a:r>
              <a:rPr lang="zh-CN" altLang="en-US" sz="2000"/>
              <a:t>，同一时间只可以单向通信</a:t>
            </a:r>
            <a:endParaRPr lang="zh-CN" altLang="en-US" sz="2000"/>
          </a:p>
          <a:p>
            <a:endParaRPr lang="en-US" altLang="zh-CN" sz="2000"/>
          </a:p>
          <a:p>
            <a:r>
              <a:rPr lang="zh-CN" altLang="en-US" sz="2000"/>
              <a:t>为了避免总线信号的混乱，要求各设备连接到总线的输出端时必须是</a:t>
            </a:r>
            <a:r>
              <a:rPr lang="zh-CN" altLang="en-US" sz="2000">
                <a:solidFill>
                  <a:srgbClr val="FF0000"/>
                </a:solidFill>
              </a:rPr>
              <a:t>漏极开路（</a:t>
            </a:r>
            <a:r>
              <a:rPr lang="en-US" altLang="zh-CN" sz="2000">
                <a:solidFill>
                  <a:srgbClr val="FF0000"/>
                </a:solidFill>
              </a:rPr>
              <a:t>OD</a:t>
            </a:r>
            <a:r>
              <a:rPr lang="zh-CN" altLang="en-US" sz="2000">
                <a:solidFill>
                  <a:srgbClr val="FF0000"/>
                </a:solidFill>
              </a:rPr>
              <a:t>）输出或集电极开路（</a:t>
            </a:r>
            <a:r>
              <a:rPr lang="en-US" altLang="zh-CN" sz="2000">
                <a:solidFill>
                  <a:srgbClr val="FF0000"/>
                </a:solidFill>
              </a:rPr>
              <a:t>OC</a:t>
            </a:r>
            <a:r>
              <a:rPr lang="zh-CN" altLang="en-US" sz="2000">
                <a:solidFill>
                  <a:srgbClr val="FF0000"/>
                </a:solidFill>
              </a:rPr>
              <a:t>）输出</a:t>
            </a:r>
            <a:r>
              <a:rPr lang="zh-CN" altLang="en-US" sz="2000"/>
              <a:t>。</a:t>
            </a:r>
            <a:endParaRPr lang="zh-CN" altLang="en-US" sz="2000"/>
          </a:p>
          <a:p>
            <a:endParaRPr lang="en-US" altLang="zh-CN" sz="20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I2C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协议相关知识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37795" y="982980"/>
            <a:ext cx="8868410" cy="3763010"/>
          </a:xfrm>
          <a:prstGeom prst="rect">
            <a:avLst/>
          </a:prstGeom>
          <a:noFill/>
        </p:spPr>
        <p:txBody>
          <a:bodyPr wrap="square" rtlCol="0">
            <a:noAutofit/>
          </a:bodyPr>
          <a:p>
            <a:r>
              <a:rPr lang="en-US" altLang="zh-CN" sz="2000"/>
              <a:t>2.1 </a:t>
            </a:r>
            <a:r>
              <a:rPr lang="zh-CN" altLang="en-US" sz="2000"/>
              <a:t>起始位</a:t>
            </a:r>
            <a:endParaRPr lang="zh-CN" altLang="en-US" sz="2000"/>
          </a:p>
          <a:p>
            <a:r>
              <a:rPr lang="en-US" altLang="zh-CN" sz="2000"/>
              <a:t>         </a:t>
            </a:r>
            <a:r>
              <a:rPr lang="zh-CN" altLang="en-US" sz="2000"/>
              <a:t>如下图，就是</a:t>
            </a:r>
            <a:r>
              <a:rPr lang="en-US" altLang="zh-CN" sz="2000"/>
              <a:t> I2C </a:t>
            </a:r>
            <a:r>
              <a:rPr lang="zh-CN" altLang="en-US" sz="2000"/>
              <a:t>通信起始标志，通过这个起始位就可以告诉</a:t>
            </a:r>
            <a:r>
              <a:rPr lang="en-US" altLang="zh-CN" sz="2000"/>
              <a:t> I2C </a:t>
            </a:r>
            <a:r>
              <a:rPr lang="zh-CN" altLang="en-US" sz="2000"/>
              <a:t>从机，主机要开始进行</a:t>
            </a:r>
            <a:r>
              <a:rPr lang="en-US" altLang="zh-CN" sz="2000"/>
              <a:t> I2C </a:t>
            </a:r>
            <a:r>
              <a:rPr lang="zh-CN" altLang="en-US" sz="2000"/>
              <a:t>通信了。在</a:t>
            </a:r>
            <a:r>
              <a:rPr lang="en-US" altLang="zh-CN" sz="2000"/>
              <a:t> SCL </a:t>
            </a:r>
            <a:r>
              <a:rPr lang="zh-CN" altLang="en-US" sz="2000"/>
              <a:t>为高电平的时候，</a:t>
            </a:r>
            <a:r>
              <a:rPr lang="en-US" altLang="zh-CN" sz="2000"/>
              <a:t>SDA </a:t>
            </a:r>
            <a:r>
              <a:rPr lang="zh-CN" altLang="en-US" sz="2000"/>
              <a:t>出现下降沿就表示为起始位：</a:t>
            </a:r>
            <a:r>
              <a:rPr lang="en-US" altLang="zh-CN" sz="2000"/>
              <a:t> </a:t>
            </a:r>
            <a:endParaRPr lang="en-US" altLang="zh-CN" sz="2000"/>
          </a:p>
        </p:txBody>
      </p:sp>
      <p:pic>
        <p:nvPicPr>
          <p:cNvPr id="3" name="图片 2" descr="c3cd8923426143478448754849264f4d"/>
          <p:cNvPicPr>
            <a:picLocks noChangeAspect="1"/>
          </p:cNvPicPr>
          <p:nvPr/>
        </p:nvPicPr>
        <p:blipFill>
          <a:blip r:embed="rId1"/>
          <a:stretch>
            <a:fillRect/>
          </a:stretch>
        </p:blipFill>
        <p:spPr>
          <a:xfrm>
            <a:off x="456565" y="2466340"/>
            <a:ext cx="8150225" cy="3185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I2C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协议相关知识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37795" y="1062990"/>
            <a:ext cx="8868410" cy="3763010"/>
          </a:xfrm>
          <a:prstGeom prst="rect">
            <a:avLst/>
          </a:prstGeom>
          <a:noFill/>
        </p:spPr>
        <p:txBody>
          <a:bodyPr wrap="square" rtlCol="0">
            <a:noAutofit/>
          </a:bodyPr>
          <a:p>
            <a:r>
              <a:rPr lang="en-US" altLang="zh-CN" sz="2000"/>
              <a:t>2.2 </a:t>
            </a:r>
            <a:r>
              <a:rPr lang="zh-CN" altLang="en-US" sz="2000"/>
              <a:t>停止位</a:t>
            </a:r>
            <a:endParaRPr lang="zh-CN" altLang="en-US" sz="2000"/>
          </a:p>
          <a:p>
            <a:r>
              <a:rPr lang="en-US" altLang="zh-CN" sz="2000"/>
              <a:t>       </a:t>
            </a:r>
            <a:r>
              <a:rPr lang="zh-CN" altLang="en-US" sz="2000"/>
              <a:t>如下图，就是停止</a:t>
            </a:r>
            <a:r>
              <a:rPr lang="en-US" altLang="zh-CN" sz="2000"/>
              <a:t> I2C </a:t>
            </a:r>
            <a:r>
              <a:rPr lang="zh-CN" altLang="en-US" sz="2000"/>
              <a:t>通信的标志位，和起始位的功能相反。在</a:t>
            </a:r>
            <a:r>
              <a:rPr lang="en-US" altLang="zh-CN" sz="2000"/>
              <a:t> SCL </a:t>
            </a:r>
            <a:r>
              <a:rPr lang="zh-CN" altLang="en-US" sz="2000"/>
              <a:t>位高电平的时候，</a:t>
            </a:r>
            <a:r>
              <a:rPr lang="en-US" altLang="zh-CN" sz="2000"/>
              <a:t>SDA </a:t>
            </a:r>
            <a:r>
              <a:rPr lang="zh-CN" altLang="en-US" sz="2000"/>
              <a:t>出现上升沿就表示为停止位：</a:t>
            </a:r>
            <a:r>
              <a:rPr lang="en-US" altLang="zh-CN" sz="2000"/>
              <a:t> </a:t>
            </a:r>
            <a:endParaRPr lang="en-US" altLang="zh-CN" sz="2000"/>
          </a:p>
        </p:txBody>
      </p:sp>
      <p:pic>
        <p:nvPicPr>
          <p:cNvPr id="4" name="图片 3" descr="03e520bafe8c4e1db48b5dafee30a9b1"/>
          <p:cNvPicPr>
            <a:picLocks noChangeAspect="1"/>
          </p:cNvPicPr>
          <p:nvPr/>
        </p:nvPicPr>
        <p:blipFill>
          <a:blip r:embed="rId1"/>
          <a:stretch>
            <a:fillRect/>
          </a:stretch>
        </p:blipFill>
        <p:spPr>
          <a:xfrm>
            <a:off x="388620" y="2084705"/>
            <a:ext cx="8019415" cy="39185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I2C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协议相关知识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43205" y="1071245"/>
            <a:ext cx="8868410" cy="365125"/>
          </a:xfrm>
          <a:prstGeom prst="rect">
            <a:avLst/>
          </a:prstGeom>
          <a:noFill/>
        </p:spPr>
        <p:txBody>
          <a:bodyPr wrap="square" rtlCol="0">
            <a:noAutofit/>
          </a:bodyPr>
          <a:p>
            <a:r>
              <a:rPr lang="en-US" altLang="zh-CN" sz="2000"/>
              <a:t>2.4 </a:t>
            </a:r>
            <a:r>
              <a:rPr lang="zh-CN" altLang="en-US" sz="2000"/>
              <a:t>应答信号</a:t>
            </a:r>
            <a:endParaRPr lang="zh-CN" altLang="en-US" sz="2000"/>
          </a:p>
          <a:p>
            <a:r>
              <a:rPr lang="en-US" altLang="zh-CN" sz="2000"/>
              <a:t>          </a:t>
            </a:r>
            <a:endParaRPr lang="zh-CN" altLang="en-US" sz="2000"/>
          </a:p>
        </p:txBody>
      </p:sp>
      <p:sp>
        <p:nvSpPr>
          <p:cNvPr id="7" name="文本框 6"/>
          <p:cNvSpPr txBox="1"/>
          <p:nvPr/>
        </p:nvSpPr>
        <p:spPr>
          <a:xfrm>
            <a:off x="398780" y="1970405"/>
            <a:ext cx="8037830" cy="3007360"/>
          </a:xfrm>
          <a:prstGeom prst="rect">
            <a:avLst/>
          </a:prstGeom>
          <a:noFill/>
        </p:spPr>
        <p:txBody>
          <a:bodyPr wrap="square" rtlCol="0">
            <a:noAutofit/>
          </a:bodyPr>
          <a:p>
            <a:r>
              <a:rPr lang="en-US" altLang="zh-CN">
                <a:sym typeface="+mn-ea"/>
              </a:rPr>
              <a:t>   </a:t>
            </a:r>
            <a:r>
              <a:rPr lang="en-US" altLang="zh-CN" sz="2400">
                <a:sym typeface="+mn-ea"/>
              </a:rPr>
              <a:t>     </a:t>
            </a:r>
            <a:r>
              <a:rPr lang="zh-CN" altLang="en-US" sz="2400">
                <a:sym typeface="+mn-ea"/>
              </a:rPr>
              <a:t>当</a:t>
            </a:r>
            <a:r>
              <a:rPr lang="en-US" altLang="zh-CN" sz="2400">
                <a:sym typeface="+mn-ea"/>
              </a:rPr>
              <a:t> I2C </a:t>
            </a:r>
            <a:r>
              <a:rPr lang="zh-CN" altLang="en-US" sz="2400">
                <a:sym typeface="+mn-ea"/>
              </a:rPr>
              <a:t>主机发送完</a:t>
            </a:r>
            <a:r>
              <a:rPr lang="en-US" altLang="zh-CN" sz="2400">
                <a:sym typeface="+mn-ea"/>
              </a:rPr>
              <a:t> 8 </a:t>
            </a:r>
            <a:r>
              <a:rPr lang="zh-CN" altLang="en-US" sz="2400">
                <a:sym typeface="+mn-ea"/>
              </a:rPr>
              <a:t>位数据以后会将</a:t>
            </a:r>
            <a:r>
              <a:rPr lang="en-US" altLang="zh-CN" sz="2400">
                <a:sym typeface="+mn-ea"/>
              </a:rPr>
              <a:t> SDA </a:t>
            </a:r>
            <a:r>
              <a:rPr lang="zh-CN" altLang="en-US" sz="2400">
                <a:sym typeface="+mn-ea"/>
              </a:rPr>
              <a:t>设置为输入状态，等待</a:t>
            </a:r>
            <a:r>
              <a:rPr lang="en-US" altLang="zh-CN" sz="2400">
                <a:sym typeface="+mn-ea"/>
              </a:rPr>
              <a:t> I2C </a:t>
            </a:r>
            <a:r>
              <a:rPr lang="zh-CN" altLang="en-US" sz="2400">
                <a:sym typeface="+mn-ea"/>
              </a:rPr>
              <a:t>从机应答，也就是等到</a:t>
            </a:r>
            <a:r>
              <a:rPr lang="en-US" altLang="zh-CN" sz="2400">
                <a:sym typeface="+mn-ea"/>
              </a:rPr>
              <a:t> I2C </a:t>
            </a:r>
            <a:r>
              <a:rPr lang="zh-CN" altLang="en-US" sz="2400">
                <a:sym typeface="+mn-ea"/>
              </a:rPr>
              <a:t>从机告诉主机它接收到数据了。应答信号是由从机发出的，主机需要提供应答信号所需的时钟，主机发送完</a:t>
            </a:r>
            <a:r>
              <a:rPr lang="en-US" altLang="zh-CN" sz="2400">
                <a:sym typeface="+mn-ea"/>
              </a:rPr>
              <a:t> 8 </a:t>
            </a:r>
            <a:r>
              <a:rPr lang="zh-CN" altLang="en-US" sz="2400">
                <a:sym typeface="+mn-ea"/>
              </a:rPr>
              <a:t>位数据以后紧跟着的一个时钟信号就是给应答信号使用的。从机通过将</a:t>
            </a:r>
            <a:r>
              <a:rPr lang="en-US" altLang="zh-CN" sz="2400">
                <a:sym typeface="+mn-ea"/>
              </a:rPr>
              <a:t> SDA </a:t>
            </a:r>
            <a:r>
              <a:rPr lang="zh-CN" altLang="en-US" sz="2400">
                <a:sym typeface="+mn-ea"/>
              </a:rPr>
              <a:t>拉低来表示发出应答信号，表示通信成功，否则表示通信失败。</a:t>
            </a:r>
            <a:endParaRPr lang="zh-CN" altLang="en-US" sz="2400"/>
          </a:p>
          <a:p>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03</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08070" y="3100705"/>
            <a:ext cx="5172710"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四角屏幕点亮实操</a:t>
            </a:r>
            <a:r>
              <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IIC</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862397" y="380743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THREE</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p:bldP spid="7" grpId="0"/>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四角屏幕点亮实操</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IIC</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43205" y="1128395"/>
            <a:ext cx="8868410" cy="365125"/>
          </a:xfrm>
          <a:prstGeom prst="rect">
            <a:avLst/>
          </a:prstGeom>
          <a:noFill/>
        </p:spPr>
        <p:txBody>
          <a:bodyPr wrap="square" rtlCol="0">
            <a:noAutofit/>
          </a:bodyPr>
          <a:p>
            <a:endParaRPr lang="en-US" altLang="zh-CN" sz="2000"/>
          </a:p>
          <a:p>
            <a:endParaRPr lang="en-US" altLang="zh-CN" sz="2000"/>
          </a:p>
          <a:p>
            <a:endParaRPr lang="en-US" altLang="zh-CN" sz="2000"/>
          </a:p>
        </p:txBody>
      </p:sp>
      <p:sp>
        <p:nvSpPr>
          <p:cNvPr id="4" name="文本框 3"/>
          <p:cNvSpPr txBox="1"/>
          <p:nvPr/>
        </p:nvSpPr>
        <p:spPr>
          <a:xfrm>
            <a:off x="390525" y="4540250"/>
            <a:ext cx="8573770" cy="1393190"/>
          </a:xfrm>
          <a:prstGeom prst="rect">
            <a:avLst/>
          </a:prstGeom>
          <a:noFill/>
        </p:spPr>
        <p:txBody>
          <a:bodyPr wrap="square" rtlCol="0">
            <a:noAutofit/>
          </a:bodyPr>
          <a:p>
            <a:endParaRPr lang="zh-CN" altLang="en-US"/>
          </a:p>
        </p:txBody>
      </p:sp>
      <p:pic>
        <p:nvPicPr>
          <p:cNvPr id="6" name="图片 5" descr="联想截图_20241201130232"/>
          <p:cNvPicPr>
            <a:picLocks noChangeAspect="1"/>
          </p:cNvPicPr>
          <p:nvPr/>
        </p:nvPicPr>
        <p:blipFill>
          <a:blip r:embed="rId1"/>
          <a:stretch>
            <a:fillRect/>
          </a:stretch>
        </p:blipFill>
        <p:spPr>
          <a:xfrm>
            <a:off x="1722120" y="1128395"/>
            <a:ext cx="5003800" cy="49066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四角屏幕点亮实操</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IIC</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43205" y="1128395"/>
            <a:ext cx="8868410" cy="365125"/>
          </a:xfrm>
          <a:prstGeom prst="rect">
            <a:avLst/>
          </a:prstGeom>
          <a:noFill/>
        </p:spPr>
        <p:txBody>
          <a:bodyPr wrap="square" rtlCol="0">
            <a:noAutofit/>
          </a:bodyPr>
          <a:p>
            <a:endParaRPr lang="en-US" altLang="zh-CN" sz="2000"/>
          </a:p>
          <a:p>
            <a:endParaRPr lang="en-US" altLang="zh-CN" sz="2000"/>
          </a:p>
          <a:p>
            <a:endParaRPr lang="en-US" altLang="zh-CN" sz="2000"/>
          </a:p>
        </p:txBody>
      </p:sp>
      <p:sp>
        <p:nvSpPr>
          <p:cNvPr id="4" name="文本框 3"/>
          <p:cNvSpPr txBox="1"/>
          <p:nvPr/>
        </p:nvSpPr>
        <p:spPr>
          <a:xfrm>
            <a:off x="314960" y="4540250"/>
            <a:ext cx="8573770" cy="1393190"/>
          </a:xfrm>
          <a:prstGeom prst="rect">
            <a:avLst/>
          </a:prstGeom>
          <a:noFill/>
        </p:spPr>
        <p:txBody>
          <a:bodyPr wrap="square" rtlCol="0">
            <a:noAutofit/>
          </a:bodyPr>
          <a:p>
            <a:endParaRPr lang="zh-CN" altLang="en-US"/>
          </a:p>
        </p:txBody>
      </p:sp>
      <p:pic>
        <p:nvPicPr>
          <p:cNvPr id="3" name="图片 2" descr="联想截图_20241201130232"/>
          <p:cNvPicPr>
            <a:picLocks noChangeAspect="1"/>
          </p:cNvPicPr>
          <p:nvPr/>
        </p:nvPicPr>
        <p:blipFill>
          <a:blip r:embed="rId1"/>
          <a:stretch>
            <a:fillRect/>
          </a:stretch>
        </p:blipFill>
        <p:spPr>
          <a:xfrm>
            <a:off x="1587500" y="925830"/>
            <a:ext cx="5194935" cy="50939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47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04</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31565" y="3102610"/>
            <a:ext cx="5852795"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七角屏幕点亮实操</a:t>
            </a:r>
            <a:r>
              <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SPI</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911292" y="375536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FOUR</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p:bldP spid="7"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七角屏幕点亮实操</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SPI</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43205" y="1128395"/>
            <a:ext cx="8868410" cy="365125"/>
          </a:xfrm>
          <a:prstGeom prst="rect">
            <a:avLst/>
          </a:prstGeom>
          <a:noFill/>
        </p:spPr>
        <p:txBody>
          <a:bodyPr wrap="square" rtlCol="0">
            <a:noAutofit/>
          </a:bodyPr>
          <a:p>
            <a:endParaRPr lang="en-US" altLang="zh-CN" sz="2000"/>
          </a:p>
          <a:p>
            <a:endParaRPr lang="en-US" altLang="zh-CN" sz="2000"/>
          </a:p>
          <a:p>
            <a:endParaRPr lang="en-US" altLang="zh-CN" sz="2000"/>
          </a:p>
        </p:txBody>
      </p:sp>
      <p:sp>
        <p:nvSpPr>
          <p:cNvPr id="4" name="文本框 3"/>
          <p:cNvSpPr txBox="1"/>
          <p:nvPr/>
        </p:nvSpPr>
        <p:spPr>
          <a:xfrm>
            <a:off x="314960" y="4540250"/>
            <a:ext cx="8573770" cy="1393190"/>
          </a:xfrm>
          <a:prstGeom prst="rect">
            <a:avLst/>
          </a:prstGeom>
          <a:noFill/>
        </p:spPr>
        <p:txBody>
          <a:bodyPr wrap="square" rtlCol="0">
            <a:noAutofit/>
          </a:bodyPr>
          <a:p>
            <a:endParaRPr lang="zh-CN" altLang="en-US"/>
          </a:p>
        </p:txBody>
      </p:sp>
      <p:pic>
        <p:nvPicPr>
          <p:cNvPr id="6" name="图片 5" descr="联想截图_20241201130415"/>
          <p:cNvPicPr>
            <a:picLocks noChangeAspect="1"/>
          </p:cNvPicPr>
          <p:nvPr/>
        </p:nvPicPr>
        <p:blipFill>
          <a:blip r:embed="rId1"/>
          <a:stretch>
            <a:fillRect/>
          </a:stretch>
        </p:blipFill>
        <p:spPr>
          <a:xfrm>
            <a:off x="314960" y="1152525"/>
            <a:ext cx="8493125" cy="46189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七角屏幕点亮实操</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SPI</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43205" y="1128395"/>
            <a:ext cx="8868410" cy="365125"/>
          </a:xfrm>
          <a:prstGeom prst="rect">
            <a:avLst/>
          </a:prstGeom>
          <a:noFill/>
        </p:spPr>
        <p:txBody>
          <a:bodyPr wrap="square" rtlCol="0">
            <a:noAutofit/>
          </a:bodyPr>
          <a:p>
            <a:endParaRPr lang="en-US" altLang="zh-CN" sz="2000"/>
          </a:p>
          <a:p>
            <a:endParaRPr lang="en-US" altLang="zh-CN" sz="2000"/>
          </a:p>
          <a:p>
            <a:endParaRPr lang="en-US" altLang="zh-CN" sz="2000"/>
          </a:p>
        </p:txBody>
      </p:sp>
      <p:sp>
        <p:nvSpPr>
          <p:cNvPr id="4" name="文本框 3"/>
          <p:cNvSpPr txBox="1"/>
          <p:nvPr/>
        </p:nvSpPr>
        <p:spPr>
          <a:xfrm>
            <a:off x="314960" y="4540250"/>
            <a:ext cx="8573770" cy="1393190"/>
          </a:xfrm>
          <a:prstGeom prst="rect">
            <a:avLst/>
          </a:prstGeom>
          <a:noFill/>
        </p:spPr>
        <p:txBody>
          <a:bodyPr wrap="square" rtlCol="0">
            <a:noAutofit/>
          </a:bodyPr>
          <a:p>
            <a:endParaRPr lang="zh-CN" altLang="en-US"/>
          </a:p>
        </p:txBody>
      </p:sp>
      <p:pic>
        <p:nvPicPr>
          <p:cNvPr id="3" name="图片 2" descr="联想截图_20241201130406"/>
          <p:cNvPicPr>
            <a:picLocks noChangeAspect="1"/>
          </p:cNvPicPr>
          <p:nvPr/>
        </p:nvPicPr>
        <p:blipFill>
          <a:blip r:embed="rId1"/>
          <a:stretch>
            <a:fillRect/>
          </a:stretch>
        </p:blipFill>
        <p:spPr>
          <a:xfrm>
            <a:off x="471170" y="1365250"/>
            <a:ext cx="8239125" cy="4455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34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05</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31565" y="3102610"/>
            <a:ext cx="5852795" cy="706755"/>
          </a:xfrm>
          <a:prstGeom prst="rect">
            <a:avLst/>
          </a:prstGeom>
          <a:noFill/>
        </p:spPr>
        <p:txBody>
          <a:bodyPr wrap="square" rtlCol="0">
            <a:spAutoFit/>
          </a:bodyPr>
          <a:lstStyle/>
          <a:p>
            <a:r>
              <a:rPr 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PWM</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及呼吸灯应用</a:t>
            </a:r>
            <a:r>
              <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endPar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15" name="组合 14"/>
          <p:cNvGrpSpPr/>
          <p:nvPr/>
        </p:nvGrpSpPr>
        <p:grpSpPr>
          <a:xfrm>
            <a:off x="3911292" y="375536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6331"/>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FOUR</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5" grpId="0"/>
      <p:bldP spid="7" grpId="0"/>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PWM</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原理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6515" y="428625"/>
            <a:ext cx="9087485" cy="2453005"/>
          </a:xfrm>
          <a:prstGeom prst="rect">
            <a:avLst/>
          </a:prstGeom>
          <a:noFill/>
        </p:spPr>
        <p:txBody>
          <a:bodyPr wrap="square" rtlCol="0">
            <a:noAutofit/>
          </a:bodyPr>
          <a:p>
            <a:r>
              <a:rPr lang="en-US" altLang="zh-CN"/>
              <a:t>   </a:t>
            </a:r>
            <a:r>
              <a:rPr lang="en-US" altLang="zh-CN" sz="2000"/>
              <a:t>    </a:t>
            </a:r>
            <a:endParaRPr sz="2000"/>
          </a:p>
          <a:p>
            <a:r>
              <a:rPr lang="en-US" sz="2000"/>
              <a:t>    </a:t>
            </a:r>
            <a:endParaRPr lang="en-US" sz="2000"/>
          </a:p>
          <a:p>
            <a:r>
              <a:rPr lang="en-US" sz="2000"/>
              <a:t>      </a:t>
            </a:r>
            <a:r>
              <a:rPr lang="en-US" altLang="zh-CN" sz="2000"/>
              <a:t>​ </a:t>
            </a:r>
            <a:r>
              <a:rPr lang="zh-CN" altLang="en-US" sz="2400"/>
              <a:t>脉冲宽度调制</a:t>
            </a:r>
            <a:r>
              <a:rPr lang="en-US" altLang="zh-CN" sz="2400"/>
              <a:t>(PWM)</a:t>
            </a:r>
            <a:r>
              <a:rPr lang="zh-CN" altLang="en-US" sz="2400"/>
              <a:t>，是英文</a:t>
            </a:r>
            <a:r>
              <a:rPr lang="en-US" altLang="zh-CN" sz="2400"/>
              <a:t>“Pulse Width Modulation”</a:t>
            </a:r>
            <a:r>
              <a:rPr lang="zh-CN" altLang="en-US" sz="2400"/>
              <a:t>的缩写，简称脉宽调制，是利用微处理器的数字输出来对模拟电路进行控制的一种非常有效的技术，广泛应用在从测量、通信到功率控制与变换的许多领域中。</a:t>
            </a:r>
            <a:r>
              <a:rPr lang="en-US" altLang="zh-CN" sz="2400"/>
              <a:t> ​</a:t>
            </a:r>
            <a:endParaRPr lang="en-US" altLang="zh-CN" sz="2400"/>
          </a:p>
        </p:txBody>
      </p:sp>
      <p:sp>
        <p:nvSpPr>
          <p:cNvPr id="3" name="文本框 2"/>
          <p:cNvSpPr txBox="1"/>
          <p:nvPr/>
        </p:nvSpPr>
        <p:spPr>
          <a:xfrm>
            <a:off x="205105" y="2738120"/>
            <a:ext cx="8938895" cy="1699260"/>
          </a:xfrm>
          <a:prstGeom prst="rect">
            <a:avLst/>
          </a:prstGeom>
          <a:noFill/>
        </p:spPr>
        <p:txBody>
          <a:bodyPr wrap="square" rtlCol="0" anchor="t">
            <a:noAutofit/>
          </a:bodyPr>
          <a:p>
            <a:r>
              <a:rPr lang="en-US" altLang="zh-CN" sz="2000" b="1"/>
              <a:t>pwm</a:t>
            </a:r>
            <a:r>
              <a:rPr lang="zh-CN" altLang="en-US" sz="2000" b="1"/>
              <a:t>的频率：</a:t>
            </a:r>
            <a:endParaRPr lang="zh-CN" altLang="en-US" sz="2000" b="1"/>
          </a:p>
          <a:p>
            <a:r>
              <a:rPr lang="zh-CN" altLang="en-US" sz="2000" b="1"/>
              <a:t>是指</a:t>
            </a:r>
            <a:r>
              <a:rPr lang="en-US" altLang="zh-CN" sz="2000" b="1"/>
              <a:t>1</a:t>
            </a:r>
            <a:r>
              <a:rPr lang="zh-CN" altLang="en-US" sz="2000" b="1"/>
              <a:t>秒钟内信号从高电平到低电平再回到高电平的次数</a:t>
            </a:r>
            <a:r>
              <a:rPr lang="en-US" altLang="zh-CN" sz="2000" b="1"/>
              <a:t>(</a:t>
            </a:r>
            <a:r>
              <a:rPr lang="zh-CN" altLang="en-US" sz="2000" b="1"/>
              <a:t>一个周期</a:t>
            </a:r>
            <a:r>
              <a:rPr lang="en-US" altLang="zh-CN" sz="2000" b="1"/>
              <a:t>)</a:t>
            </a:r>
            <a:r>
              <a:rPr lang="zh-CN" altLang="en-US" sz="2000" b="1"/>
              <a:t>；</a:t>
            </a:r>
            <a:endParaRPr lang="zh-CN" altLang="en-US" sz="2000" b="1"/>
          </a:p>
          <a:p>
            <a:r>
              <a:rPr lang="zh-CN" altLang="en-US" sz="2000" b="1"/>
              <a:t>也就是说一秒钟</a:t>
            </a:r>
            <a:r>
              <a:rPr lang="en-US" altLang="zh-CN" sz="2000" b="1"/>
              <a:t>PWM</a:t>
            </a:r>
            <a:r>
              <a:rPr lang="zh-CN" altLang="en-US" sz="2000" b="1"/>
              <a:t>有多少个周期</a:t>
            </a:r>
            <a:endParaRPr lang="zh-CN" altLang="en-US" sz="2000" b="1"/>
          </a:p>
          <a:p>
            <a:r>
              <a:rPr lang="zh-CN" altLang="en-US" sz="2000" b="1"/>
              <a:t>单位：</a:t>
            </a:r>
            <a:r>
              <a:rPr lang="en-US" altLang="zh-CN" sz="2000" b="1"/>
              <a:t> Hz</a:t>
            </a:r>
            <a:endParaRPr lang="en-US" altLang="zh-CN" sz="2000" b="1"/>
          </a:p>
          <a:p>
            <a:r>
              <a:rPr lang="zh-CN" altLang="en-US" sz="2000" b="1"/>
              <a:t>表示方式：</a:t>
            </a:r>
            <a:r>
              <a:rPr lang="en-US" altLang="zh-CN" sz="2000" b="1"/>
              <a:t> 50Hz 100Hz</a:t>
            </a:r>
            <a:endParaRPr lang="en-US" altLang="zh-CN" sz="2000" b="1"/>
          </a:p>
        </p:txBody>
      </p:sp>
      <p:sp>
        <p:nvSpPr>
          <p:cNvPr id="6" name="文本框 5"/>
          <p:cNvSpPr txBox="1"/>
          <p:nvPr/>
        </p:nvSpPr>
        <p:spPr>
          <a:xfrm>
            <a:off x="393700" y="5024755"/>
            <a:ext cx="7231380" cy="1190625"/>
          </a:xfrm>
          <a:prstGeom prst="rect">
            <a:avLst/>
          </a:prstGeom>
          <a:noFill/>
        </p:spPr>
        <p:txBody>
          <a:bodyPr wrap="square" rtlCol="0">
            <a:noAutofit/>
          </a:bodyPr>
          <a:p>
            <a:pPr marL="0" indent="0">
              <a:buNone/>
            </a:pPr>
            <a:endParaRPr lang="en-US" altLang="zh-CN"/>
          </a:p>
        </p:txBody>
      </p:sp>
      <p:sp>
        <p:nvSpPr>
          <p:cNvPr id="7" name="文本框 6"/>
          <p:cNvSpPr txBox="1"/>
          <p:nvPr/>
        </p:nvSpPr>
        <p:spPr>
          <a:xfrm>
            <a:off x="393700" y="4570730"/>
            <a:ext cx="6992620" cy="1554480"/>
          </a:xfrm>
          <a:prstGeom prst="rect">
            <a:avLst/>
          </a:prstGeom>
          <a:noFill/>
        </p:spPr>
        <p:txBody>
          <a:bodyPr wrap="square" rtlCol="0">
            <a:noAutofit/>
          </a:bodyPr>
          <a:p>
            <a:pPr marL="0" indent="0">
              <a:buNone/>
            </a:pPr>
            <a:r>
              <a:rPr lang="zh-CN" altLang="en-US" dirty="0" smtClean="0">
                <a:latin typeface="Times New Roman" panose="02020603050405020304" pitchFamily="18" charset="0"/>
                <a:cs typeface="Times New Roman" panose="02020603050405020304" pitchFamily="18" charset="0"/>
                <a:sym typeface="+mn-ea"/>
              </a:rPr>
              <a:t>定时时间</a:t>
            </a:r>
            <a:r>
              <a:rPr lang="en-US" altLang="zh-CN" dirty="0" smtClean="0">
                <a:latin typeface="Times New Roman" panose="02020603050405020304" pitchFamily="18" charset="0"/>
                <a:cs typeface="Times New Roman" panose="02020603050405020304" pitchFamily="18" charset="0"/>
                <a:sym typeface="+mn-ea"/>
              </a:rPr>
              <a:t> =</a:t>
            </a:r>
            <a:r>
              <a:rPr lang="zh-CN" altLang="en-US" dirty="0" smtClean="0">
                <a:latin typeface="Times New Roman" panose="02020603050405020304" pitchFamily="18" charset="0"/>
                <a:cs typeface="Times New Roman" panose="02020603050405020304" pitchFamily="18" charset="0"/>
                <a:sym typeface="+mn-ea"/>
              </a:rPr>
              <a:t>（</a:t>
            </a:r>
            <a:r>
              <a:rPr lang="en-US" altLang="zh-CN" b="1" i="1" dirty="0" smtClean="0">
                <a:latin typeface="Times New Roman" panose="02020603050405020304" pitchFamily="18" charset="0"/>
                <a:cs typeface="Times New Roman" panose="02020603050405020304" pitchFamily="18" charset="0"/>
                <a:sym typeface="+mn-ea"/>
              </a:rPr>
              <a:t>Prescaler+1</a:t>
            </a:r>
            <a:r>
              <a:rPr lang="zh-CN" altLang="en-US" b="1" dirty="0" smtClean="0">
                <a:latin typeface="Times New Roman" panose="02020603050405020304" pitchFamily="18" charset="0"/>
                <a:cs typeface="Times New Roman" panose="02020603050405020304" pitchFamily="18" charset="0"/>
                <a:sym typeface="+mn-ea"/>
              </a:rPr>
              <a:t>）</a:t>
            </a: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a:t>
            </a:r>
            <a:r>
              <a:rPr lang="en-US" altLang="zh-CN" dirty="0">
                <a:latin typeface="Microsoft YaHei UI" panose="020B0503020204020204" pitchFamily="34" charset="-122"/>
                <a:ea typeface="Microsoft YaHei UI" panose="020B0503020204020204" pitchFamily="34" charset="-122"/>
                <a:sym typeface="+mn-ea"/>
              </a:rPr>
              <a:t>Auto Reload Register</a:t>
            </a:r>
            <a:r>
              <a:rPr lang="en-US" altLang="zh-CN" b="1" i="1" dirty="0" smtClean="0">
                <a:latin typeface="Times New Roman" panose="02020603050405020304" pitchFamily="18" charset="0"/>
                <a:cs typeface="Times New Roman" panose="02020603050405020304" pitchFamily="18" charset="0"/>
                <a:sym typeface="+mn-ea"/>
              </a:rPr>
              <a:t>+1</a:t>
            </a:r>
            <a:r>
              <a:rPr lang="zh-CN" altLang="en-US" b="1" dirty="0" smtClean="0">
                <a:latin typeface="Times New Roman" panose="02020603050405020304" pitchFamily="18" charset="0"/>
                <a:cs typeface="Times New Roman" panose="02020603050405020304" pitchFamily="18" charset="0"/>
                <a:sym typeface="+mn-ea"/>
              </a:rPr>
              <a:t>）</a:t>
            </a:r>
            <a:endParaRPr lang="zh-CN" altLang="en-US" b="1" dirty="0" smtClean="0">
              <a:latin typeface="Times New Roman" panose="02020603050405020304" pitchFamily="18" charset="0"/>
              <a:cs typeface="Times New Roman" panose="02020603050405020304" pitchFamily="18" charset="0"/>
              <a:sym typeface="+mn-ea"/>
            </a:endParaRPr>
          </a:p>
          <a:p>
            <a:pPr marL="1371600" lvl="3" indent="457200">
              <a:buNone/>
            </a:pP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定时器时钟频率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PWM</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原理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4610" y="5238750"/>
            <a:ext cx="9087485" cy="2059305"/>
          </a:xfrm>
          <a:prstGeom prst="rect">
            <a:avLst/>
          </a:prstGeom>
          <a:noFill/>
        </p:spPr>
        <p:txBody>
          <a:bodyPr wrap="square" rtlCol="0">
            <a:noAutofit/>
          </a:bodyPr>
          <a:p>
            <a:r>
              <a:rPr lang="en-US" altLang="zh-CN" sz="2400"/>
              <a:t>      </a:t>
            </a:r>
            <a:r>
              <a:rPr lang="zh-CN" altLang="en-US" sz="2400"/>
              <a:t>比方说周期的时间是</a:t>
            </a:r>
            <a:r>
              <a:rPr lang="en-US" altLang="zh-CN" sz="2400"/>
              <a:t>10ms</a:t>
            </a:r>
            <a:r>
              <a:rPr lang="zh-CN" altLang="en-US" sz="2400"/>
              <a:t>，脉宽时间是</a:t>
            </a:r>
            <a:r>
              <a:rPr lang="en-US" altLang="zh-CN" sz="2400"/>
              <a:t>8ms </a:t>
            </a:r>
            <a:r>
              <a:rPr lang="zh-CN" altLang="en-US" sz="2400"/>
              <a:t>那么低电平时间就是</a:t>
            </a:r>
            <a:r>
              <a:rPr lang="en-US" altLang="zh-CN" sz="2400"/>
              <a:t>2ms </a:t>
            </a:r>
            <a:r>
              <a:rPr lang="zh-CN" altLang="en-US" sz="2400"/>
              <a:t>总的占空比</a:t>
            </a:r>
            <a:r>
              <a:rPr lang="en-US" altLang="zh-CN" sz="2400"/>
              <a:t> 8/(8+2)= 80%</a:t>
            </a:r>
            <a:endParaRPr lang="en-US" altLang="zh-CN" sz="2400"/>
          </a:p>
        </p:txBody>
      </p:sp>
      <p:sp>
        <p:nvSpPr>
          <p:cNvPr id="3" name="文本框 2"/>
          <p:cNvSpPr txBox="1"/>
          <p:nvPr/>
        </p:nvSpPr>
        <p:spPr>
          <a:xfrm>
            <a:off x="722630" y="1275080"/>
            <a:ext cx="7987665" cy="1343025"/>
          </a:xfrm>
          <a:prstGeom prst="rect">
            <a:avLst/>
          </a:prstGeom>
          <a:noFill/>
        </p:spPr>
        <p:txBody>
          <a:bodyPr wrap="square" rtlCol="0" anchor="t">
            <a:noAutofit/>
          </a:bodyPr>
          <a:p>
            <a:pPr marL="0" indent="0">
              <a:buNone/>
            </a:pPr>
            <a:r>
              <a:rPr lang="zh-CN" altLang="en-US">
                <a:sym typeface="+mn-ea"/>
              </a:rPr>
              <a:t>占空比：</a:t>
            </a:r>
            <a:endParaRPr lang="zh-CN" altLang="en-US"/>
          </a:p>
          <a:p>
            <a:pPr marL="0" indent="0">
              <a:buNone/>
            </a:pPr>
            <a:r>
              <a:rPr lang="zh-CN" altLang="en-US">
                <a:sym typeface="+mn-ea"/>
              </a:rPr>
              <a:t>是一个脉冲周期内，高电平的时间与整个周期时间的比例</a:t>
            </a:r>
            <a:endParaRPr lang="zh-CN" altLang="en-US"/>
          </a:p>
          <a:p>
            <a:pPr marL="0" indent="0">
              <a:buNone/>
            </a:pPr>
            <a:r>
              <a:rPr lang="zh-CN" altLang="en-US">
                <a:sym typeface="+mn-ea"/>
              </a:rPr>
              <a:t>单位：</a:t>
            </a:r>
            <a:r>
              <a:rPr lang="en-US" altLang="zh-CN">
                <a:sym typeface="+mn-ea"/>
              </a:rPr>
              <a:t> % (0%-100%)</a:t>
            </a:r>
            <a:endParaRPr lang="en-US" altLang="zh-CN"/>
          </a:p>
          <a:p>
            <a:pPr marL="0" indent="0">
              <a:buNone/>
            </a:pPr>
            <a:r>
              <a:rPr lang="zh-CN" altLang="en-US">
                <a:sym typeface="+mn-ea"/>
              </a:rPr>
              <a:t>表示方式：</a:t>
            </a:r>
            <a:r>
              <a:rPr lang="en-US" altLang="zh-CN">
                <a:sym typeface="+mn-ea"/>
              </a:rPr>
              <a:t>20%</a:t>
            </a:r>
            <a:endParaRPr lang="en-US" altLang="zh-CN">
              <a:sym typeface="+mn-ea"/>
            </a:endParaRPr>
          </a:p>
        </p:txBody>
      </p:sp>
      <p:pic>
        <p:nvPicPr>
          <p:cNvPr id="4" name="图片 3" descr="ff2afb10b52642d24cf8cb40c1eaf181"/>
          <p:cNvPicPr>
            <a:picLocks noChangeAspect="1"/>
          </p:cNvPicPr>
          <p:nvPr/>
        </p:nvPicPr>
        <p:blipFill>
          <a:blip r:embed="rId1"/>
          <a:stretch>
            <a:fillRect/>
          </a:stretch>
        </p:blipFill>
        <p:spPr>
          <a:xfrm>
            <a:off x="880745" y="2618105"/>
            <a:ext cx="6219825" cy="247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PWM</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原理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4610" y="5238750"/>
            <a:ext cx="9087485" cy="2059305"/>
          </a:xfrm>
          <a:prstGeom prst="rect">
            <a:avLst/>
          </a:prstGeom>
          <a:noFill/>
        </p:spPr>
        <p:txBody>
          <a:bodyPr wrap="square" rtlCol="0">
            <a:noAutofit/>
          </a:bodyPr>
          <a:p>
            <a:r>
              <a:rPr lang="en-US" altLang="zh-CN" sz="2400"/>
              <a:t>    </a:t>
            </a:r>
            <a:endParaRPr lang="en-US" altLang="zh-CN" sz="2400"/>
          </a:p>
        </p:txBody>
      </p:sp>
      <p:sp>
        <p:nvSpPr>
          <p:cNvPr id="3" name="文本框 2"/>
          <p:cNvSpPr txBox="1"/>
          <p:nvPr/>
        </p:nvSpPr>
        <p:spPr>
          <a:xfrm>
            <a:off x="246380" y="869315"/>
            <a:ext cx="8463915" cy="3374390"/>
          </a:xfrm>
          <a:prstGeom prst="rect">
            <a:avLst/>
          </a:prstGeom>
          <a:noFill/>
        </p:spPr>
        <p:txBody>
          <a:bodyPr wrap="square" rtlCol="0" anchor="t">
            <a:noAutofit/>
          </a:bodyPr>
          <a:p>
            <a:pPr marL="0" indent="0">
              <a:buNone/>
            </a:pPr>
            <a:r>
              <a:rPr lang="en-US" altLang="zh-CN">
                <a:sym typeface="+mn-ea"/>
              </a:rPr>
              <a:t>    PWM</a:t>
            </a:r>
            <a:r>
              <a:rPr lang="zh-CN" altLang="en-US">
                <a:sym typeface="+mn-ea"/>
              </a:rPr>
              <a:t>原理</a:t>
            </a:r>
            <a:endParaRPr lang="zh-CN" altLang="en-US">
              <a:sym typeface="+mn-ea"/>
            </a:endParaRPr>
          </a:p>
          <a:p>
            <a:pPr marL="0" indent="0">
              <a:buNone/>
            </a:pPr>
            <a:r>
              <a:rPr lang="zh-CN" altLang="en-US">
                <a:sym typeface="+mn-ea"/>
              </a:rPr>
              <a:t>以单片机为例，我们知道，单片机的</a:t>
            </a:r>
            <a:r>
              <a:rPr lang="en-US" altLang="zh-CN">
                <a:sym typeface="+mn-ea"/>
              </a:rPr>
              <a:t>IO</a:t>
            </a:r>
            <a:r>
              <a:rPr lang="zh-CN" altLang="en-US">
                <a:sym typeface="+mn-ea"/>
              </a:rPr>
              <a:t>口输出的是数字信号，</a:t>
            </a:r>
            <a:r>
              <a:rPr lang="en-US" altLang="zh-CN">
                <a:sym typeface="+mn-ea"/>
              </a:rPr>
              <a:t>IO</a:t>
            </a:r>
            <a:r>
              <a:rPr lang="zh-CN" altLang="en-US">
                <a:sym typeface="+mn-ea"/>
              </a:rPr>
              <a:t>口只能输出高电平和低电平</a:t>
            </a:r>
            <a:endParaRPr lang="zh-CN" altLang="en-US">
              <a:sym typeface="+mn-ea"/>
            </a:endParaRPr>
          </a:p>
          <a:p>
            <a:pPr marL="0" indent="0">
              <a:buNone/>
            </a:pPr>
            <a:r>
              <a:rPr lang="en-US" altLang="zh-CN">
                <a:sym typeface="+mn-ea"/>
              </a:rPr>
              <a:t>  </a:t>
            </a:r>
            <a:r>
              <a:rPr lang="zh-CN" altLang="en-US">
                <a:sym typeface="+mn-ea"/>
              </a:rPr>
              <a:t>假设高电平为</a:t>
            </a:r>
            <a:r>
              <a:rPr lang="en-US" altLang="zh-CN">
                <a:sym typeface="+mn-ea"/>
              </a:rPr>
              <a:t>5V </a:t>
            </a:r>
            <a:r>
              <a:rPr lang="zh-CN" altLang="en-US">
                <a:sym typeface="+mn-ea"/>
              </a:rPr>
              <a:t>低电平则为</a:t>
            </a:r>
            <a:r>
              <a:rPr lang="en-US" altLang="zh-CN">
                <a:sym typeface="+mn-ea"/>
              </a:rPr>
              <a:t>0V </a:t>
            </a:r>
            <a:r>
              <a:rPr lang="zh-CN" altLang="en-US">
                <a:sym typeface="+mn-ea"/>
              </a:rPr>
              <a:t>那么我们要输出不同的模拟电压，就要用到</a:t>
            </a:r>
            <a:r>
              <a:rPr lang="en-US" altLang="zh-CN">
                <a:sym typeface="+mn-ea"/>
              </a:rPr>
              <a:t>PWM</a:t>
            </a:r>
            <a:r>
              <a:rPr lang="zh-CN" altLang="en-US">
                <a:sym typeface="+mn-ea"/>
              </a:rPr>
              <a:t>，通过改变</a:t>
            </a:r>
            <a:r>
              <a:rPr lang="en-US" altLang="zh-CN">
                <a:sym typeface="+mn-ea"/>
              </a:rPr>
              <a:t>IO</a:t>
            </a:r>
            <a:r>
              <a:rPr lang="zh-CN" altLang="en-US">
                <a:sym typeface="+mn-ea"/>
              </a:rPr>
              <a:t>口输出的方波的占空比从而获得使用数字信号模拟成的模拟电压信号</a:t>
            </a:r>
            <a:endParaRPr lang="zh-CN" altLang="en-US">
              <a:sym typeface="+mn-ea"/>
            </a:endParaRPr>
          </a:p>
          <a:p>
            <a:pPr marL="0" indent="0">
              <a:buNone/>
            </a:pPr>
            <a:r>
              <a:rPr lang="en-US" altLang="zh-CN">
                <a:sym typeface="+mn-ea"/>
              </a:rPr>
              <a:t>   </a:t>
            </a:r>
            <a:r>
              <a:rPr lang="zh-CN" altLang="en-US">
                <a:sym typeface="+mn-ea"/>
              </a:rPr>
              <a:t>我们知道，电压是以一种连接</a:t>
            </a:r>
            <a:r>
              <a:rPr lang="en-US" altLang="zh-CN">
                <a:sym typeface="+mn-ea"/>
              </a:rPr>
              <a:t>1</a:t>
            </a:r>
            <a:r>
              <a:rPr lang="zh-CN" altLang="en-US">
                <a:sym typeface="+mn-ea"/>
              </a:rPr>
              <a:t>或断开</a:t>
            </a:r>
            <a:r>
              <a:rPr lang="en-US" altLang="zh-CN">
                <a:sym typeface="+mn-ea"/>
              </a:rPr>
              <a:t>0</a:t>
            </a:r>
            <a:r>
              <a:rPr lang="zh-CN" altLang="en-US">
                <a:sym typeface="+mn-ea"/>
              </a:rPr>
              <a:t>的重复脉冲序列被夹到模拟负载上去的（例如</a:t>
            </a:r>
            <a:r>
              <a:rPr lang="en-US" altLang="zh-CN">
                <a:sym typeface="+mn-ea"/>
              </a:rPr>
              <a:t>LED</a:t>
            </a:r>
            <a:r>
              <a:rPr lang="zh-CN" altLang="en-US">
                <a:sym typeface="+mn-ea"/>
              </a:rPr>
              <a:t>灯，直流电机等），连接即是直流供电输出，断开即是直流供电断开。通过对连接和断开时间的控制，理论上来讲，可以输出任意不大于最大电压值（即</a:t>
            </a:r>
            <a:r>
              <a:rPr lang="en-US" altLang="zh-CN">
                <a:sym typeface="+mn-ea"/>
              </a:rPr>
              <a:t>0~5V</a:t>
            </a:r>
            <a:r>
              <a:rPr lang="zh-CN" altLang="en-US">
                <a:sym typeface="+mn-ea"/>
              </a:rPr>
              <a:t>之间任意大小）的模拟电压</a:t>
            </a:r>
            <a:endParaRPr lang="zh-CN" altLang="en-US">
              <a:sym typeface="+mn-ea"/>
            </a:endParaRPr>
          </a:p>
          <a:p>
            <a:pPr marL="0" indent="0">
              <a:buNone/>
            </a:pPr>
            <a:r>
              <a:rPr lang="en-US" altLang="zh-CN">
                <a:sym typeface="+mn-ea"/>
              </a:rPr>
              <a:t>  </a:t>
            </a:r>
            <a:r>
              <a:rPr lang="zh-CN" altLang="en-US">
                <a:sym typeface="+mn-ea"/>
              </a:rPr>
              <a:t>比方说</a:t>
            </a:r>
            <a:r>
              <a:rPr lang="en-US" altLang="zh-CN">
                <a:sym typeface="+mn-ea"/>
              </a:rPr>
              <a:t> </a:t>
            </a:r>
            <a:r>
              <a:rPr lang="zh-CN" altLang="en-US">
                <a:sym typeface="+mn-ea"/>
              </a:rPr>
              <a:t>占空比为</a:t>
            </a:r>
            <a:r>
              <a:rPr lang="en-US" altLang="zh-CN">
                <a:sym typeface="+mn-ea"/>
              </a:rPr>
              <a:t>50% </a:t>
            </a:r>
            <a:r>
              <a:rPr lang="zh-CN" altLang="en-US">
                <a:sym typeface="+mn-ea"/>
              </a:rPr>
              <a:t>那就是高电平时间一半，低电平时间一半，在一定的频率下，就可以得到模拟的</a:t>
            </a:r>
            <a:r>
              <a:rPr lang="en-US" altLang="zh-CN">
                <a:sym typeface="+mn-ea"/>
              </a:rPr>
              <a:t>2.5V</a:t>
            </a:r>
            <a:r>
              <a:rPr lang="zh-CN" altLang="en-US">
                <a:sym typeface="+mn-ea"/>
              </a:rPr>
              <a:t>输出电压</a:t>
            </a:r>
            <a:r>
              <a:rPr lang="en-US" altLang="zh-CN">
                <a:sym typeface="+mn-ea"/>
              </a:rPr>
              <a:t> </a:t>
            </a:r>
            <a:r>
              <a:rPr lang="zh-CN" altLang="en-US">
                <a:sym typeface="+mn-ea"/>
              </a:rPr>
              <a:t>那么</a:t>
            </a:r>
            <a:r>
              <a:rPr lang="en-US" altLang="zh-CN">
                <a:sym typeface="+mn-ea"/>
              </a:rPr>
              <a:t>75%</a:t>
            </a:r>
            <a:r>
              <a:rPr lang="zh-CN" altLang="en-US">
                <a:sym typeface="+mn-ea"/>
              </a:rPr>
              <a:t>的占空比</a:t>
            </a:r>
            <a:r>
              <a:rPr lang="en-US" altLang="zh-CN">
                <a:sym typeface="+mn-ea"/>
              </a:rPr>
              <a:t> </a:t>
            </a:r>
            <a:r>
              <a:rPr lang="zh-CN" altLang="en-US">
                <a:sym typeface="+mn-ea"/>
              </a:rPr>
              <a:t>得到的电压就是</a:t>
            </a:r>
            <a:r>
              <a:rPr lang="en-US" altLang="zh-CN">
                <a:sym typeface="+mn-ea"/>
              </a:rPr>
              <a:t>3.75V</a:t>
            </a:r>
            <a:endParaRPr lang="en-US" altLang="zh-CN">
              <a:sym typeface="+mn-ea"/>
            </a:endParaRPr>
          </a:p>
        </p:txBody>
      </p:sp>
      <p:pic>
        <p:nvPicPr>
          <p:cNvPr id="7" name="图片 6"/>
          <p:cNvPicPr/>
          <p:nvPr/>
        </p:nvPicPr>
        <p:blipFill>
          <a:blip r:embed="rId1"/>
          <a:stretch>
            <a:fillRect/>
          </a:stretch>
        </p:blipFill>
        <p:spPr>
          <a:xfrm>
            <a:off x="880745" y="4009390"/>
            <a:ext cx="6920230" cy="2427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PWM</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rPr>
              <a:t>原理</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4610" y="5238750"/>
            <a:ext cx="9087485" cy="2059305"/>
          </a:xfrm>
          <a:prstGeom prst="rect">
            <a:avLst/>
          </a:prstGeom>
          <a:noFill/>
        </p:spPr>
        <p:txBody>
          <a:bodyPr wrap="square" rtlCol="0">
            <a:noAutofit/>
          </a:bodyPr>
          <a:p>
            <a:r>
              <a:rPr lang="en-US" altLang="zh-CN" sz="2400"/>
              <a:t>    </a:t>
            </a:r>
            <a:endParaRPr lang="en-US" altLang="zh-CN" sz="2400"/>
          </a:p>
        </p:txBody>
      </p:sp>
      <p:sp>
        <p:nvSpPr>
          <p:cNvPr id="3" name="文本框 2"/>
          <p:cNvSpPr txBox="1"/>
          <p:nvPr/>
        </p:nvSpPr>
        <p:spPr>
          <a:xfrm>
            <a:off x="497840" y="1009015"/>
            <a:ext cx="8463915" cy="1165225"/>
          </a:xfrm>
          <a:prstGeom prst="rect">
            <a:avLst/>
          </a:prstGeom>
          <a:noFill/>
        </p:spPr>
        <p:txBody>
          <a:bodyPr wrap="square" rtlCol="0" anchor="t">
            <a:noAutofit/>
          </a:bodyPr>
          <a:p>
            <a:pPr marL="0" indent="0">
              <a:buNone/>
            </a:pPr>
            <a:r>
              <a:rPr lang="en-US" altLang="zh-CN">
                <a:sym typeface="+mn-ea"/>
              </a:rPr>
              <a:t>       </a:t>
            </a:r>
            <a:r>
              <a:rPr lang="en-US" altLang="zh-CN" sz="2000">
                <a:sym typeface="+mn-ea"/>
              </a:rPr>
              <a:t> PWM</a:t>
            </a:r>
            <a:r>
              <a:rPr lang="zh-CN" altLang="en-US" sz="2000">
                <a:sym typeface="+mn-ea"/>
              </a:rPr>
              <a:t>就是在合适的信号频率下，通过一个周期里改变占空比的方式来改变输出的有效电压</a:t>
            </a:r>
            <a:endParaRPr lang="zh-CN" altLang="en-US" sz="2000">
              <a:sym typeface="+mn-ea"/>
            </a:endParaRPr>
          </a:p>
        </p:txBody>
      </p:sp>
      <p:sp>
        <p:nvSpPr>
          <p:cNvPr id="6" name="文本框 5"/>
          <p:cNvSpPr txBox="1"/>
          <p:nvPr/>
        </p:nvSpPr>
        <p:spPr>
          <a:xfrm>
            <a:off x="190500" y="2513965"/>
            <a:ext cx="9078595" cy="2668905"/>
          </a:xfrm>
          <a:prstGeom prst="rect">
            <a:avLst/>
          </a:prstGeom>
          <a:noFill/>
        </p:spPr>
        <p:txBody>
          <a:bodyPr wrap="square" rtlCol="0">
            <a:no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a:sym typeface="+mn-ea"/>
              </a:rPr>
              <a:t>PWM</a:t>
            </a:r>
            <a:r>
              <a:rPr lang="zh-CN" altLang="en-US" sz="2400">
                <a:sym typeface="+mn-ea"/>
              </a:rPr>
              <a:t>输出呼吸灯</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5" name="组合 4"/>
          <p:cNvGrpSpPr/>
          <p:nvPr/>
        </p:nvGrpSpPr>
        <p:grpSpPr>
          <a:xfrm>
            <a:off x="612140" y="6125181"/>
            <a:ext cx="7994967" cy="90386"/>
            <a:chOff x="647702" y="5265146"/>
            <a:chExt cx="7921940" cy="90386"/>
          </a:xfrm>
        </p:grpSpPr>
        <p:cxnSp>
          <p:nvCxnSpPr>
            <p:cNvPr id="25" name="直接连接符 24"/>
            <p:cNvCxnSpPr>
              <a:endCxn id="35" idx="2"/>
            </p:cNvCxnSpPr>
            <p:nvPr/>
          </p:nvCxnSpPr>
          <p:spPr>
            <a:xfrm>
              <a:off x="705811" y="5310339"/>
              <a:ext cx="7790173"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a:xfrm>
              <a:off x="647702"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495984" y="5265146"/>
              <a:ext cx="73658" cy="9038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220659" y="6519446"/>
            <a:ext cx="8024939" cy="338554"/>
            <a:chOff x="1277256" y="6519446"/>
            <a:chExt cx="8024939" cy="338554"/>
          </a:xfrm>
        </p:grpSpPr>
        <p:sp>
          <p:nvSpPr>
            <p:cNvPr id="20" name="矩形 19"/>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03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277256" y="6519446"/>
              <a:ext cx="7489625" cy="337185"/>
            </a:xfrm>
            <a:prstGeom prst="rect">
              <a:avLst/>
            </a:prstGeom>
            <a:noFill/>
          </p:spPr>
          <p:txBody>
            <a:bodyPr wrap="square" rtlCol="0">
              <a:spAutoFit/>
            </a:bodyPr>
            <a:lstStyle/>
            <a:p>
              <a:pPr algn="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电控组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培训</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4610" y="5238750"/>
            <a:ext cx="9087485" cy="2059305"/>
          </a:xfrm>
          <a:prstGeom prst="rect">
            <a:avLst/>
          </a:prstGeom>
          <a:noFill/>
        </p:spPr>
        <p:txBody>
          <a:bodyPr wrap="square" rtlCol="0">
            <a:noAutofit/>
          </a:bodyPr>
          <a:p>
            <a:r>
              <a:rPr lang="en-US" altLang="zh-CN" sz="2400"/>
              <a:t>    </a:t>
            </a:r>
            <a:endParaRPr lang="en-US" altLang="zh-CN" sz="2400"/>
          </a:p>
        </p:txBody>
      </p:sp>
      <p:sp>
        <p:nvSpPr>
          <p:cNvPr id="3" name="文本框 2"/>
          <p:cNvSpPr txBox="1"/>
          <p:nvPr/>
        </p:nvSpPr>
        <p:spPr>
          <a:xfrm>
            <a:off x="497840" y="1009015"/>
            <a:ext cx="8463915" cy="1165225"/>
          </a:xfrm>
          <a:prstGeom prst="rect">
            <a:avLst/>
          </a:prstGeom>
          <a:noFill/>
        </p:spPr>
        <p:txBody>
          <a:bodyPr wrap="square" rtlCol="0" anchor="t">
            <a:noAutofit/>
          </a:bodyPr>
          <a:p>
            <a:pPr marL="0" indent="0">
              <a:buNone/>
            </a:pPr>
            <a:r>
              <a:rPr lang="en-US" altLang="zh-CN">
                <a:sym typeface="+mn-ea"/>
              </a:rPr>
              <a:t>       </a:t>
            </a:r>
            <a:r>
              <a:rPr lang="en-US" altLang="zh-CN" sz="2000">
                <a:sym typeface="+mn-ea"/>
              </a:rPr>
              <a:t> </a:t>
            </a:r>
            <a:endParaRPr lang="zh-CN" altLang="en-US" sz="2000">
              <a:sym typeface="+mn-ea"/>
            </a:endParaRPr>
          </a:p>
        </p:txBody>
      </p:sp>
      <p:sp>
        <p:nvSpPr>
          <p:cNvPr id="6" name="文本框 5"/>
          <p:cNvSpPr txBox="1"/>
          <p:nvPr/>
        </p:nvSpPr>
        <p:spPr>
          <a:xfrm>
            <a:off x="120650" y="1009015"/>
            <a:ext cx="9078595" cy="2668905"/>
          </a:xfrm>
          <a:prstGeom prst="rect">
            <a:avLst/>
          </a:prstGeom>
          <a:noFill/>
        </p:spPr>
        <p:txBody>
          <a:bodyPr wrap="square" rtlCol="0">
            <a:noAutofit/>
          </a:bodyPr>
          <a:p>
            <a:r>
              <a:rPr lang="zh-CN" altLang="en-US"/>
              <a:t>一般人眼睛对于</a:t>
            </a:r>
            <a:r>
              <a:rPr lang="en-US" altLang="zh-CN"/>
              <a:t>80Hz </a:t>
            </a:r>
            <a:r>
              <a:rPr lang="zh-CN" altLang="en-US"/>
              <a:t>以上刷新频率则完全没有闪烁感。</a:t>
            </a:r>
            <a:endParaRPr lang="zh-CN" altLang="en-US"/>
          </a:p>
          <a:p>
            <a:endParaRPr lang="en-US" altLang="zh-CN"/>
          </a:p>
          <a:p>
            <a:r>
              <a:rPr lang="zh-CN" altLang="en-US"/>
              <a:t>频率太小的话</a:t>
            </a:r>
            <a:r>
              <a:rPr lang="en-US" altLang="zh-CN"/>
              <a:t> </a:t>
            </a:r>
            <a:r>
              <a:rPr lang="zh-CN" altLang="en-US"/>
              <a:t>看起来就会闪烁</a:t>
            </a:r>
            <a:endParaRPr lang="zh-CN" altLang="en-US"/>
          </a:p>
          <a:p>
            <a:endParaRPr lang="en-US" altLang="zh-CN"/>
          </a:p>
          <a:p>
            <a:r>
              <a:rPr lang="zh-CN" altLang="en-US"/>
              <a:t>那么我们平时见到的</a:t>
            </a:r>
            <a:r>
              <a:rPr lang="en-US" altLang="zh-CN"/>
              <a:t>LED</a:t>
            </a:r>
            <a:r>
              <a:rPr lang="zh-CN" altLang="en-US"/>
              <a:t>灯，当它的频率大于</a:t>
            </a:r>
            <a:r>
              <a:rPr lang="en-US" altLang="zh-CN"/>
              <a:t>50Hz</a:t>
            </a:r>
            <a:r>
              <a:rPr lang="zh-CN" altLang="en-US"/>
              <a:t>的时候，人眼就会产生视觉暂留效果，基本就看不到闪烁了，而是一个常亮的</a:t>
            </a:r>
            <a:r>
              <a:rPr lang="en-US" altLang="zh-CN"/>
              <a:t>LED</a:t>
            </a:r>
            <a:r>
              <a:rPr lang="zh-CN" altLang="en-US"/>
              <a:t>灯，</a:t>
            </a:r>
            <a:endParaRPr lang="zh-CN" altLang="en-US"/>
          </a:p>
          <a:p>
            <a:endParaRPr lang="en-US" altLang="zh-CN"/>
          </a:p>
          <a:p>
            <a:r>
              <a:rPr lang="zh-CN" altLang="en-US"/>
              <a:t>你在</a:t>
            </a:r>
            <a:r>
              <a:rPr lang="en-US" altLang="zh-CN"/>
              <a:t>1</a:t>
            </a:r>
            <a:r>
              <a:rPr lang="zh-CN" altLang="en-US"/>
              <a:t>秒内，高电平</a:t>
            </a:r>
            <a:r>
              <a:rPr lang="en-US" altLang="zh-CN"/>
              <a:t>0.5</a:t>
            </a:r>
            <a:r>
              <a:rPr lang="zh-CN" altLang="en-US"/>
              <a:t>秒，低电平</a:t>
            </a:r>
            <a:r>
              <a:rPr lang="en-US" altLang="zh-CN"/>
              <a:t>0.5</a:t>
            </a:r>
            <a:r>
              <a:rPr lang="zh-CN" altLang="en-US"/>
              <a:t>秒，</a:t>
            </a:r>
            <a:r>
              <a:rPr lang="en-US" altLang="zh-CN"/>
              <a:t>(</a:t>
            </a:r>
            <a:r>
              <a:rPr lang="zh-CN" altLang="en-US"/>
              <a:t>频率</a:t>
            </a:r>
            <a:r>
              <a:rPr lang="en-US" altLang="zh-CN"/>
              <a:t>1Hz)</a:t>
            </a:r>
            <a:r>
              <a:rPr lang="zh-CN" altLang="en-US"/>
              <a:t>如此反复，那么你看到的电灯就会闪烁，</a:t>
            </a:r>
            <a:endParaRPr lang="zh-CN" altLang="en-US"/>
          </a:p>
          <a:p>
            <a:endParaRPr lang="en-US" altLang="zh-CN"/>
          </a:p>
          <a:p>
            <a:r>
              <a:rPr lang="zh-CN" altLang="en-US"/>
              <a:t>但是如果是</a:t>
            </a:r>
            <a:r>
              <a:rPr lang="en-US" altLang="zh-CN"/>
              <a:t>10</a:t>
            </a:r>
            <a:r>
              <a:rPr lang="zh-CN" altLang="en-US"/>
              <a:t>毫秒内，</a:t>
            </a:r>
            <a:r>
              <a:rPr lang="en-US" altLang="zh-CN"/>
              <a:t>5</a:t>
            </a:r>
            <a:r>
              <a:rPr lang="zh-CN" altLang="en-US"/>
              <a:t>毫秒打开，</a:t>
            </a:r>
            <a:r>
              <a:rPr lang="en-US" altLang="zh-CN"/>
              <a:t>5</a:t>
            </a:r>
            <a:r>
              <a:rPr lang="zh-CN" altLang="en-US"/>
              <a:t>毫秒关闭，</a:t>
            </a:r>
            <a:r>
              <a:rPr lang="en-US" altLang="zh-CN"/>
              <a:t>(</a:t>
            </a:r>
            <a:r>
              <a:rPr lang="zh-CN" altLang="en-US"/>
              <a:t>频率</a:t>
            </a:r>
            <a:r>
              <a:rPr lang="en-US" altLang="zh-CN"/>
              <a:t>100Hz) </a:t>
            </a:r>
            <a:r>
              <a:rPr lang="zh-CN" altLang="en-US"/>
              <a:t>这时候灯光的亮灭速度赶不上开关速度</a:t>
            </a:r>
            <a:r>
              <a:rPr lang="en-US" altLang="zh-CN"/>
              <a:t>(LED</a:t>
            </a:r>
            <a:r>
              <a:rPr lang="zh-CN" altLang="en-US"/>
              <a:t>灯还没完全亮就又熄灭了</a:t>
            </a:r>
            <a:r>
              <a:rPr lang="en-US" altLang="zh-CN"/>
              <a:t>)</a:t>
            </a:r>
            <a:r>
              <a:rPr lang="zh-CN" altLang="en-US"/>
              <a:t>，由于视觉暂留作用</a:t>
            </a:r>
            <a:r>
              <a:rPr lang="en-US" altLang="zh-CN"/>
              <a:t> </a:t>
            </a:r>
            <a:r>
              <a:rPr lang="zh-CN" altLang="en-US"/>
              <a:t>人眼不感觉电灯在闪烁，而是感觉灯的亮度少了</a:t>
            </a:r>
            <a:r>
              <a:rPr lang="en-US" altLang="zh-CN"/>
              <a:t> </a:t>
            </a:r>
            <a:r>
              <a:rPr lang="zh-CN" altLang="en-US"/>
              <a:t>因为高电平时间</a:t>
            </a:r>
            <a:r>
              <a:rPr lang="en-US" altLang="zh-CN"/>
              <a:t>(</a:t>
            </a:r>
            <a:r>
              <a:rPr lang="zh-CN" altLang="en-US"/>
              <a:t>占空比</a:t>
            </a:r>
            <a:r>
              <a:rPr lang="en-US" altLang="zh-CN"/>
              <a:t>)</a:t>
            </a:r>
            <a:r>
              <a:rPr lang="zh-CN" altLang="en-US"/>
              <a:t>为</a:t>
            </a:r>
            <a:r>
              <a:rPr lang="en-US" altLang="zh-CN"/>
              <a:t>50% </a:t>
            </a:r>
            <a:r>
              <a:rPr lang="zh-CN" altLang="en-US"/>
              <a:t>亮度也就为之前的</a:t>
            </a:r>
            <a:r>
              <a:rPr lang="en-US" altLang="zh-CN"/>
              <a:t>50% </a:t>
            </a:r>
            <a:r>
              <a:rPr lang="zh-CN" altLang="en-US"/>
              <a:t>，</a:t>
            </a:r>
            <a:endParaRPr lang="zh-CN" altLang="en-US"/>
          </a:p>
          <a:p>
            <a:endParaRPr lang="en-US" altLang="zh-CN"/>
          </a:p>
          <a:p>
            <a:r>
              <a:rPr lang="zh-CN" altLang="en-US"/>
              <a:t>频率很高时，看不到闪烁，占空比越大，</a:t>
            </a:r>
            <a:r>
              <a:rPr lang="en-US" altLang="zh-CN"/>
              <a:t>LED</a:t>
            </a:r>
            <a:r>
              <a:rPr lang="zh-CN" altLang="en-US"/>
              <a:t>越亮；</a:t>
            </a:r>
            <a:endParaRPr lang="zh-CN" altLang="en-US"/>
          </a:p>
          <a:p>
            <a:r>
              <a:rPr lang="zh-CN" altLang="en-US"/>
              <a:t>频率很低时，可看到闪烁，占空比越大，</a:t>
            </a:r>
            <a:r>
              <a:rPr lang="en-US" altLang="zh-CN"/>
              <a:t>LED</a:t>
            </a:r>
            <a:r>
              <a:rPr lang="zh-CN" altLang="en-US"/>
              <a:t>越亮。</a:t>
            </a:r>
            <a:endParaRPr lang="zh-CN" altLang="en-US"/>
          </a:p>
          <a:p>
            <a:r>
              <a:rPr lang="zh-CN" altLang="en-US"/>
              <a:t>所以，在频率一定下，可以用不同占空比改变</a:t>
            </a:r>
            <a:r>
              <a:rPr lang="en-US" altLang="zh-CN"/>
              <a:t>LED</a:t>
            </a:r>
            <a:r>
              <a:rPr lang="zh-CN" altLang="en-US"/>
              <a:t>灯的亮度。</a:t>
            </a:r>
            <a:r>
              <a:rPr lang="en-US" altLang="zh-CN"/>
              <a:t> </a:t>
            </a:r>
            <a:r>
              <a:rPr lang="zh-CN" altLang="en-US"/>
              <a:t>使其达到一个呼吸灯的效果</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THANKS</a:t>
            </a:r>
            <a:r>
              <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6329861" y="3689185"/>
            <a:ext cx="329350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2024</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6057265" y="5248275"/>
            <a:ext cx="2901950" cy="553085"/>
          </a:xfrm>
          <a:prstGeom prst="rect">
            <a:avLst/>
          </a:prstGeom>
          <a:noFill/>
        </p:spPr>
        <p:txBody>
          <a:bodyPr wrap="square" rtlCol="0">
            <a:spAutoFit/>
          </a:bodyPr>
          <a:lstStyle/>
          <a:p>
            <a:r>
              <a:rPr lang="en-US" altLang="zh-CN" sz="3000" b="1" dirty="0">
                <a:solidFill>
                  <a:schemeClr val="bg1"/>
                </a:solidFill>
              </a:rPr>
              <a:t>2024</a:t>
            </a:r>
            <a:r>
              <a:rPr lang="zh-CN" altLang="en-US" sz="3000" b="1" dirty="0">
                <a:solidFill>
                  <a:schemeClr val="bg1"/>
                </a:solidFill>
              </a:rPr>
              <a:t>年</a:t>
            </a:r>
            <a:r>
              <a:rPr lang="en-US" altLang="zh-CN" sz="3000" b="1" dirty="0">
                <a:solidFill>
                  <a:schemeClr val="bg1"/>
                </a:solidFill>
              </a:rPr>
              <a:t>12</a:t>
            </a:r>
            <a:r>
              <a:rPr lang="zh-CN" altLang="en-US" sz="3000" b="1" dirty="0">
                <a:solidFill>
                  <a:schemeClr val="bg1"/>
                </a:solidFill>
              </a:rPr>
              <a:t>月</a:t>
            </a:r>
            <a:r>
              <a:rPr lang="en-US" altLang="zh-CN" sz="3000" b="1" dirty="0">
                <a:solidFill>
                  <a:schemeClr val="bg1"/>
                </a:solidFill>
              </a:rPr>
              <a:t>1</a:t>
            </a:r>
            <a:r>
              <a:rPr lang="zh-CN" altLang="en-US" sz="3000" b="1" dirty="0">
                <a:solidFill>
                  <a:schemeClr val="bg1"/>
                </a:solidFill>
              </a:rPr>
              <a:t>日</a:t>
            </a:r>
            <a:endParaRPr lang="zh-CN" altLang="en-US" sz="3000" b="1" dirty="0">
              <a:solidFill>
                <a:schemeClr val="bg1"/>
              </a:solidFill>
            </a:endParaRPr>
          </a:p>
        </p:txBody>
      </p:sp>
      <p:pic>
        <p:nvPicPr>
          <p:cNvPr id="3" name="图片 2" descr="63f666859cf7453eb2d2e7f4689439ff"/>
          <p:cNvPicPr>
            <a:picLocks noChangeAspect="1"/>
          </p:cNvPicPr>
          <p:nvPr/>
        </p:nvPicPr>
        <p:blipFill>
          <a:blip r:embed="rId2">
            <a:clrChange>
              <a:clrFrom>
                <a:srgbClr val="FEFEFE">
                  <a:alpha val="100000"/>
                </a:srgbClr>
              </a:clrFrom>
              <a:clrTo>
                <a:srgbClr val="FEFEFE">
                  <a:alpha val="100000"/>
                  <a:alpha val="0"/>
                </a:srgbClr>
              </a:clrTo>
            </a:clrChange>
          </a:blip>
          <a:stretch>
            <a:fillRect/>
          </a:stretch>
        </p:blipFill>
        <p:spPr>
          <a:xfrm>
            <a:off x="584200" y="582295"/>
            <a:ext cx="1279525" cy="1355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tags/tag1.xml><?xml version="1.0" encoding="utf-8"?>
<p:tagLst xmlns:p="http://schemas.openxmlformats.org/presentationml/2006/main">
  <p:tag name="KSO_WM_DIAGRAM_VIRTUALLY_FRAME" val="{&quot;height&quot;:409.2535433070866,&quot;left&quot;:128.02,&quot;top&quot;:86.57787401574804,&quot;width&quot;:607.5300000000001}"/>
</p:tagLst>
</file>

<file path=ppt/tags/tag2.xml><?xml version="1.0" encoding="utf-8"?>
<p:tagLst xmlns:p="http://schemas.openxmlformats.org/presentationml/2006/main">
  <p:tag name="KSO_WM_DIAGRAM_VIRTUALLY_FRAME" val="{&quot;height&quot;:409.2535433070866,&quot;left&quot;:128.02,&quot;top&quot;:86.57787401574804,&quot;width&quot;:607.5300000000001}"/>
</p:tagLst>
</file>

<file path=ppt/tags/tag3.xml><?xml version="1.0" encoding="utf-8"?>
<p:tagLst xmlns:p="http://schemas.openxmlformats.org/presentationml/2006/main">
  <p:tag name="KSO_WM_DIAGRAM_VIRTUALLY_FRAME" val="{&quot;height&quot;:409.2535433070866,&quot;left&quot;:128.02,&quot;top&quot;:86.57787401574804,&quot;width&quot;:607.5300000000001}"/>
</p:tagLst>
</file>

<file path=ppt/tags/tag4.xml><?xml version="1.0" encoding="utf-8"?>
<p:tagLst xmlns:p="http://schemas.openxmlformats.org/presentationml/2006/main">
  <p:tag name="KSO_WM_DIAGRAM_VIRTUALLY_FRAME" val="{&quot;height&quot;:409.2535433070866,&quot;left&quot;:128.02,&quot;top&quot;:86.57787401574804,&quot;width&quot;:607.5300000000001}"/>
</p:tagLst>
</file>

<file path=ppt/tags/tag5.xml><?xml version="1.0" encoding="utf-8"?>
<p:tagLst xmlns:p="http://schemas.openxmlformats.org/presentationml/2006/main">
  <p:tag name="KSO_WM_DIAGRAM_VIRTUALLY_FRAME" val="{&quot;height&quot;:409.2535433070866,&quot;left&quot;:128.02,&quot;top&quot;:86.57787401574804,&quot;width&quot;:607.5300000000001}"/>
</p:tagLst>
</file>

<file path=ppt/tags/tag6.xml><?xml version="1.0" encoding="utf-8"?>
<p:tagLst xmlns:p="http://schemas.openxmlformats.org/presentationml/2006/main">
  <p:tag name="KSO_WM_DIAGRAM_VIRTUALLY_FRAME" val="{&quot;height&quot;:409.2535433070866,&quot;left&quot;:128.02,&quot;top&quot;:86.57787401574804,&quot;width&quot;:607.5300000000001}"/>
</p:tagLst>
</file>

<file path=ppt/tags/tag7.xml><?xml version="1.0" encoding="utf-8"?>
<p:tagLst xmlns:p="http://schemas.openxmlformats.org/presentationml/2006/main">
  <p:tag name="KSO_WM_DIAGRAM_VIRTUALLY_FRAME" val="{&quot;height&quot;:409.2535433070866,&quot;left&quot;:128.02,&quot;top&quot;:86.57787401574804,&quot;width&quot;:607.5300000000001}"/>
</p:tagLst>
</file>

<file path=ppt/tags/tag8.xml><?xml version="1.0" encoding="utf-8"?>
<p:tagLst xmlns:p="http://schemas.openxmlformats.org/presentationml/2006/main">
  <p:tag name="KSO_WM_DIAGRAM_VIRTUALLY_FRAME" val="{&quot;height&quot;:409.2535433070866,&quot;left&quot;:128.02,&quot;top&quot;:86.57787401574804,&quot;width&quot;:607.5300000000001}"/>
</p:tagLst>
</file>

<file path=ppt/tags/tag9.xml><?xml version="1.0" encoding="utf-8"?>
<p:tagLst xmlns:p="http://schemas.openxmlformats.org/presentationml/2006/main">
  <p:tag name="KSO_WM_DIAGRAM_VIRTUALLY_FRAME" val="{&quot;height&quot;:409.2535433070866,&quot;left&quot;:128.02,&quot;top&quot;:86.57787401574804,&quot;width&quot;:607.5300000000001}"/>
</p:tagLst>
</file>

<file path=ppt/tags/tag10.xml><?xml version="1.0" encoding="utf-8"?>
<p:tagLst xmlns:p="http://schemas.openxmlformats.org/presentationml/2006/main">
  <p:tag name="KSO_WM_DIAGRAM_VIRTUALLY_FRAME" val="{&quot;height&quot;:409.2535433070866,&quot;left&quot;:128.02,&quot;top&quot;:86.57787401574804,&quot;width&quot;:607.5300000000001}"/>
</p:tagLst>
</file>

<file path=ppt/tags/tag11.xml><?xml version="1.0" encoding="utf-8"?>
<p:tagLst xmlns:p="http://schemas.openxmlformats.org/presentationml/2006/main">
  <p:tag name="KSO_WM_DIAGRAM_VIRTUALLY_FRAME" val="{&quot;height&quot;:409.2535433070866,&quot;left&quot;:128.02,&quot;top&quot;:86.57787401574804,&quot;width&quot;:607.5300000000001}"/>
</p:tagLst>
</file>

<file path=ppt/tags/tag12.xml><?xml version="1.0" encoding="utf-8"?>
<p:tagLst xmlns:p="http://schemas.openxmlformats.org/presentationml/2006/main">
  <p:tag name="KSO_WM_DIAGRAM_VIRTUALLY_FRAME" val="{&quot;height&quot;:409.2535433070866,&quot;left&quot;:128.02,&quot;top&quot;:86.57787401574804,&quot;width&quot;:607.5300000000001}"/>
</p:tagLst>
</file>

<file path=ppt/tags/tag13.xml><?xml version="1.0" encoding="utf-8"?>
<p:tagLst xmlns:p="http://schemas.openxmlformats.org/presentationml/2006/main">
  <p:tag name="KSO_WM_DIAGRAM_VIRTUALLY_FRAME" val="{&quot;height&quot;:409.2535433070866,&quot;left&quot;:128.02,&quot;top&quot;:86.57787401574804,&quot;width&quot;:607.5300000000001}"/>
</p:tagLst>
</file>

<file path=ppt/tags/tag14.xml><?xml version="1.0" encoding="utf-8"?>
<p:tagLst xmlns:p="http://schemas.openxmlformats.org/presentationml/2006/main">
  <p:tag name="KSO_WM_DIAGRAM_VIRTUALLY_FRAME" val="{&quot;height&quot;:409.2535433070866,&quot;left&quot;:128.02,&quot;top&quot;:86.57787401574804,&quot;width&quot;:607.5300000000001}"/>
</p:tagLst>
</file>

<file path=ppt/tags/tag15.xml><?xml version="1.0" encoding="utf-8"?>
<p:tagLst xmlns:p="http://schemas.openxmlformats.org/presentationml/2006/main">
  <p:tag name="KSO_WM_DIAGRAM_VIRTUALLY_FRAME" val="{&quot;height&quot;:409.2535433070866,&quot;left&quot;:128.02,&quot;top&quot;:86.57787401574804,&quot;width&quot;:607.5300000000001}"/>
</p:tagLst>
</file>

<file path=ppt/tags/tag16.xml><?xml version="1.0" encoding="utf-8"?>
<p:tagLst xmlns:p="http://schemas.openxmlformats.org/presentationml/2006/main">
  <p:tag name="KSO_WM_DIAGRAM_VIRTUALLY_FRAME" val="{&quot;height&quot;:409.2535433070866,&quot;left&quot;:128.02,&quot;top&quot;:86.57787401574804,&quot;width&quot;:607.5300000000001}"/>
</p:tagLst>
</file>

<file path=ppt/tags/tag17.xml><?xml version="1.0" encoding="utf-8"?>
<p:tagLst xmlns:p="http://schemas.openxmlformats.org/presentationml/2006/main">
  <p:tag name="KSO_WM_DIAGRAM_VIRTUALLY_FRAME" val="{&quot;height&quot;:409.2535433070866,&quot;left&quot;:128.02,&quot;top&quot;:86.57787401574804,&quot;width&quot;:607.5300000000001}"/>
</p:tagLst>
</file>

<file path=ppt/tags/tag18.xml><?xml version="1.0" encoding="utf-8"?>
<p:tagLst xmlns:p="http://schemas.openxmlformats.org/presentationml/2006/main">
  <p:tag name="KSO_WM_DIAGRAM_VIRTUALLY_FRAME" val="{&quot;height&quot;:409.2535433070866,&quot;left&quot;:128.02,&quot;top&quot;:86.57787401574804,&quot;width&quot;:607.5300000000001}"/>
</p:tagLst>
</file>

<file path=ppt/tags/tag19.xml><?xml version="1.0" encoding="utf-8"?>
<p:tagLst xmlns:p="http://schemas.openxmlformats.org/presentationml/2006/main">
  <p:tag name="KSO_WM_DIAGRAM_VIRTUALLY_FRAME" val="{&quot;height&quot;:409.2535433070866,&quot;left&quot;:128.02,&quot;top&quot;:86.57787401574804,&quot;width&quot;:607.5300000000001}"/>
</p:tagLst>
</file>

<file path=ppt/tags/tag20.xml><?xml version="1.0" encoding="utf-8"?>
<p:tagLst xmlns:p="http://schemas.openxmlformats.org/presentationml/2006/main">
  <p:tag name="KSO_WM_DIAGRAM_VIRTUALLY_FRAME" val="{&quot;height&quot;:409.2535433070866,&quot;left&quot;:128.02,&quot;top&quot;:86.57787401574804,&quot;width&quot;:607.5300000000001}"/>
</p:tagLst>
</file>

<file path=ppt/tags/tag21.xml><?xml version="1.0" encoding="utf-8"?>
<p:tagLst xmlns:p="http://schemas.openxmlformats.org/presentationml/2006/main">
  <p:tag name="ISPRING_PRESENTATION_TITLE" val="7357.pptx"/>
  <p:tag name="commondata" val="eyJoZGlkIjoiNGFmZDE0NTgyMDM1MDlhNGQxYWUwNGY0YWUzZjliN2EifQ=="/>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2990</Words>
  <Application>WPS 演示</Application>
  <PresentationFormat>全屏显示(4:3)</PresentationFormat>
  <Paragraphs>279</Paragraphs>
  <Slides>25</Slides>
  <Notes>23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宋体</vt:lpstr>
      <vt:lpstr>Wingdings</vt:lpstr>
      <vt:lpstr>微软雅黑</vt:lpstr>
      <vt:lpstr>幼圆</vt:lpstr>
      <vt:lpstr>Times New Roman</vt:lpstr>
      <vt:lpstr>Calibri</vt:lpstr>
      <vt:lpstr>Arial Unicode MS</vt:lpstr>
      <vt:lpstr>Calibri Light</vt:lpstr>
      <vt:lpstr>Microsoft YaHei UI</vt:lpstr>
      <vt:lpstr>OPPOSans 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7357.pptx</dc:title>
  <dc:creator/>
  <cp:lastModifiedBy>WPS_1695185466</cp:lastModifiedBy>
  <cp:revision>47</cp:revision>
  <dcterms:created xsi:type="dcterms:W3CDTF">2017-07-09T13:36:00Z</dcterms:created>
  <dcterms:modified xsi:type="dcterms:W3CDTF">2024-12-01T05:52:47Z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5B6FD1F749224292B2CCBE3B59086FC7_13</vt:lpwstr>
  </property>
  <property fmtid="{D5CDD505-2E9C-101B-9397-08002B2CF9AE}" pid="3" name="KSOProductBuildVer">
    <vt:lpwstr>2052-12.1.0.19302</vt:lpwstr>
  </property>
</Properties>
</file>