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4"/>
  </p:notesMasterIdLst>
  <p:sldIdLst>
    <p:sldId id="349" r:id="rId3"/>
    <p:sldId id="257" r:id="rId5"/>
    <p:sldId id="259" r:id="rId6"/>
    <p:sldId id="352" r:id="rId7"/>
    <p:sldId id="498" r:id="rId8"/>
    <p:sldId id="497" r:id="rId9"/>
    <p:sldId id="258" r:id="rId10"/>
    <p:sldId id="267" r:id="rId11"/>
    <p:sldId id="260" r:id="rId12"/>
    <p:sldId id="304" r:id="rId13"/>
    <p:sldId id="500" r:id="rId14"/>
    <p:sldId id="428" r:id="rId15"/>
    <p:sldId id="495" r:id="rId16"/>
    <p:sldId id="496" r:id="rId17"/>
    <p:sldId id="499" r:id="rId18"/>
    <p:sldId id="501" r:id="rId19"/>
    <p:sldId id="261" r:id="rId20"/>
    <p:sldId id="323" r:id="rId21"/>
    <p:sldId id="454" r:id="rId22"/>
    <p:sldId id="475" r:id="rId23"/>
    <p:sldId id="502" r:id="rId24"/>
    <p:sldId id="503" r:id="rId25"/>
    <p:sldId id="517" r:id="rId26"/>
    <p:sldId id="370" r:id="rId27"/>
  </p:sldIdLst>
  <p:sldSz cx="9144000" cy="6858000" type="screen4x3"/>
  <p:notesSz cx="6858000" cy="9144000"/>
  <p:custDataLst>
    <p:tags r:id="rId3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73" userDrawn="1">
          <p15:clr>
            <a:srgbClr val="A4A3A4"/>
          </p15:clr>
        </p15:guide>
        <p15:guide id="2" pos="5490" userDrawn="1">
          <p15:clr>
            <a:srgbClr val="A4A3A4"/>
          </p15:clr>
        </p15:guide>
        <p15:guide id="3" pos="384" userDrawn="1">
          <p15:clr>
            <a:srgbClr val="A4A3A4"/>
          </p15:clr>
        </p15:guide>
        <p15:guide id="4" orient="horz" pos="398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en" initials="c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2626"/>
    <a:srgbClr val="0070C0"/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43" autoAdjust="0"/>
    <p:restoredTop sz="92697" autoAdjust="0"/>
  </p:normalViewPr>
  <p:slideViewPr>
    <p:cSldViewPr snapToGrid="0" showGuides="1">
      <p:cViewPr varScale="1">
        <p:scale>
          <a:sx n="59" d="100"/>
          <a:sy n="59" d="100"/>
        </p:scale>
        <p:origin x="1674" y="60"/>
      </p:cViewPr>
      <p:guideLst>
        <p:guide orient="horz" pos="373"/>
        <p:guide pos="5490"/>
        <p:guide pos="384"/>
        <p:guide orient="horz" pos="398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2" Type="http://schemas.openxmlformats.org/officeDocument/2006/relationships/tags" Target="tags/tag23.xml"/><Relationship Id="rId31" Type="http://schemas.openxmlformats.org/officeDocument/2006/relationships/commentAuthors" Target="commentAuthors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1-23T23:29:04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802.000 843.000,'3.000'0.000,"0.000"0.000,2.000 0.000,-2.000 0.000,0.000 0.000,0.000 0.000,0.000 0.000,0.000 0.000,0.000 0.000,0.000 0.000,0.000 0.000,0.000 0.000,0.000 0.000,0.000 0.000,0.000 0.000,0.000 0.000,0.000 0.000,0.000 0.000,1.000 1.000,-1.000-1.000,0.000 0.000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1-23T23:29:04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865.000 822.000,'3.000'1.000,"-1.000"2.000,8.000 3.000,-8.000-3.000,1.000-1.000,0.000 0.000,0.000-1.000,-1.000 2.000,-5.000 0.000,0.000 0.000,0.000-2.000,0.000 1.000,0.000 0.000,0.000 0.000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1-23T23:29:04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1445.000 845.000,'3.000'-1.000,"0.000"1.000,0.000-1.000,2.000-1.000,1.000 1.000,0.000 0.000,-3.000 1.000,0.000 0.000,0.000-1.000,0.000 1.000,0.000-1.000,0.000 1.000,0.000-1.000,0.000 1.000,0.000-1.000,0.000 1.000,1.000 0.000,-1.000-1.000,8.000 2.000,-8.000-1.000,0.000 1.000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1-23T23:29:04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1518.000 812.000,'3.000'1.000,"-1.000"2.000,1.000 0.000,0.000-1.000,-2.000 1.000,4.000 1.000,-3.000 0.000,1.000-3.000,-2.000 2.000,2.000-1.000,-1.000 1.000,-5.000-1.000,0.000-1.000,0.000 0.000,-2.000 1.000,1.000-1.000,-6.000 1.000,-3.000 1.000,10.000-2.000,0.000-1.000,-1.000 0.000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AD77B4-E4B4-4D3C-A9C5-EB900FF3B15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AD5EBB-275F-4C24-B082-C5EEF143550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亮亮图文旗舰店</a:t>
            </a:r>
            <a:endParaRPr lang="zh-CN" altLang="en-US" dirty="0"/>
          </a:p>
          <a:p>
            <a:r>
              <a:rPr lang="en-US" altLang="zh-CN" dirty="0"/>
              <a:t>https://liangliangtuwen.tmall.com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E6CF1A-E888-4A07-B96A-456D0CF6948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AD5EBB-275F-4C24-B082-C5EEF14355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AD5EBB-275F-4C24-B082-C5EEF14355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AD5EBB-275F-4C24-B082-C5EEF14355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AD5EBB-275F-4C24-B082-C5EEF14355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AD5EBB-275F-4C24-B082-C5EEF14355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AD5EBB-275F-4C24-B082-C5EEF14355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AD5EBB-275F-4C24-B082-C5EEF14355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AD5EBB-275F-4C24-B082-C5EEF14355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AD5EBB-275F-4C24-B082-C5EEF14355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AD5EBB-275F-4C24-B082-C5EEF14355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AD5EBB-275F-4C24-B082-C5EEF14355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AD5EBB-275F-4C24-B082-C5EEF14355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AD5EBB-275F-4C24-B082-C5EEF14355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AD5EBB-275F-4C24-B082-C5EEF14355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AD5EBB-275F-4C24-B082-C5EEF14355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AD5EBB-275F-4C24-B082-C5EEF14355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AD5EBB-275F-4C24-B082-C5EEF14355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AD5EBB-275F-4C24-B082-C5EEF14355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AD5EBB-275F-4C24-B082-C5EEF14355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AD5EBB-275F-4C24-B082-C5EEF14355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AD5EBB-275F-4C24-B082-C5EEF14355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AD5EBB-275F-4C24-B082-C5EEF14355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亮亮图文旗舰店</a:t>
            </a:r>
            <a:endParaRPr lang="zh-CN" altLang="en-US" dirty="0"/>
          </a:p>
          <a:p>
            <a:r>
              <a:rPr lang="en-US" altLang="zh-CN" dirty="0"/>
              <a:t>https://liangliangtuwen.tmall.com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E6CF1A-E888-4A07-B96A-456D0CF6948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D302F-5E2D-4FF9-A986-02603DCE6FD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CA248-7BE1-4335-B3FB-1E6869F2EC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D302F-5E2D-4FF9-A986-02603DCE6FD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CA248-7BE1-4335-B3FB-1E6869F2EC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D302F-5E2D-4FF9-A986-02603DCE6FD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CA248-7BE1-4335-B3FB-1E6869F2EC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D302F-5E2D-4FF9-A986-02603DCE6FD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CA248-7BE1-4335-B3FB-1E6869F2EC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D302F-5E2D-4FF9-A986-02603DCE6FDA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CA248-7BE1-4335-B3FB-1E6869F2EC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D302F-5E2D-4FF9-A986-02603DCE6FD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CA248-7BE1-4335-B3FB-1E6869F2EC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D302F-5E2D-4FF9-A986-02603DCE6FDA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CA248-7BE1-4335-B3FB-1E6869F2EC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D302F-5E2D-4FF9-A986-02603DCE6FD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CA248-7BE1-4335-B3FB-1E6869F2EC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D302F-5E2D-4FF9-A986-02603DCE6FD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CA248-7BE1-4335-B3FB-1E6869F2EC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D302F-5E2D-4FF9-A986-02603DCE6FD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CA248-7BE1-4335-B3FB-1E6869F2EC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D302F-5E2D-4FF9-A986-02603DCE6FD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CA248-7BE1-4335-B3FB-1E6869F2EC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1D302F-5E2D-4FF9-A986-02603DCE6FD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6CA248-7BE1-4335-B3FB-1E6869F2EC7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tags" Target="../tags/tag7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tags" Target="../tags/tag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2" Type="http://schemas.openxmlformats.org/officeDocument/2006/relationships/tags" Target="../tags/tag10.xml"/><Relationship Id="rId1" Type="http://schemas.openxmlformats.org/officeDocument/2006/relationships/tags" Target="../tags/tag9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12.xml"/><Relationship Id="rId1" Type="http://schemas.openxmlformats.org/officeDocument/2006/relationships/tags" Target="../tags/tag11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customXml" Target="../ink/ink1.xml"/><Relationship Id="rId8" Type="http://schemas.openxmlformats.org/officeDocument/2006/relationships/image" Target="../media/image10.png"/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image" Target="../media/image9.png"/><Relationship Id="rId4" Type="http://schemas.openxmlformats.org/officeDocument/2006/relationships/tags" Target="../tags/tag15.xml"/><Relationship Id="rId3" Type="http://schemas.openxmlformats.org/officeDocument/2006/relationships/image" Target="../media/image8.png"/><Relationship Id="rId20" Type="http://schemas.openxmlformats.org/officeDocument/2006/relationships/notesSlide" Target="../notesSlides/notesSlide20.xml"/><Relationship Id="rId2" Type="http://schemas.openxmlformats.org/officeDocument/2006/relationships/tags" Target="../tags/tag14.xml"/><Relationship Id="rId19" Type="http://schemas.openxmlformats.org/officeDocument/2006/relationships/slideLayout" Target="../slideLayouts/slideLayout1.xml"/><Relationship Id="rId18" Type="http://schemas.openxmlformats.org/officeDocument/2006/relationships/tags" Target="../tags/tag19.xml"/><Relationship Id="rId17" Type="http://schemas.openxmlformats.org/officeDocument/2006/relationships/tags" Target="../tags/tag18.xml"/><Relationship Id="rId16" Type="http://schemas.openxmlformats.org/officeDocument/2006/relationships/image" Target="../media/image14.png"/><Relationship Id="rId15" Type="http://schemas.openxmlformats.org/officeDocument/2006/relationships/customXml" Target="../ink/ink4.xml"/><Relationship Id="rId14" Type="http://schemas.openxmlformats.org/officeDocument/2006/relationships/image" Target="../media/image13.png"/><Relationship Id="rId13" Type="http://schemas.openxmlformats.org/officeDocument/2006/relationships/customXml" Target="../ink/ink3.xml"/><Relationship Id="rId12" Type="http://schemas.openxmlformats.org/officeDocument/2006/relationships/image" Target="../media/image12.png"/><Relationship Id="rId11" Type="http://schemas.openxmlformats.org/officeDocument/2006/relationships/customXml" Target="../ink/ink2.xml"/><Relationship Id="rId10" Type="http://schemas.openxmlformats.org/officeDocument/2006/relationships/image" Target="../media/image11.png"/><Relationship Id="rId1" Type="http://schemas.openxmlformats.org/officeDocument/2006/relationships/tags" Target="../tags/tag13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1" Type="http://schemas.openxmlformats.org/officeDocument/2006/relationships/tags" Target="../tags/tag20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1" Type="http://schemas.openxmlformats.org/officeDocument/2006/relationships/tags" Target="../tags/tag21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1" Type="http://schemas.openxmlformats.org/officeDocument/2006/relationships/tags" Target="../tags/tag2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 52"/>
          <p:cNvSpPr/>
          <p:nvPr/>
        </p:nvSpPr>
        <p:spPr>
          <a:xfrm>
            <a:off x="-17145" y="2402852"/>
            <a:ext cx="9161315" cy="2105686"/>
          </a:xfrm>
          <a:prstGeom prst="rect">
            <a:avLst/>
          </a:prstGeom>
          <a:solidFill>
            <a:srgbClr val="5B5E77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54" name="矩形 23"/>
          <p:cNvSpPr/>
          <p:nvPr/>
        </p:nvSpPr>
        <p:spPr>
          <a:xfrm>
            <a:off x="3600145" y="2526185"/>
            <a:ext cx="5561170" cy="1931695"/>
          </a:xfrm>
          <a:custGeom>
            <a:avLst/>
            <a:gdLst>
              <a:gd name="connsiteX0" fmla="*/ 0 w 6480720"/>
              <a:gd name="connsiteY0" fmla="*/ 0 h 3104728"/>
              <a:gd name="connsiteX1" fmla="*/ 6480720 w 6480720"/>
              <a:gd name="connsiteY1" fmla="*/ 0 h 3104728"/>
              <a:gd name="connsiteX2" fmla="*/ 6480720 w 6480720"/>
              <a:gd name="connsiteY2" fmla="*/ 3104728 h 3104728"/>
              <a:gd name="connsiteX3" fmla="*/ 0 w 6480720"/>
              <a:gd name="connsiteY3" fmla="*/ 3104728 h 3104728"/>
              <a:gd name="connsiteX4" fmla="*/ 0 w 6480720"/>
              <a:gd name="connsiteY4" fmla="*/ 0 h 3104728"/>
              <a:gd name="connsiteX0-1" fmla="*/ 1190065 w 6480720"/>
              <a:gd name="connsiteY0-2" fmla="*/ 0 h 3104728"/>
              <a:gd name="connsiteX1-3" fmla="*/ 6480720 w 6480720"/>
              <a:gd name="connsiteY1-4" fmla="*/ 0 h 3104728"/>
              <a:gd name="connsiteX2-5" fmla="*/ 6480720 w 6480720"/>
              <a:gd name="connsiteY2-6" fmla="*/ 3104728 h 3104728"/>
              <a:gd name="connsiteX3-7" fmla="*/ 0 w 6480720"/>
              <a:gd name="connsiteY3-8" fmla="*/ 3104728 h 3104728"/>
              <a:gd name="connsiteX4-9" fmla="*/ 1190065 w 6480720"/>
              <a:gd name="connsiteY4-10" fmla="*/ 0 h 310472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480720" h="3104728">
                <a:moveTo>
                  <a:pt x="1190065" y="0"/>
                </a:moveTo>
                <a:lnTo>
                  <a:pt x="6480720" y="0"/>
                </a:lnTo>
                <a:lnTo>
                  <a:pt x="6480720" y="3104728"/>
                </a:lnTo>
                <a:lnTo>
                  <a:pt x="0" y="3104728"/>
                </a:lnTo>
                <a:lnTo>
                  <a:pt x="1190065" y="0"/>
                </a:lnTo>
                <a:close/>
              </a:path>
            </a:pathLst>
          </a:custGeom>
          <a:solidFill>
            <a:srgbClr val="414455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56" name="TextBox 7"/>
          <p:cNvSpPr>
            <a:spLocks noChangeArrowheads="1"/>
          </p:cNvSpPr>
          <p:nvPr/>
        </p:nvSpPr>
        <p:spPr bwMode="auto">
          <a:xfrm>
            <a:off x="4356032" y="2856452"/>
            <a:ext cx="4697299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5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电控组 培训</a:t>
            </a:r>
            <a:endParaRPr lang="zh-CN" altLang="en-US" sz="45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57" name="直接连接符 56"/>
          <p:cNvCxnSpPr/>
          <p:nvPr/>
        </p:nvCxnSpPr>
        <p:spPr>
          <a:xfrm>
            <a:off x="4949943" y="3622761"/>
            <a:ext cx="3671452" cy="0"/>
          </a:xfrm>
          <a:prstGeom prst="line">
            <a:avLst/>
          </a:prstGeom>
          <a:ln w="19050"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9" name="组合 58"/>
          <p:cNvGrpSpPr/>
          <p:nvPr/>
        </p:nvGrpSpPr>
        <p:grpSpPr>
          <a:xfrm>
            <a:off x="5435871" y="1821826"/>
            <a:ext cx="502789" cy="453322"/>
            <a:chOff x="5424755" y="1340768"/>
            <a:chExt cx="670560" cy="604586"/>
          </a:xfrm>
        </p:grpSpPr>
        <p:grpSp>
          <p:nvGrpSpPr>
            <p:cNvPr id="60" name="组合 59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62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chemeClr val="bg1"/>
                  </a:solidFill>
                </a:endParaRPr>
              </a:p>
            </p:txBody>
          </p:sp>
          <p:sp>
            <p:nvSpPr>
              <p:cNvPr id="63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61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solidFill>
                  <a:schemeClr val="bg1"/>
                </a:solidFill>
              </a:endParaRPr>
            </a:p>
          </p:txBody>
        </p:sp>
      </p:grpSp>
      <p:sp>
        <p:nvSpPr>
          <p:cNvPr id="64" name="Freeform 126"/>
          <p:cNvSpPr>
            <a:spLocks noChangeAspect="1" noEditPoints="1"/>
          </p:cNvSpPr>
          <p:nvPr/>
        </p:nvSpPr>
        <p:spPr bwMode="auto">
          <a:xfrm>
            <a:off x="5585723" y="1927812"/>
            <a:ext cx="200874" cy="251355"/>
          </a:xfrm>
          <a:custGeom>
            <a:avLst/>
            <a:gdLst>
              <a:gd name="T0" fmla="*/ 48 w 81"/>
              <a:gd name="T1" fmla="*/ 27 h 101"/>
              <a:gd name="T2" fmla="*/ 4 w 81"/>
              <a:gd name="T3" fmla="*/ 48 h 101"/>
              <a:gd name="T4" fmla="*/ 0 w 81"/>
              <a:gd name="T5" fmla="*/ 31 h 101"/>
              <a:gd name="T6" fmla="*/ 58 w 81"/>
              <a:gd name="T7" fmla="*/ 90 h 101"/>
              <a:gd name="T8" fmla="*/ 81 w 81"/>
              <a:gd name="T9" fmla="*/ 98 h 101"/>
              <a:gd name="T10" fmla="*/ 58 w 81"/>
              <a:gd name="T11" fmla="*/ 90 h 101"/>
              <a:gd name="T12" fmla="*/ 53 w 81"/>
              <a:gd name="T13" fmla="*/ 101 h 101"/>
              <a:gd name="T14" fmla="*/ 29 w 81"/>
              <a:gd name="T15" fmla="*/ 98 h 101"/>
              <a:gd name="T16" fmla="*/ 0 w 81"/>
              <a:gd name="T17" fmla="*/ 90 h 101"/>
              <a:gd name="T18" fmla="*/ 29 w 81"/>
              <a:gd name="T19" fmla="*/ 87 h 101"/>
              <a:gd name="T20" fmla="*/ 38 w 81"/>
              <a:gd name="T21" fmla="*/ 76 h 101"/>
              <a:gd name="T22" fmla="*/ 0 w 81"/>
              <a:gd name="T23" fmla="*/ 72 h 101"/>
              <a:gd name="T24" fmla="*/ 4 w 81"/>
              <a:gd name="T25" fmla="*/ 54 h 101"/>
              <a:gd name="T26" fmla="*/ 48 w 81"/>
              <a:gd name="T27" fmla="*/ 76 h 101"/>
              <a:gd name="T28" fmla="*/ 44 w 81"/>
              <a:gd name="T29" fmla="*/ 87 h 101"/>
              <a:gd name="T30" fmla="*/ 53 w 81"/>
              <a:gd name="T31" fmla="*/ 90 h 101"/>
              <a:gd name="T32" fmla="*/ 4 w 81"/>
              <a:gd name="T33" fmla="*/ 0 h 101"/>
              <a:gd name="T34" fmla="*/ 48 w 81"/>
              <a:gd name="T35" fmla="*/ 21 h 101"/>
              <a:gd name="T36" fmla="*/ 0 w 81"/>
              <a:gd name="T37" fmla="*/ 17 h 101"/>
              <a:gd name="T38" fmla="*/ 4 w 81"/>
              <a:gd name="T39" fmla="*/ 0 h 101"/>
              <a:gd name="T40" fmla="*/ 53 w 81"/>
              <a:gd name="T41" fmla="*/ 76 h 101"/>
              <a:gd name="T42" fmla="*/ 81 w 81"/>
              <a:gd name="T43" fmla="*/ 72 h 101"/>
              <a:gd name="T44" fmla="*/ 77 w 81"/>
              <a:gd name="T45" fmla="*/ 54 h 101"/>
              <a:gd name="T46" fmla="*/ 59 w 81"/>
              <a:gd name="T47" fmla="*/ 8 h 101"/>
              <a:gd name="T48" fmla="*/ 69 w 81"/>
              <a:gd name="T49" fmla="*/ 13 h 101"/>
              <a:gd name="T50" fmla="*/ 59 w 81"/>
              <a:gd name="T51" fmla="*/ 8 h 101"/>
              <a:gd name="T52" fmla="*/ 69 w 81"/>
              <a:gd name="T53" fmla="*/ 63 h 101"/>
              <a:gd name="T54" fmla="*/ 59 w 81"/>
              <a:gd name="T55" fmla="*/ 67 h 101"/>
              <a:gd name="T56" fmla="*/ 59 w 81"/>
              <a:gd name="T57" fmla="*/ 35 h 101"/>
              <a:gd name="T58" fmla="*/ 69 w 81"/>
              <a:gd name="T59" fmla="*/ 40 h 101"/>
              <a:gd name="T60" fmla="*/ 59 w 81"/>
              <a:gd name="T61" fmla="*/ 35 h 101"/>
              <a:gd name="T62" fmla="*/ 53 w 81"/>
              <a:gd name="T63" fmla="*/ 21 h 101"/>
              <a:gd name="T64" fmla="*/ 81 w 81"/>
              <a:gd name="T65" fmla="*/ 17 h 101"/>
              <a:gd name="T66" fmla="*/ 77 w 81"/>
              <a:gd name="T67" fmla="*/ 0 h 101"/>
              <a:gd name="T68" fmla="*/ 53 w 81"/>
              <a:gd name="T69" fmla="*/ 27 h 101"/>
              <a:gd name="T70" fmla="*/ 77 w 81"/>
              <a:gd name="T71" fmla="*/ 48 h 101"/>
              <a:gd name="T72" fmla="*/ 81 w 81"/>
              <a:gd name="T73" fmla="*/ 31 h 101"/>
              <a:gd name="T74" fmla="*/ 53 w 81"/>
              <a:gd name="T75" fmla="*/ 27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81" h="101">
                <a:moveTo>
                  <a:pt x="4" y="27"/>
                </a:moveTo>
                <a:cubicBezTo>
                  <a:pt x="48" y="27"/>
                  <a:pt x="48" y="27"/>
                  <a:pt x="48" y="27"/>
                </a:cubicBezTo>
                <a:cubicBezTo>
                  <a:pt x="48" y="48"/>
                  <a:pt x="48" y="48"/>
                  <a:pt x="48" y="48"/>
                </a:cubicBezTo>
                <a:cubicBezTo>
                  <a:pt x="4" y="48"/>
                  <a:pt x="4" y="48"/>
                  <a:pt x="4" y="48"/>
                </a:cubicBezTo>
                <a:cubicBezTo>
                  <a:pt x="2" y="48"/>
                  <a:pt x="0" y="46"/>
                  <a:pt x="0" y="44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29"/>
                  <a:pt x="2" y="27"/>
                  <a:pt x="4" y="27"/>
                </a:cubicBezTo>
                <a:close/>
                <a:moveTo>
                  <a:pt x="58" y="90"/>
                </a:moveTo>
                <a:cubicBezTo>
                  <a:pt x="81" y="90"/>
                  <a:pt x="81" y="90"/>
                  <a:pt x="81" y="90"/>
                </a:cubicBezTo>
                <a:cubicBezTo>
                  <a:pt x="81" y="98"/>
                  <a:pt x="81" y="98"/>
                  <a:pt x="81" y="98"/>
                </a:cubicBezTo>
                <a:cubicBezTo>
                  <a:pt x="58" y="98"/>
                  <a:pt x="58" y="98"/>
                  <a:pt x="58" y="98"/>
                </a:cubicBezTo>
                <a:cubicBezTo>
                  <a:pt x="58" y="90"/>
                  <a:pt x="58" y="90"/>
                  <a:pt x="58" y="90"/>
                </a:cubicBezTo>
                <a:close/>
                <a:moveTo>
                  <a:pt x="53" y="98"/>
                </a:moveTo>
                <a:cubicBezTo>
                  <a:pt x="53" y="101"/>
                  <a:pt x="53" y="101"/>
                  <a:pt x="53" y="101"/>
                </a:cubicBezTo>
                <a:cubicBezTo>
                  <a:pt x="29" y="101"/>
                  <a:pt x="29" y="101"/>
                  <a:pt x="29" y="101"/>
                </a:cubicBezTo>
                <a:cubicBezTo>
                  <a:pt x="29" y="98"/>
                  <a:pt x="29" y="98"/>
                  <a:pt x="29" y="98"/>
                </a:cubicBezTo>
                <a:cubicBezTo>
                  <a:pt x="0" y="98"/>
                  <a:pt x="0" y="98"/>
                  <a:pt x="0" y="98"/>
                </a:cubicBezTo>
                <a:cubicBezTo>
                  <a:pt x="0" y="90"/>
                  <a:pt x="0" y="90"/>
                  <a:pt x="0" y="90"/>
                </a:cubicBezTo>
                <a:cubicBezTo>
                  <a:pt x="29" y="90"/>
                  <a:pt x="29" y="90"/>
                  <a:pt x="29" y="90"/>
                </a:cubicBezTo>
                <a:cubicBezTo>
                  <a:pt x="29" y="87"/>
                  <a:pt x="29" y="87"/>
                  <a:pt x="29" y="87"/>
                </a:cubicBezTo>
                <a:cubicBezTo>
                  <a:pt x="38" y="87"/>
                  <a:pt x="38" y="87"/>
                  <a:pt x="38" y="87"/>
                </a:cubicBezTo>
                <a:cubicBezTo>
                  <a:pt x="38" y="76"/>
                  <a:pt x="38" y="76"/>
                  <a:pt x="38" y="76"/>
                </a:cubicBezTo>
                <a:cubicBezTo>
                  <a:pt x="4" y="76"/>
                  <a:pt x="4" y="76"/>
                  <a:pt x="4" y="76"/>
                </a:cubicBezTo>
                <a:cubicBezTo>
                  <a:pt x="2" y="76"/>
                  <a:pt x="0" y="74"/>
                  <a:pt x="0" y="72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6"/>
                  <a:pt x="2" y="54"/>
                  <a:pt x="4" y="54"/>
                </a:cubicBezTo>
                <a:cubicBezTo>
                  <a:pt x="48" y="54"/>
                  <a:pt x="48" y="54"/>
                  <a:pt x="48" y="54"/>
                </a:cubicBezTo>
                <a:cubicBezTo>
                  <a:pt x="48" y="76"/>
                  <a:pt x="48" y="76"/>
                  <a:pt x="48" y="76"/>
                </a:cubicBezTo>
                <a:cubicBezTo>
                  <a:pt x="44" y="76"/>
                  <a:pt x="44" y="76"/>
                  <a:pt x="44" y="76"/>
                </a:cubicBezTo>
                <a:cubicBezTo>
                  <a:pt x="44" y="87"/>
                  <a:pt x="44" y="87"/>
                  <a:pt x="44" y="87"/>
                </a:cubicBezTo>
                <a:cubicBezTo>
                  <a:pt x="53" y="87"/>
                  <a:pt x="53" y="87"/>
                  <a:pt x="53" y="87"/>
                </a:cubicBezTo>
                <a:cubicBezTo>
                  <a:pt x="53" y="90"/>
                  <a:pt x="53" y="90"/>
                  <a:pt x="53" y="90"/>
                </a:cubicBezTo>
                <a:cubicBezTo>
                  <a:pt x="53" y="98"/>
                  <a:pt x="53" y="98"/>
                  <a:pt x="53" y="98"/>
                </a:cubicBezTo>
                <a:close/>
                <a:moveTo>
                  <a:pt x="4" y="0"/>
                </a:moveTo>
                <a:cubicBezTo>
                  <a:pt x="48" y="0"/>
                  <a:pt x="48" y="0"/>
                  <a:pt x="48" y="0"/>
                </a:cubicBezTo>
                <a:cubicBezTo>
                  <a:pt x="48" y="21"/>
                  <a:pt x="48" y="21"/>
                  <a:pt x="48" y="21"/>
                </a:cubicBezTo>
                <a:cubicBezTo>
                  <a:pt x="4" y="21"/>
                  <a:pt x="4" y="21"/>
                  <a:pt x="4" y="21"/>
                </a:cubicBezTo>
                <a:cubicBezTo>
                  <a:pt x="2" y="21"/>
                  <a:pt x="0" y="19"/>
                  <a:pt x="0" y="17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lose/>
                <a:moveTo>
                  <a:pt x="53" y="54"/>
                </a:moveTo>
                <a:cubicBezTo>
                  <a:pt x="53" y="76"/>
                  <a:pt x="53" y="76"/>
                  <a:pt x="53" y="76"/>
                </a:cubicBezTo>
                <a:cubicBezTo>
                  <a:pt x="77" y="76"/>
                  <a:pt x="77" y="76"/>
                  <a:pt x="77" y="76"/>
                </a:cubicBezTo>
                <a:cubicBezTo>
                  <a:pt x="79" y="76"/>
                  <a:pt x="81" y="74"/>
                  <a:pt x="81" y="72"/>
                </a:cubicBezTo>
                <a:cubicBezTo>
                  <a:pt x="81" y="58"/>
                  <a:pt x="81" y="58"/>
                  <a:pt x="81" y="58"/>
                </a:cubicBezTo>
                <a:cubicBezTo>
                  <a:pt x="81" y="56"/>
                  <a:pt x="79" y="54"/>
                  <a:pt x="77" y="54"/>
                </a:cubicBezTo>
                <a:cubicBezTo>
                  <a:pt x="53" y="54"/>
                  <a:pt x="53" y="54"/>
                  <a:pt x="53" y="54"/>
                </a:cubicBezTo>
                <a:close/>
                <a:moveTo>
                  <a:pt x="59" y="8"/>
                </a:moveTo>
                <a:cubicBezTo>
                  <a:pt x="69" y="8"/>
                  <a:pt x="69" y="8"/>
                  <a:pt x="69" y="8"/>
                </a:cubicBezTo>
                <a:cubicBezTo>
                  <a:pt x="69" y="13"/>
                  <a:pt x="69" y="13"/>
                  <a:pt x="69" y="13"/>
                </a:cubicBezTo>
                <a:cubicBezTo>
                  <a:pt x="59" y="13"/>
                  <a:pt x="59" y="13"/>
                  <a:pt x="59" y="13"/>
                </a:cubicBezTo>
                <a:cubicBezTo>
                  <a:pt x="59" y="8"/>
                  <a:pt x="59" y="8"/>
                  <a:pt x="59" y="8"/>
                </a:cubicBezTo>
                <a:close/>
                <a:moveTo>
                  <a:pt x="59" y="63"/>
                </a:moveTo>
                <a:cubicBezTo>
                  <a:pt x="69" y="63"/>
                  <a:pt x="69" y="63"/>
                  <a:pt x="69" y="63"/>
                </a:cubicBezTo>
                <a:cubicBezTo>
                  <a:pt x="69" y="67"/>
                  <a:pt x="69" y="67"/>
                  <a:pt x="69" y="67"/>
                </a:cubicBezTo>
                <a:cubicBezTo>
                  <a:pt x="59" y="67"/>
                  <a:pt x="59" y="67"/>
                  <a:pt x="59" y="67"/>
                </a:cubicBezTo>
                <a:cubicBezTo>
                  <a:pt x="59" y="63"/>
                  <a:pt x="59" y="63"/>
                  <a:pt x="59" y="63"/>
                </a:cubicBezTo>
                <a:close/>
                <a:moveTo>
                  <a:pt x="59" y="35"/>
                </a:moveTo>
                <a:cubicBezTo>
                  <a:pt x="69" y="35"/>
                  <a:pt x="69" y="35"/>
                  <a:pt x="69" y="35"/>
                </a:cubicBezTo>
                <a:cubicBezTo>
                  <a:pt x="69" y="40"/>
                  <a:pt x="69" y="40"/>
                  <a:pt x="69" y="40"/>
                </a:cubicBezTo>
                <a:cubicBezTo>
                  <a:pt x="59" y="40"/>
                  <a:pt x="59" y="40"/>
                  <a:pt x="59" y="40"/>
                </a:cubicBezTo>
                <a:cubicBezTo>
                  <a:pt x="59" y="35"/>
                  <a:pt x="59" y="35"/>
                  <a:pt x="59" y="35"/>
                </a:cubicBezTo>
                <a:close/>
                <a:moveTo>
                  <a:pt x="53" y="0"/>
                </a:moveTo>
                <a:cubicBezTo>
                  <a:pt x="53" y="21"/>
                  <a:pt x="53" y="21"/>
                  <a:pt x="53" y="21"/>
                </a:cubicBezTo>
                <a:cubicBezTo>
                  <a:pt x="77" y="21"/>
                  <a:pt x="77" y="21"/>
                  <a:pt x="77" y="21"/>
                </a:cubicBezTo>
                <a:cubicBezTo>
                  <a:pt x="79" y="21"/>
                  <a:pt x="81" y="19"/>
                  <a:pt x="81" y="17"/>
                </a:cubicBezTo>
                <a:cubicBezTo>
                  <a:pt x="81" y="4"/>
                  <a:pt x="81" y="4"/>
                  <a:pt x="81" y="4"/>
                </a:cubicBezTo>
                <a:cubicBezTo>
                  <a:pt x="81" y="2"/>
                  <a:pt x="79" y="0"/>
                  <a:pt x="77" y="0"/>
                </a:cubicBezTo>
                <a:cubicBezTo>
                  <a:pt x="53" y="0"/>
                  <a:pt x="53" y="0"/>
                  <a:pt x="53" y="0"/>
                </a:cubicBezTo>
                <a:close/>
                <a:moveTo>
                  <a:pt x="53" y="27"/>
                </a:moveTo>
                <a:cubicBezTo>
                  <a:pt x="53" y="48"/>
                  <a:pt x="53" y="48"/>
                  <a:pt x="53" y="48"/>
                </a:cubicBezTo>
                <a:cubicBezTo>
                  <a:pt x="77" y="48"/>
                  <a:pt x="77" y="48"/>
                  <a:pt x="77" y="48"/>
                </a:cubicBezTo>
                <a:cubicBezTo>
                  <a:pt x="79" y="48"/>
                  <a:pt x="81" y="46"/>
                  <a:pt x="81" y="44"/>
                </a:cubicBezTo>
                <a:cubicBezTo>
                  <a:pt x="81" y="31"/>
                  <a:pt x="81" y="31"/>
                  <a:pt x="81" y="31"/>
                </a:cubicBezTo>
                <a:cubicBezTo>
                  <a:pt x="81" y="29"/>
                  <a:pt x="79" y="27"/>
                  <a:pt x="77" y="27"/>
                </a:cubicBezTo>
                <a:lnTo>
                  <a:pt x="53" y="27"/>
                </a:lnTo>
                <a:close/>
              </a:path>
            </a:pathLst>
          </a:custGeom>
          <a:solidFill>
            <a:srgbClr val="414455"/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 sz="135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5" name="组合 64"/>
          <p:cNvGrpSpPr/>
          <p:nvPr/>
        </p:nvGrpSpPr>
        <p:grpSpPr>
          <a:xfrm>
            <a:off x="6093566" y="1809242"/>
            <a:ext cx="502789" cy="453322"/>
            <a:chOff x="5424755" y="1340768"/>
            <a:chExt cx="670560" cy="604586"/>
          </a:xfrm>
        </p:grpSpPr>
        <p:grpSp>
          <p:nvGrpSpPr>
            <p:cNvPr id="66" name="组合 65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68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chemeClr val="bg1"/>
                  </a:solidFill>
                </a:endParaRPr>
              </a:p>
            </p:txBody>
          </p:sp>
          <p:sp>
            <p:nvSpPr>
              <p:cNvPr id="69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67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solidFill>
                  <a:schemeClr val="bg1"/>
                </a:solidFill>
              </a:endParaRPr>
            </a:p>
          </p:txBody>
        </p:sp>
      </p:grpSp>
      <p:sp>
        <p:nvSpPr>
          <p:cNvPr id="70" name="Freeform 261"/>
          <p:cNvSpPr/>
          <p:nvPr/>
        </p:nvSpPr>
        <p:spPr bwMode="auto">
          <a:xfrm>
            <a:off x="6221684" y="1937926"/>
            <a:ext cx="244343" cy="244343"/>
          </a:xfrm>
          <a:custGeom>
            <a:avLst/>
            <a:gdLst>
              <a:gd name="T0" fmla="*/ 84 w 86"/>
              <a:gd name="T1" fmla="*/ 13 h 86"/>
              <a:gd name="T2" fmla="*/ 74 w 86"/>
              <a:gd name="T3" fmla="*/ 1 h 86"/>
              <a:gd name="T4" fmla="*/ 72 w 86"/>
              <a:gd name="T5" fmla="*/ 1 h 86"/>
              <a:gd name="T6" fmla="*/ 71 w 86"/>
              <a:gd name="T7" fmla="*/ 1 h 86"/>
              <a:gd name="T8" fmla="*/ 69 w 86"/>
              <a:gd name="T9" fmla="*/ 4 h 86"/>
              <a:gd name="T10" fmla="*/ 69 w 86"/>
              <a:gd name="T11" fmla="*/ 10 h 86"/>
              <a:gd name="T12" fmla="*/ 59 w 86"/>
              <a:gd name="T13" fmla="*/ 10 h 86"/>
              <a:gd name="T14" fmla="*/ 59 w 86"/>
              <a:gd name="T15" fmla="*/ 1 h 86"/>
              <a:gd name="T16" fmla="*/ 58 w 86"/>
              <a:gd name="T17" fmla="*/ 0 h 86"/>
              <a:gd name="T18" fmla="*/ 46 w 86"/>
              <a:gd name="T19" fmla="*/ 0 h 86"/>
              <a:gd name="T20" fmla="*/ 45 w 86"/>
              <a:gd name="T21" fmla="*/ 1 h 86"/>
              <a:gd name="T22" fmla="*/ 45 w 86"/>
              <a:gd name="T23" fmla="*/ 10 h 86"/>
              <a:gd name="T24" fmla="*/ 44 w 86"/>
              <a:gd name="T25" fmla="*/ 13 h 86"/>
              <a:gd name="T26" fmla="*/ 44 w 86"/>
              <a:gd name="T27" fmla="*/ 21 h 86"/>
              <a:gd name="T28" fmla="*/ 45 w 86"/>
              <a:gd name="T29" fmla="*/ 24 h 86"/>
              <a:gd name="T30" fmla="*/ 45 w 86"/>
              <a:gd name="T31" fmla="*/ 27 h 86"/>
              <a:gd name="T32" fmla="*/ 37 w 86"/>
              <a:gd name="T33" fmla="*/ 27 h 86"/>
              <a:gd name="T34" fmla="*/ 37 w 86"/>
              <a:gd name="T35" fmla="*/ 21 h 86"/>
              <a:gd name="T36" fmla="*/ 34 w 86"/>
              <a:gd name="T37" fmla="*/ 18 h 86"/>
              <a:gd name="T38" fmla="*/ 32 w 86"/>
              <a:gd name="T39" fmla="*/ 18 h 86"/>
              <a:gd name="T40" fmla="*/ 29 w 86"/>
              <a:gd name="T41" fmla="*/ 18 h 86"/>
              <a:gd name="T42" fmla="*/ 3 w 86"/>
              <a:gd name="T43" fmla="*/ 30 h 86"/>
              <a:gd name="T44" fmla="*/ 0 w 86"/>
              <a:gd name="T45" fmla="*/ 34 h 86"/>
              <a:gd name="T46" fmla="*/ 3 w 86"/>
              <a:gd name="T47" fmla="*/ 38 h 86"/>
              <a:gd name="T48" fmla="*/ 29 w 86"/>
              <a:gd name="T49" fmla="*/ 50 h 86"/>
              <a:gd name="T50" fmla="*/ 31 w 86"/>
              <a:gd name="T51" fmla="*/ 51 h 86"/>
              <a:gd name="T52" fmla="*/ 34 w 86"/>
              <a:gd name="T53" fmla="*/ 50 h 86"/>
              <a:gd name="T54" fmla="*/ 37 w 86"/>
              <a:gd name="T55" fmla="*/ 47 h 86"/>
              <a:gd name="T56" fmla="*/ 37 w 86"/>
              <a:gd name="T57" fmla="*/ 42 h 86"/>
              <a:gd name="T58" fmla="*/ 45 w 86"/>
              <a:gd name="T59" fmla="*/ 42 h 86"/>
              <a:gd name="T60" fmla="*/ 45 w 86"/>
              <a:gd name="T61" fmla="*/ 85 h 86"/>
              <a:gd name="T62" fmla="*/ 46 w 86"/>
              <a:gd name="T63" fmla="*/ 86 h 86"/>
              <a:gd name="T64" fmla="*/ 58 w 86"/>
              <a:gd name="T65" fmla="*/ 86 h 86"/>
              <a:gd name="T66" fmla="*/ 59 w 86"/>
              <a:gd name="T67" fmla="*/ 85 h 86"/>
              <a:gd name="T68" fmla="*/ 59 w 86"/>
              <a:gd name="T69" fmla="*/ 41 h 86"/>
              <a:gd name="T70" fmla="*/ 62 w 86"/>
              <a:gd name="T71" fmla="*/ 38 h 86"/>
              <a:gd name="T72" fmla="*/ 62 w 86"/>
              <a:gd name="T73" fmla="*/ 30 h 86"/>
              <a:gd name="T74" fmla="*/ 59 w 86"/>
              <a:gd name="T75" fmla="*/ 27 h 86"/>
              <a:gd name="T76" fmla="*/ 59 w 86"/>
              <a:gd name="T77" fmla="*/ 25 h 86"/>
              <a:gd name="T78" fmla="*/ 69 w 86"/>
              <a:gd name="T79" fmla="*/ 25 h 86"/>
              <a:gd name="T80" fmla="*/ 69 w 86"/>
              <a:gd name="T81" fmla="*/ 30 h 86"/>
              <a:gd name="T82" fmla="*/ 71 w 86"/>
              <a:gd name="T83" fmla="*/ 33 h 86"/>
              <a:gd name="T84" fmla="*/ 73 w 86"/>
              <a:gd name="T85" fmla="*/ 34 h 86"/>
              <a:gd name="T86" fmla="*/ 74 w 86"/>
              <a:gd name="T87" fmla="*/ 33 h 86"/>
              <a:gd name="T88" fmla="*/ 84 w 86"/>
              <a:gd name="T89" fmla="*/ 21 h 86"/>
              <a:gd name="T90" fmla="*/ 86 w 86"/>
              <a:gd name="T91" fmla="*/ 17 h 86"/>
              <a:gd name="T92" fmla="*/ 84 w 86"/>
              <a:gd name="T93" fmla="*/ 13 h 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86" h="86">
                <a:moveTo>
                  <a:pt x="84" y="13"/>
                </a:moveTo>
                <a:cubicBezTo>
                  <a:pt x="74" y="1"/>
                  <a:pt x="74" y="1"/>
                  <a:pt x="74" y="1"/>
                </a:cubicBezTo>
                <a:cubicBezTo>
                  <a:pt x="73" y="1"/>
                  <a:pt x="73" y="1"/>
                  <a:pt x="72" y="1"/>
                </a:cubicBezTo>
                <a:cubicBezTo>
                  <a:pt x="72" y="1"/>
                  <a:pt x="71" y="1"/>
                  <a:pt x="71" y="1"/>
                </a:cubicBezTo>
                <a:cubicBezTo>
                  <a:pt x="70" y="2"/>
                  <a:pt x="69" y="3"/>
                  <a:pt x="69" y="4"/>
                </a:cubicBezTo>
                <a:cubicBezTo>
                  <a:pt x="69" y="10"/>
                  <a:pt x="69" y="10"/>
                  <a:pt x="69" y="10"/>
                </a:cubicBezTo>
                <a:cubicBezTo>
                  <a:pt x="59" y="10"/>
                  <a:pt x="59" y="10"/>
                  <a:pt x="59" y="10"/>
                </a:cubicBezTo>
                <a:cubicBezTo>
                  <a:pt x="59" y="1"/>
                  <a:pt x="59" y="1"/>
                  <a:pt x="59" y="1"/>
                </a:cubicBezTo>
                <a:cubicBezTo>
                  <a:pt x="59" y="1"/>
                  <a:pt x="59" y="0"/>
                  <a:pt x="58" y="0"/>
                </a:cubicBezTo>
                <a:cubicBezTo>
                  <a:pt x="46" y="0"/>
                  <a:pt x="46" y="0"/>
                  <a:pt x="46" y="0"/>
                </a:cubicBezTo>
                <a:cubicBezTo>
                  <a:pt x="45" y="0"/>
                  <a:pt x="45" y="1"/>
                  <a:pt x="45" y="1"/>
                </a:cubicBezTo>
                <a:cubicBezTo>
                  <a:pt x="45" y="10"/>
                  <a:pt x="45" y="10"/>
                  <a:pt x="45" y="10"/>
                </a:cubicBezTo>
                <a:cubicBezTo>
                  <a:pt x="44" y="11"/>
                  <a:pt x="44" y="12"/>
                  <a:pt x="44" y="13"/>
                </a:cubicBezTo>
                <a:cubicBezTo>
                  <a:pt x="44" y="21"/>
                  <a:pt x="44" y="21"/>
                  <a:pt x="44" y="21"/>
                </a:cubicBezTo>
                <a:cubicBezTo>
                  <a:pt x="44" y="22"/>
                  <a:pt x="44" y="23"/>
                  <a:pt x="45" y="24"/>
                </a:cubicBezTo>
                <a:cubicBezTo>
                  <a:pt x="45" y="27"/>
                  <a:pt x="45" y="27"/>
                  <a:pt x="45" y="27"/>
                </a:cubicBezTo>
                <a:cubicBezTo>
                  <a:pt x="37" y="27"/>
                  <a:pt x="37" y="27"/>
                  <a:pt x="37" y="27"/>
                </a:cubicBezTo>
                <a:cubicBezTo>
                  <a:pt x="37" y="21"/>
                  <a:pt x="37" y="21"/>
                  <a:pt x="37" y="21"/>
                </a:cubicBezTo>
                <a:cubicBezTo>
                  <a:pt x="37" y="20"/>
                  <a:pt x="36" y="19"/>
                  <a:pt x="34" y="18"/>
                </a:cubicBezTo>
                <a:cubicBezTo>
                  <a:pt x="34" y="18"/>
                  <a:pt x="33" y="18"/>
                  <a:pt x="32" y="18"/>
                </a:cubicBezTo>
                <a:cubicBezTo>
                  <a:pt x="31" y="18"/>
                  <a:pt x="30" y="18"/>
                  <a:pt x="29" y="18"/>
                </a:cubicBezTo>
                <a:cubicBezTo>
                  <a:pt x="3" y="30"/>
                  <a:pt x="3" y="30"/>
                  <a:pt x="3" y="30"/>
                </a:cubicBezTo>
                <a:cubicBezTo>
                  <a:pt x="1" y="31"/>
                  <a:pt x="0" y="33"/>
                  <a:pt x="0" y="34"/>
                </a:cubicBezTo>
                <a:cubicBezTo>
                  <a:pt x="0" y="36"/>
                  <a:pt x="1" y="38"/>
                  <a:pt x="3" y="38"/>
                </a:cubicBezTo>
                <a:cubicBezTo>
                  <a:pt x="29" y="50"/>
                  <a:pt x="29" y="50"/>
                  <a:pt x="29" y="50"/>
                </a:cubicBezTo>
                <a:cubicBezTo>
                  <a:pt x="29" y="51"/>
                  <a:pt x="30" y="51"/>
                  <a:pt x="31" y="51"/>
                </a:cubicBezTo>
                <a:cubicBezTo>
                  <a:pt x="32" y="51"/>
                  <a:pt x="33" y="51"/>
                  <a:pt x="34" y="50"/>
                </a:cubicBezTo>
                <a:cubicBezTo>
                  <a:pt x="36" y="50"/>
                  <a:pt x="37" y="48"/>
                  <a:pt x="37" y="47"/>
                </a:cubicBezTo>
                <a:cubicBezTo>
                  <a:pt x="37" y="42"/>
                  <a:pt x="37" y="42"/>
                  <a:pt x="37" y="42"/>
                </a:cubicBezTo>
                <a:cubicBezTo>
                  <a:pt x="45" y="42"/>
                  <a:pt x="45" y="42"/>
                  <a:pt x="45" y="42"/>
                </a:cubicBezTo>
                <a:cubicBezTo>
                  <a:pt x="45" y="85"/>
                  <a:pt x="45" y="85"/>
                  <a:pt x="45" y="85"/>
                </a:cubicBezTo>
                <a:cubicBezTo>
                  <a:pt x="45" y="86"/>
                  <a:pt x="45" y="86"/>
                  <a:pt x="46" y="86"/>
                </a:cubicBezTo>
                <a:cubicBezTo>
                  <a:pt x="58" y="86"/>
                  <a:pt x="58" y="86"/>
                  <a:pt x="58" y="86"/>
                </a:cubicBezTo>
                <a:cubicBezTo>
                  <a:pt x="59" y="86"/>
                  <a:pt x="59" y="86"/>
                  <a:pt x="59" y="85"/>
                </a:cubicBezTo>
                <a:cubicBezTo>
                  <a:pt x="59" y="41"/>
                  <a:pt x="59" y="41"/>
                  <a:pt x="59" y="41"/>
                </a:cubicBezTo>
                <a:cubicBezTo>
                  <a:pt x="61" y="41"/>
                  <a:pt x="62" y="40"/>
                  <a:pt x="62" y="38"/>
                </a:cubicBezTo>
                <a:cubicBezTo>
                  <a:pt x="62" y="30"/>
                  <a:pt x="62" y="30"/>
                  <a:pt x="62" y="30"/>
                </a:cubicBezTo>
                <a:cubicBezTo>
                  <a:pt x="62" y="29"/>
                  <a:pt x="61" y="28"/>
                  <a:pt x="59" y="27"/>
                </a:cubicBezTo>
                <a:cubicBezTo>
                  <a:pt x="59" y="25"/>
                  <a:pt x="59" y="25"/>
                  <a:pt x="59" y="25"/>
                </a:cubicBezTo>
                <a:cubicBezTo>
                  <a:pt x="69" y="25"/>
                  <a:pt x="69" y="25"/>
                  <a:pt x="69" y="25"/>
                </a:cubicBezTo>
                <a:cubicBezTo>
                  <a:pt x="69" y="30"/>
                  <a:pt x="69" y="30"/>
                  <a:pt x="69" y="30"/>
                </a:cubicBezTo>
                <a:cubicBezTo>
                  <a:pt x="69" y="31"/>
                  <a:pt x="70" y="33"/>
                  <a:pt x="71" y="33"/>
                </a:cubicBezTo>
                <a:cubicBezTo>
                  <a:pt x="71" y="34"/>
                  <a:pt x="72" y="34"/>
                  <a:pt x="73" y="34"/>
                </a:cubicBezTo>
                <a:cubicBezTo>
                  <a:pt x="73" y="34"/>
                  <a:pt x="74" y="34"/>
                  <a:pt x="74" y="33"/>
                </a:cubicBezTo>
                <a:cubicBezTo>
                  <a:pt x="84" y="21"/>
                  <a:pt x="84" y="21"/>
                  <a:pt x="84" y="21"/>
                </a:cubicBezTo>
                <a:cubicBezTo>
                  <a:pt x="85" y="21"/>
                  <a:pt x="86" y="19"/>
                  <a:pt x="86" y="17"/>
                </a:cubicBezTo>
                <a:cubicBezTo>
                  <a:pt x="86" y="16"/>
                  <a:pt x="85" y="14"/>
                  <a:pt x="84" y="13"/>
                </a:cubicBezTo>
                <a:close/>
              </a:path>
            </a:pathLst>
          </a:custGeom>
          <a:solidFill>
            <a:srgbClr val="414455"/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 sz="1350">
              <a:solidFill>
                <a:schemeClr val="bg1"/>
              </a:solidFill>
            </a:endParaRPr>
          </a:p>
        </p:txBody>
      </p:sp>
      <p:grpSp>
        <p:nvGrpSpPr>
          <p:cNvPr id="71" name="组合 70"/>
          <p:cNvGrpSpPr/>
          <p:nvPr/>
        </p:nvGrpSpPr>
        <p:grpSpPr>
          <a:xfrm>
            <a:off x="6775877" y="1809242"/>
            <a:ext cx="502789" cy="453322"/>
            <a:chOff x="5424755" y="1340768"/>
            <a:chExt cx="670560" cy="604586"/>
          </a:xfrm>
        </p:grpSpPr>
        <p:grpSp>
          <p:nvGrpSpPr>
            <p:cNvPr id="72" name="组合 71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74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chemeClr val="bg1"/>
                  </a:solidFill>
                </a:endParaRPr>
              </a:p>
            </p:txBody>
          </p:sp>
          <p:sp>
            <p:nvSpPr>
              <p:cNvPr id="75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73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solidFill>
                  <a:schemeClr val="bg1"/>
                </a:solidFill>
              </a:endParaRPr>
            </a:p>
          </p:txBody>
        </p:sp>
      </p:grpSp>
      <p:grpSp>
        <p:nvGrpSpPr>
          <p:cNvPr id="76" name="组合 75"/>
          <p:cNvGrpSpPr/>
          <p:nvPr/>
        </p:nvGrpSpPr>
        <p:grpSpPr>
          <a:xfrm>
            <a:off x="7440641" y="1830628"/>
            <a:ext cx="502789" cy="453322"/>
            <a:chOff x="5424755" y="1340768"/>
            <a:chExt cx="670560" cy="604586"/>
          </a:xfrm>
        </p:grpSpPr>
        <p:grpSp>
          <p:nvGrpSpPr>
            <p:cNvPr id="77" name="组合 76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79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chemeClr val="bg1"/>
                  </a:solidFill>
                </a:endParaRPr>
              </a:p>
            </p:txBody>
          </p:sp>
          <p:sp>
            <p:nvSpPr>
              <p:cNvPr id="81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78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solidFill>
                  <a:schemeClr val="bg1"/>
                </a:solidFill>
              </a:endParaRPr>
            </a:p>
          </p:txBody>
        </p:sp>
      </p:grpSp>
      <p:grpSp>
        <p:nvGrpSpPr>
          <p:cNvPr id="82" name="组合 81"/>
          <p:cNvGrpSpPr/>
          <p:nvPr/>
        </p:nvGrpSpPr>
        <p:grpSpPr>
          <a:xfrm>
            <a:off x="8125676" y="1809242"/>
            <a:ext cx="502789" cy="453322"/>
            <a:chOff x="5424755" y="1340768"/>
            <a:chExt cx="670560" cy="604586"/>
          </a:xfrm>
        </p:grpSpPr>
        <p:grpSp>
          <p:nvGrpSpPr>
            <p:cNvPr id="83" name="组合 82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94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chemeClr val="bg1"/>
                  </a:solidFill>
                </a:endParaRPr>
              </a:p>
            </p:txBody>
          </p:sp>
          <p:sp>
            <p:nvSpPr>
              <p:cNvPr id="95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84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solidFill>
                  <a:schemeClr val="bg1"/>
                </a:solidFill>
              </a:endParaRPr>
            </a:p>
          </p:txBody>
        </p:sp>
      </p:grpSp>
      <p:grpSp>
        <p:nvGrpSpPr>
          <p:cNvPr id="96" name="组合 95"/>
          <p:cNvGrpSpPr>
            <a:grpSpLocks noChangeAspect="1"/>
          </p:cNvGrpSpPr>
          <p:nvPr/>
        </p:nvGrpSpPr>
        <p:grpSpPr>
          <a:xfrm>
            <a:off x="6896562" y="1929051"/>
            <a:ext cx="265649" cy="227877"/>
            <a:chOff x="5084763" y="971548"/>
            <a:chExt cx="323865" cy="277813"/>
          </a:xfrm>
          <a:solidFill>
            <a:srgbClr val="414455"/>
          </a:solidFill>
        </p:grpSpPr>
        <p:sp>
          <p:nvSpPr>
            <p:cNvPr id="97" name="Freeform 301"/>
            <p:cNvSpPr>
              <a:spLocks noEditPoints="1"/>
            </p:cNvSpPr>
            <p:nvPr/>
          </p:nvSpPr>
          <p:spPr bwMode="auto">
            <a:xfrm>
              <a:off x="5191140" y="1031873"/>
              <a:ext cx="217488" cy="217488"/>
            </a:xfrm>
            <a:custGeom>
              <a:avLst/>
              <a:gdLst>
                <a:gd name="T0" fmla="*/ 6 w 58"/>
                <a:gd name="T1" fmla="*/ 14 h 58"/>
                <a:gd name="T2" fmla="*/ 7 w 58"/>
                <a:gd name="T3" fmla="*/ 19 h 58"/>
                <a:gd name="T4" fmla="*/ 4 w 58"/>
                <a:gd name="T5" fmla="*/ 20 h 58"/>
                <a:gd name="T6" fmla="*/ 0 w 58"/>
                <a:gd name="T7" fmla="*/ 23 h 58"/>
                <a:gd name="T8" fmla="*/ 2 w 58"/>
                <a:gd name="T9" fmla="*/ 27 h 58"/>
                <a:gd name="T10" fmla="*/ 5 w 58"/>
                <a:gd name="T11" fmla="*/ 31 h 58"/>
                <a:gd name="T12" fmla="*/ 2 w 58"/>
                <a:gd name="T13" fmla="*/ 34 h 58"/>
                <a:gd name="T14" fmla="*/ 1 w 58"/>
                <a:gd name="T15" fmla="*/ 38 h 58"/>
                <a:gd name="T16" fmla="*/ 5 w 58"/>
                <a:gd name="T17" fmla="*/ 41 h 58"/>
                <a:gd name="T18" fmla="*/ 8 w 58"/>
                <a:gd name="T19" fmla="*/ 42 h 58"/>
                <a:gd name="T20" fmla="*/ 8 w 58"/>
                <a:gd name="T21" fmla="*/ 46 h 58"/>
                <a:gd name="T22" fmla="*/ 9 w 58"/>
                <a:gd name="T23" fmla="*/ 51 h 58"/>
                <a:gd name="T24" fmla="*/ 14 w 58"/>
                <a:gd name="T25" fmla="*/ 51 h 58"/>
                <a:gd name="T26" fmla="*/ 18 w 58"/>
                <a:gd name="T27" fmla="*/ 51 h 58"/>
                <a:gd name="T28" fmla="*/ 19 w 58"/>
                <a:gd name="T29" fmla="*/ 54 h 58"/>
                <a:gd name="T30" fmla="*/ 22 w 58"/>
                <a:gd name="T31" fmla="*/ 58 h 58"/>
                <a:gd name="T32" fmla="*/ 27 w 58"/>
                <a:gd name="T33" fmla="*/ 56 h 58"/>
                <a:gd name="T34" fmla="*/ 31 w 58"/>
                <a:gd name="T35" fmla="*/ 53 h 58"/>
                <a:gd name="T36" fmla="*/ 33 w 58"/>
                <a:gd name="T37" fmla="*/ 56 h 58"/>
                <a:gd name="T38" fmla="*/ 38 w 58"/>
                <a:gd name="T39" fmla="*/ 57 h 58"/>
                <a:gd name="T40" fmla="*/ 40 w 58"/>
                <a:gd name="T41" fmla="*/ 53 h 58"/>
                <a:gd name="T42" fmla="*/ 42 w 58"/>
                <a:gd name="T43" fmla="*/ 49 h 58"/>
                <a:gd name="T44" fmla="*/ 46 w 58"/>
                <a:gd name="T45" fmla="*/ 50 h 58"/>
                <a:gd name="T46" fmla="*/ 50 w 58"/>
                <a:gd name="T47" fmla="*/ 49 h 58"/>
                <a:gd name="T48" fmla="*/ 51 w 58"/>
                <a:gd name="T49" fmla="*/ 44 h 58"/>
                <a:gd name="T50" fmla="*/ 50 w 58"/>
                <a:gd name="T51" fmla="*/ 40 h 58"/>
                <a:gd name="T52" fmla="*/ 54 w 58"/>
                <a:gd name="T53" fmla="*/ 39 h 58"/>
                <a:gd name="T54" fmla="*/ 57 w 58"/>
                <a:gd name="T55" fmla="*/ 35 h 58"/>
                <a:gd name="T56" fmla="*/ 55 w 58"/>
                <a:gd name="T57" fmla="*/ 31 h 58"/>
                <a:gd name="T58" fmla="*/ 52 w 58"/>
                <a:gd name="T59" fmla="*/ 27 h 58"/>
                <a:gd name="T60" fmla="*/ 55 w 58"/>
                <a:gd name="T61" fmla="*/ 25 h 58"/>
                <a:gd name="T62" fmla="*/ 56 w 58"/>
                <a:gd name="T63" fmla="*/ 20 h 58"/>
                <a:gd name="T64" fmla="*/ 53 w 58"/>
                <a:gd name="T65" fmla="*/ 18 h 58"/>
                <a:gd name="T66" fmla="*/ 48 w 58"/>
                <a:gd name="T67" fmla="*/ 16 h 58"/>
                <a:gd name="T68" fmla="*/ 49 w 58"/>
                <a:gd name="T69" fmla="*/ 12 h 58"/>
                <a:gd name="T70" fmla="*/ 48 w 58"/>
                <a:gd name="T71" fmla="*/ 8 h 58"/>
                <a:gd name="T72" fmla="*/ 44 w 58"/>
                <a:gd name="T73" fmla="*/ 7 h 58"/>
                <a:gd name="T74" fmla="*/ 39 w 58"/>
                <a:gd name="T75" fmla="*/ 8 h 58"/>
                <a:gd name="T76" fmla="*/ 38 w 58"/>
                <a:gd name="T77" fmla="*/ 4 h 58"/>
                <a:gd name="T78" fmla="*/ 35 w 58"/>
                <a:gd name="T79" fmla="*/ 1 h 58"/>
                <a:gd name="T80" fmla="*/ 30 w 58"/>
                <a:gd name="T81" fmla="*/ 3 h 58"/>
                <a:gd name="T82" fmla="*/ 27 w 58"/>
                <a:gd name="T83" fmla="*/ 5 h 58"/>
                <a:gd name="T84" fmla="*/ 24 w 58"/>
                <a:gd name="T85" fmla="*/ 3 h 58"/>
                <a:gd name="T86" fmla="*/ 20 w 58"/>
                <a:gd name="T87" fmla="*/ 1 h 58"/>
                <a:gd name="T88" fmla="*/ 17 w 58"/>
                <a:gd name="T89" fmla="*/ 5 h 58"/>
                <a:gd name="T90" fmla="*/ 15 w 58"/>
                <a:gd name="T91" fmla="*/ 10 h 58"/>
                <a:gd name="T92" fmla="*/ 12 w 58"/>
                <a:gd name="T93" fmla="*/ 9 h 58"/>
                <a:gd name="T94" fmla="*/ 7 w 58"/>
                <a:gd name="T95" fmla="*/ 10 h 58"/>
                <a:gd name="T96" fmla="*/ 6 w 58"/>
                <a:gd name="T97" fmla="*/ 14 h 58"/>
                <a:gd name="T98" fmla="*/ 23 w 58"/>
                <a:gd name="T99" fmla="*/ 13 h 58"/>
                <a:gd name="T100" fmla="*/ 45 w 58"/>
                <a:gd name="T101" fmla="*/ 24 h 58"/>
                <a:gd name="T102" fmla="*/ 34 w 58"/>
                <a:gd name="T103" fmla="*/ 45 h 58"/>
                <a:gd name="T104" fmla="*/ 13 w 58"/>
                <a:gd name="T105" fmla="*/ 34 h 58"/>
                <a:gd name="T106" fmla="*/ 23 w 58"/>
                <a:gd name="T107" fmla="*/ 13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58" h="58">
                  <a:moveTo>
                    <a:pt x="6" y="14"/>
                  </a:moveTo>
                  <a:cubicBezTo>
                    <a:pt x="8" y="15"/>
                    <a:pt x="7" y="18"/>
                    <a:pt x="7" y="19"/>
                  </a:cubicBezTo>
                  <a:cubicBezTo>
                    <a:pt x="7" y="20"/>
                    <a:pt x="5" y="20"/>
                    <a:pt x="4" y="20"/>
                  </a:cubicBezTo>
                  <a:cubicBezTo>
                    <a:pt x="2" y="20"/>
                    <a:pt x="0" y="21"/>
                    <a:pt x="0" y="23"/>
                  </a:cubicBezTo>
                  <a:cubicBezTo>
                    <a:pt x="0" y="25"/>
                    <a:pt x="0" y="27"/>
                    <a:pt x="2" y="27"/>
                  </a:cubicBezTo>
                  <a:cubicBezTo>
                    <a:pt x="3" y="28"/>
                    <a:pt x="5" y="30"/>
                    <a:pt x="5" y="31"/>
                  </a:cubicBezTo>
                  <a:cubicBezTo>
                    <a:pt x="5" y="32"/>
                    <a:pt x="4" y="33"/>
                    <a:pt x="2" y="34"/>
                  </a:cubicBezTo>
                  <a:cubicBezTo>
                    <a:pt x="1" y="34"/>
                    <a:pt x="0" y="36"/>
                    <a:pt x="1" y="38"/>
                  </a:cubicBezTo>
                  <a:cubicBezTo>
                    <a:pt x="1" y="40"/>
                    <a:pt x="3" y="42"/>
                    <a:pt x="5" y="41"/>
                  </a:cubicBezTo>
                  <a:cubicBezTo>
                    <a:pt x="6" y="41"/>
                    <a:pt x="8" y="41"/>
                    <a:pt x="8" y="42"/>
                  </a:cubicBezTo>
                  <a:cubicBezTo>
                    <a:pt x="9" y="42"/>
                    <a:pt x="9" y="45"/>
                    <a:pt x="8" y="46"/>
                  </a:cubicBezTo>
                  <a:cubicBezTo>
                    <a:pt x="7" y="47"/>
                    <a:pt x="7" y="50"/>
                    <a:pt x="9" y="51"/>
                  </a:cubicBezTo>
                  <a:cubicBezTo>
                    <a:pt x="11" y="52"/>
                    <a:pt x="13" y="53"/>
                    <a:pt x="14" y="51"/>
                  </a:cubicBezTo>
                  <a:cubicBezTo>
                    <a:pt x="15" y="50"/>
                    <a:pt x="18" y="51"/>
                    <a:pt x="18" y="51"/>
                  </a:cubicBezTo>
                  <a:cubicBezTo>
                    <a:pt x="19" y="51"/>
                    <a:pt x="20" y="53"/>
                    <a:pt x="19" y="54"/>
                  </a:cubicBezTo>
                  <a:cubicBezTo>
                    <a:pt x="19" y="56"/>
                    <a:pt x="20" y="57"/>
                    <a:pt x="22" y="58"/>
                  </a:cubicBezTo>
                  <a:cubicBezTo>
                    <a:pt x="25" y="58"/>
                    <a:pt x="26" y="57"/>
                    <a:pt x="27" y="56"/>
                  </a:cubicBezTo>
                  <a:cubicBezTo>
                    <a:pt x="27" y="54"/>
                    <a:pt x="30" y="53"/>
                    <a:pt x="31" y="53"/>
                  </a:cubicBezTo>
                  <a:cubicBezTo>
                    <a:pt x="31" y="53"/>
                    <a:pt x="33" y="54"/>
                    <a:pt x="33" y="56"/>
                  </a:cubicBezTo>
                  <a:cubicBezTo>
                    <a:pt x="34" y="57"/>
                    <a:pt x="36" y="58"/>
                    <a:pt x="38" y="57"/>
                  </a:cubicBezTo>
                  <a:cubicBezTo>
                    <a:pt x="40" y="57"/>
                    <a:pt x="41" y="55"/>
                    <a:pt x="40" y="53"/>
                  </a:cubicBezTo>
                  <a:cubicBezTo>
                    <a:pt x="40" y="52"/>
                    <a:pt x="42" y="49"/>
                    <a:pt x="42" y="49"/>
                  </a:cubicBezTo>
                  <a:cubicBezTo>
                    <a:pt x="43" y="48"/>
                    <a:pt x="44" y="49"/>
                    <a:pt x="46" y="50"/>
                  </a:cubicBezTo>
                  <a:cubicBezTo>
                    <a:pt x="47" y="51"/>
                    <a:pt x="49" y="51"/>
                    <a:pt x="50" y="49"/>
                  </a:cubicBezTo>
                  <a:cubicBezTo>
                    <a:pt x="52" y="47"/>
                    <a:pt x="52" y="45"/>
                    <a:pt x="51" y="44"/>
                  </a:cubicBezTo>
                  <a:cubicBezTo>
                    <a:pt x="50" y="43"/>
                    <a:pt x="50" y="40"/>
                    <a:pt x="50" y="40"/>
                  </a:cubicBezTo>
                  <a:cubicBezTo>
                    <a:pt x="51" y="39"/>
                    <a:pt x="52" y="38"/>
                    <a:pt x="54" y="39"/>
                  </a:cubicBezTo>
                  <a:cubicBezTo>
                    <a:pt x="55" y="39"/>
                    <a:pt x="57" y="38"/>
                    <a:pt x="57" y="35"/>
                  </a:cubicBezTo>
                  <a:cubicBezTo>
                    <a:pt x="58" y="33"/>
                    <a:pt x="57" y="31"/>
                    <a:pt x="55" y="31"/>
                  </a:cubicBezTo>
                  <a:cubicBezTo>
                    <a:pt x="54" y="31"/>
                    <a:pt x="53" y="28"/>
                    <a:pt x="52" y="27"/>
                  </a:cubicBezTo>
                  <a:cubicBezTo>
                    <a:pt x="52" y="26"/>
                    <a:pt x="54" y="25"/>
                    <a:pt x="55" y="25"/>
                  </a:cubicBezTo>
                  <a:cubicBezTo>
                    <a:pt x="56" y="24"/>
                    <a:pt x="57" y="22"/>
                    <a:pt x="56" y="20"/>
                  </a:cubicBezTo>
                  <a:cubicBezTo>
                    <a:pt x="56" y="18"/>
                    <a:pt x="54" y="17"/>
                    <a:pt x="53" y="18"/>
                  </a:cubicBezTo>
                  <a:cubicBezTo>
                    <a:pt x="51" y="18"/>
                    <a:pt x="49" y="16"/>
                    <a:pt x="48" y="16"/>
                  </a:cubicBezTo>
                  <a:cubicBezTo>
                    <a:pt x="48" y="15"/>
                    <a:pt x="48" y="13"/>
                    <a:pt x="49" y="12"/>
                  </a:cubicBezTo>
                  <a:cubicBezTo>
                    <a:pt x="50" y="11"/>
                    <a:pt x="50" y="9"/>
                    <a:pt x="48" y="8"/>
                  </a:cubicBezTo>
                  <a:cubicBezTo>
                    <a:pt x="47" y="6"/>
                    <a:pt x="45" y="6"/>
                    <a:pt x="44" y="7"/>
                  </a:cubicBezTo>
                  <a:cubicBezTo>
                    <a:pt x="42" y="8"/>
                    <a:pt x="40" y="8"/>
                    <a:pt x="39" y="8"/>
                  </a:cubicBezTo>
                  <a:cubicBezTo>
                    <a:pt x="38" y="7"/>
                    <a:pt x="38" y="6"/>
                    <a:pt x="38" y="4"/>
                  </a:cubicBezTo>
                  <a:cubicBezTo>
                    <a:pt x="38" y="3"/>
                    <a:pt x="37" y="1"/>
                    <a:pt x="35" y="1"/>
                  </a:cubicBezTo>
                  <a:cubicBezTo>
                    <a:pt x="33" y="0"/>
                    <a:pt x="31" y="1"/>
                    <a:pt x="30" y="3"/>
                  </a:cubicBezTo>
                  <a:cubicBezTo>
                    <a:pt x="30" y="4"/>
                    <a:pt x="28" y="5"/>
                    <a:pt x="27" y="5"/>
                  </a:cubicBezTo>
                  <a:cubicBezTo>
                    <a:pt x="26" y="6"/>
                    <a:pt x="25" y="4"/>
                    <a:pt x="24" y="3"/>
                  </a:cubicBezTo>
                  <a:cubicBezTo>
                    <a:pt x="24" y="1"/>
                    <a:pt x="22" y="1"/>
                    <a:pt x="20" y="1"/>
                  </a:cubicBezTo>
                  <a:cubicBezTo>
                    <a:pt x="18" y="2"/>
                    <a:pt x="16" y="4"/>
                    <a:pt x="17" y="5"/>
                  </a:cubicBezTo>
                  <a:cubicBezTo>
                    <a:pt x="17" y="7"/>
                    <a:pt x="16" y="9"/>
                    <a:pt x="15" y="10"/>
                  </a:cubicBezTo>
                  <a:cubicBezTo>
                    <a:pt x="14" y="10"/>
                    <a:pt x="13" y="10"/>
                    <a:pt x="12" y="9"/>
                  </a:cubicBezTo>
                  <a:cubicBezTo>
                    <a:pt x="10" y="8"/>
                    <a:pt x="8" y="8"/>
                    <a:pt x="7" y="10"/>
                  </a:cubicBezTo>
                  <a:cubicBezTo>
                    <a:pt x="6" y="11"/>
                    <a:pt x="5" y="13"/>
                    <a:pt x="6" y="14"/>
                  </a:cubicBezTo>
                  <a:close/>
                  <a:moveTo>
                    <a:pt x="23" y="13"/>
                  </a:moveTo>
                  <a:cubicBezTo>
                    <a:pt x="32" y="10"/>
                    <a:pt x="42" y="15"/>
                    <a:pt x="45" y="24"/>
                  </a:cubicBezTo>
                  <a:cubicBezTo>
                    <a:pt x="47" y="33"/>
                    <a:pt x="43" y="42"/>
                    <a:pt x="34" y="45"/>
                  </a:cubicBezTo>
                  <a:cubicBezTo>
                    <a:pt x="25" y="48"/>
                    <a:pt x="15" y="43"/>
                    <a:pt x="13" y="34"/>
                  </a:cubicBezTo>
                  <a:cubicBezTo>
                    <a:pt x="10" y="26"/>
                    <a:pt x="15" y="16"/>
                    <a:pt x="23" y="1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bg1"/>
                </a:solidFill>
              </a:endParaRPr>
            </a:p>
          </p:txBody>
        </p:sp>
        <p:sp>
          <p:nvSpPr>
            <p:cNvPr id="98" name="Freeform 302"/>
            <p:cNvSpPr>
              <a:spLocks noEditPoints="1"/>
            </p:cNvSpPr>
            <p:nvPr/>
          </p:nvSpPr>
          <p:spPr bwMode="auto">
            <a:xfrm>
              <a:off x="5084781" y="971548"/>
              <a:ext cx="139701" cy="139700"/>
            </a:xfrm>
            <a:custGeom>
              <a:avLst/>
              <a:gdLst>
                <a:gd name="T0" fmla="*/ 4 w 37"/>
                <a:gd name="T1" fmla="*/ 9 h 37"/>
                <a:gd name="T2" fmla="*/ 5 w 37"/>
                <a:gd name="T3" fmla="*/ 12 h 37"/>
                <a:gd name="T4" fmla="*/ 2 w 37"/>
                <a:gd name="T5" fmla="*/ 12 h 37"/>
                <a:gd name="T6" fmla="*/ 0 w 37"/>
                <a:gd name="T7" fmla="*/ 14 h 37"/>
                <a:gd name="T8" fmla="*/ 1 w 37"/>
                <a:gd name="T9" fmla="*/ 17 h 37"/>
                <a:gd name="T10" fmla="*/ 3 w 37"/>
                <a:gd name="T11" fmla="*/ 20 h 37"/>
                <a:gd name="T12" fmla="*/ 2 w 37"/>
                <a:gd name="T13" fmla="*/ 21 h 37"/>
                <a:gd name="T14" fmla="*/ 1 w 37"/>
                <a:gd name="T15" fmla="*/ 24 h 37"/>
                <a:gd name="T16" fmla="*/ 3 w 37"/>
                <a:gd name="T17" fmla="*/ 26 h 37"/>
                <a:gd name="T18" fmla="*/ 5 w 37"/>
                <a:gd name="T19" fmla="*/ 26 h 37"/>
                <a:gd name="T20" fmla="*/ 5 w 37"/>
                <a:gd name="T21" fmla="*/ 29 h 37"/>
                <a:gd name="T22" fmla="*/ 6 w 37"/>
                <a:gd name="T23" fmla="*/ 32 h 37"/>
                <a:gd name="T24" fmla="*/ 9 w 37"/>
                <a:gd name="T25" fmla="*/ 33 h 37"/>
                <a:gd name="T26" fmla="*/ 12 w 37"/>
                <a:gd name="T27" fmla="*/ 32 h 37"/>
                <a:gd name="T28" fmla="*/ 12 w 37"/>
                <a:gd name="T29" fmla="*/ 34 h 37"/>
                <a:gd name="T30" fmla="*/ 15 w 37"/>
                <a:gd name="T31" fmla="*/ 37 h 37"/>
                <a:gd name="T32" fmla="*/ 17 w 37"/>
                <a:gd name="T33" fmla="*/ 35 h 37"/>
                <a:gd name="T34" fmla="*/ 20 w 37"/>
                <a:gd name="T35" fmla="*/ 34 h 37"/>
                <a:gd name="T36" fmla="*/ 21 w 37"/>
                <a:gd name="T37" fmla="*/ 35 h 37"/>
                <a:gd name="T38" fmla="*/ 24 w 37"/>
                <a:gd name="T39" fmla="*/ 36 h 37"/>
                <a:gd name="T40" fmla="*/ 26 w 37"/>
                <a:gd name="T41" fmla="*/ 34 h 37"/>
                <a:gd name="T42" fmla="*/ 27 w 37"/>
                <a:gd name="T43" fmla="*/ 31 h 37"/>
                <a:gd name="T44" fmla="*/ 29 w 37"/>
                <a:gd name="T45" fmla="*/ 32 h 37"/>
                <a:gd name="T46" fmla="*/ 32 w 37"/>
                <a:gd name="T47" fmla="*/ 31 h 37"/>
                <a:gd name="T48" fmla="*/ 33 w 37"/>
                <a:gd name="T49" fmla="*/ 28 h 37"/>
                <a:gd name="T50" fmla="*/ 32 w 37"/>
                <a:gd name="T51" fmla="*/ 25 h 37"/>
                <a:gd name="T52" fmla="*/ 35 w 37"/>
                <a:gd name="T53" fmla="*/ 24 h 37"/>
                <a:gd name="T54" fmla="*/ 37 w 37"/>
                <a:gd name="T55" fmla="*/ 22 h 37"/>
                <a:gd name="T56" fmla="*/ 36 w 37"/>
                <a:gd name="T57" fmla="*/ 19 h 37"/>
                <a:gd name="T58" fmla="*/ 34 w 37"/>
                <a:gd name="T59" fmla="*/ 17 h 37"/>
                <a:gd name="T60" fmla="*/ 35 w 37"/>
                <a:gd name="T61" fmla="*/ 15 h 37"/>
                <a:gd name="T62" fmla="*/ 36 w 37"/>
                <a:gd name="T63" fmla="*/ 12 h 37"/>
                <a:gd name="T64" fmla="*/ 34 w 37"/>
                <a:gd name="T65" fmla="*/ 11 h 37"/>
                <a:gd name="T66" fmla="*/ 31 w 37"/>
                <a:gd name="T67" fmla="*/ 9 h 37"/>
                <a:gd name="T68" fmla="*/ 32 w 37"/>
                <a:gd name="T69" fmla="*/ 7 h 37"/>
                <a:gd name="T70" fmla="*/ 31 w 37"/>
                <a:gd name="T71" fmla="*/ 4 h 37"/>
                <a:gd name="T72" fmla="*/ 28 w 37"/>
                <a:gd name="T73" fmla="*/ 4 h 37"/>
                <a:gd name="T74" fmla="*/ 25 w 37"/>
                <a:gd name="T75" fmla="*/ 4 h 37"/>
                <a:gd name="T76" fmla="*/ 25 w 37"/>
                <a:gd name="T77" fmla="*/ 2 h 37"/>
                <a:gd name="T78" fmla="*/ 22 w 37"/>
                <a:gd name="T79" fmla="*/ 0 h 37"/>
                <a:gd name="T80" fmla="*/ 20 w 37"/>
                <a:gd name="T81" fmla="*/ 1 h 37"/>
                <a:gd name="T82" fmla="*/ 17 w 37"/>
                <a:gd name="T83" fmla="*/ 3 h 37"/>
                <a:gd name="T84" fmla="*/ 16 w 37"/>
                <a:gd name="T85" fmla="*/ 1 h 37"/>
                <a:gd name="T86" fmla="*/ 13 w 37"/>
                <a:gd name="T87" fmla="*/ 0 h 37"/>
                <a:gd name="T88" fmla="*/ 11 w 37"/>
                <a:gd name="T89" fmla="*/ 3 h 37"/>
                <a:gd name="T90" fmla="*/ 10 w 37"/>
                <a:gd name="T91" fmla="*/ 6 h 37"/>
                <a:gd name="T92" fmla="*/ 8 w 37"/>
                <a:gd name="T93" fmla="*/ 5 h 37"/>
                <a:gd name="T94" fmla="*/ 5 w 37"/>
                <a:gd name="T95" fmla="*/ 6 h 37"/>
                <a:gd name="T96" fmla="*/ 4 w 37"/>
                <a:gd name="T97" fmla="*/ 9 h 37"/>
                <a:gd name="T98" fmla="*/ 15 w 37"/>
                <a:gd name="T99" fmla="*/ 8 h 37"/>
                <a:gd name="T100" fmla="*/ 29 w 37"/>
                <a:gd name="T101" fmla="*/ 15 h 37"/>
                <a:gd name="T102" fmla="*/ 22 w 37"/>
                <a:gd name="T103" fmla="*/ 29 h 37"/>
                <a:gd name="T104" fmla="*/ 8 w 37"/>
                <a:gd name="T105" fmla="*/ 22 h 37"/>
                <a:gd name="T106" fmla="*/ 15 w 37"/>
                <a:gd name="T107" fmla="*/ 8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7" h="37">
                  <a:moveTo>
                    <a:pt x="4" y="9"/>
                  </a:moveTo>
                  <a:cubicBezTo>
                    <a:pt x="5" y="9"/>
                    <a:pt x="5" y="11"/>
                    <a:pt x="5" y="12"/>
                  </a:cubicBezTo>
                  <a:cubicBezTo>
                    <a:pt x="4" y="12"/>
                    <a:pt x="3" y="12"/>
                    <a:pt x="2" y="12"/>
                  </a:cubicBezTo>
                  <a:cubicBezTo>
                    <a:pt x="1" y="12"/>
                    <a:pt x="0" y="13"/>
                    <a:pt x="0" y="14"/>
                  </a:cubicBezTo>
                  <a:cubicBezTo>
                    <a:pt x="0" y="16"/>
                    <a:pt x="0" y="17"/>
                    <a:pt x="1" y="17"/>
                  </a:cubicBezTo>
                  <a:cubicBezTo>
                    <a:pt x="2" y="17"/>
                    <a:pt x="3" y="19"/>
                    <a:pt x="3" y="20"/>
                  </a:cubicBezTo>
                  <a:cubicBezTo>
                    <a:pt x="3" y="20"/>
                    <a:pt x="2" y="21"/>
                    <a:pt x="2" y="21"/>
                  </a:cubicBezTo>
                  <a:cubicBezTo>
                    <a:pt x="1" y="21"/>
                    <a:pt x="0" y="23"/>
                    <a:pt x="1" y="24"/>
                  </a:cubicBezTo>
                  <a:cubicBezTo>
                    <a:pt x="1" y="25"/>
                    <a:pt x="2" y="26"/>
                    <a:pt x="3" y="26"/>
                  </a:cubicBezTo>
                  <a:cubicBezTo>
                    <a:pt x="4" y="26"/>
                    <a:pt x="5" y="26"/>
                    <a:pt x="5" y="26"/>
                  </a:cubicBezTo>
                  <a:cubicBezTo>
                    <a:pt x="6" y="27"/>
                    <a:pt x="6" y="28"/>
                    <a:pt x="5" y="29"/>
                  </a:cubicBezTo>
                  <a:cubicBezTo>
                    <a:pt x="5" y="30"/>
                    <a:pt x="5" y="31"/>
                    <a:pt x="6" y="32"/>
                  </a:cubicBezTo>
                  <a:cubicBezTo>
                    <a:pt x="7" y="33"/>
                    <a:pt x="8" y="33"/>
                    <a:pt x="9" y="33"/>
                  </a:cubicBezTo>
                  <a:cubicBezTo>
                    <a:pt x="10" y="32"/>
                    <a:pt x="11" y="32"/>
                    <a:pt x="12" y="32"/>
                  </a:cubicBezTo>
                  <a:cubicBezTo>
                    <a:pt x="12" y="32"/>
                    <a:pt x="13" y="33"/>
                    <a:pt x="12" y="34"/>
                  </a:cubicBezTo>
                  <a:cubicBezTo>
                    <a:pt x="12" y="35"/>
                    <a:pt x="13" y="36"/>
                    <a:pt x="15" y="37"/>
                  </a:cubicBezTo>
                  <a:cubicBezTo>
                    <a:pt x="16" y="37"/>
                    <a:pt x="17" y="36"/>
                    <a:pt x="17" y="35"/>
                  </a:cubicBezTo>
                  <a:cubicBezTo>
                    <a:pt x="18" y="34"/>
                    <a:pt x="19" y="34"/>
                    <a:pt x="20" y="34"/>
                  </a:cubicBezTo>
                  <a:cubicBezTo>
                    <a:pt x="20" y="34"/>
                    <a:pt x="21" y="34"/>
                    <a:pt x="21" y="35"/>
                  </a:cubicBezTo>
                  <a:cubicBezTo>
                    <a:pt x="22" y="36"/>
                    <a:pt x="23" y="37"/>
                    <a:pt x="24" y="36"/>
                  </a:cubicBezTo>
                  <a:cubicBezTo>
                    <a:pt x="26" y="36"/>
                    <a:pt x="26" y="35"/>
                    <a:pt x="26" y="34"/>
                  </a:cubicBezTo>
                  <a:cubicBezTo>
                    <a:pt x="26" y="33"/>
                    <a:pt x="27" y="31"/>
                    <a:pt x="27" y="31"/>
                  </a:cubicBezTo>
                  <a:cubicBezTo>
                    <a:pt x="28" y="31"/>
                    <a:pt x="29" y="31"/>
                    <a:pt x="29" y="32"/>
                  </a:cubicBezTo>
                  <a:cubicBezTo>
                    <a:pt x="30" y="32"/>
                    <a:pt x="32" y="32"/>
                    <a:pt x="32" y="31"/>
                  </a:cubicBezTo>
                  <a:cubicBezTo>
                    <a:pt x="33" y="30"/>
                    <a:pt x="34" y="28"/>
                    <a:pt x="33" y="28"/>
                  </a:cubicBezTo>
                  <a:cubicBezTo>
                    <a:pt x="32" y="27"/>
                    <a:pt x="32" y="25"/>
                    <a:pt x="32" y="25"/>
                  </a:cubicBezTo>
                  <a:cubicBezTo>
                    <a:pt x="33" y="24"/>
                    <a:pt x="34" y="24"/>
                    <a:pt x="35" y="24"/>
                  </a:cubicBezTo>
                  <a:cubicBezTo>
                    <a:pt x="36" y="24"/>
                    <a:pt x="37" y="24"/>
                    <a:pt x="37" y="22"/>
                  </a:cubicBezTo>
                  <a:cubicBezTo>
                    <a:pt x="37" y="21"/>
                    <a:pt x="37" y="20"/>
                    <a:pt x="36" y="19"/>
                  </a:cubicBezTo>
                  <a:cubicBezTo>
                    <a:pt x="35" y="19"/>
                    <a:pt x="34" y="18"/>
                    <a:pt x="34" y="17"/>
                  </a:cubicBezTo>
                  <a:cubicBezTo>
                    <a:pt x="34" y="16"/>
                    <a:pt x="35" y="16"/>
                    <a:pt x="35" y="15"/>
                  </a:cubicBezTo>
                  <a:cubicBezTo>
                    <a:pt x="36" y="15"/>
                    <a:pt x="37" y="14"/>
                    <a:pt x="36" y="12"/>
                  </a:cubicBezTo>
                  <a:cubicBezTo>
                    <a:pt x="36" y="11"/>
                    <a:pt x="35" y="10"/>
                    <a:pt x="34" y="11"/>
                  </a:cubicBezTo>
                  <a:cubicBezTo>
                    <a:pt x="33" y="11"/>
                    <a:pt x="31" y="10"/>
                    <a:pt x="31" y="9"/>
                  </a:cubicBezTo>
                  <a:cubicBezTo>
                    <a:pt x="31" y="9"/>
                    <a:pt x="31" y="8"/>
                    <a:pt x="32" y="7"/>
                  </a:cubicBezTo>
                  <a:cubicBezTo>
                    <a:pt x="32" y="7"/>
                    <a:pt x="32" y="5"/>
                    <a:pt x="31" y="4"/>
                  </a:cubicBezTo>
                  <a:cubicBezTo>
                    <a:pt x="30" y="3"/>
                    <a:pt x="29" y="3"/>
                    <a:pt x="28" y="4"/>
                  </a:cubicBezTo>
                  <a:cubicBezTo>
                    <a:pt x="27" y="5"/>
                    <a:pt x="26" y="5"/>
                    <a:pt x="25" y="4"/>
                  </a:cubicBezTo>
                  <a:cubicBezTo>
                    <a:pt x="25" y="4"/>
                    <a:pt x="24" y="3"/>
                    <a:pt x="25" y="2"/>
                  </a:cubicBezTo>
                  <a:cubicBezTo>
                    <a:pt x="25" y="1"/>
                    <a:pt x="24" y="0"/>
                    <a:pt x="22" y="0"/>
                  </a:cubicBezTo>
                  <a:cubicBezTo>
                    <a:pt x="21" y="0"/>
                    <a:pt x="20" y="0"/>
                    <a:pt x="20" y="1"/>
                  </a:cubicBezTo>
                  <a:cubicBezTo>
                    <a:pt x="19" y="2"/>
                    <a:pt x="18" y="3"/>
                    <a:pt x="17" y="3"/>
                  </a:cubicBezTo>
                  <a:cubicBezTo>
                    <a:pt x="17" y="3"/>
                    <a:pt x="16" y="2"/>
                    <a:pt x="16" y="1"/>
                  </a:cubicBezTo>
                  <a:cubicBezTo>
                    <a:pt x="15" y="0"/>
                    <a:pt x="14" y="0"/>
                    <a:pt x="13" y="0"/>
                  </a:cubicBezTo>
                  <a:cubicBezTo>
                    <a:pt x="11" y="1"/>
                    <a:pt x="11" y="2"/>
                    <a:pt x="11" y="3"/>
                  </a:cubicBezTo>
                  <a:cubicBezTo>
                    <a:pt x="11" y="4"/>
                    <a:pt x="10" y="5"/>
                    <a:pt x="10" y="6"/>
                  </a:cubicBezTo>
                  <a:cubicBezTo>
                    <a:pt x="9" y="6"/>
                    <a:pt x="8" y="6"/>
                    <a:pt x="8" y="5"/>
                  </a:cubicBezTo>
                  <a:cubicBezTo>
                    <a:pt x="7" y="4"/>
                    <a:pt x="5" y="5"/>
                    <a:pt x="5" y="6"/>
                  </a:cubicBezTo>
                  <a:cubicBezTo>
                    <a:pt x="4" y="7"/>
                    <a:pt x="3" y="8"/>
                    <a:pt x="4" y="9"/>
                  </a:cubicBezTo>
                  <a:close/>
                  <a:moveTo>
                    <a:pt x="15" y="8"/>
                  </a:moveTo>
                  <a:cubicBezTo>
                    <a:pt x="21" y="6"/>
                    <a:pt x="27" y="9"/>
                    <a:pt x="29" y="15"/>
                  </a:cubicBezTo>
                  <a:cubicBezTo>
                    <a:pt x="31" y="21"/>
                    <a:pt x="27" y="27"/>
                    <a:pt x="22" y="29"/>
                  </a:cubicBezTo>
                  <a:cubicBezTo>
                    <a:pt x="16" y="30"/>
                    <a:pt x="10" y="27"/>
                    <a:pt x="8" y="22"/>
                  </a:cubicBezTo>
                  <a:cubicBezTo>
                    <a:pt x="6" y="16"/>
                    <a:pt x="10" y="10"/>
                    <a:pt x="15" y="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bg1"/>
                </a:solidFill>
              </a:endParaRPr>
            </a:p>
          </p:txBody>
        </p:sp>
        <p:sp>
          <p:nvSpPr>
            <p:cNvPr id="99" name="Freeform 303"/>
            <p:cNvSpPr>
              <a:spLocks noEditPoints="1"/>
            </p:cNvSpPr>
            <p:nvPr/>
          </p:nvSpPr>
          <p:spPr bwMode="auto">
            <a:xfrm>
              <a:off x="5084763" y="1111250"/>
              <a:ext cx="109538" cy="104775"/>
            </a:xfrm>
            <a:custGeom>
              <a:avLst/>
              <a:gdLst>
                <a:gd name="T0" fmla="*/ 3 w 29"/>
                <a:gd name="T1" fmla="*/ 7 h 28"/>
                <a:gd name="T2" fmla="*/ 4 w 29"/>
                <a:gd name="T3" fmla="*/ 9 h 28"/>
                <a:gd name="T4" fmla="*/ 2 w 29"/>
                <a:gd name="T5" fmla="*/ 9 h 28"/>
                <a:gd name="T6" fmla="*/ 0 w 29"/>
                <a:gd name="T7" fmla="*/ 11 h 28"/>
                <a:gd name="T8" fmla="*/ 1 w 29"/>
                <a:gd name="T9" fmla="*/ 13 h 28"/>
                <a:gd name="T10" fmla="*/ 3 w 29"/>
                <a:gd name="T11" fmla="*/ 15 h 28"/>
                <a:gd name="T12" fmla="*/ 1 w 29"/>
                <a:gd name="T13" fmla="*/ 16 h 28"/>
                <a:gd name="T14" fmla="*/ 1 w 29"/>
                <a:gd name="T15" fmla="*/ 19 h 28"/>
                <a:gd name="T16" fmla="*/ 3 w 29"/>
                <a:gd name="T17" fmla="*/ 20 h 28"/>
                <a:gd name="T18" fmla="*/ 4 w 29"/>
                <a:gd name="T19" fmla="*/ 20 h 28"/>
                <a:gd name="T20" fmla="*/ 4 w 29"/>
                <a:gd name="T21" fmla="*/ 23 h 28"/>
                <a:gd name="T22" fmla="*/ 5 w 29"/>
                <a:gd name="T23" fmla="*/ 25 h 28"/>
                <a:gd name="T24" fmla="*/ 7 w 29"/>
                <a:gd name="T25" fmla="*/ 25 h 28"/>
                <a:gd name="T26" fmla="*/ 9 w 29"/>
                <a:gd name="T27" fmla="*/ 25 h 28"/>
                <a:gd name="T28" fmla="*/ 10 w 29"/>
                <a:gd name="T29" fmla="*/ 27 h 28"/>
                <a:gd name="T30" fmla="*/ 11 w 29"/>
                <a:gd name="T31" fmla="*/ 28 h 28"/>
                <a:gd name="T32" fmla="*/ 13 w 29"/>
                <a:gd name="T33" fmla="*/ 27 h 28"/>
                <a:gd name="T34" fmla="*/ 15 w 29"/>
                <a:gd name="T35" fmla="*/ 26 h 28"/>
                <a:gd name="T36" fmla="*/ 17 w 29"/>
                <a:gd name="T37" fmla="*/ 27 h 28"/>
                <a:gd name="T38" fmla="*/ 19 w 29"/>
                <a:gd name="T39" fmla="*/ 28 h 28"/>
                <a:gd name="T40" fmla="*/ 20 w 29"/>
                <a:gd name="T41" fmla="*/ 26 h 28"/>
                <a:gd name="T42" fmla="*/ 21 w 29"/>
                <a:gd name="T43" fmla="*/ 24 h 28"/>
                <a:gd name="T44" fmla="*/ 23 w 29"/>
                <a:gd name="T45" fmla="*/ 24 h 28"/>
                <a:gd name="T46" fmla="*/ 25 w 29"/>
                <a:gd name="T47" fmla="*/ 24 h 28"/>
                <a:gd name="T48" fmla="*/ 25 w 29"/>
                <a:gd name="T49" fmla="*/ 21 h 28"/>
                <a:gd name="T50" fmla="*/ 25 w 29"/>
                <a:gd name="T51" fmla="*/ 19 h 28"/>
                <a:gd name="T52" fmla="*/ 27 w 29"/>
                <a:gd name="T53" fmla="*/ 19 h 28"/>
                <a:gd name="T54" fmla="*/ 29 w 29"/>
                <a:gd name="T55" fmla="*/ 17 h 28"/>
                <a:gd name="T56" fmla="*/ 28 w 29"/>
                <a:gd name="T57" fmla="*/ 15 h 28"/>
                <a:gd name="T58" fmla="*/ 26 w 29"/>
                <a:gd name="T59" fmla="*/ 13 h 28"/>
                <a:gd name="T60" fmla="*/ 27 w 29"/>
                <a:gd name="T61" fmla="*/ 12 h 28"/>
                <a:gd name="T62" fmla="*/ 28 w 29"/>
                <a:gd name="T63" fmla="*/ 10 h 28"/>
                <a:gd name="T64" fmla="*/ 26 w 29"/>
                <a:gd name="T65" fmla="*/ 8 h 28"/>
                <a:gd name="T66" fmla="*/ 24 w 29"/>
                <a:gd name="T67" fmla="*/ 7 h 28"/>
                <a:gd name="T68" fmla="*/ 25 w 29"/>
                <a:gd name="T69" fmla="*/ 6 h 28"/>
                <a:gd name="T70" fmla="*/ 24 w 29"/>
                <a:gd name="T71" fmla="*/ 3 h 28"/>
                <a:gd name="T72" fmla="*/ 22 w 29"/>
                <a:gd name="T73" fmla="*/ 3 h 28"/>
                <a:gd name="T74" fmla="*/ 19 w 29"/>
                <a:gd name="T75" fmla="*/ 3 h 28"/>
                <a:gd name="T76" fmla="*/ 19 w 29"/>
                <a:gd name="T77" fmla="*/ 2 h 28"/>
                <a:gd name="T78" fmla="*/ 17 w 29"/>
                <a:gd name="T79" fmla="*/ 0 h 28"/>
                <a:gd name="T80" fmla="*/ 15 w 29"/>
                <a:gd name="T81" fmla="*/ 1 h 28"/>
                <a:gd name="T82" fmla="*/ 13 w 29"/>
                <a:gd name="T83" fmla="*/ 2 h 28"/>
                <a:gd name="T84" fmla="*/ 12 w 29"/>
                <a:gd name="T85" fmla="*/ 1 h 28"/>
                <a:gd name="T86" fmla="*/ 10 w 29"/>
                <a:gd name="T87" fmla="*/ 0 h 28"/>
                <a:gd name="T88" fmla="*/ 9 w 29"/>
                <a:gd name="T89" fmla="*/ 2 h 28"/>
                <a:gd name="T90" fmla="*/ 8 w 29"/>
                <a:gd name="T91" fmla="*/ 4 h 28"/>
                <a:gd name="T92" fmla="*/ 6 w 29"/>
                <a:gd name="T93" fmla="*/ 4 h 28"/>
                <a:gd name="T94" fmla="*/ 4 w 29"/>
                <a:gd name="T95" fmla="*/ 4 h 28"/>
                <a:gd name="T96" fmla="*/ 3 w 29"/>
                <a:gd name="T97" fmla="*/ 7 h 28"/>
                <a:gd name="T98" fmla="*/ 12 w 29"/>
                <a:gd name="T99" fmla="*/ 6 h 28"/>
                <a:gd name="T100" fmla="*/ 22 w 29"/>
                <a:gd name="T101" fmla="*/ 12 h 28"/>
                <a:gd name="T102" fmla="*/ 17 w 29"/>
                <a:gd name="T103" fmla="*/ 22 h 28"/>
                <a:gd name="T104" fmla="*/ 6 w 29"/>
                <a:gd name="T105" fmla="*/ 17 h 28"/>
                <a:gd name="T106" fmla="*/ 12 w 29"/>
                <a:gd name="T107" fmla="*/ 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9" h="28">
                  <a:moveTo>
                    <a:pt x="3" y="7"/>
                  </a:moveTo>
                  <a:cubicBezTo>
                    <a:pt x="4" y="7"/>
                    <a:pt x="4" y="9"/>
                    <a:pt x="4" y="9"/>
                  </a:cubicBezTo>
                  <a:cubicBezTo>
                    <a:pt x="4" y="9"/>
                    <a:pt x="3" y="10"/>
                    <a:pt x="2" y="9"/>
                  </a:cubicBezTo>
                  <a:cubicBezTo>
                    <a:pt x="1" y="9"/>
                    <a:pt x="0" y="10"/>
                    <a:pt x="0" y="11"/>
                  </a:cubicBezTo>
                  <a:cubicBezTo>
                    <a:pt x="0" y="12"/>
                    <a:pt x="0" y="13"/>
                    <a:pt x="1" y="13"/>
                  </a:cubicBezTo>
                  <a:cubicBezTo>
                    <a:pt x="2" y="13"/>
                    <a:pt x="3" y="15"/>
                    <a:pt x="3" y="15"/>
                  </a:cubicBezTo>
                  <a:cubicBezTo>
                    <a:pt x="3" y="16"/>
                    <a:pt x="2" y="16"/>
                    <a:pt x="1" y="16"/>
                  </a:cubicBezTo>
                  <a:cubicBezTo>
                    <a:pt x="1" y="17"/>
                    <a:pt x="0" y="18"/>
                    <a:pt x="1" y="19"/>
                  </a:cubicBezTo>
                  <a:cubicBezTo>
                    <a:pt x="1" y="20"/>
                    <a:pt x="2" y="20"/>
                    <a:pt x="3" y="20"/>
                  </a:cubicBezTo>
                  <a:cubicBezTo>
                    <a:pt x="3" y="20"/>
                    <a:pt x="4" y="20"/>
                    <a:pt x="4" y="20"/>
                  </a:cubicBezTo>
                  <a:cubicBezTo>
                    <a:pt x="4" y="21"/>
                    <a:pt x="5" y="22"/>
                    <a:pt x="4" y="23"/>
                  </a:cubicBezTo>
                  <a:cubicBezTo>
                    <a:pt x="4" y="23"/>
                    <a:pt x="4" y="24"/>
                    <a:pt x="5" y="25"/>
                  </a:cubicBezTo>
                  <a:cubicBezTo>
                    <a:pt x="5" y="26"/>
                    <a:pt x="7" y="26"/>
                    <a:pt x="7" y="25"/>
                  </a:cubicBezTo>
                  <a:cubicBezTo>
                    <a:pt x="8" y="25"/>
                    <a:pt x="9" y="25"/>
                    <a:pt x="9" y="25"/>
                  </a:cubicBezTo>
                  <a:cubicBezTo>
                    <a:pt x="10" y="25"/>
                    <a:pt x="10" y="26"/>
                    <a:pt x="10" y="27"/>
                  </a:cubicBezTo>
                  <a:cubicBezTo>
                    <a:pt x="10" y="27"/>
                    <a:pt x="10" y="28"/>
                    <a:pt x="11" y="28"/>
                  </a:cubicBezTo>
                  <a:cubicBezTo>
                    <a:pt x="12" y="28"/>
                    <a:pt x="13" y="28"/>
                    <a:pt x="13" y="27"/>
                  </a:cubicBezTo>
                  <a:cubicBezTo>
                    <a:pt x="14" y="27"/>
                    <a:pt x="15" y="26"/>
                    <a:pt x="15" y="26"/>
                  </a:cubicBezTo>
                  <a:cubicBezTo>
                    <a:pt x="16" y="26"/>
                    <a:pt x="16" y="26"/>
                    <a:pt x="17" y="27"/>
                  </a:cubicBezTo>
                  <a:cubicBezTo>
                    <a:pt x="17" y="28"/>
                    <a:pt x="18" y="28"/>
                    <a:pt x="19" y="28"/>
                  </a:cubicBezTo>
                  <a:cubicBezTo>
                    <a:pt x="20" y="28"/>
                    <a:pt x="20" y="27"/>
                    <a:pt x="20" y="26"/>
                  </a:cubicBezTo>
                  <a:cubicBezTo>
                    <a:pt x="20" y="25"/>
                    <a:pt x="21" y="24"/>
                    <a:pt x="21" y="24"/>
                  </a:cubicBezTo>
                  <a:cubicBezTo>
                    <a:pt x="21" y="24"/>
                    <a:pt x="22" y="24"/>
                    <a:pt x="23" y="24"/>
                  </a:cubicBezTo>
                  <a:cubicBezTo>
                    <a:pt x="23" y="25"/>
                    <a:pt x="24" y="25"/>
                    <a:pt x="25" y="24"/>
                  </a:cubicBezTo>
                  <a:cubicBezTo>
                    <a:pt x="26" y="23"/>
                    <a:pt x="26" y="22"/>
                    <a:pt x="25" y="21"/>
                  </a:cubicBezTo>
                  <a:cubicBezTo>
                    <a:pt x="25" y="21"/>
                    <a:pt x="25" y="20"/>
                    <a:pt x="25" y="19"/>
                  </a:cubicBezTo>
                  <a:cubicBezTo>
                    <a:pt x="25" y="19"/>
                    <a:pt x="26" y="19"/>
                    <a:pt x="27" y="19"/>
                  </a:cubicBezTo>
                  <a:cubicBezTo>
                    <a:pt x="28" y="19"/>
                    <a:pt x="28" y="18"/>
                    <a:pt x="29" y="17"/>
                  </a:cubicBezTo>
                  <a:cubicBezTo>
                    <a:pt x="29" y="16"/>
                    <a:pt x="28" y="15"/>
                    <a:pt x="28" y="15"/>
                  </a:cubicBezTo>
                  <a:cubicBezTo>
                    <a:pt x="27" y="15"/>
                    <a:pt x="26" y="14"/>
                    <a:pt x="26" y="13"/>
                  </a:cubicBezTo>
                  <a:cubicBezTo>
                    <a:pt x="26" y="13"/>
                    <a:pt x="27" y="12"/>
                    <a:pt x="27" y="12"/>
                  </a:cubicBezTo>
                  <a:cubicBezTo>
                    <a:pt x="28" y="12"/>
                    <a:pt x="28" y="11"/>
                    <a:pt x="28" y="10"/>
                  </a:cubicBezTo>
                  <a:cubicBezTo>
                    <a:pt x="28" y="9"/>
                    <a:pt x="27" y="8"/>
                    <a:pt x="26" y="8"/>
                  </a:cubicBezTo>
                  <a:cubicBezTo>
                    <a:pt x="26" y="9"/>
                    <a:pt x="24" y="8"/>
                    <a:pt x="24" y="7"/>
                  </a:cubicBezTo>
                  <a:cubicBezTo>
                    <a:pt x="24" y="7"/>
                    <a:pt x="24" y="6"/>
                    <a:pt x="25" y="6"/>
                  </a:cubicBezTo>
                  <a:cubicBezTo>
                    <a:pt x="25" y="5"/>
                    <a:pt x="25" y="4"/>
                    <a:pt x="24" y="3"/>
                  </a:cubicBezTo>
                  <a:cubicBezTo>
                    <a:pt x="23" y="3"/>
                    <a:pt x="22" y="3"/>
                    <a:pt x="22" y="3"/>
                  </a:cubicBezTo>
                  <a:cubicBezTo>
                    <a:pt x="21" y="4"/>
                    <a:pt x="20" y="4"/>
                    <a:pt x="19" y="3"/>
                  </a:cubicBezTo>
                  <a:cubicBezTo>
                    <a:pt x="19" y="3"/>
                    <a:pt x="19" y="2"/>
                    <a:pt x="19" y="2"/>
                  </a:cubicBezTo>
                  <a:cubicBezTo>
                    <a:pt x="19" y="1"/>
                    <a:pt x="18" y="0"/>
                    <a:pt x="17" y="0"/>
                  </a:cubicBezTo>
                  <a:cubicBezTo>
                    <a:pt x="16" y="0"/>
                    <a:pt x="15" y="0"/>
                    <a:pt x="15" y="1"/>
                  </a:cubicBezTo>
                  <a:cubicBezTo>
                    <a:pt x="15" y="2"/>
                    <a:pt x="14" y="2"/>
                    <a:pt x="13" y="2"/>
                  </a:cubicBezTo>
                  <a:cubicBezTo>
                    <a:pt x="13" y="2"/>
                    <a:pt x="12" y="2"/>
                    <a:pt x="12" y="1"/>
                  </a:cubicBezTo>
                  <a:cubicBezTo>
                    <a:pt x="12" y="0"/>
                    <a:pt x="11" y="0"/>
                    <a:pt x="10" y="0"/>
                  </a:cubicBezTo>
                  <a:cubicBezTo>
                    <a:pt x="9" y="1"/>
                    <a:pt x="8" y="2"/>
                    <a:pt x="9" y="2"/>
                  </a:cubicBezTo>
                  <a:cubicBezTo>
                    <a:pt x="9" y="3"/>
                    <a:pt x="8" y="4"/>
                    <a:pt x="8" y="4"/>
                  </a:cubicBezTo>
                  <a:cubicBezTo>
                    <a:pt x="7" y="5"/>
                    <a:pt x="7" y="4"/>
                    <a:pt x="6" y="4"/>
                  </a:cubicBezTo>
                  <a:cubicBezTo>
                    <a:pt x="5" y="3"/>
                    <a:pt x="4" y="4"/>
                    <a:pt x="4" y="4"/>
                  </a:cubicBezTo>
                  <a:cubicBezTo>
                    <a:pt x="3" y="5"/>
                    <a:pt x="3" y="6"/>
                    <a:pt x="3" y="7"/>
                  </a:cubicBezTo>
                  <a:close/>
                  <a:moveTo>
                    <a:pt x="12" y="6"/>
                  </a:moveTo>
                  <a:cubicBezTo>
                    <a:pt x="16" y="5"/>
                    <a:pt x="21" y="7"/>
                    <a:pt x="22" y="12"/>
                  </a:cubicBezTo>
                  <a:cubicBezTo>
                    <a:pt x="24" y="16"/>
                    <a:pt x="21" y="21"/>
                    <a:pt x="17" y="22"/>
                  </a:cubicBezTo>
                  <a:cubicBezTo>
                    <a:pt x="13" y="23"/>
                    <a:pt x="8" y="21"/>
                    <a:pt x="6" y="17"/>
                  </a:cubicBezTo>
                  <a:cubicBezTo>
                    <a:pt x="5" y="12"/>
                    <a:pt x="7" y="8"/>
                    <a:pt x="12" y="6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bg1"/>
                </a:solidFill>
              </a:endParaRPr>
            </a:p>
          </p:txBody>
        </p:sp>
      </p:grpSp>
      <p:sp>
        <p:nvSpPr>
          <p:cNvPr id="100" name="Freeform 9"/>
          <p:cNvSpPr>
            <a:spLocks noEditPoints="1"/>
          </p:cNvSpPr>
          <p:nvPr/>
        </p:nvSpPr>
        <p:spPr bwMode="auto">
          <a:xfrm rot="19469485">
            <a:off x="7546084" y="1906136"/>
            <a:ext cx="283701" cy="302301"/>
          </a:xfrm>
          <a:custGeom>
            <a:avLst/>
            <a:gdLst>
              <a:gd name="T0" fmla="*/ 147 w 243"/>
              <a:gd name="T1" fmla="*/ 240 h 269"/>
              <a:gd name="T2" fmla="*/ 90 w 243"/>
              <a:gd name="T3" fmla="*/ 234 h 269"/>
              <a:gd name="T4" fmla="*/ 147 w 243"/>
              <a:gd name="T5" fmla="*/ 227 h 269"/>
              <a:gd name="T6" fmla="*/ 147 w 243"/>
              <a:gd name="T7" fmla="*/ 243 h 269"/>
              <a:gd name="T8" fmla="*/ 90 w 243"/>
              <a:gd name="T9" fmla="*/ 252 h 269"/>
              <a:gd name="T10" fmla="*/ 96 w 243"/>
              <a:gd name="T11" fmla="*/ 256 h 269"/>
              <a:gd name="T12" fmla="*/ 105 w 243"/>
              <a:gd name="T13" fmla="*/ 262 h 269"/>
              <a:gd name="T14" fmla="*/ 126 w 243"/>
              <a:gd name="T15" fmla="*/ 269 h 269"/>
              <a:gd name="T16" fmla="*/ 138 w 243"/>
              <a:gd name="T17" fmla="*/ 261 h 269"/>
              <a:gd name="T18" fmla="*/ 147 w 243"/>
              <a:gd name="T19" fmla="*/ 256 h 269"/>
              <a:gd name="T20" fmla="*/ 147 w 243"/>
              <a:gd name="T21" fmla="*/ 243 h 269"/>
              <a:gd name="T22" fmla="*/ 128 w 243"/>
              <a:gd name="T23" fmla="*/ 32 h 269"/>
              <a:gd name="T24" fmla="*/ 122 w 243"/>
              <a:gd name="T25" fmla="*/ 0 h 269"/>
              <a:gd name="T26" fmla="*/ 115 w 243"/>
              <a:gd name="T27" fmla="*/ 32 h 269"/>
              <a:gd name="T28" fmla="*/ 54 w 243"/>
              <a:gd name="T29" fmla="*/ 63 h 269"/>
              <a:gd name="T30" fmla="*/ 63 w 243"/>
              <a:gd name="T31" fmla="*/ 63 h 269"/>
              <a:gd name="T32" fmla="*/ 45 w 243"/>
              <a:gd name="T33" fmla="*/ 36 h 269"/>
              <a:gd name="T34" fmla="*/ 36 w 243"/>
              <a:gd name="T35" fmla="*/ 45 h 269"/>
              <a:gd name="T36" fmla="*/ 38 w 243"/>
              <a:gd name="T37" fmla="*/ 122 h 269"/>
              <a:gd name="T38" fmla="*/ 6 w 243"/>
              <a:gd name="T39" fmla="*/ 115 h 269"/>
              <a:gd name="T40" fmla="*/ 6 w 243"/>
              <a:gd name="T41" fmla="*/ 128 h 269"/>
              <a:gd name="T42" fmla="*/ 38 w 243"/>
              <a:gd name="T43" fmla="*/ 122 h 269"/>
              <a:gd name="T44" fmla="*/ 36 w 243"/>
              <a:gd name="T45" fmla="*/ 199 h 269"/>
              <a:gd name="T46" fmla="*/ 40 w 243"/>
              <a:gd name="T47" fmla="*/ 209 h 269"/>
              <a:gd name="T48" fmla="*/ 63 w 243"/>
              <a:gd name="T49" fmla="*/ 189 h 269"/>
              <a:gd name="T50" fmla="*/ 54 w 243"/>
              <a:gd name="T51" fmla="*/ 180 h 269"/>
              <a:gd name="T52" fmla="*/ 180 w 243"/>
              <a:gd name="T53" fmla="*/ 180 h 269"/>
              <a:gd name="T54" fmla="*/ 199 w 243"/>
              <a:gd name="T55" fmla="*/ 208 h 269"/>
              <a:gd name="T56" fmla="*/ 208 w 243"/>
              <a:gd name="T57" fmla="*/ 208 h 269"/>
              <a:gd name="T58" fmla="*/ 189 w 243"/>
              <a:gd name="T59" fmla="*/ 180 h 269"/>
              <a:gd name="T60" fmla="*/ 211 w 243"/>
              <a:gd name="T61" fmla="*/ 115 h 269"/>
              <a:gd name="T62" fmla="*/ 211 w 243"/>
              <a:gd name="T63" fmla="*/ 128 h 269"/>
              <a:gd name="T64" fmla="*/ 243 w 243"/>
              <a:gd name="T65" fmla="*/ 122 h 269"/>
              <a:gd name="T66" fmla="*/ 185 w 243"/>
              <a:gd name="T67" fmla="*/ 65 h 269"/>
              <a:gd name="T68" fmla="*/ 208 w 243"/>
              <a:gd name="T69" fmla="*/ 45 h 269"/>
              <a:gd name="T70" fmla="*/ 199 w 243"/>
              <a:gd name="T71" fmla="*/ 36 h 269"/>
              <a:gd name="T72" fmla="*/ 180 w 243"/>
              <a:gd name="T73" fmla="*/ 63 h 269"/>
              <a:gd name="T74" fmla="*/ 154 w 243"/>
              <a:gd name="T75" fmla="*/ 218 h 269"/>
              <a:gd name="T76" fmla="*/ 96 w 243"/>
              <a:gd name="T77" fmla="*/ 224 h 269"/>
              <a:gd name="T78" fmla="*/ 96 w 243"/>
              <a:gd name="T79" fmla="*/ 211 h 269"/>
              <a:gd name="T80" fmla="*/ 122 w 243"/>
              <a:gd name="T81" fmla="*/ 58 h 269"/>
              <a:gd name="T82" fmla="*/ 148 w 243"/>
              <a:gd name="T83" fmla="*/ 211 h 269"/>
              <a:gd name="T84" fmla="*/ 107 w 243"/>
              <a:gd name="T85" fmla="*/ 76 h 269"/>
              <a:gd name="T86" fmla="*/ 67 w 243"/>
              <a:gd name="T87" fmla="*/ 111 h 269"/>
              <a:gd name="T88" fmla="*/ 72 w 243"/>
              <a:gd name="T89" fmla="*/ 117 h 269"/>
              <a:gd name="T90" fmla="*/ 104 w 243"/>
              <a:gd name="T91" fmla="*/ 82 h 2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43" h="269">
                <a:moveTo>
                  <a:pt x="154" y="234"/>
                </a:moveTo>
                <a:cubicBezTo>
                  <a:pt x="154" y="237"/>
                  <a:pt x="151" y="240"/>
                  <a:pt x="147" y="240"/>
                </a:cubicBezTo>
                <a:cubicBezTo>
                  <a:pt x="96" y="240"/>
                  <a:pt x="96" y="240"/>
                  <a:pt x="96" y="240"/>
                </a:cubicBezTo>
                <a:cubicBezTo>
                  <a:pt x="92" y="240"/>
                  <a:pt x="90" y="237"/>
                  <a:pt x="90" y="234"/>
                </a:cubicBezTo>
                <a:cubicBezTo>
                  <a:pt x="90" y="230"/>
                  <a:pt x="92" y="227"/>
                  <a:pt x="96" y="227"/>
                </a:cubicBezTo>
                <a:cubicBezTo>
                  <a:pt x="147" y="227"/>
                  <a:pt x="147" y="227"/>
                  <a:pt x="147" y="227"/>
                </a:cubicBezTo>
                <a:cubicBezTo>
                  <a:pt x="151" y="227"/>
                  <a:pt x="154" y="230"/>
                  <a:pt x="154" y="234"/>
                </a:cubicBezTo>
                <a:close/>
                <a:moveTo>
                  <a:pt x="147" y="243"/>
                </a:moveTo>
                <a:cubicBezTo>
                  <a:pt x="96" y="243"/>
                  <a:pt x="96" y="243"/>
                  <a:pt x="96" y="243"/>
                </a:cubicBezTo>
                <a:cubicBezTo>
                  <a:pt x="92" y="243"/>
                  <a:pt x="89" y="247"/>
                  <a:pt x="90" y="252"/>
                </a:cubicBezTo>
                <a:cubicBezTo>
                  <a:pt x="91" y="254"/>
                  <a:pt x="93" y="256"/>
                  <a:pt x="96" y="256"/>
                </a:cubicBezTo>
                <a:cubicBezTo>
                  <a:pt x="96" y="256"/>
                  <a:pt x="96" y="256"/>
                  <a:pt x="96" y="256"/>
                </a:cubicBezTo>
                <a:cubicBezTo>
                  <a:pt x="100" y="256"/>
                  <a:pt x="103" y="258"/>
                  <a:pt x="105" y="261"/>
                </a:cubicBezTo>
                <a:cubicBezTo>
                  <a:pt x="105" y="262"/>
                  <a:pt x="105" y="262"/>
                  <a:pt x="105" y="262"/>
                </a:cubicBezTo>
                <a:cubicBezTo>
                  <a:pt x="107" y="266"/>
                  <a:pt x="112" y="269"/>
                  <a:pt x="117" y="269"/>
                </a:cubicBezTo>
                <a:cubicBezTo>
                  <a:pt x="126" y="269"/>
                  <a:pt x="126" y="269"/>
                  <a:pt x="126" y="269"/>
                </a:cubicBezTo>
                <a:cubicBezTo>
                  <a:pt x="131" y="269"/>
                  <a:pt x="136" y="266"/>
                  <a:pt x="138" y="262"/>
                </a:cubicBezTo>
                <a:cubicBezTo>
                  <a:pt x="138" y="261"/>
                  <a:pt x="138" y="261"/>
                  <a:pt x="138" y="261"/>
                </a:cubicBezTo>
                <a:cubicBezTo>
                  <a:pt x="140" y="258"/>
                  <a:pt x="143" y="256"/>
                  <a:pt x="147" y="256"/>
                </a:cubicBezTo>
                <a:cubicBezTo>
                  <a:pt x="147" y="256"/>
                  <a:pt x="147" y="256"/>
                  <a:pt x="147" y="256"/>
                </a:cubicBezTo>
                <a:cubicBezTo>
                  <a:pt x="150" y="256"/>
                  <a:pt x="152" y="254"/>
                  <a:pt x="153" y="252"/>
                </a:cubicBezTo>
                <a:cubicBezTo>
                  <a:pt x="155" y="247"/>
                  <a:pt x="151" y="243"/>
                  <a:pt x="147" y="243"/>
                </a:cubicBezTo>
                <a:close/>
                <a:moveTo>
                  <a:pt x="122" y="38"/>
                </a:moveTo>
                <a:cubicBezTo>
                  <a:pt x="125" y="38"/>
                  <a:pt x="128" y="36"/>
                  <a:pt x="128" y="32"/>
                </a:cubicBezTo>
                <a:cubicBezTo>
                  <a:pt x="128" y="6"/>
                  <a:pt x="128" y="6"/>
                  <a:pt x="128" y="6"/>
                </a:cubicBezTo>
                <a:cubicBezTo>
                  <a:pt x="128" y="3"/>
                  <a:pt x="125" y="0"/>
                  <a:pt x="122" y="0"/>
                </a:cubicBezTo>
                <a:cubicBezTo>
                  <a:pt x="118" y="0"/>
                  <a:pt x="115" y="3"/>
                  <a:pt x="115" y="6"/>
                </a:cubicBezTo>
                <a:cubicBezTo>
                  <a:pt x="115" y="32"/>
                  <a:pt x="115" y="32"/>
                  <a:pt x="115" y="32"/>
                </a:cubicBezTo>
                <a:cubicBezTo>
                  <a:pt x="115" y="36"/>
                  <a:pt x="118" y="38"/>
                  <a:pt x="122" y="38"/>
                </a:cubicBezTo>
                <a:close/>
                <a:moveTo>
                  <a:pt x="54" y="63"/>
                </a:moveTo>
                <a:cubicBezTo>
                  <a:pt x="55" y="64"/>
                  <a:pt x="57" y="65"/>
                  <a:pt x="58" y="65"/>
                </a:cubicBezTo>
                <a:cubicBezTo>
                  <a:pt x="60" y="65"/>
                  <a:pt x="62" y="64"/>
                  <a:pt x="63" y="63"/>
                </a:cubicBezTo>
                <a:cubicBezTo>
                  <a:pt x="65" y="60"/>
                  <a:pt x="65" y="56"/>
                  <a:pt x="63" y="54"/>
                </a:cubicBezTo>
                <a:cubicBezTo>
                  <a:pt x="45" y="36"/>
                  <a:pt x="45" y="36"/>
                  <a:pt x="45" y="36"/>
                </a:cubicBezTo>
                <a:cubicBezTo>
                  <a:pt x="42" y="33"/>
                  <a:pt x="38" y="33"/>
                  <a:pt x="36" y="36"/>
                </a:cubicBezTo>
                <a:cubicBezTo>
                  <a:pt x="33" y="38"/>
                  <a:pt x="33" y="42"/>
                  <a:pt x="36" y="45"/>
                </a:cubicBezTo>
                <a:lnTo>
                  <a:pt x="54" y="63"/>
                </a:lnTo>
                <a:close/>
                <a:moveTo>
                  <a:pt x="38" y="122"/>
                </a:moveTo>
                <a:cubicBezTo>
                  <a:pt x="38" y="118"/>
                  <a:pt x="36" y="115"/>
                  <a:pt x="32" y="115"/>
                </a:cubicBezTo>
                <a:cubicBezTo>
                  <a:pt x="6" y="115"/>
                  <a:pt x="6" y="115"/>
                  <a:pt x="6" y="115"/>
                </a:cubicBezTo>
                <a:cubicBezTo>
                  <a:pt x="3" y="115"/>
                  <a:pt x="0" y="118"/>
                  <a:pt x="0" y="122"/>
                </a:cubicBezTo>
                <a:cubicBezTo>
                  <a:pt x="0" y="125"/>
                  <a:pt x="3" y="128"/>
                  <a:pt x="6" y="128"/>
                </a:cubicBezTo>
                <a:cubicBezTo>
                  <a:pt x="32" y="128"/>
                  <a:pt x="32" y="128"/>
                  <a:pt x="32" y="128"/>
                </a:cubicBezTo>
                <a:cubicBezTo>
                  <a:pt x="36" y="128"/>
                  <a:pt x="38" y="125"/>
                  <a:pt x="38" y="122"/>
                </a:cubicBezTo>
                <a:close/>
                <a:moveTo>
                  <a:pt x="54" y="180"/>
                </a:moveTo>
                <a:cubicBezTo>
                  <a:pt x="36" y="199"/>
                  <a:pt x="36" y="199"/>
                  <a:pt x="36" y="199"/>
                </a:cubicBezTo>
                <a:cubicBezTo>
                  <a:pt x="33" y="201"/>
                  <a:pt x="33" y="205"/>
                  <a:pt x="36" y="208"/>
                </a:cubicBezTo>
                <a:cubicBezTo>
                  <a:pt x="37" y="209"/>
                  <a:pt x="39" y="209"/>
                  <a:pt x="40" y="209"/>
                </a:cubicBezTo>
                <a:cubicBezTo>
                  <a:pt x="42" y="209"/>
                  <a:pt x="43" y="209"/>
                  <a:pt x="45" y="208"/>
                </a:cubicBezTo>
                <a:cubicBezTo>
                  <a:pt x="63" y="189"/>
                  <a:pt x="63" y="189"/>
                  <a:pt x="63" y="189"/>
                </a:cubicBezTo>
                <a:cubicBezTo>
                  <a:pt x="65" y="187"/>
                  <a:pt x="65" y="183"/>
                  <a:pt x="63" y="180"/>
                </a:cubicBezTo>
                <a:cubicBezTo>
                  <a:pt x="60" y="178"/>
                  <a:pt x="56" y="178"/>
                  <a:pt x="54" y="180"/>
                </a:cubicBezTo>
                <a:close/>
                <a:moveTo>
                  <a:pt x="189" y="180"/>
                </a:moveTo>
                <a:cubicBezTo>
                  <a:pt x="187" y="178"/>
                  <a:pt x="183" y="178"/>
                  <a:pt x="180" y="180"/>
                </a:cubicBezTo>
                <a:cubicBezTo>
                  <a:pt x="178" y="183"/>
                  <a:pt x="178" y="187"/>
                  <a:pt x="180" y="189"/>
                </a:cubicBezTo>
                <a:cubicBezTo>
                  <a:pt x="199" y="208"/>
                  <a:pt x="199" y="208"/>
                  <a:pt x="199" y="208"/>
                </a:cubicBezTo>
                <a:cubicBezTo>
                  <a:pt x="200" y="209"/>
                  <a:pt x="201" y="209"/>
                  <a:pt x="203" y="209"/>
                </a:cubicBezTo>
                <a:cubicBezTo>
                  <a:pt x="205" y="209"/>
                  <a:pt x="206" y="209"/>
                  <a:pt x="208" y="208"/>
                </a:cubicBezTo>
                <a:cubicBezTo>
                  <a:pt x="210" y="205"/>
                  <a:pt x="210" y="201"/>
                  <a:pt x="208" y="199"/>
                </a:cubicBezTo>
                <a:lnTo>
                  <a:pt x="189" y="180"/>
                </a:lnTo>
                <a:close/>
                <a:moveTo>
                  <a:pt x="237" y="115"/>
                </a:moveTo>
                <a:cubicBezTo>
                  <a:pt x="211" y="115"/>
                  <a:pt x="211" y="115"/>
                  <a:pt x="211" y="115"/>
                </a:cubicBezTo>
                <a:cubicBezTo>
                  <a:pt x="208" y="115"/>
                  <a:pt x="205" y="118"/>
                  <a:pt x="205" y="122"/>
                </a:cubicBezTo>
                <a:cubicBezTo>
                  <a:pt x="205" y="125"/>
                  <a:pt x="208" y="128"/>
                  <a:pt x="211" y="128"/>
                </a:cubicBezTo>
                <a:cubicBezTo>
                  <a:pt x="237" y="128"/>
                  <a:pt x="237" y="128"/>
                  <a:pt x="237" y="128"/>
                </a:cubicBezTo>
                <a:cubicBezTo>
                  <a:pt x="240" y="128"/>
                  <a:pt x="243" y="125"/>
                  <a:pt x="243" y="122"/>
                </a:cubicBezTo>
                <a:cubicBezTo>
                  <a:pt x="243" y="118"/>
                  <a:pt x="240" y="115"/>
                  <a:pt x="237" y="115"/>
                </a:cubicBezTo>
                <a:close/>
                <a:moveTo>
                  <a:pt x="185" y="65"/>
                </a:moveTo>
                <a:cubicBezTo>
                  <a:pt x="187" y="65"/>
                  <a:pt x="188" y="64"/>
                  <a:pt x="189" y="63"/>
                </a:cubicBezTo>
                <a:cubicBezTo>
                  <a:pt x="208" y="45"/>
                  <a:pt x="208" y="45"/>
                  <a:pt x="208" y="45"/>
                </a:cubicBezTo>
                <a:cubicBezTo>
                  <a:pt x="210" y="42"/>
                  <a:pt x="210" y="38"/>
                  <a:pt x="208" y="36"/>
                </a:cubicBezTo>
                <a:cubicBezTo>
                  <a:pt x="205" y="33"/>
                  <a:pt x="201" y="33"/>
                  <a:pt x="199" y="36"/>
                </a:cubicBezTo>
                <a:cubicBezTo>
                  <a:pt x="180" y="54"/>
                  <a:pt x="180" y="54"/>
                  <a:pt x="180" y="54"/>
                </a:cubicBezTo>
                <a:cubicBezTo>
                  <a:pt x="178" y="56"/>
                  <a:pt x="178" y="60"/>
                  <a:pt x="180" y="63"/>
                </a:cubicBezTo>
                <a:cubicBezTo>
                  <a:pt x="182" y="64"/>
                  <a:pt x="183" y="65"/>
                  <a:pt x="185" y="65"/>
                </a:cubicBezTo>
                <a:close/>
                <a:moveTo>
                  <a:pt x="154" y="218"/>
                </a:moveTo>
                <a:cubicBezTo>
                  <a:pt x="154" y="221"/>
                  <a:pt x="151" y="224"/>
                  <a:pt x="147" y="224"/>
                </a:cubicBezTo>
                <a:cubicBezTo>
                  <a:pt x="96" y="224"/>
                  <a:pt x="96" y="224"/>
                  <a:pt x="96" y="224"/>
                </a:cubicBezTo>
                <a:cubicBezTo>
                  <a:pt x="92" y="224"/>
                  <a:pt x="90" y="221"/>
                  <a:pt x="90" y="218"/>
                </a:cubicBezTo>
                <a:cubicBezTo>
                  <a:pt x="90" y="214"/>
                  <a:pt x="92" y="211"/>
                  <a:pt x="96" y="211"/>
                </a:cubicBezTo>
                <a:cubicBezTo>
                  <a:pt x="92" y="175"/>
                  <a:pt x="54" y="167"/>
                  <a:pt x="54" y="125"/>
                </a:cubicBezTo>
                <a:cubicBezTo>
                  <a:pt x="54" y="88"/>
                  <a:pt x="84" y="58"/>
                  <a:pt x="122" y="58"/>
                </a:cubicBezTo>
                <a:cubicBezTo>
                  <a:pt x="159" y="58"/>
                  <a:pt x="189" y="88"/>
                  <a:pt x="189" y="125"/>
                </a:cubicBezTo>
                <a:cubicBezTo>
                  <a:pt x="189" y="167"/>
                  <a:pt x="152" y="175"/>
                  <a:pt x="148" y="211"/>
                </a:cubicBezTo>
                <a:cubicBezTo>
                  <a:pt x="151" y="211"/>
                  <a:pt x="154" y="214"/>
                  <a:pt x="154" y="218"/>
                </a:cubicBezTo>
                <a:close/>
                <a:moveTo>
                  <a:pt x="107" y="76"/>
                </a:moveTo>
                <a:cubicBezTo>
                  <a:pt x="106" y="73"/>
                  <a:pt x="103" y="72"/>
                  <a:pt x="101" y="73"/>
                </a:cubicBezTo>
                <a:cubicBezTo>
                  <a:pt x="84" y="80"/>
                  <a:pt x="72" y="94"/>
                  <a:pt x="67" y="111"/>
                </a:cubicBezTo>
                <a:cubicBezTo>
                  <a:pt x="67" y="113"/>
                  <a:pt x="68" y="116"/>
                  <a:pt x="71" y="117"/>
                </a:cubicBezTo>
                <a:cubicBezTo>
                  <a:pt x="71" y="117"/>
                  <a:pt x="72" y="117"/>
                  <a:pt x="72" y="117"/>
                </a:cubicBezTo>
                <a:cubicBezTo>
                  <a:pt x="74" y="117"/>
                  <a:pt x="76" y="115"/>
                  <a:pt x="77" y="113"/>
                </a:cubicBezTo>
                <a:cubicBezTo>
                  <a:pt x="80" y="99"/>
                  <a:pt x="91" y="87"/>
                  <a:pt x="104" y="82"/>
                </a:cubicBezTo>
                <a:cubicBezTo>
                  <a:pt x="107" y="81"/>
                  <a:pt x="108" y="78"/>
                  <a:pt x="107" y="76"/>
                </a:cubicBezTo>
                <a:close/>
              </a:path>
            </a:pathLst>
          </a:custGeom>
          <a:solidFill>
            <a:srgbClr val="414455"/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 sz="1350">
              <a:solidFill>
                <a:schemeClr val="bg1"/>
              </a:solidFill>
            </a:endParaRPr>
          </a:p>
        </p:txBody>
      </p:sp>
      <p:sp>
        <p:nvSpPr>
          <p:cNvPr id="101" name="Freeform 206"/>
          <p:cNvSpPr>
            <a:spLocks noChangeAspect="1" noEditPoints="1"/>
          </p:cNvSpPr>
          <p:nvPr/>
        </p:nvSpPr>
        <p:spPr bwMode="auto">
          <a:xfrm>
            <a:off x="8264982" y="1900379"/>
            <a:ext cx="228407" cy="276096"/>
          </a:xfrm>
          <a:custGeom>
            <a:avLst/>
            <a:gdLst>
              <a:gd name="T0" fmla="*/ 0 w 77"/>
              <a:gd name="T1" fmla="*/ 85 h 93"/>
              <a:gd name="T2" fmla="*/ 30 w 77"/>
              <a:gd name="T3" fmla="*/ 20 h 93"/>
              <a:gd name="T4" fmla="*/ 38 w 77"/>
              <a:gd name="T5" fmla="*/ 26 h 93"/>
              <a:gd name="T6" fmla="*/ 39 w 77"/>
              <a:gd name="T7" fmla="*/ 27 h 93"/>
              <a:gd name="T8" fmla="*/ 39 w 77"/>
              <a:gd name="T9" fmla="*/ 27 h 93"/>
              <a:gd name="T10" fmla="*/ 40 w 77"/>
              <a:gd name="T11" fmla="*/ 27 h 93"/>
              <a:gd name="T12" fmla="*/ 40 w 77"/>
              <a:gd name="T13" fmla="*/ 28 h 93"/>
              <a:gd name="T14" fmla="*/ 40 w 77"/>
              <a:gd name="T15" fmla="*/ 28 h 93"/>
              <a:gd name="T16" fmla="*/ 41 w 77"/>
              <a:gd name="T17" fmla="*/ 28 h 93"/>
              <a:gd name="T18" fmla="*/ 41 w 77"/>
              <a:gd name="T19" fmla="*/ 29 h 93"/>
              <a:gd name="T20" fmla="*/ 42 w 77"/>
              <a:gd name="T21" fmla="*/ 29 h 93"/>
              <a:gd name="T22" fmla="*/ 42 w 77"/>
              <a:gd name="T23" fmla="*/ 29 h 93"/>
              <a:gd name="T24" fmla="*/ 43 w 77"/>
              <a:gd name="T25" fmla="*/ 29 h 93"/>
              <a:gd name="T26" fmla="*/ 43 w 77"/>
              <a:gd name="T27" fmla="*/ 30 h 93"/>
              <a:gd name="T28" fmla="*/ 43 w 77"/>
              <a:gd name="T29" fmla="*/ 30 h 93"/>
              <a:gd name="T30" fmla="*/ 48 w 77"/>
              <a:gd name="T31" fmla="*/ 33 h 93"/>
              <a:gd name="T32" fmla="*/ 48 w 77"/>
              <a:gd name="T33" fmla="*/ 33 h 93"/>
              <a:gd name="T34" fmla="*/ 49 w 77"/>
              <a:gd name="T35" fmla="*/ 34 h 93"/>
              <a:gd name="T36" fmla="*/ 49 w 77"/>
              <a:gd name="T37" fmla="*/ 34 h 93"/>
              <a:gd name="T38" fmla="*/ 50 w 77"/>
              <a:gd name="T39" fmla="*/ 34 h 93"/>
              <a:gd name="T40" fmla="*/ 50 w 77"/>
              <a:gd name="T41" fmla="*/ 35 h 93"/>
              <a:gd name="T42" fmla="*/ 50 w 77"/>
              <a:gd name="T43" fmla="*/ 35 h 93"/>
              <a:gd name="T44" fmla="*/ 51 w 77"/>
              <a:gd name="T45" fmla="*/ 35 h 93"/>
              <a:gd name="T46" fmla="*/ 51 w 77"/>
              <a:gd name="T47" fmla="*/ 36 h 93"/>
              <a:gd name="T48" fmla="*/ 52 w 77"/>
              <a:gd name="T49" fmla="*/ 36 h 93"/>
              <a:gd name="T50" fmla="*/ 52 w 77"/>
              <a:gd name="T51" fmla="*/ 36 h 93"/>
              <a:gd name="T52" fmla="*/ 53 w 77"/>
              <a:gd name="T53" fmla="*/ 37 h 93"/>
              <a:gd name="T54" fmla="*/ 53 w 77"/>
              <a:gd name="T55" fmla="*/ 37 h 93"/>
              <a:gd name="T56" fmla="*/ 48 w 77"/>
              <a:gd name="T57" fmla="*/ 79 h 93"/>
              <a:gd name="T58" fmla="*/ 7 w 77"/>
              <a:gd name="T59" fmla="*/ 91 h 93"/>
              <a:gd name="T60" fmla="*/ 35 w 77"/>
              <a:gd name="T61" fmla="*/ 64 h 93"/>
              <a:gd name="T62" fmla="*/ 19 w 77"/>
              <a:gd name="T63" fmla="*/ 53 h 93"/>
              <a:gd name="T64" fmla="*/ 3 w 77"/>
              <a:gd name="T65" fmla="*/ 88 h 93"/>
              <a:gd name="T66" fmla="*/ 73 w 77"/>
              <a:gd name="T67" fmla="*/ 93 h 93"/>
              <a:gd name="T68" fmla="*/ 54 w 77"/>
              <a:gd name="T69" fmla="*/ 83 h 93"/>
              <a:gd name="T70" fmla="*/ 69 w 77"/>
              <a:gd name="T71" fmla="*/ 42 h 93"/>
              <a:gd name="T72" fmla="*/ 34 w 77"/>
              <a:gd name="T73" fmla="*/ 0 h 93"/>
              <a:gd name="T74" fmla="*/ 69 w 77"/>
              <a:gd name="T75" fmla="*/ 42 h 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77" h="93">
                <a:moveTo>
                  <a:pt x="3" y="88"/>
                </a:moveTo>
                <a:cubicBezTo>
                  <a:pt x="2" y="87"/>
                  <a:pt x="1" y="86"/>
                  <a:pt x="0" y="85"/>
                </a:cubicBezTo>
                <a:cubicBezTo>
                  <a:pt x="0" y="72"/>
                  <a:pt x="0" y="58"/>
                  <a:pt x="0" y="45"/>
                </a:cubicBezTo>
                <a:cubicBezTo>
                  <a:pt x="12" y="40"/>
                  <a:pt x="21" y="32"/>
                  <a:pt x="30" y="20"/>
                </a:cubicBezTo>
                <a:cubicBezTo>
                  <a:pt x="38" y="26"/>
                  <a:pt x="38" y="26"/>
                  <a:pt x="38" y="26"/>
                </a:cubicBezTo>
                <a:cubicBezTo>
                  <a:pt x="38" y="26"/>
                  <a:pt x="38" y="26"/>
                  <a:pt x="38" y="26"/>
                </a:cubicBezTo>
                <a:cubicBezTo>
                  <a:pt x="38" y="27"/>
                  <a:pt x="38" y="27"/>
                  <a:pt x="38" y="27"/>
                </a:cubicBezTo>
                <a:cubicBezTo>
                  <a:pt x="39" y="27"/>
                  <a:pt x="39" y="27"/>
                  <a:pt x="39" y="27"/>
                </a:cubicBezTo>
                <a:cubicBezTo>
                  <a:pt x="39" y="27"/>
                  <a:pt x="39" y="27"/>
                  <a:pt x="39" y="27"/>
                </a:cubicBezTo>
                <a:cubicBezTo>
                  <a:pt x="39" y="27"/>
                  <a:pt x="39" y="27"/>
                  <a:pt x="39" y="27"/>
                </a:cubicBezTo>
                <a:cubicBezTo>
                  <a:pt x="39" y="27"/>
                  <a:pt x="39" y="27"/>
                  <a:pt x="39" y="27"/>
                </a:cubicBezTo>
                <a:cubicBezTo>
                  <a:pt x="40" y="27"/>
                  <a:pt x="40" y="27"/>
                  <a:pt x="40" y="27"/>
                </a:cubicBezTo>
                <a:cubicBezTo>
                  <a:pt x="40" y="27"/>
                  <a:pt x="40" y="27"/>
                  <a:pt x="40" y="27"/>
                </a:cubicBezTo>
                <a:cubicBezTo>
                  <a:pt x="40" y="28"/>
                  <a:pt x="40" y="28"/>
                  <a:pt x="40" y="28"/>
                </a:cubicBezTo>
                <a:cubicBezTo>
                  <a:pt x="40" y="28"/>
                  <a:pt x="40" y="28"/>
                  <a:pt x="40" y="28"/>
                </a:cubicBezTo>
                <a:cubicBezTo>
                  <a:pt x="40" y="28"/>
                  <a:pt x="40" y="28"/>
                  <a:pt x="40" y="28"/>
                </a:cubicBezTo>
                <a:cubicBezTo>
                  <a:pt x="41" y="28"/>
                  <a:pt x="41" y="28"/>
                  <a:pt x="41" y="28"/>
                </a:cubicBezTo>
                <a:cubicBezTo>
                  <a:pt x="41" y="28"/>
                  <a:pt x="41" y="28"/>
                  <a:pt x="41" y="28"/>
                </a:cubicBezTo>
                <a:cubicBezTo>
                  <a:pt x="41" y="28"/>
                  <a:pt x="41" y="28"/>
                  <a:pt x="41" y="28"/>
                </a:cubicBezTo>
                <a:cubicBezTo>
                  <a:pt x="41" y="29"/>
                  <a:pt x="41" y="29"/>
                  <a:pt x="41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3" y="29"/>
                  <a:pt x="43" y="29"/>
                  <a:pt x="43" y="29"/>
                </a:cubicBezTo>
                <a:cubicBezTo>
                  <a:pt x="43" y="30"/>
                  <a:pt x="43" y="30"/>
                  <a:pt x="43" y="30"/>
                </a:cubicBezTo>
                <a:cubicBezTo>
                  <a:pt x="43" y="30"/>
                  <a:pt x="43" y="30"/>
                  <a:pt x="43" y="30"/>
                </a:cubicBezTo>
                <a:cubicBezTo>
                  <a:pt x="43" y="30"/>
                  <a:pt x="43" y="30"/>
                  <a:pt x="43" y="30"/>
                </a:cubicBezTo>
                <a:cubicBezTo>
                  <a:pt x="43" y="30"/>
                  <a:pt x="43" y="30"/>
                  <a:pt x="43" y="30"/>
                </a:cubicBezTo>
                <a:cubicBezTo>
                  <a:pt x="44" y="30"/>
                  <a:pt x="44" y="30"/>
                  <a:pt x="44" y="30"/>
                </a:cubicBezTo>
                <a:cubicBezTo>
                  <a:pt x="48" y="33"/>
                  <a:pt x="48" y="33"/>
                  <a:pt x="48" y="33"/>
                </a:cubicBezTo>
                <a:cubicBezTo>
                  <a:pt x="48" y="33"/>
                  <a:pt x="48" y="33"/>
                  <a:pt x="48" y="33"/>
                </a:cubicBezTo>
                <a:cubicBezTo>
                  <a:pt x="48" y="33"/>
                  <a:pt x="48" y="33"/>
                  <a:pt x="48" y="33"/>
                </a:cubicBezTo>
                <a:cubicBezTo>
                  <a:pt x="48" y="34"/>
                  <a:pt x="48" y="34"/>
                  <a:pt x="48" y="34"/>
                </a:cubicBezTo>
                <a:cubicBezTo>
                  <a:pt x="49" y="34"/>
                  <a:pt x="49" y="34"/>
                  <a:pt x="49" y="34"/>
                </a:cubicBezTo>
                <a:cubicBezTo>
                  <a:pt x="49" y="34"/>
                  <a:pt x="49" y="34"/>
                  <a:pt x="49" y="34"/>
                </a:cubicBezTo>
                <a:cubicBezTo>
                  <a:pt x="49" y="34"/>
                  <a:pt x="49" y="34"/>
                  <a:pt x="49" y="34"/>
                </a:cubicBezTo>
                <a:cubicBezTo>
                  <a:pt x="49" y="34"/>
                  <a:pt x="49" y="34"/>
                  <a:pt x="49" y="34"/>
                </a:cubicBezTo>
                <a:cubicBezTo>
                  <a:pt x="50" y="34"/>
                  <a:pt x="50" y="34"/>
                  <a:pt x="50" y="34"/>
                </a:cubicBezTo>
                <a:cubicBezTo>
                  <a:pt x="50" y="35"/>
                  <a:pt x="50" y="35"/>
                  <a:pt x="50" y="35"/>
                </a:cubicBezTo>
                <a:cubicBezTo>
                  <a:pt x="50" y="35"/>
                  <a:pt x="50" y="35"/>
                  <a:pt x="50" y="35"/>
                </a:cubicBezTo>
                <a:cubicBezTo>
                  <a:pt x="50" y="35"/>
                  <a:pt x="50" y="35"/>
                  <a:pt x="50" y="35"/>
                </a:cubicBezTo>
                <a:cubicBezTo>
                  <a:pt x="50" y="35"/>
                  <a:pt x="50" y="35"/>
                  <a:pt x="50" y="35"/>
                </a:cubicBezTo>
                <a:cubicBezTo>
                  <a:pt x="51" y="35"/>
                  <a:pt x="51" y="35"/>
                  <a:pt x="51" y="35"/>
                </a:cubicBezTo>
                <a:cubicBezTo>
                  <a:pt x="51" y="35"/>
                  <a:pt x="51" y="35"/>
                  <a:pt x="51" y="35"/>
                </a:cubicBezTo>
                <a:cubicBezTo>
                  <a:pt x="51" y="35"/>
                  <a:pt x="51" y="35"/>
                  <a:pt x="51" y="35"/>
                </a:cubicBezTo>
                <a:cubicBezTo>
                  <a:pt x="51" y="36"/>
                  <a:pt x="51" y="36"/>
                  <a:pt x="51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3" y="37"/>
                  <a:pt x="53" y="37"/>
                  <a:pt x="53" y="37"/>
                </a:cubicBezTo>
                <a:cubicBezTo>
                  <a:pt x="53" y="37"/>
                  <a:pt x="53" y="37"/>
                  <a:pt x="53" y="37"/>
                </a:cubicBezTo>
                <a:cubicBezTo>
                  <a:pt x="53" y="37"/>
                  <a:pt x="53" y="37"/>
                  <a:pt x="53" y="37"/>
                </a:cubicBezTo>
                <a:cubicBezTo>
                  <a:pt x="62" y="43"/>
                  <a:pt x="62" y="43"/>
                  <a:pt x="62" y="43"/>
                </a:cubicBezTo>
                <a:cubicBezTo>
                  <a:pt x="53" y="55"/>
                  <a:pt x="49" y="67"/>
                  <a:pt x="48" y="79"/>
                </a:cubicBezTo>
                <a:cubicBezTo>
                  <a:pt x="36" y="84"/>
                  <a:pt x="23" y="88"/>
                  <a:pt x="11" y="93"/>
                </a:cubicBezTo>
                <a:cubicBezTo>
                  <a:pt x="9" y="92"/>
                  <a:pt x="8" y="91"/>
                  <a:pt x="7" y="91"/>
                </a:cubicBezTo>
                <a:cubicBezTo>
                  <a:pt x="23" y="68"/>
                  <a:pt x="23" y="68"/>
                  <a:pt x="23" y="68"/>
                </a:cubicBezTo>
                <a:cubicBezTo>
                  <a:pt x="27" y="69"/>
                  <a:pt x="32" y="68"/>
                  <a:pt x="35" y="64"/>
                </a:cubicBezTo>
                <a:cubicBezTo>
                  <a:pt x="38" y="60"/>
                  <a:pt x="37" y="54"/>
                  <a:pt x="32" y="51"/>
                </a:cubicBezTo>
                <a:cubicBezTo>
                  <a:pt x="28" y="47"/>
                  <a:pt x="22" y="49"/>
                  <a:pt x="19" y="53"/>
                </a:cubicBezTo>
                <a:cubicBezTo>
                  <a:pt x="16" y="57"/>
                  <a:pt x="16" y="62"/>
                  <a:pt x="19" y="65"/>
                </a:cubicBezTo>
                <a:cubicBezTo>
                  <a:pt x="3" y="88"/>
                  <a:pt x="3" y="88"/>
                  <a:pt x="3" y="88"/>
                </a:cubicBezTo>
                <a:close/>
                <a:moveTo>
                  <a:pt x="27" y="93"/>
                </a:moveTo>
                <a:cubicBezTo>
                  <a:pt x="73" y="93"/>
                  <a:pt x="73" y="93"/>
                  <a:pt x="73" y="93"/>
                </a:cubicBezTo>
                <a:cubicBezTo>
                  <a:pt x="73" y="83"/>
                  <a:pt x="73" y="83"/>
                  <a:pt x="73" y="83"/>
                </a:cubicBezTo>
                <a:cubicBezTo>
                  <a:pt x="54" y="83"/>
                  <a:pt x="54" y="83"/>
                  <a:pt x="54" y="83"/>
                </a:cubicBezTo>
                <a:cubicBezTo>
                  <a:pt x="27" y="93"/>
                  <a:pt x="27" y="93"/>
                  <a:pt x="27" y="93"/>
                </a:cubicBezTo>
                <a:close/>
                <a:moveTo>
                  <a:pt x="69" y="42"/>
                </a:moveTo>
                <a:cubicBezTo>
                  <a:pt x="77" y="31"/>
                  <a:pt x="77" y="31"/>
                  <a:pt x="77" y="31"/>
                </a:cubicBezTo>
                <a:cubicBezTo>
                  <a:pt x="34" y="0"/>
                  <a:pt x="34" y="0"/>
                  <a:pt x="34" y="0"/>
                </a:cubicBezTo>
                <a:cubicBezTo>
                  <a:pt x="26" y="12"/>
                  <a:pt x="26" y="12"/>
                  <a:pt x="26" y="12"/>
                </a:cubicBezTo>
                <a:lnTo>
                  <a:pt x="69" y="42"/>
                </a:lnTo>
                <a:close/>
              </a:path>
            </a:pathLst>
          </a:custGeom>
          <a:solidFill>
            <a:srgbClr val="414455"/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 sz="135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3" name="矩形 3"/>
          <p:cNvSpPr>
            <a:spLocks noChangeArrowheads="1"/>
          </p:cNvSpPr>
          <p:nvPr/>
        </p:nvSpPr>
        <p:spPr bwMode="auto">
          <a:xfrm>
            <a:off x="4862204" y="2550874"/>
            <a:ext cx="2210811" cy="23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51416" tIns="25708" rIns="51416" bIns="25708">
            <a:spAutoFit/>
          </a:bodyPr>
          <a:lstStyle/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ROBOMASTER 2025</a:t>
            </a:r>
            <a:endParaRPr lang="zh-CN" altLang="en-US" sz="1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971540" y="5519420"/>
            <a:ext cx="304736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000" b="1" dirty="0">
                <a:solidFill>
                  <a:schemeClr val="bg1"/>
                </a:solidFill>
              </a:rPr>
              <a:t>2025</a:t>
            </a:r>
            <a:r>
              <a:rPr lang="zh-CN" altLang="en-US" sz="3000" b="1" dirty="0">
                <a:solidFill>
                  <a:schemeClr val="bg1"/>
                </a:solidFill>
              </a:rPr>
              <a:t>年</a:t>
            </a:r>
            <a:r>
              <a:rPr lang="en-US" altLang="zh-CN" sz="3000" b="1" dirty="0">
                <a:solidFill>
                  <a:schemeClr val="bg1"/>
                </a:solidFill>
              </a:rPr>
              <a:t>2</a:t>
            </a:r>
            <a:r>
              <a:rPr lang="zh-CN" altLang="en-US" sz="3000" b="1" dirty="0">
                <a:solidFill>
                  <a:schemeClr val="bg1"/>
                </a:solidFill>
              </a:rPr>
              <a:t>月</a:t>
            </a:r>
            <a:r>
              <a:rPr lang="en-US" altLang="zh-CN" sz="3000" b="1" dirty="0">
                <a:solidFill>
                  <a:schemeClr val="bg1"/>
                </a:solidFill>
              </a:rPr>
              <a:t>26</a:t>
            </a:r>
            <a:r>
              <a:rPr lang="zh-CN" altLang="en-US" sz="3000" b="1" dirty="0">
                <a:solidFill>
                  <a:schemeClr val="bg1"/>
                </a:solidFill>
              </a:rPr>
              <a:t>日</a:t>
            </a:r>
            <a:endParaRPr lang="zh-CN" altLang="en-US" sz="3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flip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52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6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1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5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2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1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5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2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1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1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1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2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2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5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2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2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5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2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2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35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bldLvl="0" animBg="1"/>
      <p:bldP spid="54" grpId="0" bldLvl="0" animBg="1"/>
      <p:bldP spid="56" grpId="0"/>
      <p:bldP spid="64" grpId="0" bldLvl="0" animBg="1"/>
      <p:bldP spid="70" grpId="0" bldLvl="0" animBg="1"/>
      <p:bldP spid="100" grpId="0" bldLvl="0" animBg="1"/>
      <p:bldP spid="101" grpId="0" bldLvl="0" animBg="1"/>
      <p:bldP spid="10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平行四边形 4"/>
          <p:cNvSpPr/>
          <p:nvPr/>
        </p:nvSpPr>
        <p:spPr>
          <a:xfrm flipH="1">
            <a:off x="-294" y="-6251"/>
            <a:ext cx="4635476" cy="6904592"/>
          </a:xfrm>
          <a:custGeom>
            <a:avLst/>
            <a:gdLst>
              <a:gd name="connsiteX0" fmla="*/ 0 w 4608514"/>
              <a:gd name="connsiteY0" fmla="*/ 6043981 h 6043981"/>
              <a:gd name="connsiteX1" fmla="*/ 2819212 w 4608514"/>
              <a:gd name="connsiteY1" fmla="*/ 0 h 6043981"/>
              <a:gd name="connsiteX2" fmla="*/ 4608514 w 4608514"/>
              <a:gd name="connsiteY2" fmla="*/ 0 h 6043981"/>
              <a:gd name="connsiteX3" fmla="*/ 1789302 w 4608514"/>
              <a:gd name="connsiteY3" fmla="*/ 6043981 h 6043981"/>
              <a:gd name="connsiteX4" fmla="*/ 0 w 4608514"/>
              <a:gd name="connsiteY4" fmla="*/ 6043981 h 6043981"/>
              <a:gd name="connsiteX0-1" fmla="*/ 0 w 4613184"/>
              <a:gd name="connsiteY0-2" fmla="*/ 6043981 h 6084322"/>
              <a:gd name="connsiteX1-3" fmla="*/ 2819212 w 4613184"/>
              <a:gd name="connsiteY1-4" fmla="*/ 0 h 6084322"/>
              <a:gd name="connsiteX2-5" fmla="*/ 4608514 w 4613184"/>
              <a:gd name="connsiteY2-6" fmla="*/ 0 h 6084322"/>
              <a:gd name="connsiteX3-7" fmla="*/ 4613184 w 4613184"/>
              <a:gd name="connsiteY3-8" fmla="*/ 6084322 h 6084322"/>
              <a:gd name="connsiteX4-9" fmla="*/ 0 w 4613184"/>
              <a:gd name="connsiteY4-10" fmla="*/ 6043981 h 6084322"/>
              <a:gd name="connsiteX0-11" fmla="*/ 0 w 4613184"/>
              <a:gd name="connsiteY0-12" fmla="*/ 6864251 h 6904592"/>
              <a:gd name="connsiteX1-13" fmla="*/ 3209177 w 4613184"/>
              <a:gd name="connsiteY1-14" fmla="*/ 0 h 6904592"/>
              <a:gd name="connsiteX2-15" fmla="*/ 4608514 w 4613184"/>
              <a:gd name="connsiteY2-16" fmla="*/ 820270 h 6904592"/>
              <a:gd name="connsiteX3-17" fmla="*/ 4613184 w 4613184"/>
              <a:gd name="connsiteY3-18" fmla="*/ 6904592 h 6904592"/>
              <a:gd name="connsiteX4-19" fmla="*/ 0 w 4613184"/>
              <a:gd name="connsiteY4-20" fmla="*/ 6864251 h 6904592"/>
              <a:gd name="connsiteX0-21" fmla="*/ 0 w 4635476"/>
              <a:gd name="connsiteY0-22" fmla="*/ 6864251 h 6904592"/>
              <a:gd name="connsiteX1-23" fmla="*/ 3209177 w 4635476"/>
              <a:gd name="connsiteY1-24" fmla="*/ 0 h 6904592"/>
              <a:gd name="connsiteX2-25" fmla="*/ 4635408 w 4635476"/>
              <a:gd name="connsiteY2-26" fmla="*/ 0 h 6904592"/>
              <a:gd name="connsiteX3-27" fmla="*/ 4613184 w 4635476"/>
              <a:gd name="connsiteY3-28" fmla="*/ 6904592 h 6904592"/>
              <a:gd name="connsiteX4-29" fmla="*/ 0 w 4635476"/>
              <a:gd name="connsiteY4-30" fmla="*/ 6864251 h 690459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4635476" h="6904592">
                <a:moveTo>
                  <a:pt x="0" y="6864251"/>
                </a:moveTo>
                <a:lnTo>
                  <a:pt x="3209177" y="0"/>
                </a:lnTo>
                <a:lnTo>
                  <a:pt x="4635408" y="0"/>
                </a:lnTo>
                <a:cubicBezTo>
                  <a:pt x="4636965" y="2028107"/>
                  <a:pt x="4611627" y="4876485"/>
                  <a:pt x="4613184" y="6904592"/>
                </a:cubicBezTo>
                <a:lnTo>
                  <a:pt x="0" y="6864251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1827149" y="1625954"/>
            <a:ext cx="828000" cy="828000"/>
            <a:chOff x="1827149" y="1625954"/>
            <a:chExt cx="828000" cy="828000"/>
          </a:xfrm>
        </p:grpSpPr>
        <p:sp>
          <p:nvSpPr>
            <p:cNvPr id="9" name="椭圆 8"/>
            <p:cNvSpPr>
              <a:spLocks noChangeAspect="1"/>
            </p:cNvSpPr>
            <p:nvPr/>
          </p:nvSpPr>
          <p:spPr>
            <a:xfrm>
              <a:off x="1827149" y="1625954"/>
              <a:ext cx="828000" cy="828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1904142" y="1782985"/>
              <a:ext cx="67401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2405971" y="2838627"/>
            <a:ext cx="828000" cy="828000"/>
            <a:chOff x="2405971" y="2838627"/>
            <a:chExt cx="828000" cy="828000"/>
          </a:xfrm>
        </p:grpSpPr>
        <p:sp>
          <p:nvSpPr>
            <p:cNvPr id="10" name="椭圆 9"/>
            <p:cNvSpPr>
              <a:spLocks noChangeAspect="1"/>
            </p:cNvSpPr>
            <p:nvPr/>
          </p:nvSpPr>
          <p:spPr>
            <a:xfrm>
              <a:off x="2405971" y="2838627"/>
              <a:ext cx="828000" cy="828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2482964" y="2991017"/>
              <a:ext cx="67401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02</a:t>
              </a:r>
              <a:endPara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2984793" y="4046659"/>
            <a:ext cx="828000" cy="828000"/>
            <a:chOff x="2984793" y="4046659"/>
            <a:chExt cx="828000" cy="828000"/>
          </a:xfrm>
        </p:grpSpPr>
        <p:sp>
          <p:nvSpPr>
            <p:cNvPr id="11" name="椭圆 10"/>
            <p:cNvSpPr>
              <a:spLocks noChangeAspect="1"/>
            </p:cNvSpPr>
            <p:nvPr/>
          </p:nvSpPr>
          <p:spPr>
            <a:xfrm>
              <a:off x="2984793" y="4046659"/>
              <a:ext cx="828000" cy="828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3061786" y="4199049"/>
              <a:ext cx="67401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03</a:t>
              </a:r>
              <a:endPara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3563616" y="5254690"/>
            <a:ext cx="828000" cy="828000"/>
            <a:chOff x="3563616" y="5254690"/>
            <a:chExt cx="828000" cy="828000"/>
          </a:xfrm>
        </p:grpSpPr>
        <p:sp>
          <p:nvSpPr>
            <p:cNvPr id="12" name="椭圆 11"/>
            <p:cNvSpPr>
              <a:spLocks noChangeAspect="1"/>
            </p:cNvSpPr>
            <p:nvPr/>
          </p:nvSpPr>
          <p:spPr>
            <a:xfrm>
              <a:off x="3563616" y="5254690"/>
              <a:ext cx="828000" cy="828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3640609" y="5407080"/>
              <a:ext cx="67401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04</a:t>
              </a:r>
              <a:endPara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3564548" y="2895954"/>
            <a:ext cx="558294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da-DK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按键的</a:t>
            </a:r>
            <a:r>
              <a:rPr lang="zh-CN" altLang="da-DK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抖动</a:t>
            </a:r>
            <a:endParaRPr lang="zh-CN" altLang="da-DK" sz="36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3157222" y="1745777"/>
            <a:ext cx="499617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状态机是什么</a:t>
            </a:r>
            <a:endParaRPr lang="zh-CN" altLang="en-US" sz="3600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4747119" y="5254690"/>
            <a:ext cx="44146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状态机按键</a:t>
            </a:r>
            <a:r>
              <a:rPr lang="zh-CN" altLang="en-US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检测</a:t>
            </a:r>
            <a:endParaRPr lang="zh-CN" altLang="en-US" sz="36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4362218" y="259392"/>
            <a:ext cx="42055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  <a:endParaRPr lang="zh-CN" altLang="en-US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8606970" y="6519446"/>
            <a:ext cx="638628" cy="338554"/>
            <a:chOff x="8663567" y="6519446"/>
            <a:chExt cx="638628" cy="338554"/>
          </a:xfrm>
        </p:grpSpPr>
        <p:sp>
          <p:nvSpPr>
            <p:cNvPr id="26" name="矩形 25"/>
            <p:cNvSpPr/>
            <p:nvPr/>
          </p:nvSpPr>
          <p:spPr>
            <a:xfrm>
              <a:off x="8766881" y="6519446"/>
              <a:ext cx="432000" cy="33855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8663567" y="6519446"/>
              <a:ext cx="63862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02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3937635" y="4075430"/>
            <a:ext cx="4572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消抖的方法</a:t>
            </a:r>
            <a:endParaRPr lang="zh-CN" altLang="en-US" sz="36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17" grpId="0"/>
      <p:bldP spid="22" grpId="0"/>
      <p:bldP spid="23" grpId="0"/>
      <p:bldP spid="2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0" y="1851645"/>
            <a:ext cx="4205521" cy="3153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99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01</a:t>
            </a:r>
            <a:endParaRPr lang="zh-CN" altLang="en-US" sz="199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862396" y="3026053"/>
            <a:ext cx="4645651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状态机是什么</a:t>
            </a:r>
            <a:endParaRPr lang="zh-CN" altLang="en-US" sz="40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3862397" y="3796005"/>
            <a:ext cx="4663440" cy="108000"/>
            <a:chOff x="3649980" y="3375660"/>
            <a:chExt cx="4663440" cy="108000"/>
          </a:xfrm>
        </p:grpSpPr>
        <p:cxnSp>
          <p:nvCxnSpPr>
            <p:cNvPr id="10" name="直接连接符 9"/>
            <p:cNvCxnSpPr/>
            <p:nvPr/>
          </p:nvCxnSpPr>
          <p:spPr>
            <a:xfrm>
              <a:off x="3733800" y="3429660"/>
              <a:ext cx="4495800" cy="0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椭圆 12"/>
            <p:cNvSpPr/>
            <p:nvPr/>
          </p:nvSpPr>
          <p:spPr>
            <a:xfrm>
              <a:off x="3649980" y="3375660"/>
              <a:ext cx="108000" cy="108000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/>
          </p:nvSpPr>
          <p:spPr>
            <a:xfrm>
              <a:off x="8205420" y="3375660"/>
              <a:ext cx="108000" cy="108000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 useBgFill="1">
        <p:nvSpPr>
          <p:cNvPr id="16" name="文本框 15"/>
          <p:cNvSpPr txBox="1"/>
          <p:nvPr/>
        </p:nvSpPr>
        <p:spPr>
          <a:xfrm>
            <a:off x="487591" y="3105835"/>
            <a:ext cx="3230339" cy="64633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 TWO</a:t>
            </a:r>
            <a:endParaRPr lang="zh-CN" altLang="en-US" sz="36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37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611187" y="261275"/>
            <a:ext cx="666069" cy="664458"/>
            <a:chOff x="611187" y="261275"/>
            <a:chExt cx="666069" cy="664458"/>
          </a:xfrm>
        </p:grpSpPr>
        <p:sp>
          <p:nvSpPr>
            <p:cNvPr id="9" name="矩形 8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1419575" y="362672"/>
            <a:ext cx="7113238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状态机是什么</a:t>
            </a:r>
            <a:endParaRPr lang="zh-CN" altLang="en-US" sz="32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56845" y="1249680"/>
            <a:ext cx="7809230" cy="160591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sz="2800">
                <a:latin typeface="+mn-ea"/>
                <a:cs typeface="+mn-ea"/>
                <a:sym typeface="+mn-ea"/>
              </a:rPr>
              <a:t>什么是状态</a:t>
            </a:r>
            <a:endParaRPr sz="2800">
              <a:latin typeface="+mn-ea"/>
              <a:cs typeface="+mn-ea"/>
              <a:sym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sz="2800">
                <a:latin typeface="+mn-ea"/>
                <a:cs typeface="+mn-ea"/>
                <a:sym typeface="+mn-ea"/>
              </a:rPr>
              <a:t>状态是人或事物表现出来的形态。是指现实（或虚拟）事物处于生成、生存、发展、消亡时期或各转化临界点时的形态或事物态势。</a:t>
            </a:r>
            <a:endParaRPr lang="zh-CN" sz="2800">
              <a:latin typeface="+mn-ea"/>
              <a:cs typeface="+mn-ea"/>
              <a:sym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zh-CN" sz="2800">
              <a:latin typeface="+mn-ea"/>
              <a:cs typeface="+mn-ea"/>
              <a:sym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sz="2800">
                <a:latin typeface="+mn-ea"/>
                <a:cs typeface="+mn-ea"/>
                <a:sym typeface="+mn-ea"/>
              </a:rPr>
              <a:t>状态机是一种编程思路。是现实事物运行规则抽象而成的一个数学模型。</a:t>
            </a:r>
            <a:endParaRPr lang="zh-CN" sz="2800">
              <a:latin typeface="+mn-ea"/>
              <a:cs typeface="+mn-ea"/>
              <a:sym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sz="2800">
              <a:latin typeface="+mn-ea"/>
              <a:cs typeface="+mn-ea"/>
              <a:sym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sz="2800">
              <a:latin typeface="+mn-ea"/>
              <a:cs typeface="+mn-ea"/>
              <a:sym typeface="+mn-ea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1150174" y="6518176"/>
            <a:ext cx="8024939" cy="338554"/>
            <a:chOff x="1277256" y="6519446"/>
            <a:chExt cx="8024939" cy="338554"/>
          </a:xfrm>
        </p:grpSpPr>
        <p:sp>
          <p:nvSpPr>
            <p:cNvPr id="29" name="矩形 28"/>
            <p:cNvSpPr/>
            <p:nvPr/>
          </p:nvSpPr>
          <p:spPr>
            <a:xfrm>
              <a:off x="8766881" y="6519446"/>
              <a:ext cx="432000" cy="33855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8663567" y="6519446"/>
              <a:ext cx="638628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1277256" y="6519446"/>
              <a:ext cx="7489625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endPara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611187" y="261275"/>
            <a:ext cx="666069" cy="664458"/>
            <a:chOff x="611187" y="261275"/>
            <a:chExt cx="666069" cy="664458"/>
          </a:xfrm>
        </p:grpSpPr>
        <p:sp>
          <p:nvSpPr>
            <p:cNvPr id="9" name="矩形 8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1419575" y="362672"/>
            <a:ext cx="7113238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状态机是什么</a:t>
            </a:r>
            <a:endParaRPr lang="zh-CN" altLang="en-US" sz="32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56845" y="986790"/>
            <a:ext cx="8311515" cy="160591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sz="2800">
                <a:latin typeface="+mn-ea"/>
                <a:cs typeface="+mn-ea"/>
                <a:sym typeface="+mn-ea"/>
              </a:rPr>
              <a:t>状态机可归纳为4个要素，即现态、条件、动作、次态。这样的归纳，主要是出于对状态机的内在因果关系的考虑。“现态”和“条件”是因，“动作”和“次态”是果。详解如下：</a:t>
            </a:r>
            <a:endParaRPr sz="2800">
              <a:latin typeface="+mn-ea"/>
              <a:cs typeface="+mn-ea"/>
              <a:sym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sz="2800">
              <a:latin typeface="+mn-ea"/>
              <a:cs typeface="+mn-ea"/>
              <a:sym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sz="2800">
                <a:latin typeface="+mn-ea"/>
                <a:cs typeface="+mn-ea"/>
                <a:sym typeface="+mn-ea"/>
              </a:rPr>
              <a:t>现态：状态机当前状态。</a:t>
            </a:r>
            <a:endParaRPr sz="2800">
              <a:latin typeface="+mn-ea"/>
              <a:cs typeface="+mn-ea"/>
              <a:sym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sz="2800">
              <a:latin typeface="+mn-ea"/>
              <a:cs typeface="+mn-ea"/>
              <a:sym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sz="2800">
                <a:latin typeface="+mn-ea"/>
                <a:cs typeface="+mn-ea"/>
                <a:sym typeface="+mn-ea"/>
              </a:rPr>
              <a:t>条件：改变当前状态的发生条件。</a:t>
            </a:r>
            <a:endParaRPr sz="2800">
              <a:latin typeface="+mn-ea"/>
              <a:cs typeface="+mn-ea"/>
              <a:sym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sz="2800">
              <a:latin typeface="+mn-ea"/>
              <a:cs typeface="+mn-ea"/>
              <a:sym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sz="2800">
                <a:latin typeface="+mn-ea"/>
                <a:cs typeface="+mn-ea"/>
                <a:sym typeface="+mn-ea"/>
              </a:rPr>
              <a:t>次态：状态机激活触发条件后跳转到的下一状态。</a:t>
            </a:r>
            <a:endParaRPr sz="2800">
              <a:latin typeface="+mn-ea"/>
              <a:cs typeface="+mn-ea"/>
              <a:sym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sz="2800">
              <a:latin typeface="+mn-ea"/>
              <a:cs typeface="+mn-ea"/>
              <a:sym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sz="2800">
                <a:latin typeface="+mn-ea"/>
                <a:cs typeface="+mn-ea"/>
                <a:sym typeface="+mn-ea"/>
              </a:rPr>
              <a:t>动作：状态改变产生相应的动作。</a:t>
            </a:r>
            <a:endParaRPr sz="2800">
              <a:latin typeface="+mn-ea"/>
              <a:cs typeface="+mn-ea"/>
              <a:sym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sz="2800">
              <a:latin typeface="+mn-ea"/>
              <a:cs typeface="+mn-ea"/>
              <a:sym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sz="2800">
              <a:latin typeface="+mn-ea"/>
              <a:cs typeface="+mn-ea"/>
              <a:sym typeface="+mn-ea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1150174" y="6518176"/>
            <a:ext cx="8024939" cy="338554"/>
            <a:chOff x="1277256" y="6519446"/>
            <a:chExt cx="8024939" cy="338554"/>
          </a:xfrm>
        </p:grpSpPr>
        <p:sp>
          <p:nvSpPr>
            <p:cNvPr id="29" name="矩形 28"/>
            <p:cNvSpPr/>
            <p:nvPr/>
          </p:nvSpPr>
          <p:spPr>
            <a:xfrm>
              <a:off x="8766881" y="6519446"/>
              <a:ext cx="432000" cy="33855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8663567" y="6519446"/>
              <a:ext cx="638628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1277256" y="6519446"/>
              <a:ext cx="7489625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endPara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611187" y="261275"/>
            <a:ext cx="666069" cy="664458"/>
            <a:chOff x="611187" y="261275"/>
            <a:chExt cx="666069" cy="664458"/>
          </a:xfrm>
        </p:grpSpPr>
        <p:sp>
          <p:nvSpPr>
            <p:cNvPr id="9" name="矩形 8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1419575" y="362672"/>
            <a:ext cx="7113238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状态机是什么</a:t>
            </a:r>
            <a:endParaRPr lang="zh-CN" altLang="en-US" sz="32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56845" y="1249680"/>
            <a:ext cx="7809230" cy="160591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sz="2800">
                <a:latin typeface="+mn-ea"/>
                <a:cs typeface="+mn-ea"/>
                <a:sym typeface="+mn-ea"/>
              </a:rPr>
              <a:t>简单理解为：将一个事件划分为有限个状态，满足相应的条件，在有限个状态之间跳转；可以使用状态图来描述事件处理过程，这种方式使得程序逻辑思路更加清晰严谨。以按键为例，按键检测的过程可以分为三个状态：</a:t>
            </a:r>
            <a:endParaRPr sz="2800">
              <a:latin typeface="+mn-ea"/>
              <a:cs typeface="+mn-ea"/>
              <a:sym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>
                <a:latin typeface="+mn-ea"/>
                <a:cs typeface="+mn-ea"/>
                <a:sym typeface="+mn-ea"/>
              </a:rPr>
              <a:t>1</a:t>
            </a:r>
            <a:r>
              <a:rPr lang="zh-CN" altLang="en-US" sz="2800">
                <a:latin typeface="+mn-ea"/>
                <a:cs typeface="+mn-ea"/>
                <a:sym typeface="+mn-ea"/>
              </a:rPr>
              <a:t>、</a:t>
            </a:r>
            <a:r>
              <a:rPr sz="2800">
                <a:latin typeface="+mn-ea"/>
                <a:cs typeface="+mn-ea"/>
                <a:sym typeface="+mn-ea"/>
              </a:rPr>
              <a:t>按键检测状态</a:t>
            </a:r>
            <a:endParaRPr sz="2800">
              <a:latin typeface="+mn-ea"/>
              <a:cs typeface="+mn-ea"/>
              <a:sym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>
                <a:latin typeface="+mn-ea"/>
                <a:cs typeface="+mn-ea"/>
                <a:sym typeface="+mn-ea"/>
              </a:rPr>
              <a:t>2</a:t>
            </a:r>
            <a:r>
              <a:rPr lang="zh-CN" altLang="en-US" sz="2800">
                <a:latin typeface="+mn-ea"/>
                <a:cs typeface="+mn-ea"/>
                <a:sym typeface="+mn-ea"/>
              </a:rPr>
              <a:t>、</a:t>
            </a:r>
            <a:r>
              <a:rPr sz="2800">
                <a:latin typeface="+mn-ea"/>
                <a:cs typeface="+mn-ea"/>
                <a:sym typeface="+mn-ea"/>
              </a:rPr>
              <a:t>按键确认状态</a:t>
            </a:r>
            <a:endParaRPr sz="2800">
              <a:latin typeface="+mn-ea"/>
              <a:cs typeface="+mn-ea"/>
              <a:sym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>
                <a:latin typeface="+mn-ea"/>
                <a:cs typeface="+mn-ea"/>
                <a:sym typeface="+mn-ea"/>
              </a:rPr>
              <a:t>3</a:t>
            </a:r>
            <a:r>
              <a:rPr lang="zh-CN" altLang="en-US" sz="2800">
                <a:latin typeface="+mn-ea"/>
                <a:cs typeface="+mn-ea"/>
                <a:sym typeface="+mn-ea"/>
              </a:rPr>
              <a:t>、</a:t>
            </a:r>
            <a:r>
              <a:rPr sz="2800">
                <a:latin typeface="+mn-ea"/>
                <a:cs typeface="+mn-ea"/>
                <a:sym typeface="+mn-ea"/>
              </a:rPr>
              <a:t>按键释放状态</a:t>
            </a:r>
            <a:endParaRPr sz="2800">
              <a:latin typeface="+mn-ea"/>
              <a:cs typeface="+mn-ea"/>
              <a:sym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sz="2800">
                <a:latin typeface="+mn-ea"/>
                <a:cs typeface="+mn-ea"/>
                <a:sym typeface="+mn-ea"/>
              </a:rPr>
              <a:t>而在这三个状态之间跳转的条件为当前状态下按键的值。</a:t>
            </a:r>
            <a:endParaRPr sz="2800">
              <a:latin typeface="+mn-ea"/>
              <a:cs typeface="+mn-ea"/>
              <a:sym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sz="2800">
                <a:latin typeface="+mn-ea"/>
                <a:cs typeface="+mn-ea"/>
                <a:sym typeface="+mn-ea"/>
              </a:rPr>
              <a:t>在单片机中实现状态机最常用的语句便是switch case语句。</a:t>
            </a:r>
            <a:endParaRPr sz="2800">
              <a:latin typeface="+mn-ea"/>
              <a:cs typeface="+mn-ea"/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endParaRPr sz="2800">
              <a:latin typeface="+mn-ea"/>
              <a:cs typeface="+mn-ea"/>
              <a:sym typeface="+mn-ea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1150174" y="6518176"/>
            <a:ext cx="8024939" cy="338554"/>
            <a:chOff x="1277256" y="6519446"/>
            <a:chExt cx="8024939" cy="338554"/>
          </a:xfrm>
        </p:grpSpPr>
        <p:sp>
          <p:nvSpPr>
            <p:cNvPr id="29" name="矩形 28"/>
            <p:cNvSpPr/>
            <p:nvPr/>
          </p:nvSpPr>
          <p:spPr>
            <a:xfrm>
              <a:off x="8766881" y="6519446"/>
              <a:ext cx="432000" cy="33855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8663567" y="6519446"/>
              <a:ext cx="638628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1277256" y="6519446"/>
              <a:ext cx="7489625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endPara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0" y="1851645"/>
            <a:ext cx="4205521" cy="3153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99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02</a:t>
            </a:r>
            <a:endParaRPr lang="zh-CN" altLang="en-US" sz="199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887470" y="2844800"/>
            <a:ext cx="4663440" cy="7562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da-DK" sz="4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按键的抖动</a:t>
            </a:r>
            <a:endParaRPr lang="zh-CN" altLang="da-DK" sz="48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3887162" y="3698215"/>
            <a:ext cx="4663440" cy="108000"/>
            <a:chOff x="3649980" y="3375660"/>
            <a:chExt cx="4663440" cy="108000"/>
          </a:xfrm>
        </p:grpSpPr>
        <p:cxnSp>
          <p:nvCxnSpPr>
            <p:cNvPr id="10" name="直接连接符 9"/>
            <p:cNvCxnSpPr/>
            <p:nvPr/>
          </p:nvCxnSpPr>
          <p:spPr>
            <a:xfrm>
              <a:off x="3733800" y="3429660"/>
              <a:ext cx="4495800" cy="0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椭圆 12"/>
            <p:cNvSpPr/>
            <p:nvPr/>
          </p:nvSpPr>
          <p:spPr>
            <a:xfrm>
              <a:off x="3649980" y="3375660"/>
              <a:ext cx="108000" cy="108000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/>
          </p:nvSpPr>
          <p:spPr>
            <a:xfrm>
              <a:off x="8205420" y="3375660"/>
              <a:ext cx="108000" cy="108000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 useBgFill="1">
        <p:nvSpPr>
          <p:cNvPr id="16" name="文本框 15"/>
          <p:cNvSpPr txBox="1"/>
          <p:nvPr/>
        </p:nvSpPr>
        <p:spPr>
          <a:xfrm>
            <a:off x="487591" y="3105835"/>
            <a:ext cx="3230339" cy="64633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 ONE</a:t>
            </a:r>
            <a:endParaRPr lang="zh-CN" altLang="en-US" sz="36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37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611187" y="261275"/>
            <a:ext cx="666069" cy="664458"/>
            <a:chOff x="611187" y="261275"/>
            <a:chExt cx="666069" cy="664458"/>
          </a:xfrm>
        </p:grpSpPr>
        <p:sp>
          <p:nvSpPr>
            <p:cNvPr id="9" name="矩形 8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1419575" y="362672"/>
            <a:ext cx="7113238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da-DK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按键的抖动</a:t>
            </a:r>
            <a:endParaRPr lang="zh-CN" alt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1220659" y="6519446"/>
            <a:ext cx="8024939" cy="338554"/>
            <a:chOff x="1277256" y="6519446"/>
            <a:chExt cx="8024939" cy="338554"/>
          </a:xfrm>
        </p:grpSpPr>
        <p:sp>
          <p:nvSpPr>
            <p:cNvPr id="20" name="矩形 19"/>
            <p:cNvSpPr/>
            <p:nvPr/>
          </p:nvSpPr>
          <p:spPr>
            <a:xfrm>
              <a:off x="8766881" y="6519446"/>
              <a:ext cx="432000" cy="33855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8663567" y="6519446"/>
              <a:ext cx="638628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8</a:t>
              </a:r>
              <a:endPara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1277256" y="6519446"/>
              <a:ext cx="7489625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电控组</a:t>
              </a:r>
              <a:r>
                <a:rPr lang="zh-CN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培训</a:t>
              </a:r>
              <a:endPara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0" y="1236345"/>
            <a:ext cx="8606790" cy="1901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400"/>
              <a:t>按键：常见的输入设备，按下导通，松手断开</a:t>
            </a:r>
            <a:endParaRPr lang="en-US" altLang="zh-CN" sz="24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400"/>
              <a:t>按键抖动：通常的按键所用开关为机械弹性开关，当机械触点断开、闭合时，由于机械触点的弹性作用，一个按键开关在闭合时不会马上稳定地接通，在断开时也不会一下子断开，因而在闭合及断开的瞬间均伴随有一连串的抖动，按键抖动会引起一次按键被误读多次。</a:t>
            </a:r>
            <a:endParaRPr lang="zh-CN" altLang="en-US" sz="2400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46760" y="3590290"/>
            <a:ext cx="7651115" cy="26403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0" y="1851645"/>
            <a:ext cx="4205521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99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03</a:t>
            </a:r>
            <a:endParaRPr lang="zh-CN" altLang="en-US" sz="199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796356" y="3100983"/>
            <a:ext cx="4645651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消抖的方法</a:t>
            </a:r>
            <a:endParaRPr lang="zh-CN" altLang="en-US" sz="40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40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3862397" y="3807435"/>
            <a:ext cx="4663440" cy="108000"/>
            <a:chOff x="3649980" y="3375660"/>
            <a:chExt cx="4663440" cy="108000"/>
          </a:xfrm>
        </p:grpSpPr>
        <p:cxnSp>
          <p:nvCxnSpPr>
            <p:cNvPr id="10" name="直接连接符 9"/>
            <p:cNvCxnSpPr/>
            <p:nvPr/>
          </p:nvCxnSpPr>
          <p:spPr>
            <a:xfrm>
              <a:off x="3733800" y="3429660"/>
              <a:ext cx="4495800" cy="0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椭圆 12"/>
            <p:cNvSpPr/>
            <p:nvPr/>
          </p:nvSpPr>
          <p:spPr>
            <a:xfrm>
              <a:off x="3649980" y="3375660"/>
              <a:ext cx="108000" cy="108000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/>
          </p:nvSpPr>
          <p:spPr>
            <a:xfrm>
              <a:off x="8205420" y="3375660"/>
              <a:ext cx="108000" cy="108000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 useBgFill="1">
        <p:nvSpPr>
          <p:cNvPr id="16" name="文本框 15"/>
          <p:cNvSpPr txBox="1"/>
          <p:nvPr/>
        </p:nvSpPr>
        <p:spPr>
          <a:xfrm>
            <a:off x="487591" y="3105835"/>
            <a:ext cx="3230339" cy="64633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 THREE</a:t>
            </a:r>
            <a:endParaRPr lang="zh-CN" altLang="en-US" sz="36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37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611187" y="261275"/>
            <a:ext cx="666069" cy="664458"/>
            <a:chOff x="611187" y="261275"/>
            <a:chExt cx="666069" cy="664458"/>
          </a:xfrm>
        </p:grpSpPr>
        <p:sp>
          <p:nvSpPr>
            <p:cNvPr id="9" name="矩形 8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1419575" y="362672"/>
            <a:ext cx="7113238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硬件电路消抖</a:t>
            </a:r>
            <a:endParaRPr lang="zh-CN" altLang="en-US" sz="32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1220659" y="6519446"/>
            <a:ext cx="8024939" cy="338554"/>
            <a:chOff x="1277256" y="6519446"/>
            <a:chExt cx="8024939" cy="338554"/>
          </a:xfrm>
        </p:grpSpPr>
        <p:sp>
          <p:nvSpPr>
            <p:cNvPr id="33" name="矩形 32"/>
            <p:cNvSpPr/>
            <p:nvPr/>
          </p:nvSpPr>
          <p:spPr>
            <a:xfrm>
              <a:off x="8766881" y="6519446"/>
              <a:ext cx="432000" cy="33855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8663567" y="6519446"/>
              <a:ext cx="638628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9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1277256" y="6519446"/>
              <a:ext cx="7489625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endPara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610870" y="617855"/>
            <a:ext cx="7995285" cy="45148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Arial" panose="020B0604020202020204" pitchFamily="34" charset="0"/>
              <a:buNone/>
            </a:pPr>
            <a:endParaRPr lang="zh-CN" altLang="en-US" sz="2800">
              <a:sym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sz="2400">
                <a:sym typeface="+mn-ea"/>
              </a:rPr>
              <a:t>可以从电路设计上消除抖动，常见的有RC滤波电路消抖</a:t>
            </a:r>
            <a:r>
              <a:rPr lang="zh-CN" sz="2400">
                <a:sym typeface="+mn-ea"/>
              </a:rPr>
              <a:t>，</a:t>
            </a:r>
            <a:r>
              <a:rPr sz="2400">
                <a:sym typeface="+mn-ea"/>
              </a:rPr>
              <a:t>一般会加上施密特触发器。硬件消抖的缺点是要增加额外的元器件，如果有多个需要消抖的输入信号，则会增加较大的成本。</a:t>
            </a:r>
            <a:endParaRPr lang="en-US" altLang="zh-CN" sz="200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CN" sz="240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zh-CN" altLang="en-US" sz="2400" dirty="0">
              <a:latin typeface="Microsoft YaHei UI" panose="020B0503020204020204" pitchFamily="34" charset="-122"/>
              <a:ea typeface="Microsoft YaHei UI" panose="020B0503020204020204" pitchFamily="34" charset="-122"/>
              <a:sym typeface="+mn-ea"/>
            </a:endParaRPr>
          </a:p>
        </p:txBody>
      </p:sp>
      <p:pic>
        <p:nvPicPr>
          <p:cNvPr id="100" name="图片 99"/>
          <p:cNvPicPr/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409700" y="2671445"/>
            <a:ext cx="5943600" cy="34829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611187" y="261275"/>
            <a:ext cx="666069" cy="664458"/>
            <a:chOff x="611187" y="261275"/>
            <a:chExt cx="666069" cy="664458"/>
          </a:xfrm>
        </p:grpSpPr>
        <p:sp>
          <p:nvSpPr>
            <p:cNvPr id="9" name="矩形 8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1419575" y="362672"/>
            <a:ext cx="7113238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软件消抖</a:t>
            </a:r>
            <a:endParaRPr lang="zh-CN" altLang="en-US" sz="32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1150174" y="6518176"/>
            <a:ext cx="8024939" cy="338554"/>
            <a:chOff x="1277256" y="6519446"/>
            <a:chExt cx="8024939" cy="338554"/>
          </a:xfrm>
        </p:grpSpPr>
        <p:sp>
          <p:nvSpPr>
            <p:cNvPr id="29" name="矩形 28"/>
            <p:cNvSpPr/>
            <p:nvPr/>
          </p:nvSpPr>
          <p:spPr>
            <a:xfrm>
              <a:off x="8766881" y="6519446"/>
              <a:ext cx="432000" cy="33855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8663567" y="6519446"/>
              <a:ext cx="638628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1277256" y="6519446"/>
              <a:ext cx="7489625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endPara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695960" y="1203325"/>
            <a:ext cx="7400290" cy="35534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800"/>
              <a:t>轮询方式：main函数大循环中加入按键扫描函数key_scan()。</a:t>
            </a:r>
            <a:endParaRPr lang="zh-CN" altLang="en-US" sz="2800"/>
          </a:p>
          <a:p>
            <a:endParaRPr lang="zh-CN" altLang="en-US" sz="2800"/>
          </a:p>
          <a:p>
            <a:r>
              <a:rPr lang="zh-CN" altLang="en-US" sz="2800"/>
              <a:t>外部中断方式：在单片机中大多数都支持外部中断，但每一个(或几个)IO口占用一个中断向量</a:t>
            </a:r>
            <a:r>
              <a:rPr lang="en-US" altLang="zh-CN" sz="2800"/>
              <a:t>.</a:t>
            </a:r>
            <a:endParaRPr lang="zh-CN" altLang="en-US" sz="2800"/>
          </a:p>
          <a:p>
            <a:endParaRPr lang="zh-CN" altLang="en-US" sz="2800"/>
          </a:p>
          <a:p>
            <a:r>
              <a:rPr lang="zh-CN" altLang="en-US" sz="2800"/>
              <a:t>状态机方式</a:t>
            </a:r>
            <a:endParaRPr lang="zh-CN" altLang="en-US" sz="2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611187" y="261275"/>
            <a:ext cx="666069" cy="664458"/>
            <a:chOff x="611187" y="261275"/>
            <a:chExt cx="666069" cy="664458"/>
          </a:xfrm>
        </p:grpSpPr>
        <p:sp>
          <p:nvSpPr>
            <p:cNvPr id="9" name="矩形 8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1419575" y="362672"/>
            <a:ext cx="7113238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轮询方式</a:t>
            </a:r>
            <a:endParaRPr lang="zh-CN" altLang="en-US" sz="32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1220659" y="6519446"/>
            <a:ext cx="8024939" cy="338554"/>
            <a:chOff x="1277256" y="6519446"/>
            <a:chExt cx="8024939" cy="338554"/>
          </a:xfrm>
        </p:grpSpPr>
        <p:sp>
          <p:nvSpPr>
            <p:cNvPr id="33" name="矩形 32"/>
            <p:cNvSpPr/>
            <p:nvPr/>
          </p:nvSpPr>
          <p:spPr>
            <a:xfrm>
              <a:off x="8766881" y="6519446"/>
              <a:ext cx="432000" cy="33855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8663567" y="6519446"/>
              <a:ext cx="638628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11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1277256" y="6519446"/>
              <a:ext cx="7489625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endPara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610870" y="988060"/>
            <a:ext cx="7039610" cy="23348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dirty="0" smtClean="0">
                <a:sym typeface="+mn-ea"/>
              </a:rPr>
              <a:t>利用延时避免抖动软件方法去抖，即检测出键闭合后执行一个延时程序，5ms～10ms的延时，让前沿抖动消失后再一次检测键的状态，如果仍保持闭合状态电平，则确认为真正有键按下。</a:t>
            </a:r>
            <a:endParaRPr lang="zh-CN" altLang="en-US" sz="2800" dirty="0" smtClean="0">
              <a:sym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zh-CN" altLang="en-US" sz="2000" dirty="0" smtClean="0">
              <a:sym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zh-CN" altLang="en-US" sz="2000" dirty="0" smtClean="0">
              <a:sym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zh-CN" altLang="en-US" sz="2000" dirty="0" smtClean="0">
              <a:sym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zh-CN" altLang="en-US" sz="2000" dirty="0" smtClean="0">
              <a:sym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zh-CN" altLang="en-US" sz="2000" dirty="0" smtClean="0">
              <a:sym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zh-CN" altLang="en-US" sz="2000" dirty="0" smtClean="0"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endParaRPr lang="zh-CN" altLang="en-US" sz="2000" dirty="0" smtClean="0">
              <a:sym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400"/>
              <a:t>按键松开之前程序一直卡在while循环里，按键松开之后才能处理其他的程序</a:t>
            </a:r>
            <a:endParaRPr lang="en-US" altLang="zh-CN" sz="240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CN" sz="240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zh-CN" altLang="en-US" sz="2400" dirty="0">
              <a:latin typeface="Microsoft YaHei UI" panose="020B0503020204020204" pitchFamily="34" charset="-122"/>
              <a:ea typeface="Microsoft YaHei UI" panose="020B0503020204020204" pitchFamily="34" charset="-122"/>
              <a:sym typeface="+mn-ea"/>
            </a:endParaRPr>
          </a:p>
        </p:txBody>
      </p:sp>
      <p:pic>
        <p:nvPicPr>
          <p:cNvPr id="101" name="图片 100"/>
          <p:cNvPicPr/>
          <p:nvPr>
            <p:custDataLst>
              <p:tags r:id="rId2"/>
            </p:custDataLst>
          </p:nvPr>
        </p:nvPicPr>
        <p:blipFill>
          <a:blip r:embed="rId3"/>
          <a:srcRect l="591" b="7806"/>
          <a:stretch>
            <a:fillRect/>
          </a:stretch>
        </p:blipFill>
        <p:spPr>
          <a:xfrm>
            <a:off x="784225" y="3322955"/>
            <a:ext cx="7156450" cy="19297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611187" y="261275"/>
            <a:ext cx="666069" cy="664458"/>
            <a:chOff x="611187" y="261275"/>
            <a:chExt cx="666069" cy="664458"/>
          </a:xfrm>
        </p:grpSpPr>
        <p:sp>
          <p:nvSpPr>
            <p:cNvPr id="9" name="矩形 8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1419575" y="362672"/>
            <a:ext cx="7113238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外部中断</a:t>
            </a:r>
            <a:endParaRPr lang="zh-CN" altLang="en-US" sz="32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56845" y="1249680"/>
            <a:ext cx="7809230" cy="160591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>
                <a:latin typeface="+mn-ea"/>
                <a:cs typeface="+mn-ea"/>
                <a:sym typeface="+mn-ea"/>
              </a:rPr>
              <a:t>EXTI</a:t>
            </a:r>
            <a:r>
              <a:rPr lang="zh-CN" altLang="en-US" sz="2800">
                <a:latin typeface="+mn-ea"/>
                <a:cs typeface="+mn-ea"/>
                <a:sym typeface="+mn-ea"/>
              </a:rPr>
              <a:t>（</a:t>
            </a:r>
            <a:r>
              <a:rPr lang="en-US" altLang="zh-CN" sz="2800">
                <a:latin typeface="+mn-ea"/>
                <a:cs typeface="+mn-ea"/>
                <a:sym typeface="+mn-ea"/>
              </a:rPr>
              <a:t>Extern Interrupt</a:t>
            </a:r>
            <a:r>
              <a:rPr lang="zh-CN" altLang="en-US" sz="2800">
                <a:latin typeface="+mn-ea"/>
                <a:cs typeface="+mn-ea"/>
                <a:sym typeface="+mn-ea"/>
              </a:rPr>
              <a:t>）外部中断</a:t>
            </a:r>
            <a:endParaRPr lang="zh-CN" altLang="en-US" sz="2800">
              <a:latin typeface="+mn-ea"/>
              <a:cs typeface="+mn-ea"/>
              <a:sym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>
                <a:latin typeface="+mn-ea"/>
                <a:cs typeface="+mn-ea"/>
                <a:sym typeface="+mn-ea"/>
              </a:rPr>
              <a:t>触发源来自外部的中断</a:t>
            </a:r>
            <a:endParaRPr lang="zh-CN" altLang="en-US" sz="2800">
              <a:latin typeface="+mn-ea"/>
              <a:cs typeface="+mn-ea"/>
              <a:sym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+mn-ea"/>
                <a:cs typeface="+mn-ea"/>
                <a:sym typeface="+mn-ea"/>
              </a:rPr>
              <a:t>用来检测外部</a:t>
            </a:r>
            <a:r>
              <a:rPr lang="en-US" altLang="zh-CN" sz="2800" dirty="0">
                <a:latin typeface="+mn-ea"/>
                <a:cs typeface="+mn-ea"/>
                <a:sym typeface="+mn-ea"/>
              </a:rPr>
              <a:t>GPIO</a:t>
            </a:r>
            <a:r>
              <a:rPr lang="zh-CN" altLang="en-US" sz="2800" dirty="0">
                <a:latin typeface="+mn-ea"/>
                <a:cs typeface="+mn-ea"/>
                <a:sym typeface="+mn-ea"/>
              </a:rPr>
              <a:t>电平变化的中断</a:t>
            </a:r>
            <a:endParaRPr lang="zh-CN" altLang="en-US" sz="2800" dirty="0">
              <a:latin typeface="+mn-ea"/>
              <a:cs typeface="+mn-ea"/>
              <a:sym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>
                <a:sym typeface="+mn-ea"/>
              </a:rPr>
              <a:t>触发方式：上升沿</a:t>
            </a:r>
            <a:r>
              <a:rPr lang="en-US" altLang="zh-CN" sz="2800">
                <a:sym typeface="+mn-ea"/>
              </a:rPr>
              <a:t>/</a:t>
            </a:r>
            <a:r>
              <a:rPr lang="zh-CN" altLang="en-US" sz="2800">
                <a:sym typeface="+mn-ea"/>
              </a:rPr>
              <a:t>下降沿</a:t>
            </a:r>
            <a:r>
              <a:rPr lang="en-US" altLang="zh-CN" sz="2800">
                <a:sym typeface="+mn-ea"/>
              </a:rPr>
              <a:t>/</a:t>
            </a:r>
            <a:r>
              <a:rPr lang="zh-CN" altLang="en-US" sz="2800">
                <a:sym typeface="+mn-ea"/>
              </a:rPr>
              <a:t>双边沿</a:t>
            </a:r>
            <a:r>
              <a:rPr lang="en-US" altLang="zh-CN" sz="2800">
                <a:sym typeface="+mn-ea"/>
              </a:rPr>
              <a:t>/</a:t>
            </a:r>
            <a:r>
              <a:rPr lang="zh-CN" altLang="en-US" sz="2800">
                <a:sym typeface="+mn-ea"/>
              </a:rPr>
              <a:t>软件触发</a:t>
            </a:r>
            <a:endParaRPr lang="zh-CN" altLang="en-US" sz="2800">
              <a:sym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>
                <a:sym typeface="+mn-ea"/>
              </a:rPr>
              <a:t>GPIO</a:t>
            </a:r>
            <a:r>
              <a:rPr lang="zh-CN" altLang="en-US" sz="2800">
                <a:sym typeface="+mn-ea"/>
              </a:rPr>
              <a:t>口：所有</a:t>
            </a:r>
            <a:r>
              <a:rPr lang="en-US" altLang="zh-CN" sz="2800">
                <a:sym typeface="+mn-ea"/>
              </a:rPr>
              <a:t>GPIO</a:t>
            </a:r>
            <a:r>
              <a:rPr lang="zh-CN" altLang="en-US" sz="2800">
                <a:sym typeface="+mn-ea"/>
              </a:rPr>
              <a:t>口，但相同的</a:t>
            </a:r>
            <a:r>
              <a:rPr lang="en-US" altLang="zh-CN" sz="2800">
                <a:sym typeface="+mn-ea"/>
              </a:rPr>
              <a:t>Pin</a:t>
            </a:r>
            <a:r>
              <a:rPr lang="zh-CN" altLang="en-US" sz="2800">
                <a:sym typeface="+mn-ea"/>
              </a:rPr>
              <a:t>不能同时触发中断</a:t>
            </a:r>
            <a:endParaRPr lang="zh-CN" altLang="en-US" sz="2800">
              <a:sym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>
                <a:sym typeface="+mn-ea"/>
              </a:rPr>
              <a:t>触发响应方式：中断响应</a:t>
            </a:r>
            <a:r>
              <a:rPr lang="en-US" altLang="zh-CN" sz="2800">
                <a:sym typeface="+mn-ea"/>
              </a:rPr>
              <a:t>/</a:t>
            </a:r>
            <a:r>
              <a:rPr lang="zh-CN" altLang="en-US" sz="2800">
                <a:sym typeface="+mn-ea"/>
              </a:rPr>
              <a:t>事件响应</a:t>
            </a:r>
            <a:endParaRPr lang="en-US" altLang="zh-CN" sz="280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zh-CN" altLang="en-US" sz="2800" dirty="0">
              <a:latin typeface="+mn-ea"/>
              <a:cs typeface="+mn-ea"/>
              <a:sym typeface="+mn-ea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1150174" y="6518176"/>
            <a:ext cx="8024939" cy="338554"/>
            <a:chOff x="1277256" y="6519446"/>
            <a:chExt cx="8024939" cy="338554"/>
          </a:xfrm>
        </p:grpSpPr>
        <p:sp>
          <p:nvSpPr>
            <p:cNvPr id="29" name="矩形 28"/>
            <p:cNvSpPr/>
            <p:nvPr/>
          </p:nvSpPr>
          <p:spPr>
            <a:xfrm>
              <a:off x="8766881" y="6519446"/>
              <a:ext cx="432000" cy="33855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8663567" y="6519446"/>
              <a:ext cx="638628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12</a:t>
              </a:r>
              <a:endPara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1277256" y="6519446"/>
              <a:ext cx="7489625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endPara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3" name="图片 2" descr="`N}Y@8{TFSY(OR)A]8}1Z1Q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10870" y="4470400"/>
            <a:ext cx="7752715" cy="20478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611187" y="261275"/>
            <a:ext cx="666069" cy="664458"/>
            <a:chOff x="611187" y="261275"/>
            <a:chExt cx="666069" cy="664458"/>
          </a:xfrm>
        </p:grpSpPr>
        <p:sp>
          <p:nvSpPr>
            <p:cNvPr id="9" name="矩形 8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1419575" y="362672"/>
            <a:ext cx="7113238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外部中断</a:t>
            </a:r>
            <a:endParaRPr lang="zh-CN" altLang="en-US" sz="32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1150174" y="6518176"/>
            <a:ext cx="8024939" cy="338554"/>
            <a:chOff x="1277256" y="6519446"/>
            <a:chExt cx="8024939" cy="338554"/>
          </a:xfrm>
        </p:grpSpPr>
        <p:sp>
          <p:nvSpPr>
            <p:cNvPr id="29" name="矩形 28"/>
            <p:cNvSpPr/>
            <p:nvPr/>
          </p:nvSpPr>
          <p:spPr>
            <a:xfrm>
              <a:off x="8766881" y="6519446"/>
              <a:ext cx="432000" cy="33855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8663567" y="6519446"/>
              <a:ext cx="638628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13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1277256" y="6519446"/>
              <a:ext cx="7489625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endPara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188720" y="1223010"/>
            <a:ext cx="6578600" cy="51612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611187" y="261275"/>
            <a:ext cx="666069" cy="664458"/>
            <a:chOff x="611187" y="261275"/>
            <a:chExt cx="666069" cy="664458"/>
          </a:xfrm>
        </p:grpSpPr>
        <p:sp>
          <p:nvSpPr>
            <p:cNvPr id="9" name="矩形 8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1419575" y="362672"/>
            <a:ext cx="7113238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对比</a:t>
            </a:r>
            <a:endParaRPr lang="zh-CN" altLang="en-US" sz="32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1150174" y="6518176"/>
            <a:ext cx="8024939" cy="338554"/>
            <a:chOff x="1277256" y="6519446"/>
            <a:chExt cx="8024939" cy="338554"/>
          </a:xfrm>
        </p:grpSpPr>
        <p:sp>
          <p:nvSpPr>
            <p:cNvPr id="29" name="矩形 28"/>
            <p:cNvSpPr/>
            <p:nvPr/>
          </p:nvSpPr>
          <p:spPr>
            <a:xfrm>
              <a:off x="8766881" y="6519446"/>
              <a:ext cx="432000" cy="33855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8663567" y="6519446"/>
              <a:ext cx="638628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14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1277256" y="6519446"/>
              <a:ext cx="7489625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endPara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429260" y="1007110"/>
            <a:ext cx="7964805" cy="49644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000"/>
              <a:t>1.资源占用方面：</a:t>
            </a:r>
            <a:endParaRPr lang="zh-CN" altLang="en-US" sz="2000"/>
          </a:p>
          <a:p>
            <a:endParaRPr lang="zh-CN" altLang="en-US" sz="2000"/>
          </a:p>
          <a:p>
            <a:r>
              <a:rPr lang="zh-CN" altLang="en-US" sz="2000"/>
              <a:t>​ 轮询方式：在主循环中一直占用CPU的执行。</a:t>
            </a:r>
            <a:endParaRPr lang="zh-CN" altLang="en-US" sz="2000"/>
          </a:p>
          <a:p>
            <a:endParaRPr lang="zh-CN" altLang="en-US" sz="2000"/>
          </a:p>
          <a:p>
            <a:r>
              <a:rPr lang="zh-CN" altLang="en-US" sz="2000"/>
              <a:t>​ 中断方式：仅仅在时间产生后跳转执行后回调，相对于轮询占用的资源少，但很多按键时需要多个中断向量。</a:t>
            </a:r>
            <a:endParaRPr lang="zh-CN" altLang="en-US" sz="2000"/>
          </a:p>
          <a:p>
            <a:endParaRPr lang="zh-CN" altLang="en-US" sz="2000"/>
          </a:p>
          <a:p>
            <a:r>
              <a:rPr lang="zh-CN" altLang="en-US" sz="2000"/>
              <a:t>​ 状态机方式：在使用状态机实现按键扫描时，我们仅仅需要一个定时器即可实现任意个按键的扫描，效率不低于中断方式。</a:t>
            </a:r>
            <a:endParaRPr lang="zh-CN" altLang="en-US" sz="2000"/>
          </a:p>
          <a:p>
            <a:endParaRPr lang="zh-CN" altLang="en-US" sz="2000"/>
          </a:p>
          <a:p>
            <a:r>
              <a:rPr lang="zh-CN" altLang="en-US" sz="2000"/>
              <a:t>2.执行效率方面：</a:t>
            </a:r>
            <a:endParaRPr lang="zh-CN" altLang="en-US" sz="2000"/>
          </a:p>
          <a:p>
            <a:endParaRPr lang="zh-CN" altLang="en-US" sz="2000"/>
          </a:p>
          <a:p>
            <a:r>
              <a:rPr lang="zh-CN" altLang="en-US" sz="2000"/>
              <a:t>​ 轮询方式：效率极低，反应且不灵敏，有时候要按很多次才有反应。</a:t>
            </a:r>
            <a:endParaRPr lang="zh-CN" altLang="en-US" sz="2000"/>
          </a:p>
          <a:p>
            <a:endParaRPr lang="zh-CN" altLang="en-US" sz="2000"/>
          </a:p>
          <a:p>
            <a:r>
              <a:rPr lang="zh-CN" altLang="en-US" sz="2000"/>
              <a:t>​ 中断方式：效率较高，反应灵敏，单独的中断方式不支持长按等状态操作，遇到</a:t>
            </a:r>
            <a:r>
              <a:rPr lang="zh-CN" altLang="en-US" sz="2000">
                <a:sym typeface="+mn-ea"/>
              </a:rPr>
              <a:t>几个IO口占用一个中断向量的情况无法分辨</a:t>
            </a:r>
            <a:r>
              <a:rPr lang="zh-CN" altLang="en-US" sz="2000"/>
              <a:t>。</a:t>
            </a:r>
            <a:endParaRPr lang="zh-CN" altLang="en-US" sz="2000"/>
          </a:p>
          <a:p>
            <a:endParaRPr lang="zh-CN" altLang="en-US" sz="2000"/>
          </a:p>
          <a:p>
            <a:r>
              <a:rPr lang="zh-CN" altLang="en-US" sz="2000"/>
              <a:t>​ 状态机方式：效率较高，反应灵敏，支持长按的状态操作。</a:t>
            </a:r>
            <a:endParaRPr lang="zh-CN" altLang="en-US" sz="2000"/>
          </a:p>
          <a:p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611187" y="261275"/>
            <a:ext cx="666069" cy="664458"/>
            <a:chOff x="611187" y="261275"/>
            <a:chExt cx="666069" cy="664458"/>
          </a:xfrm>
        </p:grpSpPr>
        <p:sp>
          <p:nvSpPr>
            <p:cNvPr id="9" name="矩形 8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1419575" y="362672"/>
            <a:ext cx="7113238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对比</a:t>
            </a:r>
            <a:endParaRPr lang="zh-CN" altLang="en-US" sz="32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1150174" y="6518176"/>
            <a:ext cx="8024939" cy="338554"/>
            <a:chOff x="1277256" y="6519446"/>
            <a:chExt cx="8024939" cy="338554"/>
          </a:xfrm>
        </p:grpSpPr>
        <p:sp>
          <p:nvSpPr>
            <p:cNvPr id="29" name="矩形 28"/>
            <p:cNvSpPr/>
            <p:nvPr/>
          </p:nvSpPr>
          <p:spPr>
            <a:xfrm>
              <a:off x="8766881" y="6519446"/>
              <a:ext cx="432000" cy="33855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8663567" y="6519446"/>
              <a:ext cx="638628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15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1277256" y="6519446"/>
              <a:ext cx="7489625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endPara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536575" y="1167130"/>
            <a:ext cx="7439660" cy="43383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3.按键抖动方面：</a:t>
            </a:r>
            <a:endParaRPr lang="zh-CN" altLang="en-US"/>
          </a:p>
          <a:p>
            <a:endParaRPr lang="zh-CN" altLang="en-US"/>
          </a:p>
          <a:p>
            <a:r>
              <a:rPr lang="zh-CN" altLang="en-US">
                <a:sym typeface="+mn-ea"/>
              </a:rPr>
              <a:t>​ 轮询方式：需要延时消抖，消抖的同时无法进行其他操作。</a:t>
            </a:r>
            <a:endParaRPr lang="zh-CN" altLang="en-US"/>
          </a:p>
          <a:p>
            <a:endParaRPr lang="zh-CN" altLang="en-US"/>
          </a:p>
          <a:p>
            <a:r>
              <a:rPr lang="zh-CN" altLang="en-US">
                <a:sym typeface="+mn-ea"/>
              </a:rPr>
              <a:t>​ 中断方式：需要延时消抖，消抖的同时无法进行其他操作。</a:t>
            </a:r>
            <a:endParaRPr lang="zh-CN" altLang="en-US"/>
          </a:p>
          <a:p>
            <a:endParaRPr lang="zh-CN" altLang="en-US"/>
          </a:p>
          <a:p>
            <a:r>
              <a:rPr lang="zh-CN" altLang="en-US">
                <a:sym typeface="+mn-ea"/>
              </a:rPr>
              <a:t>​ </a:t>
            </a:r>
            <a:r>
              <a:rPr lang="zh-CN" altLang="en-US" sz="2400">
                <a:sym typeface="+mn-ea"/>
              </a:rPr>
              <a:t>状态机方式：间接的产生了消抖，为什么这么说呢？这里我们采用一个定时时间为</a:t>
            </a:r>
            <a:r>
              <a:rPr lang="en-US" altLang="zh-CN" sz="2400">
                <a:sym typeface="+mn-ea"/>
              </a:rPr>
              <a:t>1</a:t>
            </a:r>
            <a:r>
              <a:rPr lang="zh-CN" altLang="en-US" sz="2400">
                <a:sym typeface="+mn-ea"/>
              </a:rPr>
              <a:t>0ms的定时器，每</a:t>
            </a:r>
            <a:r>
              <a:rPr lang="en-US" altLang="zh-CN" sz="2400">
                <a:sym typeface="+mn-ea"/>
              </a:rPr>
              <a:t>1</a:t>
            </a:r>
            <a:r>
              <a:rPr lang="zh-CN" altLang="en-US" sz="2400">
                <a:sym typeface="+mn-ea"/>
              </a:rPr>
              <a:t>0ms进行一次状态的处理，在上一次处理和下一次处理的</a:t>
            </a:r>
            <a:r>
              <a:rPr lang="en-US" altLang="zh-CN" sz="2400">
                <a:sym typeface="+mn-ea"/>
              </a:rPr>
              <a:t>1</a:t>
            </a:r>
            <a:r>
              <a:rPr lang="zh-CN" altLang="en-US" sz="2400">
                <a:sym typeface="+mn-ea"/>
              </a:rPr>
              <a:t>0ms中可以跳出定时器中断进行其他操作，也就是消抖的同时在进行其他的操作，大大的提高了运行的效率。</a:t>
            </a:r>
            <a:endParaRPr lang="zh-CN" altLang="en-US" sz="2400"/>
          </a:p>
          <a:p>
            <a:endParaRPr lang="zh-CN" altLang="en-US" sz="2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0" y="1851645"/>
            <a:ext cx="4205521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99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04</a:t>
            </a:r>
            <a:endParaRPr lang="zh-CN" altLang="en-US" sz="199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995420" y="3102610"/>
            <a:ext cx="463613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按键状态机实现</a:t>
            </a:r>
            <a:endParaRPr lang="zh-CN" altLang="en-US" sz="40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3911292" y="3755365"/>
            <a:ext cx="4663440" cy="108000"/>
            <a:chOff x="3649980" y="3375660"/>
            <a:chExt cx="4663440" cy="108000"/>
          </a:xfrm>
        </p:grpSpPr>
        <p:cxnSp>
          <p:nvCxnSpPr>
            <p:cNvPr id="10" name="直接连接符 9"/>
            <p:cNvCxnSpPr/>
            <p:nvPr/>
          </p:nvCxnSpPr>
          <p:spPr>
            <a:xfrm>
              <a:off x="3733800" y="3429660"/>
              <a:ext cx="4495800" cy="0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椭圆 12"/>
            <p:cNvSpPr/>
            <p:nvPr/>
          </p:nvSpPr>
          <p:spPr>
            <a:xfrm>
              <a:off x="3649980" y="3375660"/>
              <a:ext cx="108000" cy="108000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/>
          </p:nvSpPr>
          <p:spPr>
            <a:xfrm>
              <a:off x="8205420" y="3375660"/>
              <a:ext cx="108000" cy="108000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 useBgFill="1">
        <p:nvSpPr>
          <p:cNvPr id="16" name="文本框 15"/>
          <p:cNvSpPr txBox="1"/>
          <p:nvPr/>
        </p:nvSpPr>
        <p:spPr>
          <a:xfrm>
            <a:off x="487591" y="3105835"/>
            <a:ext cx="3230339" cy="64633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 FOUR</a:t>
            </a:r>
            <a:endParaRPr lang="zh-CN" altLang="en-US" sz="36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37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611187" y="261275"/>
            <a:ext cx="666069" cy="664458"/>
            <a:chOff x="611187" y="261275"/>
            <a:chExt cx="666069" cy="664458"/>
          </a:xfrm>
        </p:grpSpPr>
        <p:sp>
          <p:nvSpPr>
            <p:cNvPr id="9" name="矩形 8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1419575" y="362672"/>
            <a:ext cx="7113238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按键状态机实现</a:t>
            </a:r>
            <a:endParaRPr lang="zh-CN" alt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1220659" y="6519446"/>
            <a:ext cx="8024939" cy="338554"/>
            <a:chOff x="1277256" y="6519446"/>
            <a:chExt cx="8024939" cy="338554"/>
          </a:xfrm>
        </p:grpSpPr>
        <p:sp>
          <p:nvSpPr>
            <p:cNvPr id="24" name="矩形 23"/>
            <p:cNvSpPr/>
            <p:nvPr/>
          </p:nvSpPr>
          <p:spPr>
            <a:xfrm>
              <a:off x="8766881" y="6519446"/>
              <a:ext cx="432000" cy="33855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8663567" y="6519446"/>
              <a:ext cx="638628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17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1277256" y="6519446"/>
              <a:ext cx="7489625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endPara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424815" y="1162685"/>
            <a:ext cx="8285480" cy="23907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buNone/>
            </a:pPr>
            <a:r>
              <a:rPr lang="en-US" altLang="zh-CN" sz="2400">
                <a:sym typeface="+mn-ea"/>
              </a:rPr>
              <a:t>Timer</a:t>
            </a:r>
            <a:r>
              <a:rPr lang="zh-CN" altLang="en-US" sz="2400">
                <a:sym typeface="+mn-ea"/>
              </a:rPr>
              <a:t>（</a:t>
            </a:r>
            <a:r>
              <a:rPr lang="zh-CN" altLang="en-US" sz="2400">
                <a:sym typeface="+mn-ea"/>
              </a:rPr>
              <a:t>定时器）</a:t>
            </a:r>
            <a:endParaRPr lang="zh-CN" altLang="en-US" sz="2400">
              <a:sym typeface="+mn-ea"/>
            </a:endParaRPr>
          </a:p>
          <a:p>
            <a:pPr marL="0" indent="0">
              <a:buNone/>
            </a:pPr>
            <a:r>
              <a:rPr lang="zh-CN" altLang="en-US" sz="2400">
                <a:sym typeface="+mn-ea"/>
              </a:rPr>
              <a:t>定时器可以对输入的时钟进行计数，并在计数值达到设定值时触发中断</a:t>
            </a:r>
            <a:endParaRPr lang="zh-CN" altLang="en-US" sz="2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4815" y="3019425"/>
            <a:ext cx="8068310" cy="32912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611187" y="261275"/>
            <a:ext cx="666069" cy="664458"/>
            <a:chOff x="611187" y="261275"/>
            <a:chExt cx="666069" cy="664458"/>
          </a:xfrm>
        </p:grpSpPr>
        <p:sp>
          <p:nvSpPr>
            <p:cNvPr id="9" name="矩形 8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1419575" y="362672"/>
            <a:ext cx="7113238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按键状态机实现</a:t>
            </a:r>
            <a:endParaRPr lang="zh-CN" alt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1220659" y="6519446"/>
            <a:ext cx="8024939" cy="338554"/>
            <a:chOff x="1277256" y="6519446"/>
            <a:chExt cx="8024939" cy="338554"/>
          </a:xfrm>
        </p:grpSpPr>
        <p:sp>
          <p:nvSpPr>
            <p:cNvPr id="24" name="矩形 23"/>
            <p:cNvSpPr/>
            <p:nvPr/>
          </p:nvSpPr>
          <p:spPr>
            <a:xfrm>
              <a:off x="8766881" y="6519446"/>
              <a:ext cx="432000" cy="33855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8663567" y="6519446"/>
              <a:ext cx="638628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18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1277256" y="6519446"/>
              <a:ext cx="7489625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endPara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424815" y="925830"/>
            <a:ext cx="8285480" cy="52736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buNone/>
            </a:pPr>
            <a:r>
              <a:rPr lang="zh-CN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定时器可以理解为一个</a:t>
            </a:r>
            <a:r>
              <a:rPr lang="zh-CN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计数器。</a:t>
            </a:r>
            <a:endParaRPr lang="zh-CN" altLang="en-US" sz="2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buNone/>
            </a:pPr>
            <a:r>
              <a:rPr lang="zh-CN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通过可编程预分频器（</a:t>
            </a:r>
            <a:r>
              <a:rPr lang="en-US" altLang="zh-CN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Prescaler    </a:t>
            </a:r>
            <a:r>
              <a:rPr lang="en-US" altLang="zh-CN" sz="2400" dirty="0">
                <a:latin typeface="Microsoft YaHei UI" panose="020B0503020204020204" pitchFamily="34" charset="-122"/>
                <a:ea typeface="Microsoft YaHei UI" panose="020B0503020204020204" pitchFamily="34" charset="-122"/>
                <a:sym typeface="+mn-ea"/>
              </a:rPr>
              <a:t>PSC</a:t>
            </a:r>
            <a:r>
              <a:rPr lang="en-US" altLang="zh-CN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</a:t>
            </a:r>
            <a:r>
              <a:rPr lang="zh-CN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）</a:t>
            </a:r>
            <a:endParaRPr lang="zh-CN" altLang="en-US" sz="2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buNone/>
            </a:pPr>
            <a:r>
              <a:rPr lang="zh-CN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主计数器（</a:t>
            </a:r>
            <a:r>
              <a:rPr lang="en-US" altLang="zh-CN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Count Period   </a:t>
            </a:r>
            <a:r>
              <a:rPr lang="en-US" altLang="zh-CN" sz="2400">
                <a:latin typeface="Microsoft YaHei UI" panose="020B0503020204020204" pitchFamily="34" charset="-122"/>
                <a:ea typeface="Microsoft YaHei UI" panose="020B0503020204020204" pitchFamily="34" charset="-122"/>
                <a:sym typeface="+mn-ea"/>
              </a:rPr>
              <a:t>CNT</a:t>
            </a:r>
            <a:r>
              <a:rPr lang="en-US" altLang="zh-CN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</a:t>
            </a:r>
            <a:r>
              <a:rPr lang="zh-CN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）构成</a:t>
            </a:r>
            <a:endParaRPr lang="zh-CN" altLang="en-US" sz="2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buNone/>
            </a:pP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自动重装值（</a:t>
            </a:r>
            <a:r>
              <a:rPr lang="en-US" altLang="zh-CN" sz="2400" dirty="0">
                <a:latin typeface="Microsoft YaHei UI" panose="020B0503020204020204" pitchFamily="34" charset="-122"/>
                <a:ea typeface="Microsoft YaHei UI" panose="020B0503020204020204" pitchFamily="34" charset="-122"/>
                <a:sym typeface="+mn-ea"/>
              </a:rPr>
              <a:t>Auto Reload Register</a:t>
            </a: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）</a:t>
            </a:r>
            <a:endParaRPr lang="zh-CN" altLang="en-US" sz="2400" dirty="0" smtClean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buNone/>
            </a:pPr>
            <a:r>
              <a:rPr lang="zh-CN" altLang="en-US" sz="2400" dirty="0">
                <a:latin typeface="+mj-ea"/>
                <a:ea typeface="+mj-ea"/>
                <a:cs typeface="+mj-ea"/>
                <a:sym typeface="+mn-ea"/>
              </a:rPr>
              <a:t>定时器的计数器只能在</a:t>
            </a:r>
            <a:r>
              <a:rPr lang="en-US" altLang="zh-CN" sz="2400" dirty="0">
                <a:latin typeface="+mj-ea"/>
                <a:ea typeface="+mj-ea"/>
                <a:cs typeface="+mj-ea"/>
                <a:sym typeface="+mn-ea"/>
              </a:rPr>
              <a:t>0</a:t>
            </a:r>
            <a:r>
              <a:rPr lang="zh-CN" altLang="en-US" sz="2400" dirty="0">
                <a:latin typeface="+mj-ea"/>
                <a:ea typeface="+mj-ea"/>
                <a:cs typeface="+mj-ea"/>
                <a:sym typeface="+mn-ea"/>
              </a:rPr>
              <a:t>到</a:t>
            </a:r>
            <a:r>
              <a:rPr lang="en-US" altLang="zh-CN" sz="2400" dirty="0">
                <a:latin typeface="+mj-ea"/>
                <a:ea typeface="+mj-ea"/>
                <a:cs typeface="+mj-ea"/>
                <a:sym typeface="+mn-ea"/>
              </a:rPr>
              <a:t>ARR</a:t>
            </a:r>
            <a:r>
              <a:rPr lang="zh-CN" altLang="en-US" sz="2400" dirty="0">
                <a:latin typeface="+mj-ea"/>
                <a:ea typeface="+mj-ea"/>
                <a:cs typeface="+mj-ea"/>
                <a:sym typeface="+mn-ea"/>
              </a:rPr>
              <a:t>之间变动</a:t>
            </a:r>
            <a:endParaRPr lang="zh-CN" altLang="en-US" sz="2400" dirty="0">
              <a:latin typeface="+mj-ea"/>
              <a:ea typeface="+mj-ea"/>
              <a:cs typeface="+mj-ea"/>
              <a:sym typeface="+mn-ea"/>
            </a:endParaRPr>
          </a:p>
          <a:p>
            <a:pPr marL="0" indent="0">
              <a:buNone/>
            </a:pPr>
            <a:endParaRPr lang="zh-CN" altLang="en-US" sz="2400" dirty="0">
              <a:latin typeface="+mj-ea"/>
              <a:ea typeface="+mj-ea"/>
              <a:cs typeface="+mj-ea"/>
              <a:sym typeface="+mn-ea"/>
            </a:endParaRPr>
          </a:p>
          <a:p>
            <a:pPr marL="0" indent="0">
              <a:buNone/>
            </a:pPr>
            <a:r>
              <a:rPr lang="zh-CN" altLang="en-US" sz="2400" dirty="0">
                <a:latin typeface="+mj-ea"/>
                <a:ea typeface="+mj-ea"/>
                <a:cs typeface="+mj-ea"/>
                <a:sym typeface="+mn-ea"/>
              </a:rPr>
              <a:t>向上计数，则从</a:t>
            </a:r>
            <a:r>
              <a:rPr lang="en-US" altLang="zh-CN" sz="2400" dirty="0">
                <a:latin typeface="+mj-ea"/>
                <a:ea typeface="+mj-ea"/>
                <a:cs typeface="+mj-ea"/>
                <a:sym typeface="+mn-ea"/>
              </a:rPr>
              <a:t>0</a:t>
            </a:r>
            <a:r>
              <a:rPr lang="zh-CN" altLang="en-US" sz="2400" dirty="0">
                <a:latin typeface="+mj-ea"/>
                <a:ea typeface="+mj-ea"/>
                <a:cs typeface="+mj-ea"/>
                <a:sym typeface="+mn-ea"/>
              </a:rPr>
              <a:t>计数到</a:t>
            </a:r>
            <a:r>
              <a:rPr lang="en-US" altLang="zh-CN" sz="2400" dirty="0">
                <a:latin typeface="+mj-ea"/>
                <a:ea typeface="+mj-ea"/>
                <a:cs typeface="+mj-ea"/>
                <a:sym typeface="+mn-ea"/>
              </a:rPr>
              <a:t>ARR</a:t>
            </a:r>
            <a:r>
              <a:rPr lang="zh-CN" altLang="en-US" sz="2400" dirty="0">
                <a:latin typeface="+mj-ea"/>
                <a:ea typeface="+mj-ea"/>
                <a:cs typeface="+mj-ea"/>
                <a:sym typeface="+mn-ea"/>
              </a:rPr>
              <a:t>，然后再开启一轮循环</a:t>
            </a:r>
            <a:endParaRPr lang="zh-CN" altLang="en-US" sz="2400" dirty="0">
              <a:latin typeface="+mj-ea"/>
              <a:ea typeface="+mj-ea"/>
              <a:cs typeface="+mj-ea"/>
              <a:sym typeface="+mn-ea"/>
            </a:endParaRPr>
          </a:p>
          <a:p>
            <a:pPr marL="0" indent="0">
              <a:buNone/>
            </a:pPr>
            <a:endParaRPr lang="zh-CN" altLang="en-US" sz="2400" dirty="0">
              <a:latin typeface="+mj-ea"/>
              <a:ea typeface="+mj-ea"/>
              <a:cs typeface="+mj-ea"/>
              <a:sym typeface="+mn-ea"/>
            </a:endParaRPr>
          </a:p>
          <a:p>
            <a:pPr marL="0" indent="0">
              <a:buNone/>
            </a:pPr>
            <a:r>
              <a:rPr lang="zh-CN" altLang="en-US" sz="2400" dirty="0">
                <a:latin typeface="+mj-ea"/>
                <a:ea typeface="+mj-ea"/>
                <a:cs typeface="+mj-ea"/>
                <a:sym typeface="+mn-ea"/>
              </a:rPr>
              <a:t>向下计数，则从</a:t>
            </a:r>
            <a:r>
              <a:rPr lang="en-US" altLang="zh-CN" sz="2400" dirty="0">
                <a:latin typeface="+mj-ea"/>
                <a:ea typeface="+mj-ea"/>
                <a:cs typeface="+mj-ea"/>
                <a:sym typeface="+mn-ea"/>
              </a:rPr>
              <a:t>ARR</a:t>
            </a:r>
            <a:r>
              <a:rPr lang="zh-CN" altLang="en-US" sz="2400" dirty="0">
                <a:latin typeface="+mj-ea"/>
                <a:ea typeface="+mj-ea"/>
                <a:cs typeface="+mj-ea"/>
                <a:sym typeface="+mn-ea"/>
              </a:rPr>
              <a:t>计数到</a:t>
            </a:r>
            <a:r>
              <a:rPr lang="en-US" altLang="zh-CN" sz="2400" dirty="0">
                <a:latin typeface="+mj-ea"/>
                <a:ea typeface="+mj-ea"/>
                <a:cs typeface="+mj-ea"/>
                <a:sym typeface="+mn-ea"/>
              </a:rPr>
              <a:t>0</a:t>
            </a:r>
            <a:r>
              <a:rPr lang="zh-CN" altLang="en-US" sz="2400" dirty="0">
                <a:latin typeface="+mj-ea"/>
                <a:ea typeface="+mj-ea"/>
                <a:cs typeface="+mj-ea"/>
                <a:sym typeface="+mn-ea"/>
              </a:rPr>
              <a:t>，然后再开启一轮循环</a:t>
            </a:r>
            <a:endParaRPr lang="zh-CN" altLang="en-US" sz="2400" dirty="0">
              <a:latin typeface="+mj-ea"/>
              <a:ea typeface="+mj-ea"/>
              <a:cs typeface="+mj-ea"/>
              <a:sym typeface="+mn-ea"/>
            </a:endParaRPr>
          </a:p>
          <a:p>
            <a:pPr marL="0" indent="0">
              <a:buNone/>
            </a:pPr>
            <a:endParaRPr lang="zh-CN" altLang="en-US" sz="2400" dirty="0">
              <a:latin typeface="+mj-ea"/>
              <a:ea typeface="+mj-ea"/>
              <a:cs typeface="+mj-ea"/>
              <a:sym typeface="+mn-ea"/>
            </a:endParaRPr>
          </a:p>
          <a:p>
            <a:pPr marL="0" indent="0">
              <a:buNone/>
            </a:pPr>
            <a:r>
              <a:rPr lang="zh-CN" altLang="en-US" sz="2400" dirty="0">
                <a:latin typeface="+mj-ea"/>
                <a:ea typeface="+mj-ea"/>
                <a:cs typeface="+mj-ea"/>
                <a:sym typeface="+mn-ea"/>
              </a:rPr>
              <a:t>双向计数，则从</a:t>
            </a:r>
            <a:r>
              <a:rPr lang="en-US" altLang="zh-CN" sz="2400" dirty="0">
                <a:latin typeface="+mj-ea"/>
                <a:ea typeface="+mj-ea"/>
                <a:cs typeface="+mj-ea"/>
                <a:sym typeface="+mn-ea"/>
              </a:rPr>
              <a:t>0</a:t>
            </a:r>
            <a:r>
              <a:rPr lang="zh-CN" altLang="en-US" sz="2400" dirty="0">
                <a:latin typeface="+mj-ea"/>
                <a:ea typeface="+mj-ea"/>
                <a:cs typeface="+mj-ea"/>
                <a:sym typeface="+mn-ea"/>
              </a:rPr>
              <a:t>计数到</a:t>
            </a:r>
            <a:r>
              <a:rPr lang="en-US" altLang="zh-CN" sz="2400" dirty="0">
                <a:latin typeface="+mj-ea"/>
                <a:ea typeface="+mj-ea"/>
                <a:cs typeface="+mj-ea"/>
                <a:sym typeface="+mn-ea"/>
              </a:rPr>
              <a:t>ARR-1</a:t>
            </a:r>
            <a:r>
              <a:rPr lang="zh-CN" altLang="en-US" sz="2400" dirty="0">
                <a:latin typeface="+mj-ea"/>
                <a:ea typeface="+mj-ea"/>
                <a:cs typeface="+mj-ea"/>
                <a:sym typeface="+mn-ea"/>
              </a:rPr>
              <a:t>，然后再从</a:t>
            </a:r>
            <a:r>
              <a:rPr lang="en-US" altLang="zh-CN" sz="2400" dirty="0">
                <a:latin typeface="+mj-ea"/>
                <a:ea typeface="+mj-ea"/>
                <a:cs typeface="+mj-ea"/>
                <a:sym typeface="+mn-ea"/>
              </a:rPr>
              <a:t>ARR</a:t>
            </a:r>
            <a:r>
              <a:rPr lang="zh-CN" altLang="en-US" sz="2400" dirty="0">
                <a:latin typeface="+mj-ea"/>
                <a:ea typeface="+mj-ea"/>
                <a:cs typeface="+mj-ea"/>
                <a:sym typeface="+mn-ea"/>
              </a:rPr>
              <a:t>计数到</a:t>
            </a:r>
            <a:r>
              <a:rPr lang="en-US" altLang="zh-CN" sz="2400" dirty="0">
                <a:latin typeface="+mj-ea"/>
                <a:ea typeface="+mj-ea"/>
                <a:cs typeface="+mj-ea"/>
                <a:sym typeface="+mn-ea"/>
              </a:rPr>
              <a:t>1</a:t>
            </a:r>
            <a:r>
              <a:rPr lang="zh-CN" altLang="en-US" sz="2400" dirty="0">
                <a:latin typeface="+mj-ea"/>
                <a:ea typeface="+mj-ea"/>
                <a:cs typeface="+mj-ea"/>
                <a:sym typeface="+mn-ea"/>
              </a:rPr>
              <a:t>，然后再开启一轮循环</a:t>
            </a:r>
            <a:endParaRPr lang="zh-CN" altLang="en-US" sz="2400" dirty="0" smtClean="0">
              <a:solidFill>
                <a:schemeClr val="tx1"/>
              </a:solidFill>
              <a:latin typeface="+mj-ea"/>
              <a:ea typeface="+mj-ea"/>
              <a:cs typeface="+mj-ea"/>
              <a:sym typeface="+mn-ea"/>
            </a:endParaRPr>
          </a:p>
          <a:p>
            <a:pPr marL="0" indent="0">
              <a:buNone/>
            </a:pPr>
            <a:endParaRPr lang="zh-CN" altLang="en-US" sz="2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buNone/>
            </a:pPr>
            <a:r>
              <a:rPr lang="zh-CN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定时时间</a:t>
            </a:r>
            <a:r>
              <a:rPr lang="en-US" altLang="zh-CN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=</a:t>
            </a:r>
            <a:r>
              <a:rPr lang="zh-CN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sz="2400" b="1" i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Prescaler+1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）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*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sz="2400" dirty="0">
                <a:latin typeface="Microsoft YaHei UI" panose="020B0503020204020204" pitchFamily="34" charset="-122"/>
                <a:ea typeface="Microsoft YaHei UI" panose="020B0503020204020204" pitchFamily="34" charset="-122"/>
                <a:sym typeface="+mn-ea"/>
              </a:rPr>
              <a:t>Auto Reload Register</a:t>
            </a:r>
            <a:r>
              <a:rPr lang="en-US" altLang="zh-CN" sz="2400" b="1" i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+1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）</a:t>
            </a:r>
            <a:endParaRPr lang="zh-CN" alt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1371600" lvl="3" indent="457200">
              <a:buNone/>
            </a:pP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/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定时器时钟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频率</a:t>
            </a:r>
            <a:endParaRPr lang="zh-CN" altLang="en-US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6228715" y="4152900"/>
            <a:ext cx="8285480" cy="3460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buNone/>
            </a:pPr>
            <a:endParaRPr lang="zh-CN" altLang="en-US" sz="2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611187" y="261275"/>
            <a:ext cx="666069" cy="664458"/>
            <a:chOff x="611187" y="261275"/>
            <a:chExt cx="666069" cy="664458"/>
          </a:xfrm>
        </p:grpSpPr>
        <p:sp>
          <p:nvSpPr>
            <p:cNvPr id="9" name="矩形 8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1419575" y="362672"/>
            <a:ext cx="7113238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定时器中断</a:t>
            </a:r>
            <a:endParaRPr lang="zh-CN" alt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1220659" y="6519446"/>
            <a:ext cx="8024939" cy="338554"/>
            <a:chOff x="1277256" y="6519446"/>
            <a:chExt cx="8024939" cy="338554"/>
          </a:xfrm>
        </p:grpSpPr>
        <p:sp>
          <p:nvSpPr>
            <p:cNvPr id="24" name="矩形 23"/>
            <p:cNvSpPr/>
            <p:nvPr/>
          </p:nvSpPr>
          <p:spPr>
            <a:xfrm>
              <a:off x="8766881" y="6519446"/>
              <a:ext cx="432000" cy="33855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8663567" y="6519446"/>
              <a:ext cx="638628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19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1277256" y="6519446"/>
              <a:ext cx="7489625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endPara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431165" y="1162685"/>
            <a:ext cx="8285480" cy="52736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None/>
            </a:pP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定时器可以理解为一个计数器。</a:t>
            </a:r>
            <a:endParaRPr lang="zh-CN" altLang="en-US" sz="2400" dirty="0" smtClean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indent="0">
              <a:buNone/>
            </a:pP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通过</a:t>
            </a:r>
            <a:r>
              <a:rPr lang="zh-CN" altLang="en-US" sz="2400" b="1" i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可编程预分频器（</a:t>
            </a:r>
            <a:r>
              <a:rPr lang="en-US" altLang="zh-CN" sz="2400" b="1" i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Prescaler    </a:t>
            </a:r>
            <a:r>
              <a:rPr lang="en-US" altLang="zh-CN" sz="2400" dirty="0">
                <a:latin typeface="Microsoft YaHei UI" panose="020B0503020204020204" pitchFamily="34" charset="-122"/>
                <a:ea typeface="Microsoft YaHei UI" panose="020B0503020204020204" pitchFamily="34" charset="-122"/>
                <a:sym typeface="+mn-ea"/>
              </a:rPr>
              <a:t>PSC</a:t>
            </a:r>
            <a:r>
              <a:rPr lang="en-US" altLang="zh-CN" sz="2400" b="1" i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</a:t>
            </a:r>
            <a:r>
              <a:rPr lang="zh-CN" altLang="en-US" sz="2400" b="1" i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）</a:t>
            </a: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与</a:t>
            </a:r>
            <a:endParaRPr lang="zh-CN" altLang="en-US" sz="2400" dirty="0" smtClean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indent="0">
              <a:buNone/>
            </a:pPr>
            <a:r>
              <a:rPr lang="zh-CN" altLang="en-US" sz="2400" b="1" i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主计数器（</a:t>
            </a:r>
            <a:r>
              <a:rPr lang="en-US" altLang="zh-CN" sz="2400" b="1" i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Count Period   </a:t>
            </a:r>
            <a:r>
              <a:rPr lang="en-US" altLang="zh-CN" sz="2400">
                <a:latin typeface="Microsoft YaHei UI" panose="020B0503020204020204" pitchFamily="34" charset="-122"/>
                <a:ea typeface="Microsoft YaHei UI" panose="020B0503020204020204" pitchFamily="34" charset="-122"/>
                <a:sym typeface="+mn-ea"/>
              </a:rPr>
              <a:t>CNT</a:t>
            </a:r>
            <a:r>
              <a:rPr lang="en-US" altLang="zh-CN" sz="2400" b="1" i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</a:t>
            </a:r>
            <a:r>
              <a:rPr lang="zh-CN" altLang="en-US" sz="2400" b="1" i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）</a:t>
            </a: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构成</a:t>
            </a:r>
            <a:endParaRPr lang="zh-CN" altLang="en-US" sz="2400" dirty="0" smtClean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indent="0">
              <a:buNone/>
            </a:pPr>
            <a:r>
              <a:rPr lang="zh-CN" altLang="en-US" sz="2400" b="1" i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自动重装值（</a:t>
            </a:r>
            <a:r>
              <a:rPr lang="en-US" altLang="zh-CN" sz="2400" i="1" dirty="0">
                <a:latin typeface="Microsoft YaHei UI" panose="020B0503020204020204" pitchFamily="34" charset="-122"/>
                <a:ea typeface="Microsoft YaHei UI" panose="020B0503020204020204" pitchFamily="34" charset="-122"/>
                <a:sym typeface="+mn-ea"/>
              </a:rPr>
              <a:t>Auto Reload Register</a:t>
            </a:r>
            <a:r>
              <a:rPr lang="zh-CN" altLang="en-US" sz="2400" b="1" i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）</a:t>
            </a:r>
            <a:endParaRPr lang="zh-CN" altLang="en-US" sz="2400" dirty="0" smtClean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indent="0">
              <a:buNone/>
            </a:pPr>
            <a:endParaRPr lang="zh-CN" altLang="en-US" sz="2400" dirty="0" smtClean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indent="0">
              <a:buNone/>
            </a:pPr>
            <a:endParaRPr lang="zh-CN" altLang="en-US" sz="2400" dirty="0" smtClean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indent="0">
              <a:buNone/>
            </a:pPr>
            <a:endParaRPr lang="zh-CN" altLang="en-US" sz="2400" dirty="0" smtClean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indent="0">
              <a:buNone/>
            </a:pPr>
            <a:endParaRPr lang="zh-CN" altLang="en-US" sz="2400" dirty="0" smtClean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indent="0">
              <a:buNone/>
            </a:pPr>
            <a:endParaRPr lang="zh-CN" altLang="en-US" sz="2400" dirty="0" smtClean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indent="0">
              <a:buNone/>
            </a:pPr>
            <a:endParaRPr lang="zh-CN" altLang="en-US" sz="2400" dirty="0" smtClean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indent="0">
              <a:buNone/>
            </a:pP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定时时间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=</a:t>
            </a: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sz="2400" b="1" i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Prescaler+1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）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*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sz="2400" dirty="0">
                <a:latin typeface="Microsoft YaHei UI" panose="020B0503020204020204" pitchFamily="34" charset="-122"/>
                <a:ea typeface="Microsoft YaHei UI" panose="020B0503020204020204" pitchFamily="34" charset="-122"/>
                <a:sym typeface="+mn-ea"/>
              </a:rPr>
              <a:t>Auto Reload Register</a:t>
            </a:r>
            <a:r>
              <a:rPr lang="en-US" altLang="zh-CN" sz="2400" b="1" i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+1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）</a:t>
            </a:r>
            <a:endParaRPr lang="zh-CN" alt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1371600" lvl="3" indent="457200">
              <a:buNone/>
            </a:pP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/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定时器时钟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频率</a:t>
            </a:r>
            <a:endParaRPr lang="zh-CN" altLang="en-US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650" y="3001645"/>
            <a:ext cx="3312795" cy="12376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 rot="5400000">
            <a:off x="6819900" y="3057525"/>
            <a:ext cx="962660" cy="1400175"/>
          </a:xfrm>
          <a:prstGeom prst="rect">
            <a:avLst/>
          </a:prstGeom>
        </p:spPr>
      </p:pic>
      <p:sp>
        <p:nvSpPr>
          <p:cNvPr id="2" name="文本框 1"/>
          <p:cNvSpPr txBox="1"/>
          <p:nvPr>
            <p:custDataLst>
              <p:tags r:id="rId6"/>
            </p:custDataLst>
          </p:nvPr>
        </p:nvSpPr>
        <p:spPr>
          <a:xfrm>
            <a:off x="6228715" y="4152900"/>
            <a:ext cx="8285480" cy="3460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None/>
            </a:pP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计数器寄存器</a:t>
            </a:r>
            <a:endParaRPr lang="zh-CN" altLang="en-US" sz="2400" dirty="0" smtClean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3" name="图片 2" descr="~BGDTO61I77VYY7I5ENC~WR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3846195" y="3225800"/>
            <a:ext cx="2343150" cy="89154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r:id="rId9" p14:bwMode="auto">
            <p14:nvContentPartPr>
              <p14:cNvPr id="4" name="墨迹 3"/>
              <p14:cNvContentPartPr/>
              <p14:nvPr/>
            </p14:nvContentPartPr>
            <p14:xfrm>
              <a:off x="3437890" y="3613150"/>
              <a:ext cx="282575" cy="4445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10"/>
            </p:blipFill>
            <p:spPr>
              <a:xfrm>
                <a:off x="3437890" y="3613150"/>
                <a:ext cx="282575" cy="44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" p14:bwMode="auto">
            <p14:nvContentPartPr>
              <p14:cNvPr id="7" name="墨迹 6"/>
              <p14:cNvContentPartPr/>
              <p14:nvPr/>
            </p14:nvContentPartPr>
            <p14:xfrm>
              <a:off x="3707765" y="3522980"/>
              <a:ext cx="120015" cy="146050"/>
            </p14:xfrm>
          </p:contentPart>
        </mc:Choice>
        <mc:Fallback xmlns="">
          <p:pic>
            <p:nvPicPr>
              <p:cNvPr id="7" name="墨迹 6"/>
            </p:nvPicPr>
            <p:blipFill>
              <a:blip r:embed="rId12"/>
            </p:blipFill>
            <p:spPr>
              <a:xfrm>
                <a:off x="3707765" y="3522980"/>
                <a:ext cx="120015" cy="1460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3" p14:bwMode="auto">
            <p14:nvContentPartPr>
              <p14:cNvPr id="8" name="墨迹 7"/>
              <p14:cNvContentPartPr/>
              <p14:nvPr/>
            </p14:nvContentPartPr>
            <p14:xfrm>
              <a:off x="6194425" y="3574415"/>
              <a:ext cx="342900" cy="46990"/>
            </p14:xfrm>
          </p:contentPart>
        </mc:Choice>
        <mc:Fallback xmlns="">
          <p:pic>
            <p:nvPicPr>
              <p:cNvPr id="8" name="墨迹 7"/>
            </p:nvPicPr>
            <p:blipFill>
              <a:blip r:embed="rId14"/>
            </p:blipFill>
            <p:spPr>
              <a:xfrm>
                <a:off x="6194425" y="3574415"/>
                <a:ext cx="342900" cy="4699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5" p14:bwMode="auto">
            <p14:nvContentPartPr>
              <p14:cNvPr id="10" name="墨迹 9"/>
              <p14:cNvContentPartPr/>
              <p14:nvPr/>
            </p14:nvContentPartPr>
            <p14:xfrm>
              <a:off x="6408420" y="3480435"/>
              <a:ext cx="219075" cy="179705"/>
            </p14:xfrm>
          </p:contentPart>
        </mc:Choice>
        <mc:Fallback xmlns="">
          <p:pic>
            <p:nvPicPr>
              <p:cNvPr id="10" name="墨迹 9"/>
            </p:nvPicPr>
            <p:blipFill>
              <a:blip r:embed="rId16"/>
            </p:blipFill>
            <p:spPr>
              <a:xfrm>
                <a:off x="6408420" y="3480435"/>
                <a:ext cx="219075" cy="179705"/>
              </a:xfrm>
              <a:prstGeom prst="rect"/>
            </p:spPr>
          </p:pic>
        </mc:Fallback>
      </mc:AlternateContent>
      <p:pic>
        <p:nvPicPr>
          <p:cNvPr id="11" name="图片 10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5"/>
          <a:stretch>
            <a:fillRect/>
          </a:stretch>
        </p:blipFill>
        <p:spPr>
          <a:xfrm rot="5400000">
            <a:off x="6904990" y="1476375"/>
            <a:ext cx="962660" cy="1400175"/>
          </a:xfrm>
          <a:prstGeom prst="rect">
            <a:avLst/>
          </a:prstGeom>
        </p:spPr>
      </p:pic>
      <p:sp>
        <p:nvSpPr>
          <p:cNvPr id="12" name="文本框 11"/>
          <p:cNvSpPr txBox="1"/>
          <p:nvPr>
            <p:custDataLst>
              <p:tags r:id="rId18"/>
            </p:custDataLst>
          </p:nvPr>
        </p:nvSpPr>
        <p:spPr>
          <a:xfrm>
            <a:off x="6351905" y="2768600"/>
            <a:ext cx="8285480" cy="3460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None/>
            </a:pP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自动重装载寄存器</a:t>
            </a:r>
            <a:endParaRPr lang="zh-CN" altLang="en-US" sz="2400" dirty="0" smtClean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611187" y="261275"/>
            <a:ext cx="666069" cy="664458"/>
            <a:chOff x="611187" y="261275"/>
            <a:chExt cx="666069" cy="664458"/>
          </a:xfrm>
        </p:grpSpPr>
        <p:sp>
          <p:nvSpPr>
            <p:cNvPr id="9" name="矩形 8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1419575" y="362672"/>
            <a:ext cx="7113238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按键状态机实现</a:t>
            </a:r>
            <a:endParaRPr lang="zh-CN" alt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1220659" y="6519446"/>
            <a:ext cx="8024939" cy="338554"/>
            <a:chOff x="1277256" y="6519446"/>
            <a:chExt cx="8024939" cy="338554"/>
          </a:xfrm>
        </p:grpSpPr>
        <p:sp>
          <p:nvSpPr>
            <p:cNvPr id="24" name="矩形 23"/>
            <p:cNvSpPr/>
            <p:nvPr/>
          </p:nvSpPr>
          <p:spPr>
            <a:xfrm>
              <a:off x="8766881" y="6519446"/>
              <a:ext cx="432000" cy="33855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8663567" y="6519446"/>
              <a:ext cx="638628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1277256" y="6519446"/>
              <a:ext cx="7489625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endPara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219710" y="1013460"/>
            <a:ext cx="8591550" cy="18268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457200" indent="-457200">
              <a:buFont typeface="Arial" panose="020B0604020202020204" pitchFamily="34" charset="0"/>
              <a:buChar char="•"/>
            </a:pPr>
            <a:r>
              <a:rPr sz="2400">
                <a:latin typeface="+mn-ea"/>
                <a:cs typeface="+mn-ea"/>
                <a:sym typeface="+mn-ea"/>
              </a:rPr>
              <a:t>以按键为例，按键检测的过程可以分为三个状态：</a:t>
            </a:r>
            <a:endParaRPr sz="2400">
              <a:latin typeface="+mn-ea"/>
              <a:cs typeface="+mn-ea"/>
              <a:sym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>
                <a:latin typeface="+mn-ea"/>
                <a:cs typeface="+mn-ea"/>
                <a:sym typeface="+mn-ea"/>
              </a:rPr>
              <a:t>1</a:t>
            </a:r>
            <a:r>
              <a:rPr lang="zh-CN" altLang="en-US" sz="2400">
                <a:latin typeface="+mn-ea"/>
                <a:cs typeface="+mn-ea"/>
                <a:sym typeface="+mn-ea"/>
              </a:rPr>
              <a:t>、</a:t>
            </a:r>
            <a:r>
              <a:rPr sz="2400">
                <a:latin typeface="+mn-ea"/>
                <a:cs typeface="+mn-ea"/>
                <a:sym typeface="+mn-ea"/>
              </a:rPr>
              <a:t>按键检测状态</a:t>
            </a:r>
            <a:endParaRPr sz="2400">
              <a:latin typeface="+mn-ea"/>
              <a:cs typeface="+mn-ea"/>
              <a:sym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>
                <a:latin typeface="+mn-ea"/>
                <a:cs typeface="+mn-ea"/>
                <a:sym typeface="+mn-ea"/>
              </a:rPr>
              <a:t>2</a:t>
            </a:r>
            <a:r>
              <a:rPr lang="zh-CN" altLang="en-US" sz="2400">
                <a:latin typeface="+mn-ea"/>
                <a:cs typeface="+mn-ea"/>
                <a:sym typeface="+mn-ea"/>
              </a:rPr>
              <a:t>、</a:t>
            </a:r>
            <a:r>
              <a:rPr sz="2400">
                <a:latin typeface="+mn-ea"/>
                <a:cs typeface="+mn-ea"/>
                <a:sym typeface="+mn-ea"/>
              </a:rPr>
              <a:t>按键确认状态</a:t>
            </a:r>
            <a:endParaRPr sz="2400">
              <a:latin typeface="+mn-ea"/>
              <a:cs typeface="+mn-ea"/>
              <a:sym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>
                <a:latin typeface="+mn-ea"/>
                <a:cs typeface="+mn-ea"/>
                <a:sym typeface="+mn-ea"/>
              </a:rPr>
              <a:t>3</a:t>
            </a:r>
            <a:r>
              <a:rPr lang="zh-CN" altLang="en-US" sz="2400">
                <a:latin typeface="+mn-ea"/>
                <a:cs typeface="+mn-ea"/>
                <a:sym typeface="+mn-ea"/>
              </a:rPr>
              <a:t>、</a:t>
            </a:r>
            <a:r>
              <a:rPr sz="2400">
                <a:latin typeface="+mn-ea"/>
                <a:cs typeface="+mn-ea"/>
                <a:sym typeface="+mn-ea"/>
              </a:rPr>
              <a:t>按键释放状态</a:t>
            </a:r>
            <a:endParaRPr sz="2400">
              <a:latin typeface="+mn-ea"/>
              <a:cs typeface="+mn-ea"/>
              <a:sym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sz="2400">
                <a:latin typeface="+mn-ea"/>
                <a:cs typeface="+mn-ea"/>
                <a:sym typeface="+mn-ea"/>
              </a:rPr>
              <a:t>而在这三个状态之间跳转的条件为当前状态下按键的值。</a:t>
            </a:r>
            <a:endParaRPr sz="2400">
              <a:latin typeface="+mn-ea"/>
              <a:cs typeface="+mn-ea"/>
              <a:sym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sz="2400">
                <a:latin typeface="+mn-ea"/>
                <a:cs typeface="+mn-ea"/>
                <a:sym typeface="+mn-ea"/>
              </a:rPr>
              <a:t>在单片机中实现状态机最常用的语句便是switch case语句。</a:t>
            </a:r>
            <a:endParaRPr lang="zh-CN" altLang="en-US" sz="2400">
              <a:latin typeface="+mn-ea"/>
              <a:cs typeface="+mn-ea"/>
              <a:sym typeface="+mn-ea"/>
            </a:endParaRPr>
          </a:p>
        </p:txBody>
      </p:sp>
      <p:pic>
        <p:nvPicPr>
          <p:cNvPr id="102" name="图片 101"/>
          <p:cNvPicPr/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276985" y="3471545"/>
            <a:ext cx="6152515" cy="3048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611187" y="261275"/>
            <a:ext cx="666069" cy="664458"/>
            <a:chOff x="611187" y="261275"/>
            <a:chExt cx="666069" cy="664458"/>
          </a:xfrm>
        </p:grpSpPr>
        <p:sp>
          <p:nvSpPr>
            <p:cNvPr id="9" name="矩形 8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1419575" y="362672"/>
            <a:ext cx="7113238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按键状态机实现</a:t>
            </a:r>
            <a:endParaRPr lang="zh-CN" alt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1220659" y="6519446"/>
            <a:ext cx="8024939" cy="338554"/>
            <a:chOff x="1277256" y="6519446"/>
            <a:chExt cx="8024939" cy="338554"/>
          </a:xfrm>
        </p:grpSpPr>
        <p:sp>
          <p:nvSpPr>
            <p:cNvPr id="24" name="矩形 23"/>
            <p:cNvSpPr/>
            <p:nvPr/>
          </p:nvSpPr>
          <p:spPr>
            <a:xfrm>
              <a:off x="8766881" y="6519446"/>
              <a:ext cx="432000" cy="33855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8663567" y="6519446"/>
              <a:ext cx="638628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21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1277256" y="6519446"/>
              <a:ext cx="7489625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endPara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219710" y="1013460"/>
            <a:ext cx="8591550" cy="18268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457200" indent="-457200">
              <a:buFont typeface="Arial" panose="020B0604020202020204" pitchFamily="34" charset="0"/>
              <a:buChar char="•"/>
            </a:pPr>
            <a:r>
              <a:rPr sz="2400">
                <a:latin typeface="+mn-ea"/>
                <a:cs typeface="+mn-ea"/>
                <a:sym typeface="+mn-ea"/>
              </a:rPr>
              <a:t>以按键为例，按键检测的过程可以分为三个状态：</a:t>
            </a:r>
            <a:endParaRPr sz="2400">
              <a:latin typeface="+mn-ea"/>
              <a:cs typeface="+mn-ea"/>
              <a:sym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>
                <a:latin typeface="+mn-ea"/>
                <a:cs typeface="+mn-ea"/>
                <a:sym typeface="+mn-ea"/>
              </a:rPr>
              <a:t>1</a:t>
            </a:r>
            <a:r>
              <a:rPr lang="zh-CN" altLang="en-US" sz="2400">
                <a:latin typeface="+mn-ea"/>
                <a:cs typeface="+mn-ea"/>
                <a:sym typeface="+mn-ea"/>
              </a:rPr>
              <a:t>、</a:t>
            </a:r>
            <a:r>
              <a:rPr sz="2400">
                <a:latin typeface="+mn-ea"/>
                <a:cs typeface="+mn-ea"/>
                <a:sym typeface="+mn-ea"/>
              </a:rPr>
              <a:t>按键检测状态</a:t>
            </a:r>
            <a:r>
              <a:rPr lang="en-US" sz="2400">
                <a:latin typeface="+mn-ea"/>
                <a:cs typeface="+mn-ea"/>
                <a:sym typeface="+mn-ea"/>
              </a:rPr>
              <a:t>    0</a:t>
            </a:r>
            <a:endParaRPr sz="2400">
              <a:latin typeface="+mn-ea"/>
              <a:cs typeface="+mn-ea"/>
              <a:sym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>
                <a:latin typeface="+mn-ea"/>
                <a:cs typeface="+mn-ea"/>
                <a:sym typeface="+mn-ea"/>
              </a:rPr>
              <a:t>2</a:t>
            </a:r>
            <a:r>
              <a:rPr lang="zh-CN" altLang="en-US" sz="2400">
                <a:latin typeface="+mn-ea"/>
                <a:cs typeface="+mn-ea"/>
                <a:sym typeface="+mn-ea"/>
              </a:rPr>
              <a:t>、</a:t>
            </a:r>
            <a:r>
              <a:rPr sz="2400">
                <a:latin typeface="+mn-ea"/>
                <a:cs typeface="+mn-ea"/>
                <a:sym typeface="+mn-ea"/>
              </a:rPr>
              <a:t>按键确认状态</a:t>
            </a:r>
            <a:r>
              <a:rPr lang="en-US" sz="2400">
                <a:latin typeface="+mn-ea"/>
                <a:cs typeface="+mn-ea"/>
                <a:sym typeface="+mn-ea"/>
              </a:rPr>
              <a:t>    1</a:t>
            </a:r>
            <a:endParaRPr sz="2400">
              <a:latin typeface="+mn-ea"/>
              <a:cs typeface="+mn-ea"/>
              <a:sym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>
                <a:latin typeface="+mn-ea"/>
                <a:cs typeface="+mn-ea"/>
                <a:sym typeface="+mn-ea"/>
              </a:rPr>
              <a:t>3</a:t>
            </a:r>
            <a:r>
              <a:rPr lang="zh-CN" altLang="en-US" sz="2400">
                <a:latin typeface="+mn-ea"/>
                <a:cs typeface="+mn-ea"/>
                <a:sym typeface="+mn-ea"/>
              </a:rPr>
              <a:t>、</a:t>
            </a:r>
            <a:r>
              <a:rPr sz="2400">
                <a:latin typeface="+mn-ea"/>
                <a:cs typeface="+mn-ea"/>
                <a:sym typeface="+mn-ea"/>
              </a:rPr>
              <a:t>按键释放状态</a:t>
            </a:r>
            <a:r>
              <a:rPr lang="en-US" sz="2400">
                <a:latin typeface="+mn-ea"/>
                <a:cs typeface="+mn-ea"/>
                <a:sym typeface="+mn-ea"/>
              </a:rPr>
              <a:t>    2</a:t>
            </a:r>
            <a:endParaRPr lang="en-US" sz="2400">
              <a:latin typeface="+mn-ea"/>
              <a:cs typeface="+mn-ea"/>
              <a:sym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sz="2400">
                <a:latin typeface="+mn-ea"/>
                <a:cs typeface="+mn-ea"/>
                <a:sym typeface="+mn-ea"/>
              </a:rPr>
              <a:t>而在这三个状态之间跳转的条件为当前状态下按键的值。</a:t>
            </a:r>
            <a:endParaRPr sz="2400">
              <a:latin typeface="+mn-ea"/>
              <a:cs typeface="+mn-ea"/>
              <a:sym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sz="2400">
                <a:latin typeface="+mn-ea"/>
                <a:cs typeface="+mn-ea"/>
                <a:sym typeface="+mn-ea"/>
              </a:rPr>
              <a:t>在单片机中实现状态机最常用的语句便是switch case语句。</a:t>
            </a:r>
            <a:endParaRPr lang="zh-CN" altLang="en-US" sz="2400">
              <a:latin typeface="+mn-ea"/>
              <a:cs typeface="+mn-ea"/>
              <a:sym typeface="+mn-ea"/>
            </a:endParaRPr>
          </a:p>
        </p:txBody>
      </p:sp>
      <p:pic>
        <p:nvPicPr>
          <p:cNvPr id="102" name="图片 101"/>
          <p:cNvPicPr/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276985" y="3471545"/>
            <a:ext cx="6152515" cy="3048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611187" y="261275"/>
            <a:ext cx="666069" cy="664458"/>
            <a:chOff x="611187" y="261275"/>
            <a:chExt cx="666069" cy="664458"/>
          </a:xfrm>
        </p:grpSpPr>
        <p:sp>
          <p:nvSpPr>
            <p:cNvPr id="9" name="矩形 8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1419575" y="362672"/>
            <a:ext cx="7113238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按键状态机实现</a:t>
            </a:r>
            <a:endParaRPr lang="zh-CN" alt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1220659" y="6519446"/>
            <a:ext cx="8024939" cy="338554"/>
            <a:chOff x="1277256" y="6519446"/>
            <a:chExt cx="8024939" cy="338554"/>
          </a:xfrm>
        </p:grpSpPr>
        <p:sp>
          <p:nvSpPr>
            <p:cNvPr id="24" name="矩形 23"/>
            <p:cNvSpPr/>
            <p:nvPr/>
          </p:nvSpPr>
          <p:spPr>
            <a:xfrm>
              <a:off x="8766881" y="6519446"/>
              <a:ext cx="432000" cy="33855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8663567" y="6519446"/>
              <a:ext cx="638628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22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1277256" y="6519446"/>
              <a:ext cx="7489625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endPara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495935" y="996315"/>
            <a:ext cx="8591550" cy="23393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400">
                <a:latin typeface="+mn-ea"/>
                <a:cs typeface="+mn-ea"/>
                <a:sym typeface="+mn-ea"/>
              </a:rPr>
              <a:t>创建</a:t>
            </a:r>
            <a:r>
              <a:rPr lang="en-US" altLang="zh-CN" sz="2400">
                <a:latin typeface="+mn-ea"/>
                <a:cs typeface="+mn-ea"/>
                <a:sym typeface="+mn-ea"/>
              </a:rPr>
              <a:t>struct keys</a:t>
            </a:r>
            <a:endParaRPr lang="en-US" altLang="zh-CN" sz="2400">
              <a:latin typeface="+mn-ea"/>
              <a:cs typeface="+mn-ea"/>
              <a:sym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CN" sz="2400">
              <a:latin typeface="+mn-ea"/>
              <a:cs typeface="+mn-ea"/>
              <a:sym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400">
                <a:latin typeface="+mn-ea"/>
                <a:cs typeface="+mn-ea"/>
                <a:sym typeface="+mn-ea"/>
              </a:rPr>
              <a:t>key_check  </a:t>
            </a:r>
            <a:r>
              <a:rPr lang="zh-CN" altLang="en-US" sz="2400">
                <a:latin typeface="+mn-ea"/>
                <a:cs typeface="+mn-ea"/>
                <a:sym typeface="+mn-ea"/>
              </a:rPr>
              <a:t>条件：检测按键电平输出</a:t>
            </a:r>
            <a:endParaRPr lang="en-US" altLang="zh-CN" sz="2400">
              <a:latin typeface="+mn-ea"/>
              <a:cs typeface="+mn-ea"/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altLang="zh-CN" sz="2400">
                <a:latin typeface="+mn-ea"/>
                <a:cs typeface="+mn-ea"/>
                <a:sym typeface="+mn-ea"/>
              </a:rPr>
              <a:t> </a:t>
            </a:r>
            <a:endParaRPr lang="en-US" altLang="zh-CN" sz="2400">
              <a:latin typeface="+mn-ea"/>
              <a:cs typeface="+mn-ea"/>
              <a:sym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400">
                <a:latin typeface="+mn-ea"/>
                <a:cs typeface="+mn-ea"/>
                <a:sym typeface="+mn-ea"/>
              </a:rPr>
              <a:t>key_juade  </a:t>
            </a:r>
            <a:r>
              <a:rPr sz="2400">
                <a:latin typeface="+mn-ea"/>
                <a:cs typeface="+mn-ea"/>
                <a:sym typeface="+mn-ea"/>
              </a:rPr>
              <a:t>现态</a:t>
            </a:r>
            <a:r>
              <a:rPr lang="en-US" sz="2400">
                <a:latin typeface="+mn-ea"/>
                <a:cs typeface="+mn-ea"/>
                <a:sym typeface="+mn-ea"/>
              </a:rPr>
              <a:t> </a:t>
            </a:r>
            <a:r>
              <a:rPr lang="zh-CN" altLang="en-US" sz="2400">
                <a:latin typeface="+mn-ea"/>
                <a:cs typeface="+mn-ea"/>
                <a:sym typeface="+mn-ea"/>
              </a:rPr>
              <a:t>次态：</a:t>
            </a:r>
            <a:r>
              <a:rPr sz="2400">
                <a:latin typeface="+mn-ea"/>
                <a:cs typeface="+mn-ea"/>
                <a:sym typeface="+mn-ea"/>
              </a:rPr>
              <a:t>按键检测的过程</a:t>
            </a:r>
            <a:r>
              <a:rPr lang="zh-CN" sz="2400">
                <a:latin typeface="+mn-ea"/>
                <a:cs typeface="+mn-ea"/>
                <a:sym typeface="+mn-ea"/>
              </a:rPr>
              <a:t>的状态</a:t>
            </a:r>
            <a:endParaRPr lang="en-US" altLang="zh-CN" sz="2400">
              <a:latin typeface="+mn-ea"/>
              <a:cs typeface="+mn-ea"/>
              <a:sym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CN" sz="2400">
              <a:latin typeface="+mn-ea"/>
              <a:cs typeface="+mn-ea"/>
              <a:sym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400">
                <a:latin typeface="+mn-ea"/>
                <a:cs typeface="+mn-ea"/>
                <a:sym typeface="+mn-ea"/>
              </a:rPr>
              <a:t>key_flag	 </a:t>
            </a:r>
            <a:endParaRPr lang="zh-CN" altLang="en-US" sz="2400">
              <a:latin typeface="+mn-ea"/>
              <a:cs typeface="+mn-ea"/>
              <a:sym typeface="+mn-ea"/>
            </a:endParaRPr>
          </a:p>
        </p:txBody>
      </p:sp>
      <p:pic>
        <p:nvPicPr>
          <p:cNvPr id="102" name="图片 101"/>
          <p:cNvPicPr/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276985" y="3890645"/>
            <a:ext cx="6152515" cy="26289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 52"/>
          <p:cNvSpPr/>
          <p:nvPr/>
        </p:nvSpPr>
        <p:spPr>
          <a:xfrm>
            <a:off x="-17145" y="2402852"/>
            <a:ext cx="9161315" cy="2105686"/>
          </a:xfrm>
          <a:prstGeom prst="rect">
            <a:avLst/>
          </a:prstGeom>
          <a:solidFill>
            <a:srgbClr val="5B5E77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54" name="矩形 23"/>
          <p:cNvSpPr/>
          <p:nvPr/>
        </p:nvSpPr>
        <p:spPr>
          <a:xfrm>
            <a:off x="3582365" y="2526185"/>
            <a:ext cx="5561170" cy="1931695"/>
          </a:xfrm>
          <a:custGeom>
            <a:avLst/>
            <a:gdLst>
              <a:gd name="connsiteX0" fmla="*/ 0 w 6480720"/>
              <a:gd name="connsiteY0" fmla="*/ 0 h 3104728"/>
              <a:gd name="connsiteX1" fmla="*/ 6480720 w 6480720"/>
              <a:gd name="connsiteY1" fmla="*/ 0 h 3104728"/>
              <a:gd name="connsiteX2" fmla="*/ 6480720 w 6480720"/>
              <a:gd name="connsiteY2" fmla="*/ 3104728 h 3104728"/>
              <a:gd name="connsiteX3" fmla="*/ 0 w 6480720"/>
              <a:gd name="connsiteY3" fmla="*/ 3104728 h 3104728"/>
              <a:gd name="connsiteX4" fmla="*/ 0 w 6480720"/>
              <a:gd name="connsiteY4" fmla="*/ 0 h 3104728"/>
              <a:gd name="connsiteX0-1" fmla="*/ 1190065 w 6480720"/>
              <a:gd name="connsiteY0-2" fmla="*/ 0 h 3104728"/>
              <a:gd name="connsiteX1-3" fmla="*/ 6480720 w 6480720"/>
              <a:gd name="connsiteY1-4" fmla="*/ 0 h 3104728"/>
              <a:gd name="connsiteX2-5" fmla="*/ 6480720 w 6480720"/>
              <a:gd name="connsiteY2-6" fmla="*/ 3104728 h 3104728"/>
              <a:gd name="connsiteX3-7" fmla="*/ 0 w 6480720"/>
              <a:gd name="connsiteY3-8" fmla="*/ 3104728 h 3104728"/>
              <a:gd name="connsiteX4-9" fmla="*/ 1190065 w 6480720"/>
              <a:gd name="connsiteY4-10" fmla="*/ 0 h 310472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480720" h="3104728">
                <a:moveTo>
                  <a:pt x="1190065" y="0"/>
                </a:moveTo>
                <a:lnTo>
                  <a:pt x="6480720" y="0"/>
                </a:lnTo>
                <a:lnTo>
                  <a:pt x="6480720" y="3104728"/>
                </a:lnTo>
                <a:lnTo>
                  <a:pt x="0" y="3104728"/>
                </a:lnTo>
                <a:lnTo>
                  <a:pt x="1190065" y="0"/>
                </a:lnTo>
                <a:close/>
              </a:path>
            </a:pathLst>
          </a:custGeom>
          <a:solidFill>
            <a:srgbClr val="414455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56" name="TextBox 7"/>
          <p:cNvSpPr>
            <a:spLocks noChangeArrowheads="1"/>
          </p:cNvSpPr>
          <p:nvPr/>
        </p:nvSpPr>
        <p:spPr bwMode="auto">
          <a:xfrm>
            <a:off x="4356032" y="2856452"/>
            <a:ext cx="4697299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45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THANKS</a:t>
            </a:r>
            <a:r>
              <a:rPr lang="zh-CN" altLang="en-US" sz="45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！</a:t>
            </a:r>
            <a:endParaRPr lang="zh-CN" altLang="en-US" sz="45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57" name="直接连接符 56"/>
          <p:cNvCxnSpPr/>
          <p:nvPr/>
        </p:nvCxnSpPr>
        <p:spPr>
          <a:xfrm>
            <a:off x="4949943" y="3622761"/>
            <a:ext cx="3671452" cy="0"/>
          </a:xfrm>
          <a:prstGeom prst="line">
            <a:avLst/>
          </a:prstGeom>
          <a:ln w="19050"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9" name="组合 58"/>
          <p:cNvGrpSpPr/>
          <p:nvPr/>
        </p:nvGrpSpPr>
        <p:grpSpPr>
          <a:xfrm>
            <a:off x="5435871" y="1821826"/>
            <a:ext cx="502789" cy="453322"/>
            <a:chOff x="5424755" y="1340768"/>
            <a:chExt cx="670560" cy="604586"/>
          </a:xfrm>
        </p:grpSpPr>
        <p:grpSp>
          <p:nvGrpSpPr>
            <p:cNvPr id="60" name="组合 59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62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chemeClr val="bg1"/>
                  </a:solidFill>
                </a:endParaRPr>
              </a:p>
            </p:txBody>
          </p:sp>
          <p:sp>
            <p:nvSpPr>
              <p:cNvPr id="63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61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solidFill>
                  <a:schemeClr val="bg1"/>
                </a:solidFill>
              </a:endParaRPr>
            </a:p>
          </p:txBody>
        </p:sp>
      </p:grpSp>
      <p:sp>
        <p:nvSpPr>
          <p:cNvPr id="64" name="Freeform 126"/>
          <p:cNvSpPr>
            <a:spLocks noChangeAspect="1" noEditPoints="1"/>
          </p:cNvSpPr>
          <p:nvPr/>
        </p:nvSpPr>
        <p:spPr bwMode="auto">
          <a:xfrm>
            <a:off x="5585723" y="1927812"/>
            <a:ext cx="200874" cy="251355"/>
          </a:xfrm>
          <a:custGeom>
            <a:avLst/>
            <a:gdLst>
              <a:gd name="T0" fmla="*/ 48 w 81"/>
              <a:gd name="T1" fmla="*/ 27 h 101"/>
              <a:gd name="T2" fmla="*/ 4 w 81"/>
              <a:gd name="T3" fmla="*/ 48 h 101"/>
              <a:gd name="T4" fmla="*/ 0 w 81"/>
              <a:gd name="T5" fmla="*/ 31 h 101"/>
              <a:gd name="T6" fmla="*/ 58 w 81"/>
              <a:gd name="T7" fmla="*/ 90 h 101"/>
              <a:gd name="T8" fmla="*/ 81 w 81"/>
              <a:gd name="T9" fmla="*/ 98 h 101"/>
              <a:gd name="T10" fmla="*/ 58 w 81"/>
              <a:gd name="T11" fmla="*/ 90 h 101"/>
              <a:gd name="T12" fmla="*/ 53 w 81"/>
              <a:gd name="T13" fmla="*/ 101 h 101"/>
              <a:gd name="T14" fmla="*/ 29 w 81"/>
              <a:gd name="T15" fmla="*/ 98 h 101"/>
              <a:gd name="T16" fmla="*/ 0 w 81"/>
              <a:gd name="T17" fmla="*/ 90 h 101"/>
              <a:gd name="T18" fmla="*/ 29 w 81"/>
              <a:gd name="T19" fmla="*/ 87 h 101"/>
              <a:gd name="T20" fmla="*/ 38 w 81"/>
              <a:gd name="T21" fmla="*/ 76 h 101"/>
              <a:gd name="T22" fmla="*/ 0 w 81"/>
              <a:gd name="T23" fmla="*/ 72 h 101"/>
              <a:gd name="T24" fmla="*/ 4 w 81"/>
              <a:gd name="T25" fmla="*/ 54 h 101"/>
              <a:gd name="T26" fmla="*/ 48 w 81"/>
              <a:gd name="T27" fmla="*/ 76 h 101"/>
              <a:gd name="T28" fmla="*/ 44 w 81"/>
              <a:gd name="T29" fmla="*/ 87 h 101"/>
              <a:gd name="T30" fmla="*/ 53 w 81"/>
              <a:gd name="T31" fmla="*/ 90 h 101"/>
              <a:gd name="T32" fmla="*/ 4 w 81"/>
              <a:gd name="T33" fmla="*/ 0 h 101"/>
              <a:gd name="T34" fmla="*/ 48 w 81"/>
              <a:gd name="T35" fmla="*/ 21 h 101"/>
              <a:gd name="T36" fmla="*/ 0 w 81"/>
              <a:gd name="T37" fmla="*/ 17 h 101"/>
              <a:gd name="T38" fmla="*/ 4 w 81"/>
              <a:gd name="T39" fmla="*/ 0 h 101"/>
              <a:gd name="T40" fmla="*/ 53 w 81"/>
              <a:gd name="T41" fmla="*/ 76 h 101"/>
              <a:gd name="T42" fmla="*/ 81 w 81"/>
              <a:gd name="T43" fmla="*/ 72 h 101"/>
              <a:gd name="T44" fmla="*/ 77 w 81"/>
              <a:gd name="T45" fmla="*/ 54 h 101"/>
              <a:gd name="T46" fmla="*/ 59 w 81"/>
              <a:gd name="T47" fmla="*/ 8 h 101"/>
              <a:gd name="T48" fmla="*/ 69 w 81"/>
              <a:gd name="T49" fmla="*/ 13 h 101"/>
              <a:gd name="T50" fmla="*/ 59 w 81"/>
              <a:gd name="T51" fmla="*/ 8 h 101"/>
              <a:gd name="T52" fmla="*/ 69 w 81"/>
              <a:gd name="T53" fmla="*/ 63 h 101"/>
              <a:gd name="T54" fmla="*/ 59 w 81"/>
              <a:gd name="T55" fmla="*/ 67 h 101"/>
              <a:gd name="T56" fmla="*/ 59 w 81"/>
              <a:gd name="T57" fmla="*/ 35 h 101"/>
              <a:gd name="T58" fmla="*/ 69 w 81"/>
              <a:gd name="T59" fmla="*/ 40 h 101"/>
              <a:gd name="T60" fmla="*/ 59 w 81"/>
              <a:gd name="T61" fmla="*/ 35 h 101"/>
              <a:gd name="T62" fmla="*/ 53 w 81"/>
              <a:gd name="T63" fmla="*/ 21 h 101"/>
              <a:gd name="T64" fmla="*/ 81 w 81"/>
              <a:gd name="T65" fmla="*/ 17 h 101"/>
              <a:gd name="T66" fmla="*/ 77 w 81"/>
              <a:gd name="T67" fmla="*/ 0 h 101"/>
              <a:gd name="T68" fmla="*/ 53 w 81"/>
              <a:gd name="T69" fmla="*/ 27 h 101"/>
              <a:gd name="T70" fmla="*/ 77 w 81"/>
              <a:gd name="T71" fmla="*/ 48 h 101"/>
              <a:gd name="T72" fmla="*/ 81 w 81"/>
              <a:gd name="T73" fmla="*/ 31 h 101"/>
              <a:gd name="T74" fmla="*/ 53 w 81"/>
              <a:gd name="T75" fmla="*/ 27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81" h="101">
                <a:moveTo>
                  <a:pt x="4" y="27"/>
                </a:moveTo>
                <a:cubicBezTo>
                  <a:pt x="48" y="27"/>
                  <a:pt x="48" y="27"/>
                  <a:pt x="48" y="27"/>
                </a:cubicBezTo>
                <a:cubicBezTo>
                  <a:pt x="48" y="48"/>
                  <a:pt x="48" y="48"/>
                  <a:pt x="48" y="48"/>
                </a:cubicBezTo>
                <a:cubicBezTo>
                  <a:pt x="4" y="48"/>
                  <a:pt x="4" y="48"/>
                  <a:pt x="4" y="48"/>
                </a:cubicBezTo>
                <a:cubicBezTo>
                  <a:pt x="2" y="48"/>
                  <a:pt x="0" y="46"/>
                  <a:pt x="0" y="44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29"/>
                  <a:pt x="2" y="27"/>
                  <a:pt x="4" y="27"/>
                </a:cubicBezTo>
                <a:close/>
                <a:moveTo>
                  <a:pt x="58" y="90"/>
                </a:moveTo>
                <a:cubicBezTo>
                  <a:pt x="81" y="90"/>
                  <a:pt x="81" y="90"/>
                  <a:pt x="81" y="90"/>
                </a:cubicBezTo>
                <a:cubicBezTo>
                  <a:pt x="81" y="98"/>
                  <a:pt x="81" y="98"/>
                  <a:pt x="81" y="98"/>
                </a:cubicBezTo>
                <a:cubicBezTo>
                  <a:pt x="58" y="98"/>
                  <a:pt x="58" y="98"/>
                  <a:pt x="58" y="98"/>
                </a:cubicBezTo>
                <a:cubicBezTo>
                  <a:pt x="58" y="90"/>
                  <a:pt x="58" y="90"/>
                  <a:pt x="58" y="90"/>
                </a:cubicBezTo>
                <a:close/>
                <a:moveTo>
                  <a:pt x="53" y="98"/>
                </a:moveTo>
                <a:cubicBezTo>
                  <a:pt x="53" y="101"/>
                  <a:pt x="53" y="101"/>
                  <a:pt x="53" y="101"/>
                </a:cubicBezTo>
                <a:cubicBezTo>
                  <a:pt x="29" y="101"/>
                  <a:pt x="29" y="101"/>
                  <a:pt x="29" y="101"/>
                </a:cubicBezTo>
                <a:cubicBezTo>
                  <a:pt x="29" y="98"/>
                  <a:pt x="29" y="98"/>
                  <a:pt x="29" y="98"/>
                </a:cubicBezTo>
                <a:cubicBezTo>
                  <a:pt x="0" y="98"/>
                  <a:pt x="0" y="98"/>
                  <a:pt x="0" y="98"/>
                </a:cubicBezTo>
                <a:cubicBezTo>
                  <a:pt x="0" y="90"/>
                  <a:pt x="0" y="90"/>
                  <a:pt x="0" y="90"/>
                </a:cubicBezTo>
                <a:cubicBezTo>
                  <a:pt x="29" y="90"/>
                  <a:pt x="29" y="90"/>
                  <a:pt x="29" y="90"/>
                </a:cubicBezTo>
                <a:cubicBezTo>
                  <a:pt x="29" y="87"/>
                  <a:pt x="29" y="87"/>
                  <a:pt x="29" y="87"/>
                </a:cubicBezTo>
                <a:cubicBezTo>
                  <a:pt x="38" y="87"/>
                  <a:pt x="38" y="87"/>
                  <a:pt x="38" y="87"/>
                </a:cubicBezTo>
                <a:cubicBezTo>
                  <a:pt x="38" y="76"/>
                  <a:pt x="38" y="76"/>
                  <a:pt x="38" y="76"/>
                </a:cubicBezTo>
                <a:cubicBezTo>
                  <a:pt x="4" y="76"/>
                  <a:pt x="4" y="76"/>
                  <a:pt x="4" y="76"/>
                </a:cubicBezTo>
                <a:cubicBezTo>
                  <a:pt x="2" y="76"/>
                  <a:pt x="0" y="74"/>
                  <a:pt x="0" y="72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6"/>
                  <a:pt x="2" y="54"/>
                  <a:pt x="4" y="54"/>
                </a:cubicBezTo>
                <a:cubicBezTo>
                  <a:pt x="48" y="54"/>
                  <a:pt x="48" y="54"/>
                  <a:pt x="48" y="54"/>
                </a:cubicBezTo>
                <a:cubicBezTo>
                  <a:pt x="48" y="76"/>
                  <a:pt x="48" y="76"/>
                  <a:pt x="48" y="76"/>
                </a:cubicBezTo>
                <a:cubicBezTo>
                  <a:pt x="44" y="76"/>
                  <a:pt x="44" y="76"/>
                  <a:pt x="44" y="76"/>
                </a:cubicBezTo>
                <a:cubicBezTo>
                  <a:pt x="44" y="87"/>
                  <a:pt x="44" y="87"/>
                  <a:pt x="44" y="87"/>
                </a:cubicBezTo>
                <a:cubicBezTo>
                  <a:pt x="53" y="87"/>
                  <a:pt x="53" y="87"/>
                  <a:pt x="53" y="87"/>
                </a:cubicBezTo>
                <a:cubicBezTo>
                  <a:pt x="53" y="90"/>
                  <a:pt x="53" y="90"/>
                  <a:pt x="53" y="90"/>
                </a:cubicBezTo>
                <a:cubicBezTo>
                  <a:pt x="53" y="98"/>
                  <a:pt x="53" y="98"/>
                  <a:pt x="53" y="98"/>
                </a:cubicBezTo>
                <a:close/>
                <a:moveTo>
                  <a:pt x="4" y="0"/>
                </a:moveTo>
                <a:cubicBezTo>
                  <a:pt x="48" y="0"/>
                  <a:pt x="48" y="0"/>
                  <a:pt x="48" y="0"/>
                </a:cubicBezTo>
                <a:cubicBezTo>
                  <a:pt x="48" y="21"/>
                  <a:pt x="48" y="21"/>
                  <a:pt x="48" y="21"/>
                </a:cubicBezTo>
                <a:cubicBezTo>
                  <a:pt x="4" y="21"/>
                  <a:pt x="4" y="21"/>
                  <a:pt x="4" y="21"/>
                </a:cubicBezTo>
                <a:cubicBezTo>
                  <a:pt x="2" y="21"/>
                  <a:pt x="0" y="19"/>
                  <a:pt x="0" y="17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lose/>
                <a:moveTo>
                  <a:pt x="53" y="54"/>
                </a:moveTo>
                <a:cubicBezTo>
                  <a:pt x="53" y="76"/>
                  <a:pt x="53" y="76"/>
                  <a:pt x="53" y="76"/>
                </a:cubicBezTo>
                <a:cubicBezTo>
                  <a:pt x="77" y="76"/>
                  <a:pt x="77" y="76"/>
                  <a:pt x="77" y="76"/>
                </a:cubicBezTo>
                <a:cubicBezTo>
                  <a:pt x="79" y="76"/>
                  <a:pt x="81" y="74"/>
                  <a:pt x="81" y="72"/>
                </a:cubicBezTo>
                <a:cubicBezTo>
                  <a:pt x="81" y="58"/>
                  <a:pt x="81" y="58"/>
                  <a:pt x="81" y="58"/>
                </a:cubicBezTo>
                <a:cubicBezTo>
                  <a:pt x="81" y="56"/>
                  <a:pt x="79" y="54"/>
                  <a:pt x="77" y="54"/>
                </a:cubicBezTo>
                <a:cubicBezTo>
                  <a:pt x="53" y="54"/>
                  <a:pt x="53" y="54"/>
                  <a:pt x="53" y="54"/>
                </a:cubicBezTo>
                <a:close/>
                <a:moveTo>
                  <a:pt x="59" y="8"/>
                </a:moveTo>
                <a:cubicBezTo>
                  <a:pt x="69" y="8"/>
                  <a:pt x="69" y="8"/>
                  <a:pt x="69" y="8"/>
                </a:cubicBezTo>
                <a:cubicBezTo>
                  <a:pt x="69" y="13"/>
                  <a:pt x="69" y="13"/>
                  <a:pt x="69" y="13"/>
                </a:cubicBezTo>
                <a:cubicBezTo>
                  <a:pt x="59" y="13"/>
                  <a:pt x="59" y="13"/>
                  <a:pt x="59" y="13"/>
                </a:cubicBezTo>
                <a:cubicBezTo>
                  <a:pt x="59" y="8"/>
                  <a:pt x="59" y="8"/>
                  <a:pt x="59" y="8"/>
                </a:cubicBezTo>
                <a:close/>
                <a:moveTo>
                  <a:pt x="59" y="63"/>
                </a:moveTo>
                <a:cubicBezTo>
                  <a:pt x="69" y="63"/>
                  <a:pt x="69" y="63"/>
                  <a:pt x="69" y="63"/>
                </a:cubicBezTo>
                <a:cubicBezTo>
                  <a:pt x="69" y="67"/>
                  <a:pt x="69" y="67"/>
                  <a:pt x="69" y="67"/>
                </a:cubicBezTo>
                <a:cubicBezTo>
                  <a:pt x="59" y="67"/>
                  <a:pt x="59" y="67"/>
                  <a:pt x="59" y="67"/>
                </a:cubicBezTo>
                <a:cubicBezTo>
                  <a:pt x="59" y="63"/>
                  <a:pt x="59" y="63"/>
                  <a:pt x="59" y="63"/>
                </a:cubicBezTo>
                <a:close/>
                <a:moveTo>
                  <a:pt x="59" y="35"/>
                </a:moveTo>
                <a:cubicBezTo>
                  <a:pt x="69" y="35"/>
                  <a:pt x="69" y="35"/>
                  <a:pt x="69" y="35"/>
                </a:cubicBezTo>
                <a:cubicBezTo>
                  <a:pt x="69" y="40"/>
                  <a:pt x="69" y="40"/>
                  <a:pt x="69" y="40"/>
                </a:cubicBezTo>
                <a:cubicBezTo>
                  <a:pt x="59" y="40"/>
                  <a:pt x="59" y="40"/>
                  <a:pt x="59" y="40"/>
                </a:cubicBezTo>
                <a:cubicBezTo>
                  <a:pt x="59" y="35"/>
                  <a:pt x="59" y="35"/>
                  <a:pt x="59" y="35"/>
                </a:cubicBezTo>
                <a:close/>
                <a:moveTo>
                  <a:pt x="53" y="0"/>
                </a:moveTo>
                <a:cubicBezTo>
                  <a:pt x="53" y="21"/>
                  <a:pt x="53" y="21"/>
                  <a:pt x="53" y="21"/>
                </a:cubicBezTo>
                <a:cubicBezTo>
                  <a:pt x="77" y="21"/>
                  <a:pt x="77" y="21"/>
                  <a:pt x="77" y="21"/>
                </a:cubicBezTo>
                <a:cubicBezTo>
                  <a:pt x="79" y="21"/>
                  <a:pt x="81" y="19"/>
                  <a:pt x="81" y="17"/>
                </a:cubicBezTo>
                <a:cubicBezTo>
                  <a:pt x="81" y="4"/>
                  <a:pt x="81" y="4"/>
                  <a:pt x="81" y="4"/>
                </a:cubicBezTo>
                <a:cubicBezTo>
                  <a:pt x="81" y="2"/>
                  <a:pt x="79" y="0"/>
                  <a:pt x="77" y="0"/>
                </a:cubicBezTo>
                <a:cubicBezTo>
                  <a:pt x="53" y="0"/>
                  <a:pt x="53" y="0"/>
                  <a:pt x="53" y="0"/>
                </a:cubicBezTo>
                <a:close/>
                <a:moveTo>
                  <a:pt x="53" y="27"/>
                </a:moveTo>
                <a:cubicBezTo>
                  <a:pt x="53" y="48"/>
                  <a:pt x="53" y="48"/>
                  <a:pt x="53" y="48"/>
                </a:cubicBezTo>
                <a:cubicBezTo>
                  <a:pt x="77" y="48"/>
                  <a:pt x="77" y="48"/>
                  <a:pt x="77" y="48"/>
                </a:cubicBezTo>
                <a:cubicBezTo>
                  <a:pt x="79" y="48"/>
                  <a:pt x="81" y="46"/>
                  <a:pt x="81" y="44"/>
                </a:cubicBezTo>
                <a:cubicBezTo>
                  <a:pt x="81" y="31"/>
                  <a:pt x="81" y="31"/>
                  <a:pt x="81" y="31"/>
                </a:cubicBezTo>
                <a:cubicBezTo>
                  <a:pt x="81" y="29"/>
                  <a:pt x="79" y="27"/>
                  <a:pt x="77" y="27"/>
                </a:cubicBezTo>
                <a:lnTo>
                  <a:pt x="53" y="27"/>
                </a:lnTo>
                <a:close/>
              </a:path>
            </a:pathLst>
          </a:custGeom>
          <a:solidFill>
            <a:srgbClr val="414455"/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 sz="135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5" name="组合 64"/>
          <p:cNvGrpSpPr/>
          <p:nvPr/>
        </p:nvGrpSpPr>
        <p:grpSpPr>
          <a:xfrm>
            <a:off x="6093566" y="1809242"/>
            <a:ext cx="502789" cy="453322"/>
            <a:chOff x="5424755" y="1340768"/>
            <a:chExt cx="670560" cy="604586"/>
          </a:xfrm>
        </p:grpSpPr>
        <p:grpSp>
          <p:nvGrpSpPr>
            <p:cNvPr id="66" name="组合 65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68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chemeClr val="bg1"/>
                  </a:solidFill>
                </a:endParaRPr>
              </a:p>
            </p:txBody>
          </p:sp>
          <p:sp>
            <p:nvSpPr>
              <p:cNvPr id="69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67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solidFill>
                  <a:schemeClr val="bg1"/>
                </a:solidFill>
              </a:endParaRPr>
            </a:p>
          </p:txBody>
        </p:sp>
      </p:grpSp>
      <p:sp>
        <p:nvSpPr>
          <p:cNvPr id="70" name="Freeform 261"/>
          <p:cNvSpPr/>
          <p:nvPr/>
        </p:nvSpPr>
        <p:spPr bwMode="auto">
          <a:xfrm>
            <a:off x="6221684" y="1937926"/>
            <a:ext cx="244343" cy="244343"/>
          </a:xfrm>
          <a:custGeom>
            <a:avLst/>
            <a:gdLst>
              <a:gd name="T0" fmla="*/ 84 w 86"/>
              <a:gd name="T1" fmla="*/ 13 h 86"/>
              <a:gd name="T2" fmla="*/ 74 w 86"/>
              <a:gd name="T3" fmla="*/ 1 h 86"/>
              <a:gd name="T4" fmla="*/ 72 w 86"/>
              <a:gd name="T5" fmla="*/ 1 h 86"/>
              <a:gd name="T6" fmla="*/ 71 w 86"/>
              <a:gd name="T7" fmla="*/ 1 h 86"/>
              <a:gd name="T8" fmla="*/ 69 w 86"/>
              <a:gd name="T9" fmla="*/ 4 h 86"/>
              <a:gd name="T10" fmla="*/ 69 w 86"/>
              <a:gd name="T11" fmla="*/ 10 h 86"/>
              <a:gd name="T12" fmla="*/ 59 w 86"/>
              <a:gd name="T13" fmla="*/ 10 h 86"/>
              <a:gd name="T14" fmla="*/ 59 w 86"/>
              <a:gd name="T15" fmla="*/ 1 h 86"/>
              <a:gd name="T16" fmla="*/ 58 w 86"/>
              <a:gd name="T17" fmla="*/ 0 h 86"/>
              <a:gd name="T18" fmla="*/ 46 w 86"/>
              <a:gd name="T19" fmla="*/ 0 h 86"/>
              <a:gd name="T20" fmla="*/ 45 w 86"/>
              <a:gd name="T21" fmla="*/ 1 h 86"/>
              <a:gd name="T22" fmla="*/ 45 w 86"/>
              <a:gd name="T23" fmla="*/ 10 h 86"/>
              <a:gd name="T24" fmla="*/ 44 w 86"/>
              <a:gd name="T25" fmla="*/ 13 h 86"/>
              <a:gd name="T26" fmla="*/ 44 w 86"/>
              <a:gd name="T27" fmla="*/ 21 h 86"/>
              <a:gd name="T28" fmla="*/ 45 w 86"/>
              <a:gd name="T29" fmla="*/ 24 h 86"/>
              <a:gd name="T30" fmla="*/ 45 w 86"/>
              <a:gd name="T31" fmla="*/ 27 h 86"/>
              <a:gd name="T32" fmla="*/ 37 w 86"/>
              <a:gd name="T33" fmla="*/ 27 h 86"/>
              <a:gd name="T34" fmla="*/ 37 w 86"/>
              <a:gd name="T35" fmla="*/ 21 h 86"/>
              <a:gd name="T36" fmla="*/ 34 w 86"/>
              <a:gd name="T37" fmla="*/ 18 h 86"/>
              <a:gd name="T38" fmla="*/ 32 w 86"/>
              <a:gd name="T39" fmla="*/ 18 h 86"/>
              <a:gd name="T40" fmla="*/ 29 w 86"/>
              <a:gd name="T41" fmla="*/ 18 h 86"/>
              <a:gd name="T42" fmla="*/ 3 w 86"/>
              <a:gd name="T43" fmla="*/ 30 h 86"/>
              <a:gd name="T44" fmla="*/ 0 w 86"/>
              <a:gd name="T45" fmla="*/ 34 h 86"/>
              <a:gd name="T46" fmla="*/ 3 w 86"/>
              <a:gd name="T47" fmla="*/ 38 h 86"/>
              <a:gd name="T48" fmla="*/ 29 w 86"/>
              <a:gd name="T49" fmla="*/ 50 h 86"/>
              <a:gd name="T50" fmla="*/ 31 w 86"/>
              <a:gd name="T51" fmla="*/ 51 h 86"/>
              <a:gd name="T52" fmla="*/ 34 w 86"/>
              <a:gd name="T53" fmla="*/ 50 h 86"/>
              <a:gd name="T54" fmla="*/ 37 w 86"/>
              <a:gd name="T55" fmla="*/ 47 h 86"/>
              <a:gd name="T56" fmla="*/ 37 w 86"/>
              <a:gd name="T57" fmla="*/ 42 h 86"/>
              <a:gd name="T58" fmla="*/ 45 w 86"/>
              <a:gd name="T59" fmla="*/ 42 h 86"/>
              <a:gd name="T60" fmla="*/ 45 w 86"/>
              <a:gd name="T61" fmla="*/ 85 h 86"/>
              <a:gd name="T62" fmla="*/ 46 w 86"/>
              <a:gd name="T63" fmla="*/ 86 h 86"/>
              <a:gd name="T64" fmla="*/ 58 w 86"/>
              <a:gd name="T65" fmla="*/ 86 h 86"/>
              <a:gd name="T66" fmla="*/ 59 w 86"/>
              <a:gd name="T67" fmla="*/ 85 h 86"/>
              <a:gd name="T68" fmla="*/ 59 w 86"/>
              <a:gd name="T69" fmla="*/ 41 h 86"/>
              <a:gd name="T70" fmla="*/ 62 w 86"/>
              <a:gd name="T71" fmla="*/ 38 h 86"/>
              <a:gd name="T72" fmla="*/ 62 w 86"/>
              <a:gd name="T73" fmla="*/ 30 h 86"/>
              <a:gd name="T74" fmla="*/ 59 w 86"/>
              <a:gd name="T75" fmla="*/ 27 h 86"/>
              <a:gd name="T76" fmla="*/ 59 w 86"/>
              <a:gd name="T77" fmla="*/ 25 h 86"/>
              <a:gd name="T78" fmla="*/ 69 w 86"/>
              <a:gd name="T79" fmla="*/ 25 h 86"/>
              <a:gd name="T80" fmla="*/ 69 w 86"/>
              <a:gd name="T81" fmla="*/ 30 h 86"/>
              <a:gd name="T82" fmla="*/ 71 w 86"/>
              <a:gd name="T83" fmla="*/ 33 h 86"/>
              <a:gd name="T84" fmla="*/ 73 w 86"/>
              <a:gd name="T85" fmla="*/ 34 h 86"/>
              <a:gd name="T86" fmla="*/ 74 w 86"/>
              <a:gd name="T87" fmla="*/ 33 h 86"/>
              <a:gd name="T88" fmla="*/ 84 w 86"/>
              <a:gd name="T89" fmla="*/ 21 h 86"/>
              <a:gd name="T90" fmla="*/ 86 w 86"/>
              <a:gd name="T91" fmla="*/ 17 h 86"/>
              <a:gd name="T92" fmla="*/ 84 w 86"/>
              <a:gd name="T93" fmla="*/ 13 h 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86" h="86">
                <a:moveTo>
                  <a:pt x="84" y="13"/>
                </a:moveTo>
                <a:cubicBezTo>
                  <a:pt x="74" y="1"/>
                  <a:pt x="74" y="1"/>
                  <a:pt x="74" y="1"/>
                </a:cubicBezTo>
                <a:cubicBezTo>
                  <a:pt x="73" y="1"/>
                  <a:pt x="73" y="1"/>
                  <a:pt x="72" y="1"/>
                </a:cubicBezTo>
                <a:cubicBezTo>
                  <a:pt x="72" y="1"/>
                  <a:pt x="71" y="1"/>
                  <a:pt x="71" y="1"/>
                </a:cubicBezTo>
                <a:cubicBezTo>
                  <a:pt x="70" y="2"/>
                  <a:pt x="69" y="3"/>
                  <a:pt x="69" y="4"/>
                </a:cubicBezTo>
                <a:cubicBezTo>
                  <a:pt x="69" y="10"/>
                  <a:pt x="69" y="10"/>
                  <a:pt x="69" y="10"/>
                </a:cubicBezTo>
                <a:cubicBezTo>
                  <a:pt x="59" y="10"/>
                  <a:pt x="59" y="10"/>
                  <a:pt x="59" y="10"/>
                </a:cubicBezTo>
                <a:cubicBezTo>
                  <a:pt x="59" y="1"/>
                  <a:pt x="59" y="1"/>
                  <a:pt x="59" y="1"/>
                </a:cubicBezTo>
                <a:cubicBezTo>
                  <a:pt x="59" y="1"/>
                  <a:pt x="59" y="0"/>
                  <a:pt x="58" y="0"/>
                </a:cubicBezTo>
                <a:cubicBezTo>
                  <a:pt x="46" y="0"/>
                  <a:pt x="46" y="0"/>
                  <a:pt x="46" y="0"/>
                </a:cubicBezTo>
                <a:cubicBezTo>
                  <a:pt x="45" y="0"/>
                  <a:pt x="45" y="1"/>
                  <a:pt x="45" y="1"/>
                </a:cubicBezTo>
                <a:cubicBezTo>
                  <a:pt x="45" y="10"/>
                  <a:pt x="45" y="10"/>
                  <a:pt x="45" y="10"/>
                </a:cubicBezTo>
                <a:cubicBezTo>
                  <a:pt x="44" y="11"/>
                  <a:pt x="44" y="12"/>
                  <a:pt x="44" y="13"/>
                </a:cubicBezTo>
                <a:cubicBezTo>
                  <a:pt x="44" y="21"/>
                  <a:pt x="44" y="21"/>
                  <a:pt x="44" y="21"/>
                </a:cubicBezTo>
                <a:cubicBezTo>
                  <a:pt x="44" y="22"/>
                  <a:pt x="44" y="23"/>
                  <a:pt x="45" y="24"/>
                </a:cubicBezTo>
                <a:cubicBezTo>
                  <a:pt x="45" y="27"/>
                  <a:pt x="45" y="27"/>
                  <a:pt x="45" y="27"/>
                </a:cubicBezTo>
                <a:cubicBezTo>
                  <a:pt x="37" y="27"/>
                  <a:pt x="37" y="27"/>
                  <a:pt x="37" y="27"/>
                </a:cubicBezTo>
                <a:cubicBezTo>
                  <a:pt x="37" y="21"/>
                  <a:pt x="37" y="21"/>
                  <a:pt x="37" y="21"/>
                </a:cubicBezTo>
                <a:cubicBezTo>
                  <a:pt x="37" y="20"/>
                  <a:pt x="36" y="19"/>
                  <a:pt x="34" y="18"/>
                </a:cubicBezTo>
                <a:cubicBezTo>
                  <a:pt x="34" y="18"/>
                  <a:pt x="33" y="18"/>
                  <a:pt x="32" y="18"/>
                </a:cubicBezTo>
                <a:cubicBezTo>
                  <a:pt x="31" y="18"/>
                  <a:pt x="30" y="18"/>
                  <a:pt x="29" y="18"/>
                </a:cubicBezTo>
                <a:cubicBezTo>
                  <a:pt x="3" y="30"/>
                  <a:pt x="3" y="30"/>
                  <a:pt x="3" y="30"/>
                </a:cubicBezTo>
                <a:cubicBezTo>
                  <a:pt x="1" y="31"/>
                  <a:pt x="0" y="33"/>
                  <a:pt x="0" y="34"/>
                </a:cubicBezTo>
                <a:cubicBezTo>
                  <a:pt x="0" y="36"/>
                  <a:pt x="1" y="38"/>
                  <a:pt x="3" y="38"/>
                </a:cubicBezTo>
                <a:cubicBezTo>
                  <a:pt x="29" y="50"/>
                  <a:pt x="29" y="50"/>
                  <a:pt x="29" y="50"/>
                </a:cubicBezTo>
                <a:cubicBezTo>
                  <a:pt x="29" y="51"/>
                  <a:pt x="30" y="51"/>
                  <a:pt x="31" y="51"/>
                </a:cubicBezTo>
                <a:cubicBezTo>
                  <a:pt x="32" y="51"/>
                  <a:pt x="33" y="51"/>
                  <a:pt x="34" y="50"/>
                </a:cubicBezTo>
                <a:cubicBezTo>
                  <a:pt x="36" y="50"/>
                  <a:pt x="37" y="48"/>
                  <a:pt x="37" y="47"/>
                </a:cubicBezTo>
                <a:cubicBezTo>
                  <a:pt x="37" y="42"/>
                  <a:pt x="37" y="42"/>
                  <a:pt x="37" y="42"/>
                </a:cubicBezTo>
                <a:cubicBezTo>
                  <a:pt x="45" y="42"/>
                  <a:pt x="45" y="42"/>
                  <a:pt x="45" y="42"/>
                </a:cubicBezTo>
                <a:cubicBezTo>
                  <a:pt x="45" y="85"/>
                  <a:pt x="45" y="85"/>
                  <a:pt x="45" y="85"/>
                </a:cubicBezTo>
                <a:cubicBezTo>
                  <a:pt x="45" y="86"/>
                  <a:pt x="45" y="86"/>
                  <a:pt x="46" y="86"/>
                </a:cubicBezTo>
                <a:cubicBezTo>
                  <a:pt x="58" y="86"/>
                  <a:pt x="58" y="86"/>
                  <a:pt x="58" y="86"/>
                </a:cubicBezTo>
                <a:cubicBezTo>
                  <a:pt x="59" y="86"/>
                  <a:pt x="59" y="86"/>
                  <a:pt x="59" y="85"/>
                </a:cubicBezTo>
                <a:cubicBezTo>
                  <a:pt x="59" y="41"/>
                  <a:pt x="59" y="41"/>
                  <a:pt x="59" y="41"/>
                </a:cubicBezTo>
                <a:cubicBezTo>
                  <a:pt x="61" y="41"/>
                  <a:pt x="62" y="40"/>
                  <a:pt x="62" y="38"/>
                </a:cubicBezTo>
                <a:cubicBezTo>
                  <a:pt x="62" y="30"/>
                  <a:pt x="62" y="30"/>
                  <a:pt x="62" y="30"/>
                </a:cubicBezTo>
                <a:cubicBezTo>
                  <a:pt x="62" y="29"/>
                  <a:pt x="61" y="28"/>
                  <a:pt x="59" y="27"/>
                </a:cubicBezTo>
                <a:cubicBezTo>
                  <a:pt x="59" y="25"/>
                  <a:pt x="59" y="25"/>
                  <a:pt x="59" y="25"/>
                </a:cubicBezTo>
                <a:cubicBezTo>
                  <a:pt x="69" y="25"/>
                  <a:pt x="69" y="25"/>
                  <a:pt x="69" y="25"/>
                </a:cubicBezTo>
                <a:cubicBezTo>
                  <a:pt x="69" y="30"/>
                  <a:pt x="69" y="30"/>
                  <a:pt x="69" y="30"/>
                </a:cubicBezTo>
                <a:cubicBezTo>
                  <a:pt x="69" y="31"/>
                  <a:pt x="70" y="33"/>
                  <a:pt x="71" y="33"/>
                </a:cubicBezTo>
                <a:cubicBezTo>
                  <a:pt x="71" y="34"/>
                  <a:pt x="72" y="34"/>
                  <a:pt x="73" y="34"/>
                </a:cubicBezTo>
                <a:cubicBezTo>
                  <a:pt x="73" y="34"/>
                  <a:pt x="74" y="34"/>
                  <a:pt x="74" y="33"/>
                </a:cubicBezTo>
                <a:cubicBezTo>
                  <a:pt x="84" y="21"/>
                  <a:pt x="84" y="21"/>
                  <a:pt x="84" y="21"/>
                </a:cubicBezTo>
                <a:cubicBezTo>
                  <a:pt x="85" y="21"/>
                  <a:pt x="86" y="19"/>
                  <a:pt x="86" y="17"/>
                </a:cubicBezTo>
                <a:cubicBezTo>
                  <a:pt x="86" y="16"/>
                  <a:pt x="85" y="14"/>
                  <a:pt x="84" y="13"/>
                </a:cubicBezTo>
                <a:close/>
              </a:path>
            </a:pathLst>
          </a:custGeom>
          <a:solidFill>
            <a:srgbClr val="414455"/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 sz="1350">
              <a:solidFill>
                <a:schemeClr val="bg1"/>
              </a:solidFill>
            </a:endParaRPr>
          </a:p>
        </p:txBody>
      </p:sp>
      <p:grpSp>
        <p:nvGrpSpPr>
          <p:cNvPr id="71" name="组合 70"/>
          <p:cNvGrpSpPr/>
          <p:nvPr/>
        </p:nvGrpSpPr>
        <p:grpSpPr>
          <a:xfrm>
            <a:off x="6775877" y="1809242"/>
            <a:ext cx="502789" cy="453322"/>
            <a:chOff x="5424755" y="1340768"/>
            <a:chExt cx="670560" cy="604586"/>
          </a:xfrm>
        </p:grpSpPr>
        <p:grpSp>
          <p:nvGrpSpPr>
            <p:cNvPr id="72" name="组合 71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74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chemeClr val="bg1"/>
                  </a:solidFill>
                </a:endParaRPr>
              </a:p>
            </p:txBody>
          </p:sp>
          <p:sp>
            <p:nvSpPr>
              <p:cNvPr id="75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73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solidFill>
                  <a:schemeClr val="bg1"/>
                </a:solidFill>
              </a:endParaRPr>
            </a:p>
          </p:txBody>
        </p:sp>
      </p:grpSp>
      <p:grpSp>
        <p:nvGrpSpPr>
          <p:cNvPr id="76" name="组合 75"/>
          <p:cNvGrpSpPr/>
          <p:nvPr/>
        </p:nvGrpSpPr>
        <p:grpSpPr>
          <a:xfrm>
            <a:off x="7440641" y="1830628"/>
            <a:ext cx="502789" cy="453322"/>
            <a:chOff x="5424755" y="1340768"/>
            <a:chExt cx="670560" cy="604586"/>
          </a:xfrm>
        </p:grpSpPr>
        <p:grpSp>
          <p:nvGrpSpPr>
            <p:cNvPr id="77" name="组合 76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79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chemeClr val="bg1"/>
                  </a:solidFill>
                </a:endParaRPr>
              </a:p>
            </p:txBody>
          </p:sp>
          <p:sp>
            <p:nvSpPr>
              <p:cNvPr id="81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78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solidFill>
                  <a:schemeClr val="bg1"/>
                </a:solidFill>
              </a:endParaRPr>
            </a:p>
          </p:txBody>
        </p:sp>
      </p:grpSp>
      <p:grpSp>
        <p:nvGrpSpPr>
          <p:cNvPr id="82" name="组合 81"/>
          <p:cNvGrpSpPr/>
          <p:nvPr/>
        </p:nvGrpSpPr>
        <p:grpSpPr>
          <a:xfrm>
            <a:off x="8125676" y="1809242"/>
            <a:ext cx="502789" cy="453322"/>
            <a:chOff x="5424755" y="1340768"/>
            <a:chExt cx="670560" cy="604586"/>
          </a:xfrm>
        </p:grpSpPr>
        <p:grpSp>
          <p:nvGrpSpPr>
            <p:cNvPr id="83" name="组合 82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94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chemeClr val="bg1"/>
                  </a:solidFill>
                </a:endParaRPr>
              </a:p>
            </p:txBody>
          </p:sp>
          <p:sp>
            <p:nvSpPr>
              <p:cNvPr id="95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84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solidFill>
                  <a:schemeClr val="bg1"/>
                </a:solidFill>
              </a:endParaRPr>
            </a:p>
          </p:txBody>
        </p:sp>
      </p:grpSp>
      <p:grpSp>
        <p:nvGrpSpPr>
          <p:cNvPr id="96" name="组合 95"/>
          <p:cNvGrpSpPr>
            <a:grpSpLocks noChangeAspect="1"/>
          </p:cNvGrpSpPr>
          <p:nvPr/>
        </p:nvGrpSpPr>
        <p:grpSpPr>
          <a:xfrm>
            <a:off x="6896562" y="1929051"/>
            <a:ext cx="265649" cy="227877"/>
            <a:chOff x="5084763" y="971548"/>
            <a:chExt cx="323865" cy="277813"/>
          </a:xfrm>
          <a:solidFill>
            <a:srgbClr val="414455"/>
          </a:solidFill>
        </p:grpSpPr>
        <p:sp>
          <p:nvSpPr>
            <p:cNvPr id="97" name="Freeform 301"/>
            <p:cNvSpPr>
              <a:spLocks noEditPoints="1"/>
            </p:cNvSpPr>
            <p:nvPr/>
          </p:nvSpPr>
          <p:spPr bwMode="auto">
            <a:xfrm>
              <a:off x="5191140" y="1031873"/>
              <a:ext cx="217488" cy="217488"/>
            </a:xfrm>
            <a:custGeom>
              <a:avLst/>
              <a:gdLst>
                <a:gd name="T0" fmla="*/ 6 w 58"/>
                <a:gd name="T1" fmla="*/ 14 h 58"/>
                <a:gd name="T2" fmla="*/ 7 w 58"/>
                <a:gd name="T3" fmla="*/ 19 h 58"/>
                <a:gd name="T4" fmla="*/ 4 w 58"/>
                <a:gd name="T5" fmla="*/ 20 h 58"/>
                <a:gd name="T6" fmla="*/ 0 w 58"/>
                <a:gd name="T7" fmla="*/ 23 h 58"/>
                <a:gd name="T8" fmla="*/ 2 w 58"/>
                <a:gd name="T9" fmla="*/ 27 h 58"/>
                <a:gd name="T10" fmla="*/ 5 w 58"/>
                <a:gd name="T11" fmla="*/ 31 h 58"/>
                <a:gd name="T12" fmla="*/ 2 w 58"/>
                <a:gd name="T13" fmla="*/ 34 h 58"/>
                <a:gd name="T14" fmla="*/ 1 w 58"/>
                <a:gd name="T15" fmla="*/ 38 h 58"/>
                <a:gd name="T16" fmla="*/ 5 w 58"/>
                <a:gd name="T17" fmla="*/ 41 h 58"/>
                <a:gd name="T18" fmla="*/ 8 w 58"/>
                <a:gd name="T19" fmla="*/ 42 h 58"/>
                <a:gd name="T20" fmla="*/ 8 w 58"/>
                <a:gd name="T21" fmla="*/ 46 h 58"/>
                <a:gd name="T22" fmla="*/ 9 w 58"/>
                <a:gd name="T23" fmla="*/ 51 h 58"/>
                <a:gd name="T24" fmla="*/ 14 w 58"/>
                <a:gd name="T25" fmla="*/ 51 h 58"/>
                <a:gd name="T26" fmla="*/ 18 w 58"/>
                <a:gd name="T27" fmla="*/ 51 h 58"/>
                <a:gd name="T28" fmla="*/ 19 w 58"/>
                <a:gd name="T29" fmla="*/ 54 h 58"/>
                <a:gd name="T30" fmla="*/ 22 w 58"/>
                <a:gd name="T31" fmla="*/ 58 h 58"/>
                <a:gd name="T32" fmla="*/ 27 w 58"/>
                <a:gd name="T33" fmla="*/ 56 h 58"/>
                <a:gd name="T34" fmla="*/ 31 w 58"/>
                <a:gd name="T35" fmla="*/ 53 h 58"/>
                <a:gd name="T36" fmla="*/ 33 w 58"/>
                <a:gd name="T37" fmla="*/ 56 h 58"/>
                <a:gd name="T38" fmla="*/ 38 w 58"/>
                <a:gd name="T39" fmla="*/ 57 h 58"/>
                <a:gd name="T40" fmla="*/ 40 w 58"/>
                <a:gd name="T41" fmla="*/ 53 h 58"/>
                <a:gd name="T42" fmla="*/ 42 w 58"/>
                <a:gd name="T43" fmla="*/ 49 h 58"/>
                <a:gd name="T44" fmla="*/ 46 w 58"/>
                <a:gd name="T45" fmla="*/ 50 h 58"/>
                <a:gd name="T46" fmla="*/ 50 w 58"/>
                <a:gd name="T47" fmla="*/ 49 h 58"/>
                <a:gd name="T48" fmla="*/ 51 w 58"/>
                <a:gd name="T49" fmla="*/ 44 h 58"/>
                <a:gd name="T50" fmla="*/ 50 w 58"/>
                <a:gd name="T51" fmla="*/ 40 h 58"/>
                <a:gd name="T52" fmla="*/ 54 w 58"/>
                <a:gd name="T53" fmla="*/ 39 h 58"/>
                <a:gd name="T54" fmla="*/ 57 w 58"/>
                <a:gd name="T55" fmla="*/ 35 h 58"/>
                <a:gd name="T56" fmla="*/ 55 w 58"/>
                <a:gd name="T57" fmla="*/ 31 h 58"/>
                <a:gd name="T58" fmla="*/ 52 w 58"/>
                <a:gd name="T59" fmla="*/ 27 h 58"/>
                <a:gd name="T60" fmla="*/ 55 w 58"/>
                <a:gd name="T61" fmla="*/ 25 h 58"/>
                <a:gd name="T62" fmla="*/ 56 w 58"/>
                <a:gd name="T63" fmla="*/ 20 h 58"/>
                <a:gd name="T64" fmla="*/ 53 w 58"/>
                <a:gd name="T65" fmla="*/ 18 h 58"/>
                <a:gd name="T66" fmla="*/ 48 w 58"/>
                <a:gd name="T67" fmla="*/ 16 h 58"/>
                <a:gd name="T68" fmla="*/ 49 w 58"/>
                <a:gd name="T69" fmla="*/ 12 h 58"/>
                <a:gd name="T70" fmla="*/ 48 w 58"/>
                <a:gd name="T71" fmla="*/ 8 h 58"/>
                <a:gd name="T72" fmla="*/ 44 w 58"/>
                <a:gd name="T73" fmla="*/ 7 h 58"/>
                <a:gd name="T74" fmla="*/ 39 w 58"/>
                <a:gd name="T75" fmla="*/ 8 h 58"/>
                <a:gd name="T76" fmla="*/ 38 w 58"/>
                <a:gd name="T77" fmla="*/ 4 h 58"/>
                <a:gd name="T78" fmla="*/ 35 w 58"/>
                <a:gd name="T79" fmla="*/ 1 h 58"/>
                <a:gd name="T80" fmla="*/ 30 w 58"/>
                <a:gd name="T81" fmla="*/ 3 h 58"/>
                <a:gd name="T82" fmla="*/ 27 w 58"/>
                <a:gd name="T83" fmla="*/ 5 h 58"/>
                <a:gd name="T84" fmla="*/ 24 w 58"/>
                <a:gd name="T85" fmla="*/ 3 h 58"/>
                <a:gd name="T86" fmla="*/ 20 w 58"/>
                <a:gd name="T87" fmla="*/ 1 h 58"/>
                <a:gd name="T88" fmla="*/ 17 w 58"/>
                <a:gd name="T89" fmla="*/ 5 h 58"/>
                <a:gd name="T90" fmla="*/ 15 w 58"/>
                <a:gd name="T91" fmla="*/ 10 h 58"/>
                <a:gd name="T92" fmla="*/ 12 w 58"/>
                <a:gd name="T93" fmla="*/ 9 h 58"/>
                <a:gd name="T94" fmla="*/ 7 w 58"/>
                <a:gd name="T95" fmla="*/ 10 h 58"/>
                <a:gd name="T96" fmla="*/ 6 w 58"/>
                <a:gd name="T97" fmla="*/ 14 h 58"/>
                <a:gd name="T98" fmla="*/ 23 w 58"/>
                <a:gd name="T99" fmla="*/ 13 h 58"/>
                <a:gd name="T100" fmla="*/ 45 w 58"/>
                <a:gd name="T101" fmla="*/ 24 h 58"/>
                <a:gd name="T102" fmla="*/ 34 w 58"/>
                <a:gd name="T103" fmla="*/ 45 h 58"/>
                <a:gd name="T104" fmla="*/ 13 w 58"/>
                <a:gd name="T105" fmla="*/ 34 h 58"/>
                <a:gd name="T106" fmla="*/ 23 w 58"/>
                <a:gd name="T107" fmla="*/ 13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58" h="58">
                  <a:moveTo>
                    <a:pt x="6" y="14"/>
                  </a:moveTo>
                  <a:cubicBezTo>
                    <a:pt x="8" y="15"/>
                    <a:pt x="7" y="18"/>
                    <a:pt x="7" y="19"/>
                  </a:cubicBezTo>
                  <a:cubicBezTo>
                    <a:pt x="7" y="20"/>
                    <a:pt x="5" y="20"/>
                    <a:pt x="4" y="20"/>
                  </a:cubicBezTo>
                  <a:cubicBezTo>
                    <a:pt x="2" y="20"/>
                    <a:pt x="0" y="21"/>
                    <a:pt x="0" y="23"/>
                  </a:cubicBezTo>
                  <a:cubicBezTo>
                    <a:pt x="0" y="25"/>
                    <a:pt x="0" y="27"/>
                    <a:pt x="2" y="27"/>
                  </a:cubicBezTo>
                  <a:cubicBezTo>
                    <a:pt x="3" y="28"/>
                    <a:pt x="5" y="30"/>
                    <a:pt x="5" y="31"/>
                  </a:cubicBezTo>
                  <a:cubicBezTo>
                    <a:pt x="5" y="32"/>
                    <a:pt x="4" y="33"/>
                    <a:pt x="2" y="34"/>
                  </a:cubicBezTo>
                  <a:cubicBezTo>
                    <a:pt x="1" y="34"/>
                    <a:pt x="0" y="36"/>
                    <a:pt x="1" y="38"/>
                  </a:cubicBezTo>
                  <a:cubicBezTo>
                    <a:pt x="1" y="40"/>
                    <a:pt x="3" y="42"/>
                    <a:pt x="5" y="41"/>
                  </a:cubicBezTo>
                  <a:cubicBezTo>
                    <a:pt x="6" y="41"/>
                    <a:pt x="8" y="41"/>
                    <a:pt x="8" y="42"/>
                  </a:cubicBezTo>
                  <a:cubicBezTo>
                    <a:pt x="9" y="42"/>
                    <a:pt x="9" y="45"/>
                    <a:pt x="8" y="46"/>
                  </a:cubicBezTo>
                  <a:cubicBezTo>
                    <a:pt x="7" y="47"/>
                    <a:pt x="7" y="50"/>
                    <a:pt x="9" y="51"/>
                  </a:cubicBezTo>
                  <a:cubicBezTo>
                    <a:pt x="11" y="52"/>
                    <a:pt x="13" y="53"/>
                    <a:pt x="14" y="51"/>
                  </a:cubicBezTo>
                  <a:cubicBezTo>
                    <a:pt x="15" y="50"/>
                    <a:pt x="18" y="51"/>
                    <a:pt x="18" y="51"/>
                  </a:cubicBezTo>
                  <a:cubicBezTo>
                    <a:pt x="19" y="51"/>
                    <a:pt x="20" y="53"/>
                    <a:pt x="19" y="54"/>
                  </a:cubicBezTo>
                  <a:cubicBezTo>
                    <a:pt x="19" y="56"/>
                    <a:pt x="20" y="57"/>
                    <a:pt x="22" y="58"/>
                  </a:cubicBezTo>
                  <a:cubicBezTo>
                    <a:pt x="25" y="58"/>
                    <a:pt x="26" y="57"/>
                    <a:pt x="27" y="56"/>
                  </a:cubicBezTo>
                  <a:cubicBezTo>
                    <a:pt x="27" y="54"/>
                    <a:pt x="30" y="53"/>
                    <a:pt x="31" y="53"/>
                  </a:cubicBezTo>
                  <a:cubicBezTo>
                    <a:pt x="31" y="53"/>
                    <a:pt x="33" y="54"/>
                    <a:pt x="33" y="56"/>
                  </a:cubicBezTo>
                  <a:cubicBezTo>
                    <a:pt x="34" y="57"/>
                    <a:pt x="36" y="58"/>
                    <a:pt x="38" y="57"/>
                  </a:cubicBezTo>
                  <a:cubicBezTo>
                    <a:pt x="40" y="57"/>
                    <a:pt x="41" y="55"/>
                    <a:pt x="40" y="53"/>
                  </a:cubicBezTo>
                  <a:cubicBezTo>
                    <a:pt x="40" y="52"/>
                    <a:pt x="42" y="49"/>
                    <a:pt x="42" y="49"/>
                  </a:cubicBezTo>
                  <a:cubicBezTo>
                    <a:pt x="43" y="48"/>
                    <a:pt x="44" y="49"/>
                    <a:pt x="46" y="50"/>
                  </a:cubicBezTo>
                  <a:cubicBezTo>
                    <a:pt x="47" y="51"/>
                    <a:pt x="49" y="51"/>
                    <a:pt x="50" y="49"/>
                  </a:cubicBezTo>
                  <a:cubicBezTo>
                    <a:pt x="52" y="47"/>
                    <a:pt x="52" y="45"/>
                    <a:pt x="51" y="44"/>
                  </a:cubicBezTo>
                  <a:cubicBezTo>
                    <a:pt x="50" y="43"/>
                    <a:pt x="50" y="40"/>
                    <a:pt x="50" y="40"/>
                  </a:cubicBezTo>
                  <a:cubicBezTo>
                    <a:pt x="51" y="39"/>
                    <a:pt x="52" y="38"/>
                    <a:pt x="54" y="39"/>
                  </a:cubicBezTo>
                  <a:cubicBezTo>
                    <a:pt x="55" y="39"/>
                    <a:pt x="57" y="38"/>
                    <a:pt x="57" y="35"/>
                  </a:cubicBezTo>
                  <a:cubicBezTo>
                    <a:pt x="58" y="33"/>
                    <a:pt x="57" y="31"/>
                    <a:pt x="55" y="31"/>
                  </a:cubicBezTo>
                  <a:cubicBezTo>
                    <a:pt x="54" y="31"/>
                    <a:pt x="53" y="28"/>
                    <a:pt x="52" y="27"/>
                  </a:cubicBezTo>
                  <a:cubicBezTo>
                    <a:pt x="52" y="26"/>
                    <a:pt x="54" y="25"/>
                    <a:pt x="55" y="25"/>
                  </a:cubicBezTo>
                  <a:cubicBezTo>
                    <a:pt x="56" y="24"/>
                    <a:pt x="57" y="22"/>
                    <a:pt x="56" y="20"/>
                  </a:cubicBezTo>
                  <a:cubicBezTo>
                    <a:pt x="56" y="18"/>
                    <a:pt x="54" y="17"/>
                    <a:pt x="53" y="18"/>
                  </a:cubicBezTo>
                  <a:cubicBezTo>
                    <a:pt x="51" y="18"/>
                    <a:pt x="49" y="16"/>
                    <a:pt x="48" y="16"/>
                  </a:cubicBezTo>
                  <a:cubicBezTo>
                    <a:pt x="48" y="15"/>
                    <a:pt x="48" y="13"/>
                    <a:pt x="49" y="12"/>
                  </a:cubicBezTo>
                  <a:cubicBezTo>
                    <a:pt x="50" y="11"/>
                    <a:pt x="50" y="9"/>
                    <a:pt x="48" y="8"/>
                  </a:cubicBezTo>
                  <a:cubicBezTo>
                    <a:pt x="47" y="6"/>
                    <a:pt x="45" y="6"/>
                    <a:pt x="44" y="7"/>
                  </a:cubicBezTo>
                  <a:cubicBezTo>
                    <a:pt x="42" y="8"/>
                    <a:pt x="40" y="8"/>
                    <a:pt x="39" y="8"/>
                  </a:cubicBezTo>
                  <a:cubicBezTo>
                    <a:pt x="38" y="7"/>
                    <a:pt x="38" y="6"/>
                    <a:pt x="38" y="4"/>
                  </a:cubicBezTo>
                  <a:cubicBezTo>
                    <a:pt x="38" y="3"/>
                    <a:pt x="37" y="1"/>
                    <a:pt x="35" y="1"/>
                  </a:cubicBezTo>
                  <a:cubicBezTo>
                    <a:pt x="33" y="0"/>
                    <a:pt x="31" y="1"/>
                    <a:pt x="30" y="3"/>
                  </a:cubicBezTo>
                  <a:cubicBezTo>
                    <a:pt x="30" y="4"/>
                    <a:pt x="28" y="5"/>
                    <a:pt x="27" y="5"/>
                  </a:cubicBezTo>
                  <a:cubicBezTo>
                    <a:pt x="26" y="6"/>
                    <a:pt x="25" y="4"/>
                    <a:pt x="24" y="3"/>
                  </a:cubicBezTo>
                  <a:cubicBezTo>
                    <a:pt x="24" y="1"/>
                    <a:pt x="22" y="1"/>
                    <a:pt x="20" y="1"/>
                  </a:cubicBezTo>
                  <a:cubicBezTo>
                    <a:pt x="18" y="2"/>
                    <a:pt x="16" y="4"/>
                    <a:pt x="17" y="5"/>
                  </a:cubicBezTo>
                  <a:cubicBezTo>
                    <a:pt x="17" y="7"/>
                    <a:pt x="16" y="9"/>
                    <a:pt x="15" y="10"/>
                  </a:cubicBezTo>
                  <a:cubicBezTo>
                    <a:pt x="14" y="10"/>
                    <a:pt x="13" y="10"/>
                    <a:pt x="12" y="9"/>
                  </a:cubicBezTo>
                  <a:cubicBezTo>
                    <a:pt x="10" y="8"/>
                    <a:pt x="8" y="8"/>
                    <a:pt x="7" y="10"/>
                  </a:cubicBezTo>
                  <a:cubicBezTo>
                    <a:pt x="6" y="11"/>
                    <a:pt x="5" y="13"/>
                    <a:pt x="6" y="14"/>
                  </a:cubicBezTo>
                  <a:close/>
                  <a:moveTo>
                    <a:pt x="23" y="13"/>
                  </a:moveTo>
                  <a:cubicBezTo>
                    <a:pt x="32" y="10"/>
                    <a:pt x="42" y="15"/>
                    <a:pt x="45" y="24"/>
                  </a:cubicBezTo>
                  <a:cubicBezTo>
                    <a:pt x="47" y="33"/>
                    <a:pt x="43" y="42"/>
                    <a:pt x="34" y="45"/>
                  </a:cubicBezTo>
                  <a:cubicBezTo>
                    <a:pt x="25" y="48"/>
                    <a:pt x="15" y="43"/>
                    <a:pt x="13" y="34"/>
                  </a:cubicBezTo>
                  <a:cubicBezTo>
                    <a:pt x="10" y="26"/>
                    <a:pt x="15" y="16"/>
                    <a:pt x="23" y="1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bg1"/>
                </a:solidFill>
              </a:endParaRPr>
            </a:p>
          </p:txBody>
        </p:sp>
        <p:sp>
          <p:nvSpPr>
            <p:cNvPr id="98" name="Freeform 302"/>
            <p:cNvSpPr>
              <a:spLocks noEditPoints="1"/>
            </p:cNvSpPr>
            <p:nvPr/>
          </p:nvSpPr>
          <p:spPr bwMode="auto">
            <a:xfrm>
              <a:off x="5084781" y="971548"/>
              <a:ext cx="139701" cy="139700"/>
            </a:xfrm>
            <a:custGeom>
              <a:avLst/>
              <a:gdLst>
                <a:gd name="T0" fmla="*/ 4 w 37"/>
                <a:gd name="T1" fmla="*/ 9 h 37"/>
                <a:gd name="T2" fmla="*/ 5 w 37"/>
                <a:gd name="T3" fmla="*/ 12 h 37"/>
                <a:gd name="T4" fmla="*/ 2 w 37"/>
                <a:gd name="T5" fmla="*/ 12 h 37"/>
                <a:gd name="T6" fmla="*/ 0 w 37"/>
                <a:gd name="T7" fmla="*/ 14 h 37"/>
                <a:gd name="T8" fmla="*/ 1 w 37"/>
                <a:gd name="T9" fmla="*/ 17 h 37"/>
                <a:gd name="T10" fmla="*/ 3 w 37"/>
                <a:gd name="T11" fmla="*/ 20 h 37"/>
                <a:gd name="T12" fmla="*/ 2 w 37"/>
                <a:gd name="T13" fmla="*/ 21 h 37"/>
                <a:gd name="T14" fmla="*/ 1 w 37"/>
                <a:gd name="T15" fmla="*/ 24 h 37"/>
                <a:gd name="T16" fmla="*/ 3 w 37"/>
                <a:gd name="T17" fmla="*/ 26 h 37"/>
                <a:gd name="T18" fmla="*/ 5 w 37"/>
                <a:gd name="T19" fmla="*/ 26 h 37"/>
                <a:gd name="T20" fmla="*/ 5 w 37"/>
                <a:gd name="T21" fmla="*/ 29 h 37"/>
                <a:gd name="T22" fmla="*/ 6 w 37"/>
                <a:gd name="T23" fmla="*/ 32 h 37"/>
                <a:gd name="T24" fmla="*/ 9 w 37"/>
                <a:gd name="T25" fmla="*/ 33 h 37"/>
                <a:gd name="T26" fmla="*/ 12 w 37"/>
                <a:gd name="T27" fmla="*/ 32 h 37"/>
                <a:gd name="T28" fmla="*/ 12 w 37"/>
                <a:gd name="T29" fmla="*/ 34 h 37"/>
                <a:gd name="T30" fmla="*/ 15 w 37"/>
                <a:gd name="T31" fmla="*/ 37 h 37"/>
                <a:gd name="T32" fmla="*/ 17 w 37"/>
                <a:gd name="T33" fmla="*/ 35 h 37"/>
                <a:gd name="T34" fmla="*/ 20 w 37"/>
                <a:gd name="T35" fmla="*/ 34 h 37"/>
                <a:gd name="T36" fmla="*/ 21 w 37"/>
                <a:gd name="T37" fmla="*/ 35 h 37"/>
                <a:gd name="T38" fmla="*/ 24 w 37"/>
                <a:gd name="T39" fmla="*/ 36 h 37"/>
                <a:gd name="T40" fmla="*/ 26 w 37"/>
                <a:gd name="T41" fmla="*/ 34 h 37"/>
                <a:gd name="T42" fmla="*/ 27 w 37"/>
                <a:gd name="T43" fmla="*/ 31 h 37"/>
                <a:gd name="T44" fmla="*/ 29 w 37"/>
                <a:gd name="T45" fmla="*/ 32 h 37"/>
                <a:gd name="T46" fmla="*/ 32 w 37"/>
                <a:gd name="T47" fmla="*/ 31 h 37"/>
                <a:gd name="T48" fmla="*/ 33 w 37"/>
                <a:gd name="T49" fmla="*/ 28 h 37"/>
                <a:gd name="T50" fmla="*/ 32 w 37"/>
                <a:gd name="T51" fmla="*/ 25 h 37"/>
                <a:gd name="T52" fmla="*/ 35 w 37"/>
                <a:gd name="T53" fmla="*/ 24 h 37"/>
                <a:gd name="T54" fmla="*/ 37 w 37"/>
                <a:gd name="T55" fmla="*/ 22 h 37"/>
                <a:gd name="T56" fmla="*/ 36 w 37"/>
                <a:gd name="T57" fmla="*/ 19 h 37"/>
                <a:gd name="T58" fmla="*/ 34 w 37"/>
                <a:gd name="T59" fmla="*/ 17 h 37"/>
                <a:gd name="T60" fmla="*/ 35 w 37"/>
                <a:gd name="T61" fmla="*/ 15 h 37"/>
                <a:gd name="T62" fmla="*/ 36 w 37"/>
                <a:gd name="T63" fmla="*/ 12 h 37"/>
                <a:gd name="T64" fmla="*/ 34 w 37"/>
                <a:gd name="T65" fmla="*/ 11 h 37"/>
                <a:gd name="T66" fmla="*/ 31 w 37"/>
                <a:gd name="T67" fmla="*/ 9 h 37"/>
                <a:gd name="T68" fmla="*/ 32 w 37"/>
                <a:gd name="T69" fmla="*/ 7 h 37"/>
                <a:gd name="T70" fmla="*/ 31 w 37"/>
                <a:gd name="T71" fmla="*/ 4 h 37"/>
                <a:gd name="T72" fmla="*/ 28 w 37"/>
                <a:gd name="T73" fmla="*/ 4 h 37"/>
                <a:gd name="T74" fmla="*/ 25 w 37"/>
                <a:gd name="T75" fmla="*/ 4 h 37"/>
                <a:gd name="T76" fmla="*/ 25 w 37"/>
                <a:gd name="T77" fmla="*/ 2 h 37"/>
                <a:gd name="T78" fmla="*/ 22 w 37"/>
                <a:gd name="T79" fmla="*/ 0 h 37"/>
                <a:gd name="T80" fmla="*/ 20 w 37"/>
                <a:gd name="T81" fmla="*/ 1 h 37"/>
                <a:gd name="T82" fmla="*/ 17 w 37"/>
                <a:gd name="T83" fmla="*/ 3 h 37"/>
                <a:gd name="T84" fmla="*/ 16 w 37"/>
                <a:gd name="T85" fmla="*/ 1 h 37"/>
                <a:gd name="T86" fmla="*/ 13 w 37"/>
                <a:gd name="T87" fmla="*/ 0 h 37"/>
                <a:gd name="T88" fmla="*/ 11 w 37"/>
                <a:gd name="T89" fmla="*/ 3 h 37"/>
                <a:gd name="T90" fmla="*/ 10 w 37"/>
                <a:gd name="T91" fmla="*/ 6 h 37"/>
                <a:gd name="T92" fmla="*/ 8 w 37"/>
                <a:gd name="T93" fmla="*/ 5 h 37"/>
                <a:gd name="T94" fmla="*/ 5 w 37"/>
                <a:gd name="T95" fmla="*/ 6 h 37"/>
                <a:gd name="T96" fmla="*/ 4 w 37"/>
                <a:gd name="T97" fmla="*/ 9 h 37"/>
                <a:gd name="T98" fmla="*/ 15 w 37"/>
                <a:gd name="T99" fmla="*/ 8 h 37"/>
                <a:gd name="T100" fmla="*/ 29 w 37"/>
                <a:gd name="T101" fmla="*/ 15 h 37"/>
                <a:gd name="T102" fmla="*/ 22 w 37"/>
                <a:gd name="T103" fmla="*/ 29 h 37"/>
                <a:gd name="T104" fmla="*/ 8 w 37"/>
                <a:gd name="T105" fmla="*/ 22 h 37"/>
                <a:gd name="T106" fmla="*/ 15 w 37"/>
                <a:gd name="T107" fmla="*/ 8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7" h="37">
                  <a:moveTo>
                    <a:pt x="4" y="9"/>
                  </a:moveTo>
                  <a:cubicBezTo>
                    <a:pt x="5" y="9"/>
                    <a:pt x="5" y="11"/>
                    <a:pt x="5" y="12"/>
                  </a:cubicBezTo>
                  <a:cubicBezTo>
                    <a:pt x="4" y="12"/>
                    <a:pt x="3" y="12"/>
                    <a:pt x="2" y="12"/>
                  </a:cubicBezTo>
                  <a:cubicBezTo>
                    <a:pt x="1" y="12"/>
                    <a:pt x="0" y="13"/>
                    <a:pt x="0" y="14"/>
                  </a:cubicBezTo>
                  <a:cubicBezTo>
                    <a:pt x="0" y="16"/>
                    <a:pt x="0" y="17"/>
                    <a:pt x="1" y="17"/>
                  </a:cubicBezTo>
                  <a:cubicBezTo>
                    <a:pt x="2" y="17"/>
                    <a:pt x="3" y="19"/>
                    <a:pt x="3" y="20"/>
                  </a:cubicBezTo>
                  <a:cubicBezTo>
                    <a:pt x="3" y="20"/>
                    <a:pt x="2" y="21"/>
                    <a:pt x="2" y="21"/>
                  </a:cubicBezTo>
                  <a:cubicBezTo>
                    <a:pt x="1" y="21"/>
                    <a:pt x="0" y="23"/>
                    <a:pt x="1" y="24"/>
                  </a:cubicBezTo>
                  <a:cubicBezTo>
                    <a:pt x="1" y="25"/>
                    <a:pt x="2" y="26"/>
                    <a:pt x="3" y="26"/>
                  </a:cubicBezTo>
                  <a:cubicBezTo>
                    <a:pt x="4" y="26"/>
                    <a:pt x="5" y="26"/>
                    <a:pt x="5" y="26"/>
                  </a:cubicBezTo>
                  <a:cubicBezTo>
                    <a:pt x="6" y="27"/>
                    <a:pt x="6" y="28"/>
                    <a:pt x="5" y="29"/>
                  </a:cubicBezTo>
                  <a:cubicBezTo>
                    <a:pt x="5" y="30"/>
                    <a:pt x="5" y="31"/>
                    <a:pt x="6" y="32"/>
                  </a:cubicBezTo>
                  <a:cubicBezTo>
                    <a:pt x="7" y="33"/>
                    <a:pt x="8" y="33"/>
                    <a:pt x="9" y="33"/>
                  </a:cubicBezTo>
                  <a:cubicBezTo>
                    <a:pt x="10" y="32"/>
                    <a:pt x="11" y="32"/>
                    <a:pt x="12" y="32"/>
                  </a:cubicBezTo>
                  <a:cubicBezTo>
                    <a:pt x="12" y="32"/>
                    <a:pt x="13" y="33"/>
                    <a:pt x="12" y="34"/>
                  </a:cubicBezTo>
                  <a:cubicBezTo>
                    <a:pt x="12" y="35"/>
                    <a:pt x="13" y="36"/>
                    <a:pt x="15" y="37"/>
                  </a:cubicBezTo>
                  <a:cubicBezTo>
                    <a:pt x="16" y="37"/>
                    <a:pt x="17" y="36"/>
                    <a:pt x="17" y="35"/>
                  </a:cubicBezTo>
                  <a:cubicBezTo>
                    <a:pt x="18" y="34"/>
                    <a:pt x="19" y="34"/>
                    <a:pt x="20" y="34"/>
                  </a:cubicBezTo>
                  <a:cubicBezTo>
                    <a:pt x="20" y="34"/>
                    <a:pt x="21" y="34"/>
                    <a:pt x="21" y="35"/>
                  </a:cubicBezTo>
                  <a:cubicBezTo>
                    <a:pt x="22" y="36"/>
                    <a:pt x="23" y="37"/>
                    <a:pt x="24" y="36"/>
                  </a:cubicBezTo>
                  <a:cubicBezTo>
                    <a:pt x="26" y="36"/>
                    <a:pt x="26" y="35"/>
                    <a:pt x="26" y="34"/>
                  </a:cubicBezTo>
                  <a:cubicBezTo>
                    <a:pt x="26" y="33"/>
                    <a:pt x="27" y="31"/>
                    <a:pt x="27" y="31"/>
                  </a:cubicBezTo>
                  <a:cubicBezTo>
                    <a:pt x="28" y="31"/>
                    <a:pt x="29" y="31"/>
                    <a:pt x="29" y="32"/>
                  </a:cubicBezTo>
                  <a:cubicBezTo>
                    <a:pt x="30" y="32"/>
                    <a:pt x="32" y="32"/>
                    <a:pt x="32" y="31"/>
                  </a:cubicBezTo>
                  <a:cubicBezTo>
                    <a:pt x="33" y="30"/>
                    <a:pt x="34" y="28"/>
                    <a:pt x="33" y="28"/>
                  </a:cubicBezTo>
                  <a:cubicBezTo>
                    <a:pt x="32" y="27"/>
                    <a:pt x="32" y="25"/>
                    <a:pt x="32" y="25"/>
                  </a:cubicBezTo>
                  <a:cubicBezTo>
                    <a:pt x="33" y="24"/>
                    <a:pt x="34" y="24"/>
                    <a:pt x="35" y="24"/>
                  </a:cubicBezTo>
                  <a:cubicBezTo>
                    <a:pt x="36" y="24"/>
                    <a:pt x="37" y="24"/>
                    <a:pt x="37" y="22"/>
                  </a:cubicBezTo>
                  <a:cubicBezTo>
                    <a:pt x="37" y="21"/>
                    <a:pt x="37" y="20"/>
                    <a:pt x="36" y="19"/>
                  </a:cubicBezTo>
                  <a:cubicBezTo>
                    <a:pt x="35" y="19"/>
                    <a:pt x="34" y="18"/>
                    <a:pt x="34" y="17"/>
                  </a:cubicBezTo>
                  <a:cubicBezTo>
                    <a:pt x="34" y="16"/>
                    <a:pt x="35" y="16"/>
                    <a:pt x="35" y="15"/>
                  </a:cubicBezTo>
                  <a:cubicBezTo>
                    <a:pt x="36" y="15"/>
                    <a:pt x="37" y="14"/>
                    <a:pt x="36" y="12"/>
                  </a:cubicBezTo>
                  <a:cubicBezTo>
                    <a:pt x="36" y="11"/>
                    <a:pt x="35" y="10"/>
                    <a:pt x="34" y="11"/>
                  </a:cubicBezTo>
                  <a:cubicBezTo>
                    <a:pt x="33" y="11"/>
                    <a:pt x="31" y="10"/>
                    <a:pt x="31" y="9"/>
                  </a:cubicBezTo>
                  <a:cubicBezTo>
                    <a:pt x="31" y="9"/>
                    <a:pt x="31" y="8"/>
                    <a:pt x="32" y="7"/>
                  </a:cubicBezTo>
                  <a:cubicBezTo>
                    <a:pt x="32" y="7"/>
                    <a:pt x="32" y="5"/>
                    <a:pt x="31" y="4"/>
                  </a:cubicBezTo>
                  <a:cubicBezTo>
                    <a:pt x="30" y="3"/>
                    <a:pt x="29" y="3"/>
                    <a:pt x="28" y="4"/>
                  </a:cubicBezTo>
                  <a:cubicBezTo>
                    <a:pt x="27" y="5"/>
                    <a:pt x="26" y="5"/>
                    <a:pt x="25" y="4"/>
                  </a:cubicBezTo>
                  <a:cubicBezTo>
                    <a:pt x="25" y="4"/>
                    <a:pt x="24" y="3"/>
                    <a:pt x="25" y="2"/>
                  </a:cubicBezTo>
                  <a:cubicBezTo>
                    <a:pt x="25" y="1"/>
                    <a:pt x="24" y="0"/>
                    <a:pt x="22" y="0"/>
                  </a:cubicBezTo>
                  <a:cubicBezTo>
                    <a:pt x="21" y="0"/>
                    <a:pt x="20" y="0"/>
                    <a:pt x="20" y="1"/>
                  </a:cubicBezTo>
                  <a:cubicBezTo>
                    <a:pt x="19" y="2"/>
                    <a:pt x="18" y="3"/>
                    <a:pt x="17" y="3"/>
                  </a:cubicBezTo>
                  <a:cubicBezTo>
                    <a:pt x="17" y="3"/>
                    <a:pt x="16" y="2"/>
                    <a:pt x="16" y="1"/>
                  </a:cubicBezTo>
                  <a:cubicBezTo>
                    <a:pt x="15" y="0"/>
                    <a:pt x="14" y="0"/>
                    <a:pt x="13" y="0"/>
                  </a:cubicBezTo>
                  <a:cubicBezTo>
                    <a:pt x="11" y="1"/>
                    <a:pt x="11" y="2"/>
                    <a:pt x="11" y="3"/>
                  </a:cubicBezTo>
                  <a:cubicBezTo>
                    <a:pt x="11" y="4"/>
                    <a:pt x="10" y="5"/>
                    <a:pt x="10" y="6"/>
                  </a:cubicBezTo>
                  <a:cubicBezTo>
                    <a:pt x="9" y="6"/>
                    <a:pt x="8" y="6"/>
                    <a:pt x="8" y="5"/>
                  </a:cubicBezTo>
                  <a:cubicBezTo>
                    <a:pt x="7" y="4"/>
                    <a:pt x="5" y="5"/>
                    <a:pt x="5" y="6"/>
                  </a:cubicBezTo>
                  <a:cubicBezTo>
                    <a:pt x="4" y="7"/>
                    <a:pt x="3" y="8"/>
                    <a:pt x="4" y="9"/>
                  </a:cubicBezTo>
                  <a:close/>
                  <a:moveTo>
                    <a:pt x="15" y="8"/>
                  </a:moveTo>
                  <a:cubicBezTo>
                    <a:pt x="21" y="6"/>
                    <a:pt x="27" y="9"/>
                    <a:pt x="29" y="15"/>
                  </a:cubicBezTo>
                  <a:cubicBezTo>
                    <a:pt x="31" y="21"/>
                    <a:pt x="27" y="27"/>
                    <a:pt x="22" y="29"/>
                  </a:cubicBezTo>
                  <a:cubicBezTo>
                    <a:pt x="16" y="30"/>
                    <a:pt x="10" y="27"/>
                    <a:pt x="8" y="22"/>
                  </a:cubicBezTo>
                  <a:cubicBezTo>
                    <a:pt x="6" y="16"/>
                    <a:pt x="10" y="10"/>
                    <a:pt x="15" y="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bg1"/>
                </a:solidFill>
              </a:endParaRPr>
            </a:p>
          </p:txBody>
        </p:sp>
        <p:sp>
          <p:nvSpPr>
            <p:cNvPr id="99" name="Freeform 303"/>
            <p:cNvSpPr>
              <a:spLocks noEditPoints="1"/>
            </p:cNvSpPr>
            <p:nvPr/>
          </p:nvSpPr>
          <p:spPr bwMode="auto">
            <a:xfrm>
              <a:off x="5084763" y="1111250"/>
              <a:ext cx="109538" cy="104775"/>
            </a:xfrm>
            <a:custGeom>
              <a:avLst/>
              <a:gdLst>
                <a:gd name="T0" fmla="*/ 3 w 29"/>
                <a:gd name="T1" fmla="*/ 7 h 28"/>
                <a:gd name="T2" fmla="*/ 4 w 29"/>
                <a:gd name="T3" fmla="*/ 9 h 28"/>
                <a:gd name="T4" fmla="*/ 2 w 29"/>
                <a:gd name="T5" fmla="*/ 9 h 28"/>
                <a:gd name="T6" fmla="*/ 0 w 29"/>
                <a:gd name="T7" fmla="*/ 11 h 28"/>
                <a:gd name="T8" fmla="*/ 1 w 29"/>
                <a:gd name="T9" fmla="*/ 13 h 28"/>
                <a:gd name="T10" fmla="*/ 3 w 29"/>
                <a:gd name="T11" fmla="*/ 15 h 28"/>
                <a:gd name="T12" fmla="*/ 1 w 29"/>
                <a:gd name="T13" fmla="*/ 16 h 28"/>
                <a:gd name="T14" fmla="*/ 1 w 29"/>
                <a:gd name="T15" fmla="*/ 19 h 28"/>
                <a:gd name="T16" fmla="*/ 3 w 29"/>
                <a:gd name="T17" fmla="*/ 20 h 28"/>
                <a:gd name="T18" fmla="*/ 4 w 29"/>
                <a:gd name="T19" fmla="*/ 20 h 28"/>
                <a:gd name="T20" fmla="*/ 4 w 29"/>
                <a:gd name="T21" fmla="*/ 23 h 28"/>
                <a:gd name="T22" fmla="*/ 5 w 29"/>
                <a:gd name="T23" fmla="*/ 25 h 28"/>
                <a:gd name="T24" fmla="*/ 7 w 29"/>
                <a:gd name="T25" fmla="*/ 25 h 28"/>
                <a:gd name="T26" fmla="*/ 9 w 29"/>
                <a:gd name="T27" fmla="*/ 25 h 28"/>
                <a:gd name="T28" fmla="*/ 10 w 29"/>
                <a:gd name="T29" fmla="*/ 27 h 28"/>
                <a:gd name="T30" fmla="*/ 11 w 29"/>
                <a:gd name="T31" fmla="*/ 28 h 28"/>
                <a:gd name="T32" fmla="*/ 13 w 29"/>
                <a:gd name="T33" fmla="*/ 27 h 28"/>
                <a:gd name="T34" fmla="*/ 15 w 29"/>
                <a:gd name="T35" fmla="*/ 26 h 28"/>
                <a:gd name="T36" fmla="*/ 17 w 29"/>
                <a:gd name="T37" fmla="*/ 27 h 28"/>
                <a:gd name="T38" fmla="*/ 19 w 29"/>
                <a:gd name="T39" fmla="*/ 28 h 28"/>
                <a:gd name="T40" fmla="*/ 20 w 29"/>
                <a:gd name="T41" fmla="*/ 26 h 28"/>
                <a:gd name="T42" fmla="*/ 21 w 29"/>
                <a:gd name="T43" fmla="*/ 24 h 28"/>
                <a:gd name="T44" fmla="*/ 23 w 29"/>
                <a:gd name="T45" fmla="*/ 24 h 28"/>
                <a:gd name="T46" fmla="*/ 25 w 29"/>
                <a:gd name="T47" fmla="*/ 24 h 28"/>
                <a:gd name="T48" fmla="*/ 25 w 29"/>
                <a:gd name="T49" fmla="*/ 21 h 28"/>
                <a:gd name="T50" fmla="*/ 25 w 29"/>
                <a:gd name="T51" fmla="*/ 19 h 28"/>
                <a:gd name="T52" fmla="*/ 27 w 29"/>
                <a:gd name="T53" fmla="*/ 19 h 28"/>
                <a:gd name="T54" fmla="*/ 29 w 29"/>
                <a:gd name="T55" fmla="*/ 17 h 28"/>
                <a:gd name="T56" fmla="*/ 28 w 29"/>
                <a:gd name="T57" fmla="*/ 15 h 28"/>
                <a:gd name="T58" fmla="*/ 26 w 29"/>
                <a:gd name="T59" fmla="*/ 13 h 28"/>
                <a:gd name="T60" fmla="*/ 27 w 29"/>
                <a:gd name="T61" fmla="*/ 12 h 28"/>
                <a:gd name="T62" fmla="*/ 28 w 29"/>
                <a:gd name="T63" fmla="*/ 10 h 28"/>
                <a:gd name="T64" fmla="*/ 26 w 29"/>
                <a:gd name="T65" fmla="*/ 8 h 28"/>
                <a:gd name="T66" fmla="*/ 24 w 29"/>
                <a:gd name="T67" fmla="*/ 7 h 28"/>
                <a:gd name="T68" fmla="*/ 25 w 29"/>
                <a:gd name="T69" fmla="*/ 6 h 28"/>
                <a:gd name="T70" fmla="*/ 24 w 29"/>
                <a:gd name="T71" fmla="*/ 3 h 28"/>
                <a:gd name="T72" fmla="*/ 22 w 29"/>
                <a:gd name="T73" fmla="*/ 3 h 28"/>
                <a:gd name="T74" fmla="*/ 19 w 29"/>
                <a:gd name="T75" fmla="*/ 3 h 28"/>
                <a:gd name="T76" fmla="*/ 19 w 29"/>
                <a:gd name="T77" fmla="*/ 2 h 28"/>
                <a:gd name="T78" fmla="*/ 17 w 29"/>
                <a:gd name="T79" fmla="*/ 0 h 28"/>
                <a:gd name="T80" fmla="*/ 15 w 29"/>
                <a:gd name="T81" fmla="*/ 1 h 28"/>
                <a:gd name="T82" fmla="*/ 13 w 29"/>
                <a:gd name="T83" fmla="*/ 2 h 28"/>
                <a:gd name="T84" fmla="*/ 12 w 29"/>
                <a:gd name="T85" fmla="*/ 1 h 28"/>
                <a:gd name="T86" fmla="*/ 10 w 29"/>
                <a:gd name="T87" fmla="*/ 0 h 28"/>
                <a:gd name="T88" fmla="*/ 9 w 29"/>
                <a:gd name="T89" fmla="*/ 2 h 28"/>
                <a:gd name="T90" fmla="*/ 8 w 29"/>
                <a:gd name="T91" fmla="*/ 4 h 28"/>
                <a:gd name="T92" fmla="*/ 6 w 29"/>
                <a:gd name="T93" fmla="*/ 4 h 28"/>
                <a:gd name="T94" fmla="*/ 4 w 29"/>
                <a:gd name="T95" fmla="*/ 4 h 28"/>
                <a:gd name="T96" fmla="*/ 3 w 29"/>
                <a:gd name="T97" fmla="*/ 7 h 28"/>
                <a:gd name="T98" fmla="*/ 12 w 29"/>
                <a:gd name="T99" fmla="*/ 6 h 28"/>
                <a:gd name="T100" fmla="*/ 22 w 29"/>
                <a:gd name="T101" fmla="*/ 12 h 28"/>
                <a:gd name="T102" fmla="*/ 17 w 29"/>
                <a:gd name="T103" fmla="*/ 22 h 28"/>
                <a:gd name="T104" fmla="*/ 6 w 29"/>
                <a:gd name="T105" fmla="*/ 17 h 28"/>
                <a:gd name="T106" fmla="*/ 12 w 29"/>
                <a:gd name="T107" fmla="*/ 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9" h="28">
                  <a:moveTo>
                    <a:pt x="3" y="7"/>
                  </a:moveTo>
                  <a:cubicBezTo>
                    <a:pt x="4" y="7"/>
                    <a:pt x="4" y="9"/>
                    <a:pt x="4" y="9"/>
                  </a:cubicBezTo>
                  <a:cubicBezTo>
                    <a:pt x="4" y="9"/>
                    <a:pt x="3" y="10"/>
                    <a:pt x="2" y="9"/>
                  </a:cubicBezTo>
                  <a:cubicBezTo>
                    <a:pt x="1" y="9"/>
                    <a:pt x="0" y="10"/>
                    <a:pt x="0" y="11"/>
                  </a:cubicBezTo>
                  <a:cubicBezTo>
                    <a:pt x="0" y="12"/>
                    <a:pt x="0" y="13"/>
                    <a:pt x="1" y="13"/>
                  </a:cubicBezTo>
                  <a:cubicBezTo>
                    <a:pt x="2" y="13"/>
                    <a:pt x="3" y="15"/>
                    <a:pt x="3" y="15"/>
                  </a:cubicBezTo>
                  <a:cubicBezTo>
                    <a:pt x="3" y="16"/>
                    <a:pt x="2" y="16"/>
                    <a:pt x="1" y="16"/>
                  </a:cubicBezTo>
                  <a:cubicBezTo>
                    <a:pt x="1" y="17"/>
                    <a:pt x="0" y="18"/>
                    <a:pt x="1" y="19"/>
                  </a:cubicBezTo>
                  <a:cubicBezTo>
                    <a:pt x="1" y="20"/>
                    <a:pt x="2" y="20"/>
                    <a:pt x="3" y="20"/>
                  </a:cubicBezTo>
                  <a:cubicBezTo>
                    <a:pt x="3" y="20"/>
                    <a:pt x="4" y="20"/>
                    <a:pt x="4" y="20"/>
                  </a:cubicBezTo>
                  <a:cubicBezTo>
                    <a:pt x="4" y="21"/>
                    <a:pt x="5" y="22"/>
                    <a:pt x="4" y="23"/>
                  </a:cubicBezTo>
                  <a:cubicBezTo>
                    <a:pt x="4" y="23"/>
                    <a:pt x="4" y="24"/>
                    <a:pt x="5" y="25"/>
                  </a:cubicBezTo>
                  <a:cubicBezTo>
                    <a:pt x="5" y="26"/>
                    <a:pt x="7" y="26"/>
                    <a:pt x="7" y="25"/>
                  </a:cubicBezTo>
                  <a:cubicBezTo>
                    <a:pt x="8" y="25"/>
                    <a:pt x="9" y="25"/>
                    <a:pt x="9" y="25"/>
                  </a:cubicBezTo>
                  <a:cubicBezTo>
                    <a:pt x="10" y="25"/>
                    <a:pt x="10" y="26"/>
                    <a:pt x="10" y="27"/>
                  </a:cubicBezTo>
                  <a:cubicBezTo>
                    <a:pt x="10" y="27"/>
                    <a:pt x="10" y="28"/>
                    <a:pt x="11" y="28"/>
                  </a:cubicBezTo>
                  <a:cubicBezTo>
                    <a:pt x="12" y="28"/>
                    <a:pt x="13" y="28"/>
                    <a:pt x="13" y="27"/>
                  </a:cubicBezTo>
                  <a:cubicBezTo>
                    <a:pt x="14" y="27"/>
                    <a:pt x="15" y="26"/>
                    <a:pt x="15" y="26"/>
                  </a:cubicBezTo>
                  <a:cubicBezTo>
                    <a:pt x="16" y="26"/>
                    <a:pt x="16" y="26"/>
                    <a:pt x="17" y="27"/>
                  </a:cubicBezTo>
                  <a:cubicBezTo>
                    <a:pt x="17" y="28"/>
                    <a:pt x="18" y="28"/>
                    <a:pt x="19" y="28"/>
                  </a:cubicBezTo>
                  <a:cubicBezTo>
                    <a:pt x="20" y="28"/>
                    <a:pt x="20" y="27"/>
                    <a:pt x="20" y="26"/>
                  </a:cubicBezTo>
                  <a:cubicBezTo>
                    <a:pt x="20" y="25"/>
                    <a:pt x="21" y="24"/>
                    <a:pt x="21" y="24"/>
                  </a:cubicBezTo>
                  <a:cubicBezTo>
                    <a:pt x="21" y="24"/>
                    <a:pt x="22" y="24"/>
                    <a:pt x="23" y="24"/>
                  </a:cubicBezTo>
                  <a:cubicBezTo>
                    <a:pt x="23" y="25"/>
                    <a:pt x="24" y="25"/>
                    <a:pt x="25" y="24"/>
                  </a:cubicBezTo>
                  <a:cubicBezTo>
                    <a:pt x="26" y="23"/>
                    <a:pt x="26" y="22"/>
                    <a:pt x="25" y="21"/>
                  </a:cubicBezTo>
                  <a:cubicBezTo>
                    <a:pt x="25" y="21"/>
                    <a:pt x="25" y="20"/>
                    <a:pt x="25" y="19"/>
                  </a:cubicBezTo>
                  <a:cubicBezTo>
                    <a:pt x="25" y="19"/>
                    <a:pt x="26" y="19"/>
                    <a:pt x="27" y="19"/>
                  </a:cubicBezTo>
                  <a:cubicBezTo>
                    <a:pt x="28" y="19"/>
                    <a:pt x="28" y="18"/>
                    <a:pt x="29" y="17"/>
                  </a:cubicBezTo>
                  <a:cubicBezTo>
                    <a:pt x="29" y="16"/>
                    <a:pt x="28" y="15"/>
                    <a:pt x="28" y="15"/>
                  </a:cubicBezTo>
                  <a:cubicBezTo>
                    <a:pt x="27" y="15"/>
                    <a:pt x="26" y="14"/>
                    <a:pt x="26" y="13"/>
                  </a:cubicBezTo>
                  <a:cubicBezTo>
                    <a:pt x="26" y="13"/>
                    <a:pt x="27" y="12"/>
                    <a:pt x="27" y="12"/>
                  </a:cubicBezTo>
                  <a:cubicBezTo>
                    <a:pt x="28" y="12"/>
                    <a:pt x="28" y="11"/>
                    <a:pt x="28" y="10"/>
                  </a:cubicBezTo>
                  <a:cubicBezTo>
                    <a:pt x="28" y="9"/>
                    <a:pt x="27" y="8"/>
                    <a:pt x="26" y="8"/>
                  </a:cubicBezTo>
                  <a:cubicBezTo>
                    <a:pt x="26" y="9"/>
                    <a:pt x="24" y="8"/>
                    <a:pt x="24" y="7"/>
                  </a:cubicBezTo>
                  <a:cubicBezTo>
                    <a:pt x="24" y="7"/>
                    <a:pt x="24" y="6"/>
                    <a:pt x="25" y="6"/>
                  </a:cubicBezTo>
                  <a:cubicBezTo>
                    <a:pt x="25" y="5"/>
                    <a:pt x="25" y="4"/>
                    <a:pt x="24" y="3"/>
                  </a:cubicBezTo>
                  <a:cubicBezTo>
                    <a:pt x="23" y="3"/>
                    <a:pt x="22" y="3"/>
                    <a:pt x="22" y="3"/>
                  </a:cubicBezTo>
                  <a:cubicBezTo>
                    <a:pt x="21" y="4"/>
                    <a:pt x="20" y="4"/>
                    <a:pt x="19" y="3"/>
                  </a:cubicBezTo>
                  <a:cubicBezTo>
                    <a:pt x="19" y="3"/>
                    <a:pt x="19" y="2"/>
                    <a:pt x="19" y="2"/>
                  </a:cubicBezTo>
                  <a:cubicBezTo>
                    <a:pt x="19" y="1"/>
                    <a:pt x="18" y="0"/>
                    <a:pt x="17" y="0"/>
                  </a:cubicBezTo>
                  <a:cubicBezTo>
                    <a:pt x="16" y="0"/>
                    <a:pt x="15" y="0"/>
                    <a:pt x="15" y="1"/>
                  </a:cubicBezTo>
                  <a:cubicBezTo>
                    <a:pt x="15" y="2"/>
                    <a:pt x="14" y="2"/>
                    <a:pt x="13" y="2"/>
                  </a:cubicBezTo>
                  <a:cubicBezTo>
                    <a:pt x="13" y="2"/>
                    <a:pt x="12" y="2"/>
                    <a:pt x="12" y="1"/>
                  </a:cubicBezTo>
                  <a:cubicBezTo>
                    <a:pt x="12" y="0"/>
                    <a:pt x="11" y="0"/>
                    <a:pt x="10" y="0"/>
                  </a:cubicBezTo>
                  <a:cubicBezTo>
                    <a:pt x="9" y="1"/>
                    <a:pt x="8" y="2"/>
                    <a:pt x="9" y="2"/>
                  </a:cubicBezTo>
                  <a:cubicBezTo>
                    <a:pt x="9" y="3"/>
                    <a:pt x="8" y="4"/>
                    <a:pt x="8" y="4"/>
                  </a:cubicBezTo>
                  <a:cubicBezTo>
                    <a:pt x="7" y="5"/>
                    <a:pt x="7" y="4"/>
                    <a:pt x="6" y="4"/>
                  </a:cubicBezTo>
                  <a:cubicBezTo>
                    <a:pt x="5" y="3"/>
                    <a:pt x="4" y="4"/>
                    <a:pt x="4" y="4"/>
                  </a:cubicBezTo>
                  <a:cubicBezTo>
                    <a:pt x="3" y="5"/>
                    <a:pt x="3" y="6"/>
                    <a:pt x="3" y="7"/>
                  </a:cubicBezTo>
                  <a:close/>
                  <a:moveTo>
                    <a:pt x="12" y="6"/>
                  </a:moveTo>
                  <a:cubicBezTo>
                    <a:pt x="16" y="5"/>
                    <a:pt x="21" y="7"/>
                    <a:pt x="22" y="12"/>
                  </a:cubicBezTo>
                  <a:cubicBezTo>
                    <a:pt x="24" y="16"/>
                    <a:pt x="21" y="21"/>
                    <a:pt x="17" y="22"/>
                  </a:cubicBezTo>
                  <a:cubicBezTo>
                    <a:pt x="13" y="23"/>
                    <a:pt x="8" y="21"/>
                    <a:pt x="6" y="17"/>
                  </a:cubicBezTo>
                  <a:cubicBezTo>
                    <a:pt x="5" y="12"/>
                    <a:pt x="7" y="8"/>
                    <a:pt x="12" y="6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bg1"/>
                </a:solidFill>
              </a:endParaRPr>
            </a:p>
          </p:txBody>
        </p:sp>
      </p:grpSp>
      <p:sp>
        <p:nvSpPr>
          <p:cNvPr id="100" name="Freeform 9"/>
          <p:cNvSpPr>
            <a:spLocks noEditPoints="1"/>
          </p:cNvSpPr>
          <p:nvPr/>
        </p:nvSpPr>
        <p:spPr bwMode="auto">
          <a:xfrm rot="19469485">
            <a:off x="7546084" y="1906136"/>
            <a:ext cx="283701" cy="302301"/>
          </a:xfrm>
          <a:custGeom>
            <a:avLst/>
            <a:gdLst>
              <a:gd name="T0" fmla="*/ 147 w 243"/>
              <a:gd name="T1" fmla="*/ 240 h 269"/>
              <a:gd name="T2" fmla="*/ 90 w 243"/>
              <a:gd name="T3" fmla="*/ 234 h 269"/>
              <a:gd name="T4" fmla="*/ 147 w 243"/>
              <a:gd name="T5" fmla="*/ 227 h 269"/>
              <a:gd name="T6" fmla="*/ 147 w 243"/>
              <a:gd name="T7" fmla="*/ 243 h 269"/>
              <a:gd name="T8" fmla="*/ 90 w 243"/>
              <a:gd name="T9" fmla="*/ 252 h 269"/>
              <a:gd name="T10" fmla="*/ 96 w 243"/>
              <a:gd name="T11" fmla="*/ 256 h 269"/>
              <a:gd name="T12" fmla="*/ 105 w 243"/>
              <a:gd name="T13" fmla="*/ 262 h 269"/>
              <a:gd name="T14" fmla="*/ 126 w 243"/>
              <a:gd name="T15" fmla="*/ 269 h 269"/>
              <a:gd name="T16" fmla="*/ 138 w 243"/>
              <a:gd name="T17" fmla="*/ 261 h 269"/>
              <a:gd name="T18" fmla="*/ 147 w 243"/>
              <a:gd name="T19" fmla="*/ 256 h 269"/>
              <a:gd name="T20" fmla="*/ 147 w 243"/>
              <a:gd name="T21" fmla="*/ 243 h 269"/>
              <a:gd name="T22" fmla="*/ 128 w 243"/>
              <a:gd name="T23" fmla="*/ 32 h 269"/>
              <a:gd name="T24" fmla="*/ 122 w 243"/>
              <a:gd name="T25" fmla="*/ 0 h 269"/>
              <a:gd name="T26" fmla="*/ 115 w 243"/>
              <a:gd name="T27" fmla="*/ 32 h 269"/>
              <a:gd name="T28" fmla="*/ 54 w 243"/>
              <a:gd name="T29" fmla="*/ 63 h 269"/>
              <a:gd name="T30" fmla="*/ 63 w 243"/>
              <a:gd name="T31" fmla="*/ 63 h 269"/>
              <a:gd name="T32" fmla="*/ 45 w 243"/>
              <a:gd name="T33" fmla="*/ 36 h 269"/>
              <a:gd name="T34" fmla="*/ 36 w 243"/>
              <a:gd name="T35" fmla="*/ 45 h 269"/>
              <a:gd name="T36" fmla="*/ 38 w 243"/>
              <a:gd name="T37" fmla="*/ 122 h 269"/>
              <a:gd name="T38" fmla="*/ 6 w 243"/>
              <a:gd name="T39" fmla="*/ 115 h 269"/>
              <a:gd name="T40" fmla="*/ 6 w 243"/>
              <a:gd name="T41" fmla="*/ 128 h 269"/>
              <a:gd name="T42" fmla="*/ 38 w 243"/>
              <a:gd name="T43" fmla="*/ 122 h 269"/>
              <a:gd name="T44" fmla="*/ 36 w 243"/>
              <a:gd name="T45" fmla="*/ 199 h 269"/>
              <a:gd name="T46" fmla="*/ 40 w 243"/>
              <a:gd name="T47" fmla="*/ 209 h 269"/>
              <a:gd name="T48" fmla="*/ 63 w 243"/>
              <a:gd name="T49" fmla="*/ 189 h 269"/>
              <a:gd name="T50" fmla="*/ 54 w 243"/>
              <a:gd name="T51" fmla="*/ 180 h 269"/>
              <a:gd name="T52" fmla="*/ 180 w 243"/>
              <a:gd name="T53" fmla="*/ 180 h 269"/>
              <a:gd name="T54" fmla="*/ 199 w 243"/>
              <a:gd name="T55" fmla="*/ 208 h 269"/>
              <a:gd name="T56" fmla="*/ 208 w 243"/>
              <a:gd name="T57" fmla="*/ 208 h 269"/>
              <a:gd name="T58" fmla="*/ 189 w 243"/>
              <a:gd name="T59" fmla="*/ 180 h 269"/>
              <a:gd name="T60" fmla="*/ 211 w 243"/>
              <a:gd name="T61" fmla="*/ 115 h 269"/>
              <a:gd name="T62" fmla="*/ 211 w 243"/>
              <a:gd name="T63" fmla="*/ 128 h 269"/>
              <a:gd name="T64" fmla="*/ 243 w 243"/>
              <a:gd name="T65" fmla="*/ 122 h 269"/>
              <a:gd name="T66" fmla="*/ 185 w 243"/>
              <a:gd name="T67" fmla="*/ 65 h 269"/>
              <a:gd name="T68" fmla="*/ 208 w 243"/>
              <a:gd name="T69" fmla="*/ 45 h 269"/>
              <a:gd name="T70" fmla="*/ 199 w 243"/>
              <a:gd name="T71" fmla="*/ 36 h 269"/>
              <a:gd name="T72" fmla="*/ 180 w 243"/>
              <a:gd name="T73" fmla="*/ 63 h 269"/>
              <a:gd name="T74" fmla="*/ 154 w 243"/>
              <a:gd name="T75" fmla="*/ 218 h 269"/>
              <a:gd name="T76" fmla="*/ 96 w 243"/>
              <a:gd name="T77" fmla="*/ 224 h 269"/>
              <a:gd name="T78" fmla="*/ 96 w 243"/>
              <a:gd name="T79" fmla="*/ 211 h 269"/>
              <a:gd name="T80" fmla="*/ 122 w 243"/>
              <a:gd name="T81" fmla="*/ 58 h 269"/>
              <a:gd name="T82" fmla="*/ 148 w 243"/>
              <a:gd name="T83" fmla="*/ 211 h 269"/>
              <a:gd name="T84" fmla="*/ 107 w 243"/>
              <a:gd name="T85" fmla="*/ 76 h 269"/>
              <a:gd name="T86" fmla="*/ 67 w 243"/>
              <a:gd name="T87" fmla="*/ 111 h 269"/>
              <a:gd name="T88" fmla="*/ 72 w 243"/>
              <a:gd name="T89" fmla="*/ 117 h 269"/>
              <a:gd name="T90" fmla="*/ 104 w 243"/>
              <a:gd name="T91" fmla="*/ 82 h 2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43" h="269">
                <a:moveTo>
                  <a:pt x="154" y="234"/>
                </a:moveTo>
                <a:cubicBezTo>
                  <a:pt x="154" y="237"/>
                  <a:pt x="151" y="240"/>
                  <a:pt x="147" y="240"/>
                </a:cubicBezTo>
                <a:cubicBezTo>
                  <a:pt x="96" y="240"/>
                  <a:pt x="96" y="240"/>
                  <a:pt x="96" y="240"/>
                </a:cubicBezTo>
                <a:cubicBezTo>
                  <a:pt x="92" y="240"/>
                  <a:pt x="90" y="237"/>
                  <a:pt x="90" y="234"/>
                </a:cubicBezTo>
                <a:cubicBezTo>
                  <a:pt x="90" y="230"/>
                  <a:pt x="92" y="227"/>
                  <a:pt x="96" y="227"/>
                </a:cubicBezTo>
                <a:cubicBezTo>
                  <a:pt x="147" y="227"/>
                  <a:pt x="147" y="227"/>
                  <a:pt x="147" y="227"/>
                </a:cubicBezTo>
                <a:cubicBezTo>
                  <a:pt x="151" y="227"/>
                  <a:pt x="154" y="230"/>
                  <a:pt x="154" y="234"/>
                </a:cubicBezTo>
                <a:close/>
                <a:moveTo>
                  <a:pt x="147" y="243"/>
                </a:moveTo>
                <a:cubicBezTo>
                  <a:pt x="96" y="243"/>
                  <a:pt x="96" y="243"/>
                  <a:pt x="96" y="243"/>
                </a:cubicBezTo>
                <a:cubicBezTo>
                  <a:pt x="92" y="243"/>
                  <a:pt x="89" y="247"/>
                  <a:pt x="90" y="252"/>
                </a:cubicBezTo>
                <a:cubicBezTo>
                  <a:pt x="91" y="254"/>
                  <a:pt x="93" y="256"/>
                  <a:pt x="96" y="256"/>
                </a:cubicBezTo>
                <a:cubicBezTo>
                  <a:pt x="96" y="256"/>
                  <a:pt x="96" y="256"/>
                  <a:pt x="96" y="256"/>
                </a:cubicBezTo>
                <a:cubicBezTo>
                  <a:pt x="100" y="256"/>
                  <a:pt x="103" y="258"/>
                  <a:pt x="105" y="261"/>
                </a:cubicBezTo>
                <a:cubicBezTo>
                  <a:pt x="105" y="262"/>
                  <a:pt x="105" y="262"/>
                  <a:pt x="105" y="262"/>
                </a:cubicBezTo>
                <a:cubicBezTo>
                  <a:pt x="107" y="266"/>
                  <a:pt x="112" y="269"/>
                  <a:pt x="117" y="269"/>
                </a:cubicBezTo>
                <a:cubicBezTo>
                  <a:pt x="126" y="269"/>
                  <a:pt x="126" y="269"/>
                  <a:pt x="126" y="269"/>
                </a:cubicBezTo>
                <a:cubicBezTo>
                  <a:pt x="131" y="269"/>
                  <a:pt x="136" y="266"/>
                  <a:pt x="138" y="262"/>
                </a:cubicBezTo>
                <a:cubicBezTo>
                  <a:pt x="138" y="261"/>
                  <a:pt x="138" y="261"/>
                  <a:pt x="138" y="261"/>
                </a:cubicBezTo>
                <a:cubicBezTo>
                  <a:pt x="140" y="258"/>
                  <a:pt x="143" y="256"/>
                  <a:pt x="147" y="256"/>
                </a:cubicBezTo>
                <a:cubicBezTo>
                  <a:pt x="147" y="256"/>
                  <a:pt x="147" y="256"/>
                  <a:pt x="147" y="256"/>
                </a:cubicBezTo>
                <a:cubicBezTo>
                  <a:pt x="150" y="256"/>
                  <a:pt x="152" y="254"/>
                  <a:pt x="153" y="252"/>
                </a:cubicBezTo>
                <a:cubicBezTo>
                  <a:pt x="155" y="247"/>
                  <a:pt x="151" y="243"/>
                  <a:pt x="147" y="243"/>
                </a:cubicBezTo>
                <a:close/>
                <a:moveTo>
                  <a:pt x="122" y="38"/>
                </a:moveTo>
                <a:cubicBezTo>
                  <a:pt x="125" y="38"/>
                  <a:pt x="128" y="36"/>
                  <a:pt x="128" y="32"/>
                </a:cubicBezTo>
                <a:cubicBezTo>
                  <a:pt x="128" y="6"/>
                  <a:pt x="128" y="6"/>
                  <a:pt x="128" y="6"/>
                </a:cubicBezTo>
                <a:cubicBezTo>
                  <a:pt x="128" y="3"/>
                  <a:pt x="125" y="0"/>
                  <a:pt x="122" y="0"/>
                </a:cubicBezTo>
                <a:cubicBezTo>
                  <a:pt x="118" y="0"/>
                  <a:pt x="115" y="3"/>
                  <a:pt x="115" y="6"/>
                </a:cubicBezTo>
                <a:cubicBezTo>
                  <a:pt x="115" y="32"/>
                  <a:pt x="115" y="32"/>
                  <a:pt x="115" y="32"/>
                </a:cubicBezTo>
                <a:cubicBezTo>
                  <a:pt x="115" y="36"/>
                  <a:pt x="118" y="38"/>
                  <a:pt x="122" y="38"/>
                </a:cubicBezTo>
                <a:close/>
                <a:moveTo>
                  <a:pt x="54" y="63"/>
                </a:moveTo>
                <a:cubicBezTo>
                  <a:pt x="55" y="64"/>
                  <a:pt x="57" y="65"/>
                  <a:pt x="58" y="65"/>
                </a:cubicBezTo>
                <a:cubicBezTo>
                  <a:pt x="60" y="65"/>
                  <a:pt x="62" y="64"/>
                  <a:pt x="63" y="63"/>
                </a:cubicBezTo>
                <a:cubicBezTo>
                  <a:pt x="65" y="60"/>
                  <a:pt x="65" y="56"/>
                  <a:pt x="63" y="54"/>
                </a:cubicBezTo>
                <a:cubicBezTo>
                  <a:pt x="45" y="36"/>
                  <a:pt x="45" y="36"/>
                  <a:pt x="45" y="36"/>
                </a:cubicBezTo>
                <a:cubicBezTo>
                  <a:pt x="42" y="33"/>
                  <a:pt x="38" y="33"/>
                  <a:pt x="36" y="36"/>
                </a:cubicBezTo>
                <a:cubicBezTo>
                  <a:pt x="33" y="38"/>
                  <a:pt x="33" y="42"/>
                  <a:pt x="36" y="45"/>
                </a:cubicBezTo>
                <a:lnTo>
                  <a:pt x="54" y="63"/>
                </a:lnTo>
                <a:close/>
                <a:moveTo>
                  <a:pt x="38" y="122"/>
                </a:moveTo>
                <a:cubicBezTo>
                  <a:pt x="38" y="118"/>
                  <a:pt x="36" y="115"/>
                  <a:pt x="32" y="115"/>
                </a:cubicBezTo>
                <a:cubicBezTo>
                  <a:pt x="6" y="115"/>
                  <a:pt x="6" y="115"/>
                  <a:pt x="6" y="115"/>
                </a:cubicBezTo>
                <a:cubicBezTo>
                  <a:pt x="3" y="115"/>
                  <a:pt x="0" y="118"/>
                  <a:pt x="0" y="122"/>
                </a:cubicBezTo>
                <a:cubicBezTo>
                  <a:pt x="0" y="125"/>
                  <a:pt x="3" y="128"/>
                  <a:pt x="6" y="128"/>
                </a:cubicBezTo>
                <a:cubicBezTo>
                  <a:pt x="32" y="128"/>
                  <a:pt x="32" y="128"/>
                  <a:pt x="32" y="128"/>
                </a:cubicBezTo>
                <a:cubicBezTo>
                  <a:pt x="36" y="128"/>
                  <a:pt x="38" y="125"/>
                  <a:pt x="38" y="122"/>
                </a:cubicBezTo>
                <a:close/>
                <a:moveTo>
                  <a:pt x="54" y="180"/>
                </a:moveTo>
                <a:cubicBezTo>
                  <a:pt x="36" y="199"/>
                  <a:pt x="36" y="199"/>
                  <a:pt x="36" y="199"/>
                </a:cubicBezTo>
                <a:cubicBezTo>
                  <a:pt x="33" y="201"/>
                  <a:pt x="33" y="205"/>
                  <a:pt x="36" y="208"/>
                </a:cubicBezTo>
                <a:cubicBezTo>
                  <a:pt x="37" y="209"/>
                  <a:pt x="39" y="209"/>
                  <a:pt x="40" y="209"/>
                </a:cubicBezTo>
                <a:cubicBezTo>
                  <a:pt x="42" y="209"/>
                  <a:pt x="43" y="209"/>
                  <a:pt x="45" y="208"/>
                </a:cubicBezTo>
                <a:cubicBezTo>
                  <a:pt x="63" y="189"/>
                  <a:pt x="63" y="189"/>
                  <a:pt x="63" y="189"/>
                </a:cubicBezTo>
                <a:cubicBezTo>
                  <a:pt x="65" y="187"/>
                  <a:pt x="65" y="183"/>
                  <a:pt x="63" y="180"/>
                </a:cubicBezTo>
                <a:cubicBezTo>
                  <a:pt x="60" y="178"/>
                  <a:pt x="56" y="178"/>
                  <a:pt x="54" y="180"/>
                </a:cubicBezTo>
                <a:close/>
                <a:moveTo>
                  <a:pt x="189" y="180"/>
                </a:moveTo>
                <a:cubicBezTo>
                  <a:pt x="187" y="178"/>
                  <a:pt x="183" y="178"/>
                  <a:pt x="180" y="180"/>
                </a:cubicBezTo>
                <a:cubicBezTo>
                  <a:pt x="178" y="183"/>
                  <a:pt x="178" y="187"/>
                  <a:pt x="180" y="189"/>
                </a:cubicBezTo>
                <a:cubicBezTo>
                  <a:pt x="199" y="208"/>
                  <a:pt x="199" y="208"/>
                  <a:pt x="199" y="208"/>
                </a:cubicBezTo>
                <a:cubicBezTo>
                  <a:pt x="200" y="209"/>
                  <a:pt x="201" y="209"/>
                  <a:pt x="203" y="209"/>
                </a:cubicBezTo>
                <a:cubicBezTo>
                  <a:pt x="205" y="209"/>
                  <a:pt x="206" y="209"/>
                  <a:pt x="208" y="208"/>
                </a:cubicBezTo>
                <a:cubicBezTo>
                  <a:pt x="210" y="205"/>
                  <a:pt x="210" y="201"/>
                  <a:pt x="208" y="199"/>
                </a:cubicBezTo>
                <a:lnTo>
                  <a:pt x="189" y="180"/>
                </a:lnTo>
                <a:close/>
                <a:moveTo>
                  <a:pt x="237" y="115"/>
                </a:moveTo>
                <a:cubicBezTo>
                  <a:pt x="211" y="115"/>
                  <a:pt x="211" y="115"/>
                  <a:pt x="211" y="115"/>
                </a:cubicBezTo>
                <a:cubicBezTo>
                  <a:pt x="208" y="115"/>
                  <a:pt x="205" y="118"/>
                  <a:pt x="205" y="122"/>
                </a:cubicBezTo>
                <a:cubicBezTo>
                  <a:pt x="205" y="125"/>
                  <a:pt x="208" y="128"/>
                  <a:pt x="211" y="128"/>
                </a:cubicBezTo>
                <a:cubicBezTo>
                  <a:pt x="237" y="128"/>
                  <a:pt x="237" y="128"/>
                  <a:pt x="237" y="128"/>
                </a:cubicBezTo>
                <a:cubicBezTo>
                  <a:pt x="240" y="128"/>
                  <a:pt x="243" y="125"/>
                  <a:pt x="243" y="122"/>
                </a:cubicBezTo>
                <a:cubicBezTo>
                  <a:pt x="243" y="118"/>
                  <a:pt x="240" y="115"/>
                  <a:pt x="237" y="115"/>
                </a:cubicBezTo>
                <a:close/>
                <a:moveTo>
                  <a:pt x="185" y="65"/>
                </a:moveTo>
                <a:cubicBezTo>
                  <a:pt x="187" y="65"/>
                  <a:pt x="188" y="64"/>
                  <a:pt x="189" y="63"/>
                </a:cubicBezTo>
                <a:cubicBezTo>
                  <a:pt x="208" y="45"/>
                  <a:pt x="208" y="45"/>
                  <a:pt x="208" y="45"/>
                </a:cubicBezTo>
                <a:cubicBezTo>
                  <a:pt x="210" y="42"/>
                  <a:pt x="210" y="38"/>
                  <a:pt x="208" y="36"/>
                </a:cubicBezTo>
                <a:cubicBezTo>
                  <a:pt x="205" y="33"/>
                  <a:pt x="201" y="33"/>
                  <a:pt x="199" y="36"/>
                </a:cubicBezTo>
                <a:cubicBezTo>
                  <a:pt x="180" y="54"/>
                  <a:pt x="180" y="54"/>
                  <a:pt x="180" y="54"/>
                </a:cubicBezTo>
                <a:cubicBezTo>
                  <a:pt x="178" y="56"/>
                  <a:pt x="178" y="60"/>
                  <a:pt x="180" y="63"/>
                </a:cubicBezTo>
                <a:cubicBezTo>
                  <a:pt x="182" y="64"/>
                  <a:pt x="183" y="65"/>
                  <a:pt x="185" y="65"/>
                </a:cubicBezTo>
                <a:close/>
                <a:moveTo>
                  <a:pt x="154" y="218"/>
                </a:moveTo>
                <a:cubicBezTo>
                  <a:pt x="154" y="221"/>
                  <a:pt x="151" y="224"/>
                  <a:pt x="147" y="224"/>
                </a:cubicBezTo>
                <a:cubicBezTo>
                  <a:pt x="96" y="224"/>
                  <a:pt x="96" y="224"/>
                  <a:pt x="96" y="224"/>
                </a:cubicBezTo>
                <a:cubicBezTo>
                  <a:pt x="92" y="224"/>
                  <a:pt x="90" y="221"/>
                  <a:pt x="90" y="218"/>
                </a:cubicBezTo>
                <a:cubicBezTo>
                  <a:pt x="90" y="214"/>
                  <a:pt x="92" y="211"/>
                  <a:pt x="96" y="211"/>
                </a:cubicBezTo>
                <a:cubicBezTo>
                  <a:pt x="92" y="175"/>
                  <a:pt x="54" y="167"/>
                  <a:pt x="54" y="125"/>
                </a:cubicBezTo>
                <a:cubicBezTo>
                  <a:pt x="54" y="88"/>
                  <a:pt x="84" y="58"/>
                  <a:pt x="122" y="58"/>
                </a:cubicBezTo>
                <a:cubicBezTo>
                  <a:pt x="159" y="58"/>
                  <a:pt x="189" y="88"/>
                  <a:pt x="189" y="125"/>
                </a:cubicBezTo>
                <a:cubicBezTo>
                  <a:pt x="189" y="167"/>
                  <a:pt x="152" y="175"/>
                  <a:pt x="148" y="211"/>
                </a:cubicBezTo>
                <a:cubicBezTo>
                  <a:pt x="151" y="211"/>
                  <a:pt x="154" y="214"/>
                  <a:pt x="154" y="218"/>
                </a:cubicBezTo>
                <a:close/>
                <a:moveTo>
                  <a:pt x="107" y="76"/>
                </a:moveTo>
                <a:cubicBezTo>
                  <a:pt x="106" y="73"/>
                  <a:pt x="103" y="72"/>
                  <a:pt x="101" y="73"/>
                </a:cubicBezTo>
                <a:cubicBezTo>
                  <a:pt x="84" y="80"/>
                  <a:pt x="72" y="94"/>
                  <a:pt x="67" y="111"/>
                </a:cubicBezTo>
                <a:cubicBezTo>
                  <a:pt x="67" y="113"/>
                  <a:pt x="68" y="116"/>
                  <a:pt x="71" y="117"/>
                </a:cubicBezTo>
                <a:cubicBezTo>
                  <a:pt x="71" y="117"/>
                  <a:pt x="72" y="117"/>
                  <a:pt x="72" y="117"/>
                </a:cubicBezTo>
                <a:cubicBezTo>
                  <a:pt x="74" y="117"/>
                  <a:pt x="76" y="115"/>
                  <a:pt x="77" y="113"/>
                </a:cubicBezTo>
                <a:cubicBezTo>
                  <a:pt x="80" y="99"/>
                  <a:pt x="91" y="87"/>
                  <a:pt x="104" y="82"/>
                </a:cubicBezTo>
                <a:cubicBezTo>
                  <a:pt x="107" y="81"/>
                  <a:pt x="108" y="78"/>
                  <a:pt x="107" y="76"/>
                </a:cubicBezTo>
                <a:close/>
              </a:path>
            </a:pathLst>
          </a:custGeom>
          <a:solidFill>
            <a:srgbClr val="414455"/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 sz="1350">
              <a:solidFill>
                <a:schemeClr val="bg1"/>
              </a:solidFill>
            </a:endParaRPr>
          </a:p>
        </p:txBody>
      </p:sp>
      <p:sp>
        <p:nvSpPr>
          <p:cNvPr id="101" name="Freeform 206"/>
          <p:cNvSpPr>
            <a:spLocks noChangeAspect="1" noEditPoints="1"/>
          </p:cNvSpPr>
          <p:nvPr/>
        </p:nvSpPr>
        <p:spPr bwMode="auto">
          <a:xfrm>
            <a:off x="8264982" y="1900379"/>
            <a:ext cx="228407" cy="276096"/>
          </a:xfrm>
          <a:custGeom>
            <a:avLst/>
            <a:gdLst>
              <a:gd name="T0" fmla="*/ 0 w 77"/>
              <a:gd name="T1" fmla="*/ 85 h 93"/>
              <a:gd name="T2" fmla="*/ 30 w 77"/>
              <a:gd name="T3" fmla="*/ 20 h 93"/>
              <a:gd name="T4" fmla="*/ 38 w 77"/>
              <a:gd name="T5" fmla="*/ 26 h 93"/>
              <a:gd name="T6" fmla="*/ 39 w 77"/>
              <a:gd name="T7" fmla="*/ 27 h 93"/>
              <a:gd name="T8" fmla="*/ 39 w 77"/>
              <a:gd name="T9" fmla="*/ 27 h 93"/>
              <a:gd name="T10" fmla="*/ 40 w 77"/>
              <a:gd name="T11" fmla="*/ 27 h 93"/>
              <a:gd name="T12" fmla="*/ 40 w 77"/>
              <a:gd name="T13" fmla="*/ 28 h 93"/>
              <a:gd name="T14" fmla="*/ 40 w 77"/>
              <a:gd name="T15" fmla="*/ 28 h 93"/>
              <a:gd name="T16" fmla="*/ 41 w 77"/>
              <a:gd name="T17" fmla="*/ 28 h 93"/>
              <a:gd name="T18" fmla="*/ 41 w 77"/>
              <a:gd name="T19" fmla="*/ 29 h 93"/>
              <a:gd name="T20" fmla="*/ 42 w 77"/>
              <a:gd name="T21" fmla="*/ 29 h 93"/>
              <a:gd name="T22" fmla="*/ 42 w 77"/>
              <a:gd name="T23" fmla="*/ 29 h 93"/>
              <a:gd name="T24" fmla="*/ 43 w 77"/>
              <a:gd name="T25" fmla="*/ 29 h 93"/>
              <a:gd name="T26" fmla="*/ 43 w 77"/>
              <a:gd name="T27" fmla="*/ 30 h 93"/>
              <a:gd name="T28" fmla="*/ 43 w 77"/>
              <a:gd name="T29" fmla="*/ 30 h 93"/>
              <a:gd name="T30" fmla="*/ 48 w 77"/>
              <a:gd name="T31" fmla="*/ 33 h 93"/>
              <a:gd name="T32" fmla="*/ 48 w 77"/>
              <a:gd name="T33" fmla="*/ 33 h 93"/>
              <a:gd name="T34" fmla="*/ 49 w 77"/>
              <a:gd name="T35" fmla="*/ 34 h 93"/>
              <a:gd name="T36" fmla="*/ 49 w 77"/>
              <a:gd name="T37" fmla="*/ 34 h 93"/>
              <a:gd name="T38" fmla="*/ 50 w 77"/>
              <a:gd name="T39" fmla="*/ 34 h 93"/>
              <a:gd name="T40" fmla="*/ 50 w 77"/>
              <a:gd name="T41" fmla="*/ 35 h 93"/>
              <a:gd name="T42" fmla="*/ 50 w 77"/>
              <a:gd name="T43" fmla="*/ 35 h 93"/>
              <a:gd name="T44" fmla="*/ 51 w 77"/>
              <a:gd name="T45" fmla="*/ 35 h 93"/>
              <a:gd name="T46" fmla="*/ 51 w 77"/>
              <a:gd name="T47" fmla="*/ 36 h 93"/>
              <a:gd name="T48" fmla="*/ 52 w 77"/>
              <a:gd name="T49" fmla="*/ 36 h 93"/>
              <a:gd name="T50" fmla="*/ 52 w 77"/>
              <a:gd name="T51" fmla="*/ 36 h 93"/>
              <a:gd name="T52" fmla="*/ 53 w 77"/>
              <a:gd name="T53" fmla="*/ 37 h 93"/>
              <a:gd name="T54" fmla="*/ 53 w 77"/>
              <a:gd name="T55" fmla="*/ 37 h 93"/>
              <a:gd name="T56" fmla="*/ 48 w 77"/>
              <a:gd name="T57" fmla="*/ 79 h 93"/>
              <a:gd name="T58" fmla="*/ 7 w 77"/>
              <a:gd name="T59" fmla="*/ 91 h 93"/>
              <a:gd name="T60" fmla="*/ 35 w 77"/>
              <a:gd name="T61" fmla="*/ 64 h 93"/>
              <a:gd name="T62" fmla="*/ 19 w 77"/>
              <a:gd name="T63" fmla="*/ 53 h 93"/>
              <a:gd name="T64" fmla="*/ 3 w 77"/>
              <a:gd name="T65" fmla="*/ 88 h 93"/>
              <a:gd name="T66" fmla="*/ 73 w 77"/>
              <a:gd name="T67" fmla="*/ 93 h 93"/>
              <a:gd name="T68" fmla="*/ 54 w 77"/>
              <a:gd name="T69" fmla="*/ 83 h 93"/>
              <a:gd name="T70" fmla="*/ 69 w 77"/>
              <a:gd name="T71" fmla="*/ 42 h 93"/>
              <a:gd name="T72" fmla="*/ 34 w 77"/>
              <a:gd name="T73" fmla="*/ 0 h 93"/>
              <a:gd name="T74" fmla="*/ 69 w 77"/>
              <a:gd name="T75" fmla="*/ 42 h 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77" h="93">
                <a:moveTo>
                  <a:pt x="3" y="88"/>
                </a:moveTo>
                <a:cubicBezTo>
                  <a:pt x="2" y="87"/>
                  <a:pt x="1" y="86"/>
                  <a:pt x="0" y="85"/>
                </a:cubicBezTo>
                <a:cubicBezTo>
                  <a:pt x="0" y="72"/>
                  <a:pt x="0" y="58"/>
                  <a:pt x="0" y="45"/>
                </a:cubicBezTo>
                <a:cubicBezTo>
                  <a:pt x="12" y="40"/>
                  <a:pt x="21" y="32"/>
                  <a:pt x="30" y="20"/>
                </a:cubicBezTo>
                <a:cubicBezTo>
                  <a:pt x="38" y="26"/>
                  <a:pt x="38" y="26"/>
                  <a:pt x="38" y="26"/>
                </a:cubicBezTo>
                <a:cubicBezTo>
                  <a:pt x="38" y="26"/>
                  <a:pt x="38" y="26"/>
                  <a:pt x="38" y="26"/>
                </a:cubicBezTo>
                <a:cubicBezTo>
                  <a:pt x="38" y="27"/>
                  <a:pt x="38" y="27"/>
                  <a:pt x="38" y="27"/>
                </a:cubicBezTo>
                <a:cubicBezTo>
                  <a:pt x="39" y="27"/>
                  <a:pt x="39" y="27"/>
                  <a:pt x="39" y="27"/>
                </a:cubicBezTo>
                <a:cubicBezTo>
                  <a:pt x="39" y="27"/>
                  <a:pt x="39" y="27"/>
                  <a:pt x="39" y="27"/>
                </a:cubicBezTo>
                <a:cubicBezTo>
                  <a:pt x="39" y="27"/>
                  <a:pt x="39" y="27"/>
                  <a:pt x="39" y="27"/>
                </a:cubicBezTo>
                <a:cubicBezTo>
                  <a:pt x="39" y="27"/>
                  <a:pt x="39" y="27"/>
                  <a:pt x="39" y="27"/>
                </a:cubicBezTo>
                <a:cubicBezTo>
                  <a:pt x="40" y="27"/>
                  <a:pt x="40" y="27"/>
                  <a:pt x="40" y="27"/>
                </a:cubicBezTo>
                <a:cubicBezTo>
                  <a:pt x="40" y="27"/>
                  <a:pt x="40" y="27"/>
                  <a:pt x="40" y="27"/>
                </a:cubicBezTo>
                <a:cubicBezTo>
                  <a:pt x="40" y="28"/>
                  <a:pt x="40" y="28"/>
                  <a:pt x="40" y="28"/>
                </a:cubicBezTo>
                <a:cubicBezTo>
                  <a:pt x="40" y="28"/>
                  <a:pt x="40" y="28"/>
                  <a:pt x="40" y="28"/>
                </a:cubicBezTo>
                <a:cubicBezTo>
                  <a:pt x="40" y="28"/>
                  <a:pt x="40" y="28"/>
                  <a:pt x="40" y="28"/>
                </a:cubicBezTo>
                <a:cubicBezTo>
                  <a:pt x="41" y="28"/>
                  <a:pt x="41" y="28"/>
                  <a:pt x="41" y="28"/>
                </a:cubicBezTo>
                <a:cubicBezTo>
                  <a:pt x="41" y="28"/>
                  <a:pt x="41" y="28"/>
                  <a:pt x="41" y="28"/>
                </a:cubicBezTo>
                <a:cubicBezTo>
                  <a:pt x="41" y="28"/>
                  <a:pt x="41" y="28"/>
                  <a:pt x="41" y="28"/>
                </a:cubicBezTo>
                <a:cubicBezTo>
                  <a:pt x="41" y="29"/>
                  <a:pt x="41" y="29"/>
                  <a:pt x="41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3" y="29"/>
                  <a:pt x="43" y="29"/>
                  <a:pt x="43" y="29"/>
                </a:cubicBezTo>
                <a:cubicBezTo>
                  <a:pt x="43" y="30"/>
                  <a:pt x="43" y="30"/>
                  <a:pt x="43" y="30"/>
                </a:cubicBezTo>
                <a:cubicBezTo>
                  <a:pt x="43" y="30"/>
                  <a:pt x="43" y="30"/>
                  <a:pt x="43" y="30"/>
                </a:cubicBezTo>
                <a:cubicBezTo>
                  <a:pt x="43" y="30"/>
                  <a:pt x="43" y="30"/>
                  <a:pt x="43" y="30"/>
                </a:cubicBezTo>
                <a:cubicBezTo>
                  <a:pt x="43" y="30"/>
                  <a:pt x="43" y="30"/>
                  <a:pt x="43" y="30"/>
                </a:cubicBezTo>
                <a:cubicBezTo>
                  <a:pt x="44" y="30"/>
                  <a:pt x="44" y="30"/>
                  <a:pt x="44" y="30"/>
                </a:cubicBezTo>
                <a:cubicBezTo>
                  <a:pt x="48" y="33"/>
                  <a:pt x="48" y="33"/>
                  <a:pt x="48" y="33"/>
                </a:cubicBezTo>
                <a:cubicBezTo>
                  <a:pt x="48" y="33"/>
                  <a:pt x="48" y="33"/>
                  <a:pt x="48" y="33"/>
                </a:cubicBezTo>
                <a:cubicBezTo>
                  <a:pt x="48" y="33"/>
                  <a:pt x="48" y="33"/>
                  <a:pt x="48" y="33"/>
                </a:cubicBezTo>
                <a:cubicBezTo>
                  <a:pt x="48" y="34"/>
                  <a:pt x="48" y="34"/>
                  <a:pt x="48" y="34"/>
                </a:cubicBezTo>
                <a:cubicBezTo>
                  <a:pt x="49" y="34"/>
                  <a:pt x="49" y="34"/>
                  <a:pt x="49" y="34"/>
                </a:cubicBezTo>
                <a:cubicBezTo>
                  <a:pt x="49" y="34"/>
                  <a:pt x="49" y="34"/>
                  <a:pt x="49" y="34"/>
                </a:cubicBezTo>
                <a:cubicBezTo>
                  <a:pt x="49" y="34"/>
                  <a:pt x="49" y="34"/>
                  <a:pt x="49" y="34"/>
                </a:cubicBezTo>
                <a:cubicBezTo>
                  <a:pt x="49" y="34"/>
                  <a:pt x="49" y="34"/>
                  <a:pt x="49" y="34"/>
                </a:cubicBezTo>
                <a:cubicBezTo>
                  <a:pt x="50" y="34"/>
                  <a:pt x="50" y="34"/>
                  <a:pt x="50" y="34"/>
                </a:cubicBezTo>
                <a:cubicBezTo>
                  <a:pt x="50" y="35"/>
                  <a:pt x="50" y="35"/>
                  <a:pt x="50" y="35"/>
                </a:cubicBezTo>
                <a:cubicBezTo>
                  <a:pt x="50" y="35"/>
                  <a:pt x="50" y="35"/>
                  <a:pt x="50" y="35"/>
                </a:cubicBezTo>
                <a:cubicBezTo>
                  <a:pt x="50" y="35"/>
                  <a:pt x="50" y="35"/>
                  <a:pt x="50" y="35"/>
                </a:cubicBezTo>
                <a:cubicBezTo>
                  <a:pt x="50" y="35"/>
                  <a:pt x="50" y="35"/>
                  <a:pt x="50" y="35"/>
                </a:cubicBezTo>
                <a:cubicBezTo>
                  <a:pt x="51" y="35"/>
                  <a:pt x="51" y="35"/>
                  <a:pt x="51" y="35"/>
                </a:cubicBezTo>
                <a:cubicBezTo>
                  <a:pt x="51" y="35"/>
                  <a:pt x="51" y="35"/>
                  <a:pt x="51" y="35"/>
                </a:cubicBezTo>
                <a:cubicBezTo>
                  <a:pt x="51" y="35"/>
                  <a:pt x="51" y="35"/>
                  <a:pt x="51" y="35"/>
                </a:cubicBezTo>
                <a:cubicBezTo>
                  <a:pt x="51" y="36"/>
                  <a:pt x="51" y="36"/>
                  <a:pt x="51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3" y="37"/>
                  <a:pt x="53" y="37"/>
                  <a:pt x="53" y="37"/>
                </a:cubicBezTo>
                <a:cubicBezTo>
                  <a:pt x="53" y="37"/>
                  <a:pt x="53" y="37"/>
                  <a:pt x="53" y="37"/>
                </a:cubicBezTo>
                <a:cubicBezTo>
                  <a:pt x="53" y="37"/>
                  <a:pt x="53" y="37"/>
                  <a:pt x="53" y="37"/>
                </a:cubicBezTo>
                <a:cubicBezTo>
                  <a:pt x="62" y="43"/>
                  <a:pt x="62" y="43"/>
                  <a:pt x="62" y="43"/>
                </a:cubicBezTo>
                <a:cubicBezTo>
                  <a:pt x="53" y="55"/>
                  <a:pt x="49" y="67"/>
                  <a:pt x="48" y="79"/>
                </a:cubicBezTo>
                <a:cubicBezTo>
                  <a:pt x="36" y="84"/>
                  <a:pt x="23" y="88"/>
                  <a:pt x="11" y="93"/>
                </a:cubicBezTo>
                <a:cubicBezTo>
                  <a:pt x="9" y="92"/>
                  <a:pt x="8" y="91"/>
                  <a:pt x="7" y="91"/>
                </a:cubicBezTo>
                <a:cubicBezTo>
                  <a:pt x="23" y="68"/>
                  <a:pt x="23" y="68"/>
                  <a:pt x="23" y="68"/>
                </a:cubicBezTo>
                <a:cubicBezTo>
                  <a:pt x="27" y="69"/>
                  <a:pt x="32" y="68"/>
                  <a:pt x="35" y="64"/>
                </a:cubicBezTo>
                <a:cubicBezTo>
                  <a:pt x="38" y="60"/>
                  <a:pt x="37" y="54"/>
                  <a:pt x="32" y="51"/>
                </a:cubicBezTo>
                <a:cubicBezTo>
                  <a:pt x="28" y="47"/>
                  <a:pt x="22" y="49"/>
                  <a:pt x="19" y="53"/>
                </a:cubicBezTo>
                <a:cubicBezTo>
                  <a:pt x="16" y="57"/>
                  <a:pt x="16" y="62"/>
                  <a:pt x="19" y="65"/>
                </a:cubicBezTo>
                <a:cubicBezTo>
                  <a:pt x="3" y="88"/>
                  <a:pt x="3" y="88"/>
                  <a:pt x="3" y="88"/>
                </a:cubicBezTo>
                <a:close/>
                <a:moveTo>
                  <a:pt x="27" y="93"/>
                </a:moveTo>
                <a:cubicBezTo>
                  <a:pt x="73" y="93"/>
                  <a:pt x="73" y="93"/>
                  <a:pt x="73" y="93"/>
                </a:cubicBezTo>
                <a:cubicBezTo>
                  <a:pt x="73" y="83"/>
                  <a:pt x="73" y="83"/>
                  <a:pt x="73" y="83"/>
                </a:cubicBezTo>
                <a:cubicBezTo>
                  <a:pt x="54" y="83"/>
                  <a:pt x="54" y="83"/>
                  <a:pt x="54" y="83"/>
                </a:cubicBezTo>
                <a:cubicBezTo>
                  <a:pt x="27" y="93"/>
                  <a:pt x="27" y="93"/>
                  <a:pt x="27" y="93"/>
                </a:cubicBezTo>
                <a:close/>
                <a:moveTo>
                  <a:pt x="69" y="42"/>
                </a:moveTo>
                <a:cubicBezTo>
                  <a:pt x="77" y="31"/>
                  <a:pt x="77" y="31"/>
                  <a:pt x="77" y="31"/>
                </a:cubicBezTo>
                <a:cubicBezTo>
                  <a:pt x="34" y="0"/>
                  <a:pt x="34" y="0"/>
                  <a:pt x="34" y="0"/>
                </a:cubicBezTo>
                <a:cubicBezTo>
                  <a:pt x="26" y="12"/>
                  <a:pt x="26" y="12"/>
                  <a:pt x="26" y="12"/>
                </a:cubicBezTo>
                <a:lnTo>
                  <a:pt x="69" y="42"/>
                </a:lnTo>
                <a:close/>
              </a:path>
            </a:pathLst>
          </a:custGeom>
          <a:solidFill>
            <a:srgbClr val="414455"/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 sz="135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3" name="矩形 3"/>
          <p:cNvSpPr>
            <a:spLocks noChangeArrowheads="1"/>
          </p:cNvSpPr>
          <p:nvPr/>
        </p:nvSpPr>
        <p:spPr bwMode="auto">
          <a:xfrm>
            <a:off x="4862204" y="2550874"/>
            <a:ext cx="2210811" cy="23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51416" tIns="25708" rIns="51416" bIns="25708">
            <a:spAutoFit/>
          </a:bodyPr>
          <a:lstStyle/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ROBOMASTER 2025</a:t>
            </a:r>
            <a:endParaRPr lang="zh-CN" altLang="en-US" sz="1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057265" y="5248275"/>
            <a:ext cx="290195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3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flip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52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6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1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5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2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1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5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2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1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1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1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2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2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5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2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2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5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2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2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35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bldLvl="0" animBg="1"/>
      <p:bldP spid="54" grpId="0" bldLvl="0" animBg="1"/>
      <p:bldP spid="56" grpId="0"/>
      <p:bldP spid="64" grpId="0" bldLvl="0" animBg="1"/>
      <p:bldP spid="70" grpId="0" bldLvl="0" animBg="1"/>
      <p:bldP spid="100" grpId="0" bldLvl="0" animBg="1"/>
      <p:bldP spid="101" grpId="0" bldLvl="0" animBg="1"/>
      <p:bldP spid="103" grpId="0"/>
    </p:bld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ISPRING_PRESENTATION_TITLE" val="7357.pptx"/>
  <p:tag name="commondata" val="eyJoZGlkIjoiNzE3ZDg2NGE0YmQ3Zjc0ZTIzYmM0ZmQ1MzgxZjRjZGIifQ=="/>
</p:tagLst>
</file>

<file path=ppt/theme/theme1.xml><?xml version="1.0" encoding="utf-8"?>
<a:theme xmlns:a="http://schemas.openxmlformats.org/drawingml/2006/main" name="Office 主题">
  <a:themeElements>
    <a:clrScheme name="学术蓝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70C0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2452</Words>
  <Application>WPS 演示</Application>
  <PresentationFormat>全屏显示(4:3)</PresentationFormat>
  <Paragraphs>269</Paragraphs>
  <Slides>24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4" baseType="lpstr">
      <vt:lpstr>Arial</vt:lpstr>
      <vt:lpstr>宋体</vt:lpstr>
      <vt:lpstr>Wingdings</vt:lpstr>
      <vt:lpstr>微软雅黑</vt:lpstr>
      <vt:lpstr>Times New Roman</vt:lpstr>
      <vt:lpstr>Microsoft YaHei UI</vt:lpstr>
      <vt:lpstr>Calibri</vt:lpstr>
      <vt:lpstr>Arial Unicode MS</vt:lpstr>
      <vt:lpstr>Calibri Light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7357.pptx</dc:title>
  <dc:creator/>
  <cp:lastModifiedBy>Forever.</cp:lastModifiedBy>
  <cp:revision>48</cp:revision>
  <dcterms:created xsi:type="dcterms:W3CDTF">2017-07-09T13:36:00Z</dcterms:created>
  <dcterms:modified xsi:type="dcterms:W3CDTF">2025-02-26T05:29:08Z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5B6FD1F749224292B2CCBE3B59086FC7_13</vt:lpwstr>
  </property>
  <property fmtid="{D5CDD505-2E9C-101B-9397-08002B2CF9AE}" pid="3" name="KSOProductBuildVer">
    <vt:lpwstr>2052-12.1.0.20305</vt:lpwstr>
  </property>
</Properties>
</file>